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Evaluation &amp; Benchmarks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11, Class 2  ·  Wed Nov 4, 2026</a:t>
            </a:r>
          </a:p>
        </p:txBody>
      </p:sp>
      <p:pic>
        <p:nvPicPr>
          <p:cNvPr id="5" name="Picture 4" descr="Evaluation &amp; Benchmar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Onderwijsgek, Wikimedia Commons, CC BY-SA 2.5 NL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do you grade a machine?</a:t>
            </a:r>
          </a:p>
        </p:txBody>
      </p:sp>
      <p:pic>
        <p:nvPicPr>
          <p:cNvPr id="5" name="Picture 4" descr="How do you grade a machine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https://images.unsplash.com/photo-1434030216411-0b793f4b4173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is evaluating LLMs hard?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1428"/>
            <a:ext cx="4041648" cy="1184148"/>
          </a:xfrm>
          <a:prstGeom prst="roundRect">
            <a:avLst>
              <a:gd name="adj" fmla="val 1003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27732"/>
            <a:ext cx="3675888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CLASSIFIER</a:t>
            </a:r>
          </a:p>
          <a:p>
            <a:pPr marL="0" indent="0">
              <a:spcAft>
                <a:spcPts val="300"/>
              </a:spcAft>
              <a:buNone/>
            </a:pPr>
            <a:r>
              <a:rPr sz="1900" b="0" u="none">
                <a:solidFill>
                  <a:srgbClr val="1D1D1F"/>
                </a:solidFill>
                <a:latin typeface="Menlo"/>
              </a:rPr>
              <a:t>one gold label per input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Grading is a string comparison. Accuracy on a held-out set is the whole report.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81428"/>
            <a:ext cx="4041648" cy="1184148"/>
          </a:xfrm>
          <a:prstGeom prst="roundRect">
            <a:avLst>
              <a:gd name="adj" fmla="val 1003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27732"/>
            <a:ext cx="3675888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GENERATIVE MODEL</a:t>
            </a:r>
          </a:p>
          <a:p>
            <a:pPr marL="0" indent="0">
              <a:spcAft>
                <a:spcPts val="300"/>
              </a:spcAft>
              <a:buNone/>
            </a:pPr>
            <a:r>
              <a:rPr sz="1900" b="0" u="none">
                <a:solidFill>
                  <a:srgbClr val="1D1D1F"/>
                </a:solidFill>
                <a:latin typeface="Menlo"/>
              </a:rPr>
              <a:t>many valid outputs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There is no single string to compare against, so the metric has to be invented.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a benchmark?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04447"/>
            <a:ext cx="4041648" cy="1138110"/>
          </a:xfrm>
          <a:prstGeom prst="roundRect">
            <a:avLst>
              <a:gd name="adj" fmla="val 1044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50751"/>
            <a:ext cx="3675888" cy="845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PART 1, THE DATASET</a:t>
            </a:r>
          </a:p>
          <a:p>
            <a:pPr marL="0" indent="0">
              <a:spcAft>
                <a:spcPts val="300"/>
              </a:spcAft>
              <a:buNone/>
            </a:pPr>
            <a:r>
              <a:rPr sz="1650" b="0" u="none">
                <a:solidFill>
                  <a:srgbClr val="1D1D1F"/>
                </a:solidFill>
                <a:latin typeface="Menlo"/>
              </a:rPr>
              <a:t>a fixed, frozen set of items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"What is the capital of Australia?" with the gold answer recorded. Every model sees the same 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04447"/>
            <a:ext cx="4041648" cy="1138110"/>
          </a:xfrm>
          <a:prstGeom prst="roundRect">
            <a:avLst>
              <a:gd name="adj" fmla="val 1044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50751"/>
            <a:ext cx="3675888" cy="845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PART 2, THE METRIC</a:t>
            </a:r>
          </a:p>
          <a:p>
            <a:pPr marL="0" indent="0">
              <a:spcAft>
                <a:spcPts val="300"/>
              </a:spcAft>
              <a:buNone/>
            </a:pPr>
            <a:r>
              <a:rPr sz="1650" b="0" u="none">
                <a:solidFill>
                  <a:srgbClr val="1D1D1F"/>
                </a:solidFill>
                <a:latin typeface="Menlo"/>
              </a:rPr>
              <a:t>exact match, averaged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Output "B", gold "B", score 1. Otherwise 0. The average over all items is the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Three landmark benchmarks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8229600" cy="2834640"/>
        </p:xfrm>
        <a:graphic>
          <a:graphicData uri="http://schemas.openxmlformats.org/drawingml/2006/table">
            <a:tbl>
              <a:tblPr firstRow="1" bandRow="0"/>
              <a:tblGrid>
                <a:gridCol w="1810512"/>
                <a:gridCol w="3209544"/>
                <a:gridCol w="3209544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BENCHMARK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WHAT IT MEASURES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THE LIMITATION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GLUE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nine sentence tasks, one score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saturated fast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SuperGLUE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harder successor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saturated too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MMLU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57 subjects, multiple choice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contamination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HELM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many scenarios, many metrics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expensive to run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GLUE 1804.07461; MMLU 2009.03300; HELM 2211.09110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GLUE</a:t>
            </a:r>
          </a:p>
        </p:txBody>
      </p:sp>
      <p:pic>
        <p:nvPicPr>
          <p:cNvPr id="5" name="Picture 4" descr="GLU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8129" y="1078992"/>
            <a:ext cx="5327742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Wang et al. 2018 (arXiv:1804.07461), Table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MMLU</a:t>
            </a:r>
          </a:p>
        </p:txBody>
      </p:sp>
      <p:pic>
        <p:nvPicPr>
          <p:cNvPr id="5" name="Picture 4" descr="MML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302" y="1078992"/>
            <a:ext cx="5605396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Hendrycks et al. 2021 (arXiv:2009.03300), Figs. 3-4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HELM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9646"/>
          <a:ext cx="5102351" cy="2267712"/>
        </p:xfrm>
        <a:graphic>
          <a:graphicData uri="http://schemas.openxmlformats.org/drawingml/2006/table">
            <a:tbl>
              <a:tblPr firstRow="1" bandRow="0"/>
              <a:tblGrid>
                <a:gridCol w="2630043"/>
                <a:gridCol w="618077"/>
                <a:gridCol w="618077"/>
                <a:gridCol w="618077"/>
                <a:gridCol w="618077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>SCENARIO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>ACCURACY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>CALIBRATION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>ROBUSTNESS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>TOXICITY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question answering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high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medium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high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low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summarization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medium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low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medium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low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toxicity detection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medium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medium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low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high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739646"/>
            <a:ext cx="2761488" cy="226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NOT ONE SCORE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Every scenario on every metric, so the trade-offs cannot hide behind an average.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Liang et al., 2022, arxiv.org/abs/2211.09110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Metrics matter as much as 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023110"/>
          <a:ext cx="5102352" cy="1700784"/>
        </p:xfrm>
        <a:graphic>
          <a:graphicData uri="http://schemas.openxmlformats.org/drawingml/2006/table">
            <a:tbl>
              <a:tblPr firstRow="1" bandRow="0"/>
              <a:tblGrid>
                <a:gridCol w="1820418"/>
                <a:gridCol w="1640967"/>
                <a:gridCol w="1640967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FLAGGED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NOT FLAGGED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hallucinated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4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6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fine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88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2023110"/>
            <a:ext cx="276148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ONE DETECTOR, 100 ANSWERS, 10 BAD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It flags 6 and is right about 4. Same predictions, four very different grades.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Not necessarily. Contamination, narrow metrics, and overfitting can fake a high scor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68630"/>
            <a:ext cx="9144000" cy="6080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a model tops every leaderboard, is it actually good?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Not necessarily. Contamination, narrow metrics, and overfitting can fake a high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https://images.unsplash.com/photo-1453928582365-b6ad33cbcf64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Hallucination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03921"/>
            <a:ext cx="4041648" cy="1939162"/>
          </a:xfrm>
          <a:prstGeom prst="roundRect">
            <a:avLst>
              <a:gd name="adj" fmla="val 613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050225"/>
            <a:ext cx="3675888" cy="1646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ASKED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"Who won the Nobel Prize in Physics in 2087?"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1903921"/>
            <a:ext cx="4041648" cy="1939162"/>
          </a:xfrm>
          <a:prstGeom prst="roundRect">
            <a:avLst>
              <a:gd name="adj" fmla="val 613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050225"/>
            <a:ext cx="3675888" cy="1646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ANSWERED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"Dr. Elena Vasquez, for quantum gravity stabilization."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Fluent, specific, and entirely fabricated. The year has not happened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example matches the exercise dataset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models hallucinate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WHAT IT SAID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Kadavath et al. (2022), "Language Models Should Know When They Don't Know", NeurIPS 2022, 91.4% calibration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99716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299716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WHAT IS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2299716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the authors and the year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20440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WHAT IS NOT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520440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the title, the venue, and the number Every wrong part is the part that sounds most like a citation.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kinds of hallucination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1428"/>
            <a:ext cx="4041648" cy="1184148"/>
          </a:xfrm>
          <a:prstGeom prst="roundRect">
            <a:avLst>
              <a:gd name="adj" fmla="val 1003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27732"/>
            <a:ext cx="3675888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INTRINSIC</a:t>
            </a:r>
          </a:p>
          <a:p>
            <a:pPr marL="0" indent="0">
              <a:spcAft>
                <a:spcPts val="300"/>
              </a:spcAft>
              <a:buNone/>
            </a:pPr>
            <a:r>
              <a:rPr sz="1900" b="0" u="none">
                <a:solidFill>
                  <a:srgbClr val="1D1D1F"/>
                </a:solidFill>
                <a:latin typeface="Menlo"/>
              </a:rPr>
              <a:t>contradicts the source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Source says March 2020, the summary says May 2020.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81428"/>
            <a:ext cx="4041648" cy="1184148"/>
          </a:xfrm>
          <a:prstGeom prst="roundRect">
            <a:avLst>
              <a:gd name="adj" fmla="val 1003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27732"/>
            <a:ext cx="3675888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EXTRINSIC</a:t>
            </a:r>
          </a:p>
          <a:p>
            <a:pPr marL="0" indent="0">
              <a:spcAft>
                <a:spcPts val="300"/>
              </a:spcAft>
              <a:buNone/>
            </a:pPr>
            <a:r>
              <a:rPr sz="1900" b="0" u="none">
                <a:solidFill>
                  <a:srgbClr val="1D1D1F"/>
                </a:solidFill>
                <a:latin typeface="Menlo"/>
              </a:rPr>
              <a:t>not in the source at all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"Filed by staff writer J. Alvarez." No author is named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intrinsic vs extrinsic framing, Ji et al. 2023 survey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Faithfulness vs factuality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023110"/>
          <a:ext cx="5102351" cy="1700784"/>
        </p:xfrm>
        <a:graphic>
          <a:graphicData uri="http://schemas.openxmlformats.org/drawingml/2006/table">
            <a:tbl>
              <a:tblPr firstRow="1" bandRow="0"/>
              <a:tblGrid>
                <a:gridCol w="2806293"/>
                <a:gridCol w="1148029"/>
                <a:gridCol w="1148029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>TRUE IN THE WORLD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>FALSE IN THE WORLD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supported by the source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what you want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faithful, repeats an error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not in the source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true but unsupported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the worst case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2023110"/>
            <a:ext cx="276148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TWO QUESTIONS, NOT ONE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Faithful asks about the source. Factual asks about the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Abstention: saying "I don't know"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54612"/>
            <a:ext cx="4041648" cy="1037780"/>
          </a:xfrm>
          <a:prstGeom prst="roundRect">
            <a:avLst>
              <a:gd name="adj" fmla="val 114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00916"/>
            <a:ext cx="3675888" cy="745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WHAT IT SAYS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50" b="0" u="none">
                <a:solidFill>
                  <a:srgbClr val="1D1D1F"/>
                </a:solidFill>
                <a:latin typeface="Menlo"/>
              </a:rPr>
              <a:t>"About 4,200 people attended."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050" b="0">
                <a:solidFill>
                  <a:srgbClr val="86868B"/>
                </a:solidFill>
                <a:latin typeface="Helvetica Neue"/>
              </a:rPr>
              <a:t>Fluent, specific, invented. No source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54612"/>
            <a:ext cx="4041648" cy="1037780"/>
          </a:xfrm>
          <a:prstGeom prst="roundRect">
            <a:avLst>
              <a:gd name="adj" fmla="val 114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500916"/>
            <a:ext cx="3675888" cy="745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WHAT YOU WANTED</a:t>
            </a:r>
          </a:p>
          <a:p>
            <a:pPr marL="0" indent="0">
              <a:spcAft>
                <a:spcPts val="300"/>
              </a:spcAft>
              <a:buNone/>
            </a:pPr>
            <a:r>
              <a:rPr sz="1250" b="0" u="none">
                <a:solidFill>
                  <a:srgbClr val="1D1D1F"/>
                </a:solidFill>
                <a:latin typeface="Menlo"/>
              </a:rPr>
              <a:t>"I have no reliable source for that."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050" b="0">
                <a:solidFill>
                  <a:srgbClr val="86868B"/>
                </a:solidFill>
                <a:latin typeface="Helvetica Neue"/>
              </a:rPr>
              <a:t>Silence is rarely rewarded in training, so the model guesses instead of stopping.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If the cost of a wrong answer is high, &quot;I don't know&quot; is the right answe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80060"/>
            <a:ext cx="9144000" cy="61036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Would you bet your job on this answer?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If the cost of a wrong answer is high, "I don't know" is the right answer.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https://images.unsplash.com/photo-1454165804606-c3d57bc86b40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do we measure factuality?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9646"/>
          <a:ext cx="5102352" cy="2267712"/>
        </p:xfrm>
        <a:graphic>
          <a:graphicData uri="http://schemas.openxmlformats.org/drawingml/2006/table">
            <a:tbl>
              <a:tblPr firstRow="1" bandRow="0"/>
              <a:tblGrid>
                <a:gridCol w="2806293"/>
                <a:gridCol w="2296059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CLAIM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VERDICT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Canberra is the capital of Australia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supported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Canberra has about 1.2 million residents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contradicted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Parliament has met there since 1927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supported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739646"/>
            <a:ext cx="2761488" cy="226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TWO OF THREE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One fluent sentence, three separate truth values. Break the answer into atomic claims, then check each.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if the test set was already in the training data?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23924"/>
            <a:ext cx="2365248" cy="2185924"/>
          </a:xfrm>
          <a:prstGeom prst="roundRect">
            <a:avLst>
              <a:gd name="adj" fmla="val 501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1687271"/>
            <a:ext cx="2036064" cy="1856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PUBLISHED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a public repo, answer key included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13156" y="2361438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389376" y="1423924"/>
            <a:ext cx="2365248" cy="2185924"/>
          </a:xfrm>
          <a:prstGeom prst="roundRect">
            <a:avLst>
              <a:gd name="adj" fmla="val 501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53968" y="1687271"/>
            <a:ext cx="2036064" cy="1856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SCRAPED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into trillions of pretraining tokens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5332" y="2361438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321552" y="1423924"/>
            <a:ext cx="2365248" cy="2185924"/>
          </a:xfrm>
          <a:prstGeom prst="roundRect">
            <a:avLst>
              <a:gd name="adj" fmla="val 501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86144" y="1687271"/>
            <a:ext cx="2036064" cy="1856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TESTED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the same item, on evaluation day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457200" y="3829304"/>
            <a:ext cx="8229600" cy="237744"/>
          </a:xfrm>
          <a:prstGeom prst="leftArrow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200" y="41402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1300" b="0">
                <a:solidFill>
                  <a:srgbClr val="4C72B0"/>
                </a:solidFill>
                <a:latin typeface="Helvetica Neue"/>
              </a:rPr>
              <a:t>was the answer computed, or recalled? The score cannot tell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Evaluating responsibly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95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50" b="0">
                <a:solidFill>
                  <a:srgbClr val="1D1D1F"/>
                </a:solidFill>
                <a:latin typeface="Menlo"/>
              </a:rPr>
              <a:t>Report the protocol: shots, prompt template, decoding settings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910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910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95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910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50" b="0">
                <a:solidFill>
                  <a:srgbClr val="1D1D1F"/>
                </a:solidFill>
                <a:latin typeface="Menlo"/>
              </a:rPr>
              <a:t>Use more than one benchmark. The disagreement is the information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922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922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95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91922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50" b="0">
                <a:solidFill>
                  <a:srgbClr val="1D1D1F"/>
                </a:solidFill>
                <a:latin typeface="Menlo"/>
              </a:rPr>
              <a:t>Check construct validity: does the score measure what you named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3933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3933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95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83933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50" b="0">
                <a:solidFill>
                  <a:srgbClr val="1D1D1F"/>
                </a:solidFill>
                <a:latin typeface="Menlo"/>
              </a:rPr>
              <a:t>Say what you did not measure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We do it all the time now. The question is whether to trust the verdi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Should a robot grade a robot?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We do it all the time now. The question is whether to trust the verdict.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https://images.unsplash.com/photo-1589829545856-d10d557cf95f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LLM-as-a-judge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6491"/>
            <a:ext cx="8229600" cy="2015236"/>
          </a:xfrm>
          <a:prstGeom prst="roundRect">
            <a:avLst>
              <a:gd name="adj" fmla="val 5444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68096" y="1801939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801939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801939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67115"/>
            <a:ext cx="7607808" cy="13385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You are grading two assistant replies.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Criteria: helpfulness, correctness, relevance.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Ignore length and ignore order.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Output one of: A, B, tie. Then justify in one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789743"/>
            <a:ext cx="7607808" cy="4387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86868B"/>
                </a:solidFill>
                <a:latin typeface="Menlo"/>
              </a:rPr>
              <a:t>cheap enough to run on thousands of pairs, which is the whole appeal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Zheng et al., 2023, arxiv.org/abs/2306.05685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judge has biases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ANSWER A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23 words, same content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"Air molecules scatter sunlight, and blue scatters more. Rayleigh scattering."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ANSWER B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56 words, same content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"Great question! To understand the colour of the sky we should first consider..." Judges prefer it anyway.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Zheng et al., 2023, arxiv.org/abs/2306.05685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6 (paper)</a:t>
            </a:r>
          </a:p>
        </p:txBody>
      </p:sp>
      <p:pic>
        <p:nvPicPr>
          <p:cNvPr id="5" name="Picture 4" descr="Quiz 6 (pap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quizzes/quiz-06.md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design a benchmark, then break i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Build the evaluation harness</a:t>
            </a:r>
          </a:p>
        </p:txBody>
      </p:sp>
      <p:pic>
        <p:nvPicPr>
          <p:cNvPr id="5" name="Picture 4" descr="Build the evaluation harne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81873"/>
            <a:ext cx="8595360" cy="23832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weeks/week-11/class-02/exercise/README.md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punchline: catch a biased judge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05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Judge the pair in the order (A, 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910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910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05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910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Judge the same pair as (B, 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922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922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05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91922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Same verdict? Count it. Different? Throw it out as inconsistent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3933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3933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05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83933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450" b="0">
                <a:solidFill>
                  <a:srgbClr val="1D1D1F"/>
                </a:solidFill>
                <a:latin typeface="Menlo"/>
              </a:rPr>
              <a:t>Report the consistency rate beside the win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swap test, Zheng et al. 2023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