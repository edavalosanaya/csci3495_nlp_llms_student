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Retrieval-Augmented Generation (RAG)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52661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2</a:t>
            </a:r>
          </a:p>
        </p:txBody>
      </p:sp>
      <p:pic>
        <p:nvPicPr>
          <p:cNvPr id="5" name="Picture 4" descr="Closed book or open book: which exam would you rather take? Today we let the model look things up before it answe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144" y="3474720"/>
            <a:ext cx="252909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 is an extended 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Build the whole pipeline: chunk, index, retrieve, ground, cite, verify</a:t>
            </a:r>
          </a:p>
        </p:txBody>
      </p:sp>
      <p:pic>
        <p:nvPicPr>
          <p:cNvPr id="6" name="Picture 5" descr="A quick paired sketch and lecture, Quiz 11 right before the break, then a full ~50 min build of RAG end to end with mileston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585" y="1078992"/>
            <a:ext cx="6702829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weeks/week-11/class-02/exercise/rag.py; Jurafsky &amp; Martin, SLP3, Fig. 11.13; Unsplash License photos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five moves actually do</a:t>
            </a:r>
          </a:p>
        </p:txBody>
      </p:sp>
      <p:pic>
        <p:nvPicPr>
          <p:cNvPr id="5" name="Picture 4" descr="What the five moves actually d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536" y="1078992"/>
            <a:ext cx="678692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syllabus/SYLLABUS.md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poisoning, here?</a:t>
            </a:r>
          </a:p>
        </p:txBody>
      </p:sp>
      <p:pic>
        <p:nvPicPr>
          <p:cNvPr id="5" name="Picture 4" descr="What is poisoning, here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3630"/>
            <a:ext cx="8595360" cy="3299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Greshake et al. 2023 (arXiv:2302.12173)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irs, ~10 min at the whiteboard. Sketch the five moves, then for each one plant a poison and write the counter that stops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68630"/>
            <a:ext cx="9144000" cy="6080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Warm-up: sketch it with a partner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Pairs, ~10 min at the whiteboard. Sketch the five moves, then for each one plant a poison and write the counter that stops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https://images.unsplash.com/photo-1453928582365-b6ad33cbcf64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sketch the RAG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Mode whiteboard sketch, pairs, about 10 min before the build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For each stage: one concrete poison, one counter that stops it</a:t>
            </a:r>
          </a:p>
        </p:txBody>
      </p:sp>
      <p:pic>
        <p:nvPicPr>
          <p:cNvPr id="6" name="Picture 5" descr="Activity: sketch the RAG pipel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1078992"/>
            <a:ext cx="6827826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weeks/week-11/class-02/exercise/rag.py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&amp; the idea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Models don't know your facts</a:t>
            </a:r>
          </a:p>
        </p:txBody>
      </p:sp>
      <p:pic>
        <p:nvPicPr>
          <p:cNvPr id="5" name="Picture 4" descr="Three gaps that no amount of clever prompting can fix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5061"/>
            <a:ext cx="8595360" cy="26368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RAG attaches a retriever to the LLM: fetch the right passage, then answer from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Don't memorize the library. Learn to look things up.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RAG attaches a retriever to the LLM: fetch the right passage, then answer from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https://images.unsplash.com/photo-1521587760476-6c12a4b040da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idea: retrieve, then generate</a:t>
            </a:r>
          </a:p>
        </p:txBody>
      </p:sp>
      <p:pic>
        <p:nvPicPr>
          <p:cNvPr id="5" name="Picture 4" descr="Two separable stages: an off-the-shelf retriever plus an off-the-shelf LLM, joined by nothing more than a prompt. This is exactly the pipeline you build in today's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68" y="1078992"/>
            <a:ext cx="756586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11.13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original RAG architecture</a:t>
            </a:r>
          </a:p>
        </p:txBody>
      </p:sp>
      <p:pic>
        <p:nvPicPr>
          <p:cNvPr id="5" name="Picture 4" descr="The quiz paper's version goes further: retriever and generator are fine-tuned end to end, marginalizing over the top-K retrieved documents. The index is swappable memory, so knowledge updates without retrai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83" y="1078992"/>
            <a:ext cx="822603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Lewis et al. 2020 (arXiv:2005.11401), Fig.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How RAG works, step by step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Step 1: Index your documents</a:t>
            </a:r>
          </a:p>
        </p:txBody>
      </p:sp>
      <p:pic>
        <p:nvPicPr>
          <p:cNvPr id="5" name="Picture 4" descr="Done once, offline. Re-run only when the documents chang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63321"/>
            <a:ext cx="8595360" cy="2620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Like a card catalog for your documents</a:t>
            </a:r>
          </a:p>
        </p:txBody>
      </p:sp>
      <p:pic>
        <p:nvPicPr>
          <p:cNvPr id="5" name="Picture 4" descr="An index turns a pile of text into something you can search in millisecon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https://images.unsplash.com/photo-1524995997946-a1c2e315a42f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one question go through</a:t>
            </a:r>
          </a:p>
        </p:txBody>
      </p:sp>
      <p:pic>
        <p:nvPicPr>
          <p:cNvPr id="5" name="Picture 4" descr="Question to vector to top-k passages to a grounded answer. Scores are real cosine similarit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017" y="1078992"/>
            <a:ext cx="618796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Dense vs. TF-IDF retrieval</a:t>
            </a:r>
          </a:p>
        </p:txBody>
      </p:sp>
      <p:pic>
        <p:nvPicPr>
          <p:cNvPr id="5" name="Picture 4" descr="Meaning vs exact terms; both feed the same retrieve-then-generate pipe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9503"/>
            <a:ext cx="8595360" cy="2767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Step 3: Generate (grounded)</a:t>
            </a:r>
          </a:p>
        </p:txBody>
      </p:sp>
      <p:pic>
        <p:nvPicPr>
          <p:cNvPr id="5" name="Picture 4" descr="Answer from the retrieved evidence and cite the source chunk numbe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0570"/>
            <a:ext cx="8595360" cy="29458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Quality, evaluation &amp; beyond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RAG helps</a:t>
            </a:r>
          </a:p>
        </p:txBody>
      </p:sp>
      <p:pic>
        <p:nvPicPr>
          <p:cNvPr id="5" name="Picture 4" descr="Fresh knowledge, less hallucination, verifiable citations, and lower cost than retrai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03441"/>
            <a:ext cx="8595360" cy="35401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Retrieval quality caps everything</a:t>
            </a:r>
          </a:p>
        </p:txBody>
      </p:sp>
      <p:pic>
        <p:nvPicPr>
          <p:cNvPr id="5" name="Picture 4" descr="If the retriever misses the passage, the generator cannot recover. Evaluate it separatel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8770"/>
            <a:ext cx="8595360" cy="30894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Failure modes &amp; mitigations</a:t>
            </a:r>
          </a:p>
        </p:txBody>
      </p:sp>
      <p:pic>
        <p:nvPicPr>
          <p:cNvPr id="5" name="Picture 4" descr="Missed retrieval, distractors, ungrounded answers, lost-in-the-middle, and their fix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2597"/>
            <a:ext cx="8595360" cy="25618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RAG context poisoning</a:t>
            </a:r>
          </a:p>
        </p:txBody>
      </p:sp>
      <p:pic>
        <p:nvPicPr>
          <p:cNvPr id="5" name="Picture 4" descr="Retrieved documents enter the prompt as untrusted text; a planted doc becomes an indirect inje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1604"/>
            <a:ext cx="8595360" cy="2743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Greshake et al. 2023, arXiv:2302.12173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The documents in your context are untrusted input.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Anyone who can write to your corpus can write to your prompt.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Greshake et al. 2023, arXiv:2302.12173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Defending RAG against poisoning</a:t>
            </a:r>
          </a:p>
        </p:txBody>
      </p:sp>
      <p:pic>
        <p:nvPicPr>
          <p:cNvPr id="5" name="Picture 4" descr="Same defense-in-depth playbook as the last class, applied to the retrieval pipe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5483"/>
            <a:ext cx="8595360" cy="325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OWASP Top 10 for LLM Apps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Evaluating RAG</a:t>
            </a:r>
          </a:p>
        </p:txBody>
      </p:sp>
      <p:pic>
        <p:nvPicPr>
          <p:cNvPr id="5" name="Picture 4" descr="Score retrieval (recall@k) and generation (faithfulness, citations) independentl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5754"/>
            <a:ext cx="8595360" cy="3355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Beyond basic RAG</a:t>
            </a:r>
          </a:p>
        </p:txBody>
      </p:sp>
      <p:pic>
        <p:nvPicPr>
          <p:cNvPr id="5" name="Picture 4" descr="Re-ranking, query rewriting, Self-RAG, and agentic retrieval as a too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9546"/>
            <a:ext cx="8595360" cy="32079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Self-RAG: Asai et al. 2023, arXiv:2310.11511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11 (paper)</a:t>
            </a:r>
          </a:p>
        </p:txBody>
      </p:sp>
      <p:pic>
        <p:nvPicPr>
          <p:cNvPr id="5" name="Picture 4" descr="Covers the Week 11 lectures + RAG (Lewis et al. 2020). Clear your desk. Finish early and your break starts early;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extended lab: build RAG end to e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 &amp; wrap-up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Extended lab: build RAG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Work through the milestones; the warm-up sketch is your map</a:t>
            </a:r>
          </a:p>
        </p:txBody>
      </p:sp>
      <p:pic>
        <p:nvPicPr>
          <p:cNvPr id="6" name="Picture 5" descr="About 50 min, three milestones: chunk and index, retrieve and ground, then cite and verif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198" y="1078992"/>
            <a:ext cx="3297603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weeks/week-11/class-02/exercise/rag.py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A grounded answer with a verified citation back to the source chun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45966"/>
            <a:ext cx="8595360" cy="20550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TF-IDF retriever + offline stub generator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trieve then generate; index once; benefits and citations; retrieval is the cei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9546"/>
            <a:ext cx="8595360" cy="32079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