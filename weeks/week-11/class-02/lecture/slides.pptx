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Bubble sheets made grading kids scalable; MMLU grades models the same way. Ask the class: what can a bubble sheet never measure?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grade students with exams. Benchmarks are the exams we write for models, and they are just as easy to get wrong.</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a classifier there is one gold label and grading is a string comparison. The moment there is more than one right answer, accuracy stops meaning anything and you have to decide what good even is.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Always report the protocol. Two papers with different shot counts or prompt templates are not comparable.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Watch out for contamination (test items leaked into training inflate the score) and construct validity (does the score measure the capability you care about?). A high MMLU number promises nothing about truthfulness, calibration, or safety.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Nine sentence-level tasks, one aggregate number. It drove real progress and then models passed the human baseline in about a year, which is why SuperGLUE existed almost immediately.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Real items from 3 of the 57 subjects. Four options means random guessing scores 25%; multiple choice makes grading trivial but invites contamination. Real items from 3 of 57 subjects; with 4 options, random guessing scores 25%.</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Forces trade-offs into view that one accuracy number hides: this model summarizes acceptably while being badly calibrated about it. Cost: expensive to run, and no tidy rank, by design.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Pick the metric that matches what you actually care about.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a couple of answers before moving on. Contamination, a narrow metric and plain overfitting can all produce a top score with nothing behind it.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Why it is dangerous: the model optimizes for plausible text, not truth. Fluency is not accuracy, and the wrong answer sounds exactly as authoritative as a right one. You will deliberately catch one today.</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Mitigations, later weeks: retrieval grounding (RAG, Week 13), demand verifiable citations, calibrate confidence and let the model abstain.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Intrinsic contradicts the source, extrinsic invents something the source never mentioned. The second is more dangerous, because there is nothing to contradict and it reads perfectly.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RAG and summarization we grade faithfulness: the answer must come from the source. Factuality is the broader, harder world-truth test.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answer almost no model is trained to give. Silence is rarely rewarded during training, so a guess scores better than an admission, and you get a fluent number with nothing behind it.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Reframe it as cost. When a wrong answer is expensive, I do not know is not a failure, it is the correct output.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Caution: every automatic checker is itself imperfect. A factuality score is only as trustworthy as the source and the checker behind it.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Then the score measures memorization, not ability. Benchmarks are public text, so they get scraped into pretraining corpora. Defenses: private or held-out test sets, canary strings, freshly collected items, and checking the corpus for verbatim overlap. It can mean the answers were memorized. Contamination breaks the one assumption a benchmark rests on: the model has never seen the test.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habits. Report the protocol so two numbers can be compared at all, use more than one benchmark, check for contamination, and look at the errors rather than only the aggregate.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already do, at scale. The question is not whether it happens but whether the verdict deserves trust, which is the next two slides.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Show a strong model both replies and a rubric, and let it pick. It correlates surprisingly well with human preference, which is why it is now everywhere.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question, same content, two orderings, and the judge changes its mind. It also prefers the longer answer. Any evaluation built on this needs the positions swapped and averaged, or it is measuring the judge. Fixes: run both orders and keep only verdicts that survive the swap, give an explicit rubric, compare pairwise, and judge with a different model family. Zheng et al. 2023.</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Weeks 10 and 11: BPE at scale, instruction tuning, alignment, LoRA and quantization, evaluation, plus InstructGPT (Ouyang 2022) and LoRA (Hu 2021). Clear your desk. Finish early and your break starts early; need more time and it comes out of the break.</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Flag a hallucination, then build the swap test that catches a biased judge.</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provided swap-test makes every team's red-team concrete. The punchline for the activity: the winner can depend on the slot, not the answer. Every team runs this on the eval they received, so the red-teaming ends with a number instead of an opinion.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1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Evaluation &amp; Benchmarks</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11, Class 2  ·  Wed Nov 4, 2026</a:t>
            </a:r>
          </a:p>
        </p:txBody>
      </p:sp>
      <p:pic>
        <p:nvPicPr>
          <p:cNvPr id="5" name="Picture 4" descr="Evaluation &amp; Benchmarks"/>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Onderwijsgek, Wikimedia Commons, CC BY-SA 2.5 NL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do you grade a machine?</a:t>
            </a:r>
          </a:p>
        </p:txBody>
      </p:sp>
      <p:pic>
        <p:nvPicPr>
          <p:cNvPr id="5" name="Picture 4" descr="How do you grade a machine?"/>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https://images.unsplash.com/photo-1434030216411-0b793f4b4173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is evaluating LLMs hard?</a:t>
            </a:r>
          </a:p>
        </p:txBody>
      </p:sp>
      <p:sp>
        <p:nvSpPr>
          <p:cNvPr id="5" name="Rounded Rectangle 4"/>
          <p:cNvSpPr/>
          <p:nvPr/>
        </p:nvSpPr>
        <p:spPr>
          <a:xfrm>
            <a:off x="457200" y="2281428"/>
            <a:ext cx="4041648" cy="1184148"/>
          </a:xfrm>
          <a:prstGeom prst="roundRect">
            <a:avLst>
              <a:gd name="adj" fmla="val 1003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27732"/>
            <a:ext cx="3675888" cy="891540"/>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CLASSIFIER</a:t>
            </a:r>
          </a:p>
          <a:p>
            <a:pPr marL="0" indent="0">
              <a:spcAft>
                <a:spcPts val="300"/>
              </a:spcAft>
              <a:buNone/>
            </a:pPr>
            <a:r>
              <a:rPr sz="1900" b="0" u="none">
                <a:solidFill>
                  <a:srgbClr val="1D1D1F"/>
                </a:solidFill>
                <a:latin typeface="Menlo"/>
              </a:rPr>
              <a:t>one gold label per input</a:t>
            </a:r>
          </a:p>
          <a:p>
            <a:pPr marL="0" indent="0" algn="l">
              <a:spcAft>
                <a:spcPts val="200"/>
              </a:spcAft>
              <a:buNone/>
            </a:pPr>
            <a:r>
              <a:rPr sz="1200" b="0">
                <a:solidFill>
                  <a:srgbClr val="86868B"/>
                </a:solidFill>
                <a:latin typeface="Helvetica Neue"/>
              </a:rPr>
              <a:t>Grading is a string comparison. Accuracy on a held-out set is the whole report.</a:t>
            </a:r>
          </a:p>
        </p:txBody>
      </p:sp>
      <p:sp>
        <p:nvSpPr>
          <p:cNvPr id="7" name="Rounded Rectangle 6"/>
          <p:cNvSpPr/>
          <p:nvPr/>
        </p:nvSpPr>
        <p:spPr>
          <a:xfrm>
            <a:off x="4645152" y="2281428"/>
            <a:ext cx="4041648" cy="1184148"/>
          </a:xfrm>
          <a:prstGeom prst="roundRect">
            <a:avLst>
              <a:gd name="adj" fmla="val 1003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27732"/>
            <a:ext cx="3675888" cy="891540"/>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GENERATIVE MODEL</a:t>
            </a:r>
          </a:p>
          <a:p>
            <a:pPr marL="0" indent="0">
              <a:spcAft>
                <a:spcPts val="300"/>
              </a:spcAft>
              <a:buNone/>
            </a:pPr>
            <a:r>
              <a:rPr sz="1900" b="0" u="none">
                <a:solidFill>
                  <a:srgbClr val="1D1D1F"/>
                </a:solidFill>
                <a:latin typeface="Menlo"/>
              </a:rPr>
              <a:t>many valid outputs</a:t>
            </a:r>
          </a:p>
          <a:p>
            <a:pPr marL="0" indent="0" algn="l">
              <a:spcAft>
                <a:spcPts val="200"/>
              </a:spcAft>
              <a:buNone/>
            </a:pPr>
            <a:r>
              <a:rPr sz="1200" b="0">
                <a:solidFill>
                  <a:srgbClr val="86868B"/>
                </a:solidFill>
                <a:latin typeface="Helvetica Neue"/>
              </a:rPr>
              <a:t>There is no single string to compare against, so the metric has to be invented.</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is a benchmark?</a:t>
            </a:r>
          </a:p>
        </p:txBody>
      </p:sp>
      <p:sp>
        <p:nvSpPr>
          <p:cNvPr id="5" name="Rounded Rectangle 4"/>
          <p:cNvSpPr/>
          <p:nvPr/>
        </p:nvSpPr>
        <p:spPr>
          <a:xfrm>
            <a:off x="457200" y="2304447"/>
            <a:ext cx="4041648" cy="1138110"/>
          </a:xfrm>
          <a:prstGeom prst="roundRect">
            <a:avLst>
              <a:gd name="adj" fmla="val 1044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50751"/>
            <a:ext cx="3675888" cy="845502"/>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PART 1, THE DATASET</a:t>
            </a:r>
          </a:p>
          <a:p>
            <a:pPr marL="0" indent="0">
              <a:spcAft>
                <a:spcPts val="300"/>
              </a:spcAft>
              <a:buNone/>
            </a:pPr>
            <a:r>
              <a:rPr sz="1650" b="0" u="none">
                <a:solidFill>
                  <a:srgbClr val="1D1D1F"/>
                </a:solidFill>
                <a:latin typeface="Menlo"/>
              </a:rPr>
              <a:t>a fixed, frozen set of items</a:t>
            </a:r>
          </a:p>
          <a:p>
            <a:pPr marL="0" indent="0" algn="l">
              <a:spcAft>
                <a:spcPts val="200"/>
              </a:spcAft>
              <a:buNone/>
            </a:pPr>
            <a:r>
              <a:rPr sz="1200" b="0">
                <a:solidFill>
                  <a:srgbClr val="86868B"/>
                </a:solidFill>
                <a:latin typeface="Helvetica Neue"/>
              </a:rPr>
              <a:t>"What is the capital of Australia?" with the gold answer recorded. Every model sees the same test.</a:t>
            </a:r>
          </a:p>
        </p:txBody>
      </p:sp>
      <p:sp>
        <p:nvSpPr>
          <p:cNvPr id="7" name="Rounded Rectangle 6"/>
          <p:cNvSpPr/>
          <p:nvPr/>
        </p:nvSpPr>
        <p:spPr>
          <a:xfrm>
            <a:off x="4645152" y="2304447"/>
            <a:ext cx="4041648" cy="1138110"/>
          </a:xfrm>
          <a:prstGeom prst="roundRect">
            <a:avLst>
              <a:gd name="adj" fmla="val 1044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50751"/>
            <a:ext cx="3675888" cy="845502"/>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PART 2, THE METRIC</a:t>
            </a:r>
          </a:p>
          <a:p>
            <a:pPr marL="0" indent="0">
              <a:spcAft>
                <a:spcPts val="300"/>
              </a:spcAft>
              <a:buNone/>
            </a:pPr>
            <a:r>
              <a:rPr sz="1650" b="0" u="none">
                <a:solidFill>
                  <a:srgbClr val="1D1D1F"/>
                </a:solidFill>
                <a:latin typeface="Menlo"/>
              </a:rPr>
              <a:t>exact match, averaged</a:t>
            </a:r>
          </a:p>
          <a:p>
            <a:pPr marL="0" indent="0" algn="l">
              <a:spcAft>
                <a:spcPts val="200"/>
              </a:spcAft>
              <a:buNone/>
            </a:pPr>
            <a:r>
              <a:rPr sz="1200" b="0">
                <a:solidFill>
                  <a:srgbClr val="86868B"/>
                </a:solidFill>
                <a:latin typeface="Helvetica Neue"/>
              </a:rPr>
              <a:t>Output "B", gold "B", score 1. Otherwise 0. The average over all items is the score.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landmark benchmarks</a:t>
            </a:r>
          </a:p>
        </p:txBody>
      </p:sp>
      <p:graphicFrame>
        <p:nvGraphicFramePr>
          <p:cNvPr id="5" name="Table 4"/>
          <p:cNvGraphicFramePr>
            <a:graphicFrameLocks noGrp="1"/>
          </p:cNvGraphicFramePr>
          <p:nvPr/>
        </p:nvGraphicFramePr>
        <p:xfrm>
          <a:off x="457200" y="1456182"/>
          <a:ext cx="8229600" cy="2834640"/>
        </p:xfrm>
        <a:graphic>
          <a:graphicData uri="http://schemas.openxmlformats.org/drawingml/2006/table">
            <a:tbl>
              <a:tblPr firstRow="1" bandRow="0"/>
              <a:tblGrid>
                <a:gridCol w="1810512"/>
                <a:gridCol w="3209544"/>
                <a:gridCol w="3209544"/>
              </a:tblGrid>
              <a:tr h="566928">
                <a:tc>
                  <a:txBody>
                    <a:bodyPr wrap="none"/>
                    <a:lstStyle/>
                    <a:p>
                      <a:pPr marL="0" indent="0" algn="l">
                        <a:spcAft>
                          <a:spcPts val="0"/>
                        </a:spcAft>
                        <a:buNone/>
                      </a:pPr>
                      <a:r>
                        <a:rPr sz="1100" b="1" spc="50">
                          <a:solidFill>
                            <a:srgbClr val="86868B"/>
                          </a:solidFill>
                          <a:latin typeface="Helvetica Neue"/>
                        </a:rPr>
                        <a:t>BENCHMARK</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WHAT IT MEASURES</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THE LIMITATION</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GLUE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nine sentence tasks, one score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saturated fast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SuperGLUE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harder successor</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saturated too</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MMLU</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57 subjects, multiple choice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contamination</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HELM</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many scenarios, many metrics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expensive to run</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GLUE 1804.07461; MMLU 2009.03300; HELM 2211.09110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GLUE</a:t>
            </a:r>
          </a:p>
        </p:txBody>
      </p:sp>
      <p:pic>
        <p:nvPicPr>
          <p:cNvPr id="5" name="Picture 4" descr="GLUE"/>
          <p:cNvPicPr>
            <a:picLocks noChangeAspect="1"/>
          </p:cNvPicPr>
          <p:nvPr/>
        </p:nvPicPr>
        <p:blipFill>
          <a:blip r:embed="rId3"/>
          <a:stretch>
            <a:fillRect/>
          </a:stretch>
        </p:blipFill>
        <p:spPr>
          <a:xfrm>
            <a:off x="1908129" y="1078992"/>
            <a:ext cx="5327742"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Wang et al. 2018 (arXiv:1804.07461), Table 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MMLU</a:t>
            </a:r>
          </a:p>
        </p:txBody>
      </p:sp>
      <p:pic>
        <p:nvPicPr>
          <p:cNvPr id="5" name="Picture 4" descr="MMLU"/>
          <p:cNvPicPr>
            <a:picLocks noChangeAspect="1"/>
          </p:cNvPicPr>
          <p:nvPr/>
        </p:nvPicPr>
        <p:blipFill>
          <a:blip r:embed="rId3"/>
          <a:stretch>
            <a:fillRect/>
          </a:stretch>
        </p:blipFill>
        <p:spPr>
          <a:xfrm>
            <a:off x="1769302" y="1078992"/>
            <a:ext cx="5605396"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Hendrycks et al. 2021 (arXiv:2009.03300), Figs. 3-4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HELM</a:t>
            </a:r>
          </a:p>
        </p:txBody>
      </p:sp>
      <p:graphicFrame>
        <p:nvGraphicFramePr>
          <p:cNvPr id="5" name="Table 4"/>
          <p:cNvGraphicFramePr>
            <a:graphicFrameLocks noGrp="1"/>
          </p:cNvGraphicFramePr>
          <p:nvPr/>
        </p:nvGraphicFramePr>
        <p:xfrm>
          <a:off x="457200" y="1739646"/>
          <a:ext cx="5102351" cy="2267712"/>
        </p:xfrm>
        <a:graphic>
          <a:graphicData uri="http://schemas.openxmlformats.org/drawingml/2006/table">
            <a:tbl>
              <a:tblPr firstRow="1" bandRow="0"/>
              <a:tblGrid>
                <a:gridCol w="2630043"/>
                <a:gridCol w="618077"/>
                <a:gridCol w="618077"/>
                <a:gridCol w="618077"/>
                <a:gridCol w="618077"/>
              </a:tblGrid>
              <a:tr h="566928">
                <a:tc>
                  <a:txBody>
                    <a:bodyPr wrap="none"/>
                    <a:lstStyle/>
                    <a:p>
                      <a:pPr marL="0" indent="0" algn="l">
                        <a:spcAft>
                          <a:spcPts val="0"/>
                        </a:spcAft>
                        <a:buNone/>
                      </a:pPr>
                      <a:r>
                        <a:rPr sz="750" b="1" spc="50">
                          <a:solidFill>
                            <a:srgbClr val="86868B"/>
                          </a:solidFill>
                          <a:latin typeface="Helvetica Neue"/>
                        </a:rPr>
                        <a:t>SCENARIO</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750" b="1" spc="50">
                          <a:solidFill>
                            <a:srgbClr val="86868B"/>
                          </a:solidFill>
                          <a:latin typeface="Helvetica Neue"/>
                        </a:rPr>
                        <a:t>ACCURACY</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750" b="1" spc="50">
                          <a:solidFill>
                            <a:srgbClr val="86868B"/>
                          </a:solidFill>
                          <a:latin typeface="Helvetica Neue"/>
                        </a:rPr>
                        <a:t>CALIBRATION</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750" b="1" spc="50">
                          <a:solidFill>
                            <a:srgbClr val="86868B"/>
                          </a:solidFill>
                          <a:latin typeface="Helvetica Neue"/>
                        </a:rPr>
                        <a:t>ROBUSTNESS</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750" b="1" spc="50">
                          <a:solidFill>
                            <a:srgbClr val="86868B"/>
                          </a:solidFill>
                          <a:latin typeface="Helvetica Neue"/>
                        </a:rPr>
                        <a:t>TOXICITY</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question answering</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high</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medium</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high</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low</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summarization</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medium</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low</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medium</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low</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toxicity detection</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medium</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medium</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low</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high</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1739646"/>
            <a:ext cx="2761488" cy="2267712"/>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NOT ONE SCORE</a:t>
            </a:r>
          </a:p>
          <a:p>
            <a:pPr marL="0" indent="0">
              <a:spcAft>
                <a:spcPts val="900"/>
              </a:spcAft>
              <a:buNone/>
            </a:pPr>
            <a:r>
              <a:rPr sz="1300">
                <a:solidFill>
                  <a:srgbClr val="1D1D1F"/>
                </a:solidFill>
                <a:latin typeface="Helvetica Neue"/>
              </a:rPr>
              <a:t>Every scenario on every metric, so the trade-offs cannot hide behind an average.</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Liang et al., 2022, arxiv.org/abs/2211.09110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Metrics matter as much as data</a:t>
            </a:r>
          </a:p>
        </p:txBody>
      </p:sp>
      <p:graphicFrame>
        <p:nvGraphicFramePr>
          <p:cNvPr id="5" name="Table 4"/>
          <p:cNvGraphicFramePr>
            <a:graphicFrameLocks noGrp="1"/>
          </p:cNvGraphicFramePr>
          <p:nvPr/>
        </p:nvGraphicFramePr>
        <p:xfrm>
          <a:off x="457200" y="2023110"/>
          <a:ext cx="5102352" cy="1700784"/>
        </p:xfrm>
        <a:graphic>
          <a:graphicData uri="http://schemas.openxmlformats.org/drawingml/2006/table">
            <a:tbl>
              <a:tblPr firstRow="1" bandRow="0"/>
              <a:tblGrid>
                <a:gridCol w="1820418"/>
                <a:gridCol w="1640967"/>
                <a:gridCol w="1640967"/>
              </a:tblGrid>
              <a:tr h="566928">
                <a:tc>
                  <a:txBody>
                    <a:bodyPr wrap="none"/>
                    <a:lstStyle/>
                    <a:p>
                      <a:pPr marL="0" indent="0" algn="l">
                        <a:spcAft>
                          <a:spcPts val="0"/>
                        </a:spcAft>
                        <a:buNone/>
                      </a:pPr>
                      <a:r>
                        <a:rPr sz="1100" b="1" spc="50">
                          <a:solidFill>
                            <a:srgbClr val="86868B"/>
                          </a:solidFill>
                          <a:latin typeface="Helvetica Neue"/>
                        </a:rPr>
                        <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FLAGGED</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NOT FLAGGED</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hallucinated</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4</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6</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fine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2</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88</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2023110"/>
            <a:ext cx="2761488" cy="1700784"/>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ONE DETECTOR, 100 ANSWERS, 10 BAD</a:t>
            </a:r>
          </a:p>
          <a:p>
            <a:pPr marL="0" indent="0">
              <a:spcAft>
                <a:spcPts val="900"/>
              </a:spcAft>
              <a:buNone/>
            </a:pPr>
            <a:r>
              <a:rPr sz="1300">
                <a:solidFill>
                  <a:srgbClr val="1D1D1F"/>
                </a:solidFill>
                <a:latin typeface="Helvetica Neue"/>
              </a:rPr>
              <a:t>It flags 6 and is right about 4. Same predictions, four very different grades.</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Not necessarily. Contamination, narrow metrics, and overfitting can fake a high score."/>
          <p:cNvPicPr>
            <a:picLocks noChangeAspect="1"/>
          </p:cNvPicPr>
          <p:nvPr/>
        </p:nvPicPr>
        <p:blipFill>
          <a:blip r:embed="rId3"/>
          <a:stretch>
            <a:fillRect/>
          </a:stretch>
        </p:blipFill>
        <p:spPr>
          <a:xfrm>
            <a:off x="0" y="-468630"/>
            <a:ext cx="9144000" cy="608076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a model tops every leaderboard, is it actually good?</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Not necessarily. Contamination, narrow metrics, and overfitting can fake a high score.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https://images.unsplash.com/photo-1453928582365-b6ad33cbcf64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Hallucination</a:t>
            </a:r>
          </a:p>
        </p:txBody>
      </p:sp>
      <p:sp>
        <p:nvSpPr>
          <p:cNvPr id="5" name="Rounded Rectangle 4"/>
          <p:cNvSpPr/>
          <p:nvPr/>
        </p:nvSpPr>
        <p:spPr>
          <a:xfrm>
            <a:off x="457200" y="1903921"/>
            <a:ext cx="4041648" cy="1939162"/>
          </a:xfrm>
          <a:prstGeom prst="roundRect">
            <a:avLst>
              <a:gd name="adj" fmla="val 613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050225"/>
            <a:ext cx="3675888" cy="1646554"/>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ASKED</a:t>
            </a:r>
          </a:p>
          <a:p>
            <a:pPr marL="0" indent="0">
              <a:spcAft>
                <a:spcPts val="300"/>
              </a:spcAft>
              <a:buNone/>
            </a:pPr>
            <a:r>
              <a:rPr sz="2000" b="0" u="none">
                <a:solidFill>
                  <a:srgbClr val="1D1D1F"/>
                </a:solidFill>
                <a:latin typeface="Menlo"/>
              </a:rPr>
              <a:t>"Who won the Nobel Prize in Physics in 2087?"</a:t>
            </a:r>
          </a:p>
        </p:txBody>
      </p:sp>
      <p:sp>
        <p:nvSpPr>
          <p:cNvPr id="7" name="Rounded Rectangle 6"/>
          <p:cNvSpPr/>
          <p:nvPr/>
        </p:nvSpPr>
        <p:spPr>
          <a:xfrm>
            <a:off x="4645152" y="1903921"/>
            <a:ext cx="4041648" cy="1939162"/>
          </a:xfrm>
          <a:prstGeom prst="roundRect">
            <a:avLst>
              <a:gd name="adj" fmla="val 613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050225"/>
            <a:ext cx="3675888" cy="1646554"/>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ANSWERED</a:t>
            </a:r>
          </a:p>
          <a:p>
            <a:pPr marL="0" indent="0">
              <a:spcAft>
                <a:spcPts val="300"/>
              </a:spcAft>
              <a:buNone/>
            </a:pPr>
            <a:r>
              <a:rPr sz="2000" b="0" u="none">
                <a:solidFill>
                  <a:srgbClr val="1D1D1F"/>
                </a:solidFill>
                <a:latin typeface="Menlo"/>
              </a:rPr>
              <a:t>"Dr. Elena Vasquez, for quantum gravity stabilization."</a:t>
            </a:r>
          </a:p>
          <a:p>
            <a:pPr marL="0" indent="0" algn="l">
              <a:spcAft>
                <a:spcPts val="200"/>
              </a:spcAft>
              <a:buNone/>
            </a:pPr>
            <a:r>
              <a:rPr sz="1200" b="0">
                <a:solidFill>
                  <a:srgbClr val="86868B"/>
                </a:solidFill>
                <a:latin typeface="Helvetica Neue"/>
              </a:rPr>
              <a:t>Fluent, specific, and entirely fabricated. The year has not happened yet.</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example matches the exercise dataset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models hallucinate</a:t>
            </a:r>
          </a:p>
        </p:txBody>
      </p:sp>
      <p:sp>
        <p:nvSpPr>
          <p:cNvPr id="5" name="Rounded Rectangle 4"/>
          <p:cNvSpPr/>
          <p:nvPr/>
        </p:nvSpPr>
        <p:spPr>
          <a:xfrm>
            <a:off x="457200" y="1078992"/>
            <a:ext cx="8229600" cy="1147572"/>
          </a:xfrm>
          <a:prstGeom prst="roundRect">
            <a:avLst>
              <a:gd name="adj" fmla="val 79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1828800" cy="1147572"/>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WHAT IT SAID</a:t>
            </a:r>
          </a:p>
        </p:txBody>
      </p:sp>
      <p:sp>
        <p:nvSpPr>
          <p:cNvPr id="7" name="TextBox 6"/>
          <p:cNvSpPr txBox="1"/>
          <p:nvPr/>
        </p:nvSpPr>
        <p:spPr>
          <a:xfrm>
            <a:off x="2523744" y="1078992"/>
            <a:ext cx="5925312" cy="1147572"/>
          </a:xfrm>
          <a:prstGeom prst="rect">
            <a:avLst/>
          </a:prstGeom>
          <a:noFill/>
        </p:spPr>
        <p:txBody>
          <a:bodyPr wrap="none" anchor="ctr" lIns="0" rIns="0" tIns="0" bIns="0">
            <a:spAutoFit/>
          </a:bodyPr>
          <a:lstStyle/>
          <a:p>
            <a:pPr marL="0" indent="0" algn="l">
              <a:spcAft>
                <a:spcPts val="0"/>
              </a:spcAft>
              <a:buNone/>
            </a:pPr>
            <a:r>
              <a:rPr sz="1000" b="0">
                <a:solidFill>
                  <a:srgbClr val="1D1D1F"/>
                </a:solidFill>
                <a:latin typeface="Menlo"/>
              </a:rPr>
              <a:t>Kadavath et al. (2022), "Language Models Should Know When They Don't Know", NeurIPS 2022, 91.4% calibration accuracy</a:t>
            </a:r>
          </a:p>
        </p:txBody>
      </p:sp>
      <p:sp>
        <p:nvSpPr>
          <p:cNvPr id="8" name="Rounded Rectangle 7"/>
          <p:cNvSpPr/>
          <p:nvPr/>
        </p:nvSpPr>
        <p:spPr>
          <a:xfrm>
            <a:off x="457200" y="2299716"/>
            <a:ext cx="8229600" cy="1147572"/>
          </a:xfrm>
          <a:prstGeom prst="roundRect">
            <a:avLst>
              <a:gd name="adj" fmla="val 79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2299716"/>
            <a:ext cx="1828800" cy="1147572"/>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WHAT IS TRUE</a:t>
            </a:r>
          </a:p>
        </p:txBody>
      </p:sp>
      <p:sp>
        <p:nvSpPr>
          <p:cNvPr id="10" name="TextBox 9"/>
          <p:cNvSpPr txBox="1"/>
          <p:nvPr/>
        </p:nvSpPr>
        <p:spPr>
          <a:xfrm>
            <a:off x="2523744" y="2299716"/>
            <a:ext cx="5925312" cy="1147572"/>
          </a:xfrm>
          <a:prstGeom prst="rect">
            <a:avLst/>
          </a:prstGeom>
          <a:noFill/>
        </p:spPr>
        <p:txBody>
          <a:bodyPr wrap="none" anchor="ctr" lIns="0" rIns="0" tIns="0" bIns="0">
            <a:spAutoFit/>
          </a:bodyPr>
          <a:lstStyle/>
          <a:p>
            <a:pPr marL="0" indent="0" algn="l">
              <a:spcAft>
                <a:spcPts val="0"/>
              </a:spcAft>
              <a:buNone/>
            </a:pPr>
            <a:r>
              <a:rPr sz="1000" b="0">
                <a:solidFill>
                  <a:srgbClr val="1D1D1F"/>
                </a:solidFill>
                <a:latin typeface="Menlo"/>
              </a:rPr>
              <a:t>the authors and the year</a:t>
            </a:r>
          </a:p>
        </p:txBody>
      </p:sp>
      <p:sp>
        <p:nvSpPr>
          <p:cNvPr id="11" name="Rounded Rectangle 10"/>
          <p:cNvSpPr/>
          <p:nvPr/>
        </p:nvSpPr>
        <p:spPr>
          <a:xfrm>
            <a:off x="457200" y="3520440"/>
            <a:ext cx="8229600" cy="1147572"/>
          </a:xfrm>
          <a:prstGeom prst="roundRect">
            <a:avLst>
              <a:gd name="adj" fmla="val 79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3520440"/>
            <a:ext cx="1828800" cy="1147572"/>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WHAT IS NOT</a:t>
            </a:r>
          </a:p>
        </p:txBody>
      </p:sp>
      <p:sp>
        <p:nvSpPr>
          <p:cNvPr id="13" name="TextBox 12"/>
          <p:cNvSpPr txBox="1"/>
          <p:nvPr/>
        </p:nvSpPr>
        <p:spPr>
          <a:xfrm>
            <a:off x="2523744" y="3520440"/>
            <a:ext cx="5925312" cy="1147572"/>
          </a:xfrm>
          <a:prstGeom prst="rect">
            <a:avLst/>
          </a:prstGeom>
          <a:noFill/>
        </p:spPr>
        <p:txBody>
          <a:bodyPr wrap="none" anchor="ctr" lIns="0" rIns="0" tIns="0" bIns="0">
            <a:spAutoFit/>
          </a:bodyPr>
          <a:lstStyle/>
          <a:p>
            <a:pPr marL="0" indent="0" algn="l">
              <a:spcAft>
                <a:spcPts val="0"/>
              </a:spcAft>
              <a:buNone/>
            </a:pPr>
            <a:r>
              <a:rPr sz="1000" b="0">
                <a:solidFill>
                  <a:srgbClr val="1D1D1F"/>
                </a:solidFill>
                <a:latin typeface="Menlo"/>
              </a:rPr>
              <a:t>the title, the venue, and the number Every wrong part is the part that sounds most like a citation.</a:t>
            </a:r>
          </a:p>
        </p:txBody>
      </p:sp>
      <p:sp>
        <p:nvSpPr>
          <p:cNvPr id="14" name="TextBox 13"/>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Two kinds of hallucination</a:t>
            </a:r>
          </a:p>
        </p:txBody>
      </p:sp>
      <p:sp>
        <p:nvSpPr>
          <p:cNvPr id="5" name="Rounded Rectangle 4"/>
          <p:cNvSpPr/>
          <p:nvPr/>
        </p:nvSpPr>
        <p:spPr>
          <a:xfrm>
            <a:off x="457200" y="2281428"/>
            <a:ext cx="4041648" cy="1184148"/>
          </a:xfrm>
          <a:prstGeom prst="roundRect">
            <a:avLst>
              <a:gd name="adj" fmla="val 1003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27732"/>
            <a:ext cx="3675888" cy="891540"/>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INTRINSIC</a:t>
            </a:r>
          </a:p>
          <a:p>
            <a:pPr marL="0" indent="0">
              <a:spcAft>
                <a:spcPts val="300"/>
              </a:spcAft>
              <a:buNone/>
            </a:pPr>
            <a:r>
              <a:rPr sz="1900" b="0" u="none">
                <a:solidFill>
                  <a:srgbClr val="1D1D1F"/>
                </a:solidFill>
                <a:latin typeface="Menlo"/>
              </a:rPr>
              <a:t>contradicts the source</a:t>
            </a:r>
          </a:p>
          <a:p>
            <a:pPr marL="0" indent="0" algn="l">
              <a:spcAft>
                <a:spcPts val="200"/>
              </a:spcAft>
              <a:buNone/>
            </a:pPr>
            <a:r>
              <a:rPr sz="1200" b="0">
                <a:solidFill>
                  <a:srgbClr val="86868B"/>
                </a:solidFill>
                <a:latin typeface="Helvetica Neue"/>
              </a:rPr>
              <a:t>Source says March 2020, the summary says May 2020.</a:t>
            </a:r>
          </a:p>
        </p:txBody>
      </p:sp>
      <p:sp>
        <p:nvSpPr>
          <p:cNvPr id="7" name="Rounded Rectangle 6"/>
          <p:cNvSpPr/>
          <p:nvPr/>
        </p:nvSpPr>
        <p:spPr>
          <a:xfrm>
            <a:off x="4645152" y="2281428"/>
            <a:ext cx="4041648" cy="1184148"/>
          </a:xfrm>
          <a:prstGeom prst="roundRect">
            <a:avLst>
              <a:gd name="adj" fmla="val 1003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27732"/>
            <a:ext cx="3675888" cy="891540"/>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EXTRINSIC</a:t>
            </a:r>
          </a:p>
          <a:p>
            <a:pPr marL="0" indent="0">
              <a:spcAft>
                <a:spcPts val="300"/>
              </a:spcAft>
              <a:buNone/>
            </a:pPr>
            <a:r>
              <a:rPr sz="1900" b="0" u="none">
                <a:solidFill>
                  <a:srgbClr val="1D1D1F"/>
                </a:solidFill>
                <a:latin typeface="Menlo"/>
              </a:rPr>
              <a:t>not in the source at all</a:t>
            </a:r>
          </a:p>
          <a:p>
            <a:pPr marL="0" indent="0" algn="l">
              <a:spcAft>
                <a:spcPts val="200"/>
              </a:spcAft>
              <a:buNone/>
            </a:pPr>
            <a:r>
              <a:rPr sz="1200" b="0">
                <a:solidFill>
                  <a:srgbClr val="86868B"/>
                </a:solidFill>
                <a:latin typeface="Helvetica Neue"/>
              </a:rPr>
              <a:t>"Filed by staff writer J. Alvarez." No author is named anywhere.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intrinsic vs extrinsic framing, Ji et al. 2023 survey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Faithfulness vs factuality</a:t>
            </a:r>
          </a:p>
        </p:txBody>
      </p:sp>
      <p:graphicFrame>
        <p:nvGraphicFramePr>
          <p:cNvPr id="5" name="Table 4"/>
          <p:cNvGraphicFramePr>
            <a:graphicFrameLocks noGrp="1"/>
          </p:cNvGraphicFramePr>
          <p:nvPr/>
        </p:nvGraphicFramePr>
        <p:xfrm>
          <a:off x="457200" y="2023110"/>
          <a:ext cx="5102351" cy="1700784"/>
        </p:xfrm>
        <a:graphic>
          <a:graphicData uri="http://schemas.openxmlformats.org/drawingml/2006/table">
            <a:tbl>
              <a:tblPr firstRow="1" bandRow="0"/>
              <a:tblGrid>
                <a:gridCol w="2806293"/>
                <a:gridCol w="1148029"/>
                <a:gridCol w="1148029"/>
              </a:tblGrid>
              <a:tr h="566928">
                <a:tc>
                  <a:txBody>
                    <a:bodyPr wrap="none"/>
                    <a:lstStyle/>
                    <a:p>
                      <a:pPr marL="0" indent="0" algn="l">
                        <a:spcAft>
                          <a:spcPts val="0"/>
                        </a:spcAft>
                        <a:buNone/>
                      </a:pPr>
                      <a:r>
                        <a:rPr sz="750" b="1" spc="50">
                          <a:solidFill>
                            <a:srgbClr val="86868B"/>
                          </a:solidFill>
                          <a:latin typeface="Helvetica Neue"/>
                        </a:rPr>
                        <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750" b="1" spc="50">
                          <a:solidFill>
                            <a:srgbClr val="86868B"/>
                          </a:solidFill>
                          <a:latin typeface="Helvetica Neue"/>
                        </a:rPr>
                        <a:t>TRUE IN THE WORLD</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750" b="1" spc="50">
                          <a:solidFill>
                            <a:srgbClr val="86868B"/>
                          </a:solidFill>
                          <a:latin typeface="Helvetica Neue"/>
                        </a:rPr>
                        <a:t>FALSE IN THE WORLD</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supported by the source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what you want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faithful, repeats an error</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not in the source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true but unsupported</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the worst case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2023110"/>
            <a:ext cx="2761488" cy="1700784"/>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TWO QUESTIONS, NOT ONE</a:t>
            </a:r>
          </a:p>
          <a:p>
            <a:pPr marL="0" indent="0">
              <a:spcAft>
                <a:spcPts val="900"/>
              </a:spcAft>
              <a:buNone/>
            </a:pPr>
            <a:r>
              <a:rPr sz="1300">
                <a:solidFill>
                  <a:srgbClr val="1D1D1F"/>
                </a:solidFill>
                <a:latin typeface="Helvetica Neue"/>
              </a:rPr>
              <a:t>Faithful asks about the source. Factual asks about the world.</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Abstention: saying "I don't know"</a:t>
            </a:r>
          </a:p>
        </p:txBody>
      </p:sp>
      <p:sp>
        <p:nvSpPr>
          <p:cNvPr id="5" name="Rounded Rectangle 4"/>
          <p:cNvSpPr/>
          <p:nvPr/>
        </p:nvSpPr>
        <p:spPr>
          <a:xfrm>
            <a:off x="457200" y="2354612"/>
            <a:ext cx="4041648" cy="1037780"/>
          </a:xfrm>
          <a:prstGeom prst="roundRect">
            <a:avLst>
              <a:gd name="adj" fmla="val 1145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500916"/>
            <a:ext cx="3675888" cy="745172"/>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WHAT IT SAYS</a:t>
            </a:r>
          </a:p>
          <a:p>
            <a:pPr marL="0" indent="0">
              <a:spcAft>
                <a:spcPts val="300"/>
              </a:spcAft>
              <a:buNone/>
            </a:pPr>
            <a:r>
              <a:rPr sz="1250" b="0" u="none">
                <a:solidFill>
                  <a:srgbClr val="1D1D1F"/>
                </a:solidFill>
                <a:latin typeface="Menlo"/>
              </a:rPr>
              <a:t>"About 4,200 people attended."</a:t>
            </a:r>
          </a:p>
          <a:p>
            <a:pPr marL="0" indent="0" algn="l">
              <a:spcAft>
                <a:spcPts val="200"/>
              </a:spcAft>
              <a:buNone/>
            </a:pPr>
            <a:r>
              <a:rPr sz="1050" b="0">
                <a:solidFill>
                  <a:srgbClr val="86868B"/>
                </a:solidFill>
                <a:latin typeface="Helvetica Neue"/>
              </a:rPr>
              <a:t>Fluent, specific, invented. No source exists.</a:t>
            </a:r>
          </a:p>
        </p:txBody>
      </p:sp>
      <p:sp>
        <p:nvSpPr>
          <p:cNvPr id="7" name="Rounded Rectangle 6"/>
          <p:cNvSpPr/>
          <p:nvPr/>
        </p:nvSpPr>
        <p:spPr>
          <a:xfrm>
            <a:off x="4645152" y="2354612"/>
            <a:ext cx="4041648" cy="1037780"/>
          </a:xfrm>
          <a:prstGeom prst="roundRect">
            <a:avLst>
              <a:gd name="adj" fmla="val 1145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500916"/>
            <a:ext cx="3675888" cy="745172"/>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WHAT YOU WANTED</a:t>
            </a:r>
          </a:p>
          <a:p>
            <a:pPr marL="0" indent="0">
              <a:spcAft>
                <a:spcPts val="300"/>
              </a:spcAft>
              <a:buNone/>
            </a:pPr>
            <a:r>
              <a:rPr sz="1250" b="0" u="none">
                <a:solidFill>
                  <a:srgbClr val="1D1D1F"/>
                </a:solidFill>
                <a:latin typeface="Menlo"/>
              </a:rPr>
              <a:t>"I have no reliable source for that."</a:t>
            </a:r>
          </a:p>
          <a:p>
            <a:pPr marL="0" indent="0" algn="l">
              <a:spcAft>
                <a:spcPts val="200"/>
              </a:spcAft>
              <a:buNone/>
            </a:pPr>
            <a:r>
              <a:rPr sz="1050" b="0">
                <a:solidFill>
                  <a:srgbClr val="86868B"/>
                </a:solidFill>
                <a:latin typeface="Helvetica Neue"/>
              </a:rPr>
              <a:t>Silence is rarely rewarded in training, so the model guesses instead of stopping.</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If the cost of a wrong answer is high, &quot;I don't know&quot; is the right answer."/>
          <p:cNvPicPr>
            <a:picLocks noChangeAspect="1"/>
          </p:cNvPicPr>
          <p:nvPr/>
        </p:nvPicPr>
        <p:blipFill>
          <a:blip r:embed="rId3"/>
          <a:stretch>
            <a:fillRect/>
          </a:stretch>
        </p:blipFill>
        <p:spPr>
          <a:xfrm>
            <a:off x="0" y="-480060"/>
            <a:ext cx="9144000" cy="610362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Would you bet your job on this answer?</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If the cost of a wrong answer is high, "I don't know" is the right answer.</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https://images.unsplash.com/photo-1454165804606-c3d57bc86b40</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do we measure factuality?</a:t>
            </a:r>
          </a:p>
        </p:txBody>
      </p:sp>
      <p:graphicFrame>
        <p:nvGraphicFramePr>
          <p:cNvPr id="5" name="Table 4"/>
          <p:cNvGraphicFramePr>
            <a:graphicFrameLocks noGrp="1"/>
          </p:cNvGraphicFramePr>
          <p:nvPr/>
        </p:nvGraphicFramePr>
        <p:xfrm>
          <a:off x="457200" y="1739646"/>
          <a:ext cx="5102352" cy="2267712"/>
        </p:xfrm>
        <a:graphic>
          <a:graphicData uri="http://schemas.openxmlformats.org/drawingml/2006/table">
            <a:tbl>
              <a:tblPr firstRow="1" bandRow="0"/>
              <a:tblGrid>
                <a:gridCol w="2806293"/>
                <a:gridCol w="2296059"/>
              </a:tblGrid>
              <a:tr h="566928">
                <a:tc>
                  <a:txBody>
                    <a:bodyPr wrap="none"/>
                    <a:lstStyle/>
                    <a:p>
                      <a:pPr marL="0" indent="0" algn="l">
                        <a:spcAft>
                          <a:spcPts val="0"/>
                        </a:spcAft>
                        <a:buNone/>
                      </a:pPr>
                      <a:r>
                        <a:rPr sz="1100" b="1" spc="50">
                          <a:solidFill>
                            <a:srgbClr val="86868B"/>
                          </a:solidFill>
                          <a:latin typeface="Helvetica Neue"/>
                        </a:rPr>
                        <a:t>CLAIM</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VERDICT</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Canberra is the capital of Australia</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supported</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Canberra has about 1.2 million residents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contradicted</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Parliament has met there since 1927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supported</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1739646"/>
            <a:ext cx="2761488" cy="2267712"/>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TWO OF THREE</a:t>
            </a:r>
          </a:p>
          <a:p>
            <a:pPr marL="0" indent="0">
              <a:spcAft>
                <a:spcPts val="900"/>
              </a:spcAft>
              <a:buNone/>
            </a:pPr>
            <a:r>
              <a:rPr sz="1300">
                <a:solidFill>
                  <a:srgbClr val="1D1D1F"/>
                </a:solidFill>
                <a:latin typeface="Helvetica Neue"/>
              </a:rPr>
              <a:t>One fluent sentence, three separate truth values. Break the answer into atomic claims, then check each.</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if the test set was already in the training data?</a:t>
            </a:r>
          </a:p>
        </p:txBody>
      </p:sp>
      <p:sp>
        <p:nvSpPr>
          <p:cNvPr id="5" name="Rounded Rectangle 4"/>
          <p:cNvSpPr/>
          <p:nvPr/>
        </p:nvSpPr>
        <p:spPr>
          <a:xfrm>
            <a:off x="457200" y="1423924"/>
            <a:ext cx="2365248" cy="2185924"/>
          </a:xfrm>
          <a:prstGeom prst="roundRect">
            <a:avLst>
              <a:gd name="adj" fmla="val 501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21792" y="1687271"/>
            <a:ext cx="2036064" cy="1856740"/>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PUBLISHED</a:t>
            </a:r>
          </a:p>
          <a:p>
            <a:pPr marL="0" indent="0" algn="l">
              <a:lnSpc>
                <a:spcPts val="3000"/>
              </a:lnSpc>
              <a:spcAft>
                <a:spcPts val="0"/>
              </a:spcAft>
              <a:buNone/>
            </a:pPr>
            <a:r>
              <a:rPr sz="2000" b="0">
                <a:solidFill>
                  <a:srgbClr val="1D1D1F"/>
                </a:solidFill>
                <a:latin typeface="Menlo"/>
              </a:rPr>
              <a:t>a public repo, answer key included</a:t>
            </a:r>
          </a:p>
        </p:txBody>
      </p:sp>
      <p:sp>
        <p:nvSpPr>
          <p:cNvPr id="7" name="Right Arrow 6"/>
          <p:cNvSpPr/>
          <p:nvPr/>
        </p:nvSpPr>
        <p:spPr>
          <a:xfrm>
            <a:off x="2913156" y="2361438"/>
            <a:ext cx="385511" cy="310896"/>
          </a:xfrm>
          <a:prstGeom prst="rightArrow">
            <a:avLst/>
          </a:prstGeom>
          <a:solidFill>
            <a:srgbClr val="D2D2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389376" y="1423924"/>
            <a:ext cx="2365248" cy="2185924"/>
          </a:xfrm>
          <a:prstGeom prst="roundRect">
            <a:avLst>
              <a:gd name="adj" fmla="val 501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553968" y="1687271"/>
            <a:ext cx="2036064" cy="1856740"/>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SCRAPED</a:t>
            </a:r>
          </a:p>
          <a:p>
            <a:pPr marL="0" indent="0" algn="l">
              <a:lnSpc>
                <a:spcPts val="3000"/>
              </a:lnSpc>
              <a:spcAft>
                <a:spcPts val="0"/>
              </a:spcAft>
              <a:buNone/>
            </a:pPr>
            <a:r>
              <a:rPr sz="2000" b="0">
                <a:solidFill>
                  <a:srgbClr val="1D1D1F"/>
                </a:solidFill>
                <a:latin typeface="Menlo"/>
              </a:rPr>
              <a:t>into trillions of pretraining tokens</a:t>
            </a:r>
          </a:p>
        </p:txBody>
      </p:sp>
      <p:sp>
        <p:nvSpPr>
          <p:cNvPr id="10" name="Right Arrow 9"/>
          <p:cNvSpPr/>
          <p:nvPr/>
        </p:nvSpPr>
        <p:spPr>
          <a:xfrm>
            <a:off x="5845332" y="2361438"/>
            <a:ext cx="385511" cy="310896"/>
          </a:xfrm>
          <a:prstGeom prst="rightArrow">
            <a:avLst/>
          </a:prstGeom>
          <a:solidFill>
            <a:srgbClr val="D2D2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321552" y="1423924"/>
            <a:ext cx="2365248" cy="2185924"/>
          </a:xfrm>
          <a:prstGeom prst="roundRect">
            <a:avLst>
              <a:gd name="adj" fmla="val 501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86144" y="1687271"/>
            <a:ext cx="2036064" cy="1856740"/>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TESTED</a:t>
            </a:r>
          </a:p>
          <a:p>
            <a:pPr marL="0" indent="0" algn="l">
              <a:lnSpc>
                <a:spcPts val="3000"/>
              </a:lnSpc>
              <a:spcAft>
                <a:spcPts val="0"/>
              </a:spcAft>
              <a:buNone/>
            </a:pPr>
            <a:r>
              <a:rPr sz="2000" b="0">
                <a:solidFill>
                  <a:srgbClr val="1D1D1F"/>
                </a:solidFill>
                <a:latin typeface="Menlo"/>
              </a:rPr>
              <a:t>the same item, on evaluation day</a:t>
            </a:r>
          </a:p>
        </p:txBody>
      </p:sp>
      <p:sp>
        <p:nvSpPr>
          <p:cNvPr id="13" name="Left Arrow 12"/>
          <p:cNvSpPr/>
          <p:nvPr/>
        </p:nvSpPr>
        <p:spPr>
          <a:xfrm>
            <a:off x="457200" y="3829304"/>
            <a:ext cx="8229600" cy="237744"/>
          </a:xfrm>
          <a:prstGeom prst="leftArrow">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7200" y="4140200"/>
            <a:ext cx="8229600" cy="274320"/>
          </a:xfrm>
          <a:prstGeom prst="rect">
            <a:avLst/>
          </a:prstGeom>
          <a:noFill/>
        </p:spPr>
        <p:txBody>
          <a:bodyPr wrap="square" anchor="t" lIns="0" rIns="0" tIns="0" bIns="0">
            <a:spAutoFit/>
          </a:bodyPr>
          <a:lstStyle/>
          <a:p>
            <a:pPr marL="0" indent="0" algn="ctr">
              <a:spcAft>
                <a:spcPts val="0"/>
              </a:spcAft>
              <a:buNone/>
            </a:pPr>
            <a:r>
              <a:rPr sz="1300" b="0">
                <a:solidFill>
                  <a:srgbClr val="4C72B0"/>
                </a:solidFill>
                <a:latin typeface="Helvetica Neue"/>
              </a:rPr>
              <a:t>was the answer computed, or recalled? The score cannot tell you</a:t>
            </a:r>
          </a:p>
        </p:txBody>
      </p:sp>
      <p:sp>
        <p:nvSpPr>
          <p:cNvPr id="15" name="TextBox 14"/>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Evaluating responsibly</a:t>
            </a:r>
          </a:p>
        </p:txBody>
      </p:sp>
      <p:sp>
        <p:nvSpPr>
          <p:cNvPr id="5" name="Rounded Rectangle 4"/>
          <p:cNvSpPr/>
          <p:nvPr/>
        </p:nvSpPr>
        <p:spPr>
          <a:xfrm>
            <a:off x="457200" y="107899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475488" cy="828675"/>
          </a:xfrm>
          <a:prstGeom prst="rect">
            <a:avLst/>
          </a:prstGeom>
          <a:noFill/>
        </p:spPr>
        <p:txBody>
          <a:bodyPr wrap="none" anchor="ctr" lIns="0" rIns="0" tIns="0" bIns="0">
            <a:spAutoFit/>
          </a:bodyPr>
          <a:lstStyle/>
          <a:p>
            <a:pPr marL="0" indent="0" algn="l">
              <a:spcAft>
                <a:spcPts val="0"/>
              </a:spcAft>
              <a:buNone/>
            </a:pPr>
            <a:r>
              <a:rPr sz="1950" b="1">
                <a:solidFill>
                  <a:srgbClr val="1D1D1F"/>
                </a:solidFill>
                <a:latin typeface="Helvetica Neue"/>
              </a:rPr>
              <a:t>1</a:t>
            </a:r>
          </a:p>
        </p:txBody>
      </p:sp>
      <p:sp>
        <p:nvSpPr>
          <p:cNvPr id="7" name="TextBox 6"/>
          <p:cNvSpPr txBox="1"/>
          <p:nvPr/>
        </p:nvSpPr>
        <p:spPr>
          <a:xfrm>
            <a:off x="1170432" y="1078992"/>
            <a:ext cx="7278624" cy="828675"/>
          </a:xfrm>
          <a:prstGeom prst="rect">
            <a:avLst/>
          </a:prstGeom>
          <a:noFill/>
        </p:spPr>
        <p:txBody>
          <a:bodyPr wrap="square" anchor="ctr" lIns="0" rIns="0" tIns="0" bIns="0">
            <a:spAutoFit/>
          </a:bodyPr>
          <a:lstStyle/>
          <a:p>
            <a:pPr marL="0" indent="0" algn="l">
              <a:spcAft>
                <a:spcPts val="0"/>
              </a:spcAft>
              <a:buNone/>
            </a:pPr>
            <a:r>
              <a:rPr sz="1350" b="0">
                <a:solidFill>
                  <a:srgbClr val="1D1D1F"/>
                </a:solidFill>
                <a:latin typeface="Menlo"/>
              </a:rPr>
              <a:t>Report the protocol: shots, prompt template, decoding settings</a:t>
            </a:r>
          </a:p>
        </p:txBody>
      </p:sp>
      <p:sp>
        <p:nvSpPr>
          <p:cNvPr id="8" name="Rounded Rectangle 7"/>
          <p:cNvSpPr/>
          <p:nvPr/>
        </p:nvSpPr>
        <p:spPr>
          <a:xfrm>
            <a:off x="457200" y="199910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1999107"/>
            <a:ext cx="475488" cy="828675"/>
          </a:xfrm>
          <a:prstGeom prst="rect">
            <a:avLst/>
          </a:prstGeom>
          <a:noFill/>
        </p:spPr>
        <p:txBody>
          <a:bodyPr wrap="none" anchor="ctr" lIns="0" rIns="0" tIns="0" bIns="0">
            <a:spAutoFit/>
          </a:bodyPr>
          <a:lstStyle/>
          <a:p>
            <a:pPr marL="0" indent="0" algn="l">
              <a:spcAft>
                <a:spcPts val="0"/>
              </a:spcAft>
              <a:buNone/>
            </a:pPr>
            <a:r>
              <a:rPr sz="1950" b="1">
                <a:solidFill>
                  <a:srgbClr val="1D1D1F"/>
                </a:solidFill>
                <a:latin typeface="Helvetica Neue"/>
              </a:rPr>
              <a:t>2</a:t>
            </a:r>
          </a:p>
        </p:txBody>
      </p:sp>
      <p:sp>
        <p:nvSpPr>
          <p:cNvPr id="10" name="TextBox 9"/>
          <p:cNvSpPr txBox="1"/>
          <p:nvPr/>
        </p:nvSpPr>
        <p:spPr>
          <a:xfrm>
            <a:off x="1170432" y="1999107"/>
            <a:ext cx="7278624" cy="828675"/>
          </a:xfrm>
          <a:prstGeom prst="rect">
            <a:avLst/>
          </a:prstGeom>
          <a:noFill/>
        </p:spPr>
        <p:txBody>
          <a:bodyPr wrap="square" anchor="ctr" lIns="0" rIns="0" tIns="0" bIns="0">
            <a:spAutoFit/>
          </a:bodyPr>
          <a:lstStyle/>
          <a:p>
            <a:pPr marL="0" indent="0" algn="l">
              <a:spcAft>
                <a:spcPts val="0"/>
              </a:spcAft>
              <a:buNone/>
            </a:pPr>
            <a:r>
              <a:rPr sz="1350" b="0">
                <a:solidFill>
                  <a:srgbClr val="1D1D1F"/>
                </a:solidFill>
                <a:latin typeface="Menlo"/>
              </a:rPr>
              <a:t>Use more than one benchmark. The disagreement is the information</a:t>
            </a:r>
          </a:p>
        </p:txBody>
      </p:sp>
      <p:sp>
        <p:nvSpPr>
          <p:cNvPr id="11" name="Rounded Rectangle 10"/>
          <p:cNvSpPr/>
          <p:nvPr/>
        </p:nvSpPr>
        <p:spPr>
          <a:xfrm>
            <a:off x="457200" y="291922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2919222"/>
            <a:ext cx="475488" cy="828675"/>
          </a:xfrm>
          <a:prstGeom prst="rect">
            <a:avLst/>
          </a:prstGeom>
          <a:noFill/>
        </p:spPr>
        <p:txBody>
          <a:bodyPr wrap="none" anchor="ctr" lIns="0" rIns="0" tIns="0" bIns="0">
            <a:spAutoFit/>
          </a:bodyPr>
          <a:lstStyle/>
          <a:p>
            <a:pPr marL="0" indent="0" algn="l">
              <a:spcAft>
                <a:spcPts val="0"/>
              </a:spcAft>
              <a:buNone/>
            </a:pPr>
            <a:r>
              <a:rPr sz="1950" b="1">
                <a:solidFill>
                  <a:srgbClr val="1D1D1F"/>
                </a:solidFill>
                <a:latin typeface="Helvetica Neue"/>
              </a:rPr>
              <a:t>3</a:t>
            </a:r>
          </a:p>
        </p:txBody>
      </p:sp>
      <p:sp>
        <p:nvSpPr>
          <p:cNvPr id="13" name="TextBox 12"/>
          <p:cNvSpPr txBox="1"/>
          <p:nvPr/>
        </p:nvSpPr>
        <p:spPr>
          <a:xfrm>
            <a:off x="1170432" y="2919222"/>
            <a:ext cx="7278624" cy="828675"/>
          </a:xfrm>
          <a:prstGeom prst="rect">
            <a:avLst/>
          </a:prstGeom>
          <a:noFill/>
        </p:spPr>
        <p:txBody>
          <a:bodyPr wrap="square" anchor="ctr" lIns="0" rIns="0" tIns="0" bIns="0">
            <a:spAutoFit/>
          </a:bodyPr>
          <a:lstStyle/>
          <a:p>
            <a:pPr marL="0" indent="0" algn="l">
              <a:spcAft>
                <a:spcPts val="0"/>
              </a:spcAft>
              <a:buNone/>
            </a:pPr>
            <a:r>
              <a:rPr sz="1350" b="0">
                <a:solidFill>
                  <a:srgbClr val="1D1D1F"/>
                </a:solidFill>
                <a:latin typeface="Menlo"/>
              </a:rPr>
              <a:t>Check construct validity: does the score measure what you named it</a:t>
            </a:r>
          </a:p>
        </p:txBody>
      </p:sp>
      <p:sp>
        <p:nvSpPr>
          <p:cNvPr id="14" name="Rounded Rectangle 13"/>
          <p:cNvSpPr/>
          <p:nvPr/>
        </p:nvSpPr>
        <p:spPr>
          <a:xfrm>
            <a:off x="457200" y="383933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3839337"/>
            <a:ext cx="475488" cy="828675"/>
          </a:xfrm>
          <a:prstGeom prst="rect">
            <a:avLst/>
          </a:prstGeom>
          <a:noFill/>
        </p:spPr>
        <p:txBody>
          <a:bodyPr wrap="none" anchor="ctr" lIns="0" rIns="0" tIns="0" bIns="0">
            <a:spAutoFit/>
          </a:bodyPr>
          <a:lstStyle/>
          <a:p>
            <a:pPr marL="0" indent="0" algn="l">
              <a:spcAft>
                <a:spcPts val="0"/>
              </a:spcAft>
              <a:buNone/>
            </a:pPr>
            <a:r>
              <a:rPr sz="1950" b="1">
                <a:solidFill>
                  <a:srgbClr val="1D1D1F"/>
                </a:solidFill>
                <a:latin typeface="Helvetica Neue"/>
              </a:rPr>
              <a:t>4</a:t>
            </a:r>
          </a:p>
        </p:txBody>
      </p:sp>
      <p:sp>
        <p:nvSpPr>
          <p:cNvPr id="16" name="TextBox 15"/>
          <p:cNvSpPr txBox="1"/>
          <p:nvPr/>
        </p:nvSpPr>
        <p:spPr>
          <a:xfrm>
            <a:off x="1170432" y="3839337"/>
            <a:ext cx="7278624" cy="828675"/>
          </a:xfrm>
          <a:prstGeom prst="rect">
            <a:avLst/>
          </a:prstGeom>
          <a:noFill/>
        </p:spPr>
        <p:txBody>
          <a:bodyPr wrap="square" anchor="ctr" lIns="0" rIns="0" tIns="0" bIns="0">
            <a:spAutoFit/>
          </a:bodyPr>
          <a:lstStyle/>
          <a:p>
            <a:pPr marL="0" indent="0" algn="l">
              <a:spcAft>
                <a:spcPts val="0"/>
              </a:spcAft>
              <a:buNone/>
            </a:pPr>
            <a:r>
              <a:rPr sz="1350" b="0">
                <a:solidFill>
                  <a:srgbClr val="1D1D1F"/>
                </a:solidFill>
                <a:latin typeface="Menlo"/>
              </a:rPr>
              <a:t>Say what you did not measure</a:t>
            </a:r>
          </a:p>
        </p:txBody>
      </p:sp>
      <p:sp>
        <p:nvSpPr>
          <p:cNvPr id="17" name="TextBox 1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We do it all the time now. The question is whether to trust the verdict."/>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Should a robot grade a robot?</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We do it all the time now. The question is whether to trust the verdict.</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https://images.unsplash.com/photo-1589829545856-d10d557cf95f</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LLM-as-a-judge</a:t>
            </a:r>
          </a:p>
        </p:txBody>
      </p:sp>
      <p:sp>
        <p:nvSpPr>
          <p:cNvPr id="5" name="Rounded Rectangle 4"/>
          <p:cNvSpPr/>
          <p:nvPr/>
        </p:nvSpPr>
        <p:spPr>
          <a:xfrm>
            <a:off x="457200" y="1646491"/>
            <a:ext cx="8229600" cy="2015236"/>
          </a:xfrm>
          <a:prstGeom prst="roundRect">
            <a:avLst>
              <a:gd name="adj" fmla="val 5444"/>
            </a:avLst>
          </a:prstGeom>
          <a:solidFill>
            <a:srgbClr val="1D1D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68096" y="1801939"/>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50976" y="1801939"/>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33856" y="1801939"/>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67115"/>
            <a:ext cx="7607808" cy="1338580"/>
          </a:xfrm>
          <a:prstGeom prst="rect">
            <a:avLst/>
          </a:prstGeom>
          <a:noFill/>
        </p:spPr>
        <p:txBody>
          <a:bodyPr wrap="none" anchor="t" lIns="0" rIns="0" tIns="0" bIns="0">
            <a:spAutoFit/>
          </a:bodyPr>
          <a:lstStyle/>
          <a:p>
            <a:pPr marL="0" indent="0" algn="l">
              <a:lnSpc>
                <a:spcPts val="2635"/>
              </a:lnSpc>
              <a:spcAft>
                <a:spcPts val="0"/>
              </a:spcAft>
              <a:buNone/>
            </a:pPr>
            <a:r>
              <a:rPr sz="1700" b="0">
                <a:solidFill>
                  <a:srgbClr val="F5F5F7"/>
                </a:solidFill>
                <a:latin typeface="Menlo"/>
              </a:rPr>
              <a:t>You are grading two assistant replies.</a:t>
            </a:r>
          </a:p>
          <a:p>
            <a:pPr marL="0" indent="0" algn="l">
              <a:lnSpc>
                <a:spcPts val="2635"/>
              </a:lnSpc>
              <a:spcAft>
                <a:spcPts val="0"/>
              </a:spcAft>
              <a:buNone/>
            </a:pPr>
            <a:r>
              <a:rPr sz="1700" b="0">
                <a:solidFill>
                  <a:srgbClr val="F5F5F7"/>
                </a:solidFill>
                <a:latin typeface="Menlo"/>
              </a:rPr>
              <a:t>Criteria: helpfulness, correctness, relevance.</a:t>
            </a:r>
          </a:p>
          <a:p>
            <a:pPr marL="0" indent="0" algn="l">
              <a:lnSpc>
                <a:spcPts val="2635"/>
              </a:lnSpc>
              <a:spcAft>
                <a:spcPts val="0"/>
              </a:spcAft>
              <a:buNone/>
            </a:pPr>
            <a:r>
              <a:rPr sz="1700" b="0">
                <a:solidFill>
                  <a:srgbClr val="F5F5F7"/>
                </a:solidFill>
                <a:latin typeface="Menlo"/>
              </a:rPr>
              <a:t>Ignore length and ignore order.</a:t>
            </a:r>
          </a:p>
          <a:p>
            <a:pPr marL="0" indent="0" algn="l">
              <a:lnSpc>
                <a:spcPts val="2635"/>
              </a:lnSpc>
              <a:spcAft>
                <a:spcPts val="0"/>
              </a:spcAft>
              <a:buNone/>
            </a:pPr>
            <a:r>
              <a:rPr sz="1700" b="0">
                <a:solidFill>
                  <a:srgbClr val="F5F5F7"/>
                </a:solidFill>
                <a:latin typeface="Menlo"/>
              </a:rPr>
              <a:t>Output one of: A, B, tie. Then justify in one line.</a:t>
            </a:r>
          </a:p>
        </p:txBody>
      </p:sp>
      <p:sp>
        <p:nvSpPr>
          <p:cNvPr id="10" name="TextBox 9"/>
          <p:cNvSpPr txBox="1"/>
          <p:nvPr/>
        </p:nvSpPr>
        <p:spPr>
          <a:xfrm>
            <a:off x="768096" y="3789743"/>
            <a:ext cx="7607808" cy="438785"/>
          </a:xfrm>
          <a:prstGeom prst="rect">
            <a:avLst/>
          </a:prstGeom>
          <a:noFill/>
        </p:spPr>
        <p:txBody>
          <a:bodyPr wrap="none" anchor="t" lIns="0" rIns="0" tIns="0" bIns="0">
            <a:spAutoFit/>
          </a:bodyPr>
          <a:lstStyle/>
          <a:p>
            <a:pPr marL="0" indent="0" algn="l">
              <a:lnSpc>
                <a:spcPts val="2015"/>
              </a:lnSpc>
              <a:spcAft>
                <a:spcPts val="0"/>
              </a:spcAft>
              <a:buNone/>
            </a:pPr>
            <a:r>
              <a:rPr sz="1300" b="0">
                <a:solidFill>
                  <a:srgbClr val="86868B"/>
                </a:solidFill>
                <a:latin typeface="Menlo"/>
              </a:rPr>
              <a:t>cheap enough to run on thousands of pairs, which is the whole appeal</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Zheng et al., 2023, arxiv.org/abs/2306.05685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judge has biases</a:t>
            </a:r>
          </a:p>
        </p:txBody>
      </p:sp>
      <p:sp>
        <p:nvSpPr>
          <p:cNvPr id="5" name="Rounded Rectangle 4"/>
          <p:cNvSpPr/>
          <p:nvPr/>
        </p:nvSpPr>
        <p:spPr>
          <a:xfrm>
            <a:off x="457200" y="2272220"/>
            <a:ext cx="4041648"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18524"/>
            <a:ext cx="3675888"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ANSWER A</a:t>
            </a:r>
          </a:p>
          <a:p>
            <a:pPr marL="0" indent="0">
              <a:spcAft>
                <a:spcPts val="300"/>
              </a:spcAft>
              <a:buNone/>
            </a:pPr>
            <a:r>
              <a:rPr sz="2000" b="0" u="none">
                <a:solidFill>
                  <a:srgbClr val="1D1D1F"/>
                </a:solidFill>
                <a:latin typeface="Menlo"/>
              </a:rPr>
              <a:t>23 words, same content</a:t>
            </a:r>
          </a:p>
          <a:p>
            <a:pPr marL="0" indent="0" algn="l">
              <a:spcAft>
                <a:spcPts val="200"/>
              </a:spcAft>
              <a:buNone/>
            </a:pPr>
            <a:r>
              <a:rPr sz="1200" b="0">
                <a:solidFill>
                  <a:srgbClr val="86868B"/>
                </a:solidFill>
                <a:latin typeface="Helvetica Neue"/>
              </a:rPr>
              <a:t>"Air molecules scatter sunlight, and blue scatters more. Rayleigh scattering."</a:t>
            </a:r>
          </a:p>
        </p:txBody>
      </p:sp>
      <p:sp>
        <p:nvSpPr>
          <p:cNvPr id="7" name="Rounded Rectangle 6"/>
          <p:cNvSpPr/>
          <p:nvPr/>
        </p:nvSpPr>
        <p:spPr>
          <a:xfrm>
            <a:off x="4645152" y="2272220"/>
            <a:ext cx="4041648"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18524"/>
            <a:ext cx="3675888"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ANSWER B</a:t>
            </a:r>
          </a:p>
          <a:p>
            <a:pPr marL="0" indent="0">
              <a:spcAft>
                <a:spcPts val="300"/>
              </a:spcAft>
              <a:buNone/>
            </a:pPr>
            <a:r>
              <a:rPr sz="2000" b="0" u="none">
                <a:solidFill>
                  <a:srgbClr val="1D1D1F"/>
                </a:solidFill>
                <a:latin typeface="Menlo"/>
              </a:rPr>
              <a:t>56 words, same content</a:t>
            </a:r>
          </a:p>
          <a:p>
            <a:pPr marL="0" indent="0" algn="l">
              <a:spcAft>
                <a:spcPts val="200"/>
              </a:spcAft>
              <a:buNone/>
            </a:pPr>
            <a:r>
              <a:rPr sz="1200" b="0">
                <a:solidFill>
                  <a:srgbClr val="86868B"/>
                </a:solidFill>
                <a:latin typeface="Helvetica Neue"/>
              </a:rPr>
              <a:t>"Great question! To understand the colour of the sky we should first consider..." Judges prefer it anyway.</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Zheng et al., 2023, arxiv.org/abs/2306.05685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6 (paper)</a:t>
            </a:r>
          </a:p>
        </p:txBody>
      </p:sp>
      <p:pic>
        <p:nvPicPr>
          <p:cNvPr id="5" name="Picture 4" descr="Quiz 6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quizzes/quiz-06.md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design a benchmark, then break it."/>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the evaluation harness</a:t>
            </a:r>
          </a:p>
        </p:txBody>
      </p:sp>
      <p:pic>
        <p:nvPicPr>
          <p:cNvPr id="5" name="Picture 4" descr="Build the evaluation harness"/>
          <p:cNvPicPr>
            <a:picLocks noChangeAspect="1"/>
          </p:cNvPicPr>
          <p:nvPr/>
        </p:nvPicPr>
        <p:blipFill>
          <a:blip r:embed="rId3"/>
          <a:stretch>
            <a:fillRect/>
          </a:stretch>
        </p:blipFill>
        <p:spPr>
          <a:xfrm>
            <a:off x="274320" y="1681873"/>
            <a:ext cx="8595360" cy="238325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weeks/week-11/class-02/exercise/README.md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punchline: catch a biased judge</a:t>
            </a:r>
          </a:p>
        </p:txBody>
      </p:sp>
      <p:sp>
        <p:nvSpPr>
          <p:cNvPr id="5" name="Rounded Rectangle 4"/>
          <p:cNvSpPr/>
          <p:nvPr/>
        </p:nvSpPr>
        <p:spPr>
          <a:xfrm>
            <a:off x="457200" y="107899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475488" cy="828675"/>
          </a:xfrm>
          <a:prstGeom prst="rect">
            <a:avLst/>
          </a:prstGeom>
          <a:noFill/>
        </p:spPr>
        <p:txBody>
          <a:bodyPr wrap="none" anchor="ctr" lIns="0" rIns="0" tIns="0" bIns="0">
            <a:spAutoFit/>
          </a:bodyPr>
          <a:lstStyle/>
          <a:p>
            <a:pPr marL="0" indent="0" algn="l">
              <a:spcAft>
                <a:spcPts val="0"/>
              </a:spcAft>
              <a:buNone/>
            </a:pPr>
            <a:r>
              <a:rPr sz="2050" b="1">
                <a:solidFill>
                  <a:srgbClr val="1D1D1F"/>
                </a:solidFill>
                <a:latin typeface="Helvetica Neue"/>
              </a:rPr>
              <a:t>1</a:t>
            </a:r>
          </a:p>
        </p:txBody>
      </p:sp>
      <p:sp>
        <p:nvSpPr>
          <p:cNvPr id="7" name="TextBox 6"/>
          <p:cNvSpPr txBox="1"/>
          <p:nvPr/>
        </p:nvSpPr>
        <p:spPr>
          <a:xfrm>
            <a:off x="1170432" y="1078992"/>
            <a:ext cx="7278624" cy="828675"/>
          </a:xfrm>
          <a:prstGeom prst="rect">
            <a:avLst/>
          </a:prstGeom>
          <a:noFill/>
        </p:spPr>
        <p:txBody>
          <a:bodyPr wrap="square" anchor="ctr" lIns="0" rIns="0" tIns="0" bIns="0">
            <a:spAutoFit/>
          </a:bodyPr>
          <a:lstStyle/>
          <a:p>
            <a:pPr marL="0" indent="0" algn="l">
              <a:spcAft>
                <a:spcPts val="0"/>
              </a:spcAft>
              <a:buNone/>
            </a:pPr>
            <a:r>
              <a:rPr sz="1450" b="0">
                <a:solidFill>
                  <a:srgbClr val="1D1D1F"/>
                </a:solidFill>
                <a:latin typeface="Menlo"/>
              </a:rPr>
              <a:t>Judge the pair in the order (A, B)</a:t>
            </a:r>
          </a:p>
        </p:txBody>
      </p:sp>
      <p:sp>
        <p:nvSpPr>
          <p:cNvPr id="8" name="Rounded Rectangle 7"/>
          <p:cNvSpPr/>
          <p:nvPr/>
        </p:nvSpPr>
        <p:spPr>
          <a:xfrm>
            <a:off x="457200" y="199910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1999107"/>
            <a:ext cx="475488" cy="828675"/>
          </a:xfrm>
          <a:prstGeom prst="rect">
            <a:avLst/>
          </a:prstGeom>
          <a:noFill/>
        </p:spPr>
        <p:txBody>
          <a:bodyPr wrap="none" anchor="ctr" lIns="0" rIns="0" tIns="0" bIns="0">
            <a:spAutoFit/>
          </a:bodyPr>
          <a:lstStyle/>
          <a:p>
            <a:pPr marL="0" indent="0" algn="l">
              <a:spcAft>
                <a:spcPts val="0"/>
              </a:spcAft>
              <a:buNone/>
            </a:pPr>
            <a:r>
              <a:rPr sz="2050" b="1">
                <a:solidFill>
                  <a:srgbClr val="1D1D1F"/>
                </a:solidFill>
                <a:latin typeface="Helvetica Neue"/>
              </a:rPr>
              <a:t>2</a:t>
            </a:r>
          </a:p>
        </p:txBody>
      </p:sp>
      <p:sp>
        <p:nvSpPr>
          <p:cNvPr id="10" name="TextBox 9"/>
          <p:cNvSpPr txBox="1"/>
          <p:nvPr/>
        </p:nvSpPr>
        <p:spPr>
          <a:xfrm>
            <a:off x="1170432" y="1999107"/>
            <a:ext cx="7278624" cy="828675"/>
          </a:xfrm>
          <a:prstGeom prst="rect">
            <a:avLst/>
          </a:prstGeom>
          <a:noFill/>
        </p:spPr>
        <p:txBody>
          <a:bodyPr wrap="square" anchor="ctr" lIns="0" rIns="0" tIns="0" bIns="0">
            <a:spAutoFit/>
          </a:bodyPr>
          <a:lstStyle/>
          <a:p>
            <a:pPr marL="0" indent="0" algn="l">
              <a:spcAft>
                <a:spcPts val="0"/>
              </a:spcAft>
              <a:buNone/>
            </a:pPr>
            <a:r>
              <a:rPr sz="1450" b="0">
                <a:solidFill>
                  <a:srgbClr val="1D1D1F"/>
                </a:solidFill>
                <a:latin typeface="Menlo"/>
              </a:rPr>
              <a:t>Judge the same pair as (B, A)</a:t>
            </a:r>
          </a:p>
        </p:txBody>
      </p:sp>
      <p:sp>
        <p:nvSpPr>
          <p:cNvPr id="11" name="Rounded Rectangle 10"/>
          <p:cNvSpPr/>
          <p:nvPr/>
        </p:nvSpPr>
        <p:spPr>
          <a:xfrm>
            <a:off x="457200" y="291922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2919222"/>
            <a:ext cx="475488" cy="828675"/>
          </a:xfrm>
          <a:prstGeom prst="rect">
            <a:avLst/>
          </a:prstGeom>
          <a:noFill/>
        </p:spPr>
        <p:txBody>
          <a:bodyPr wrap="none" anchor="ctr" lIns="0" rIns="0" tIns="0" bIns="0">
            <a:spAutoFit/>
          </a:bodyPr>
          <a:lstStyle/>
          <a:p>
            <a:pPr marL="0" indent="0" algn="l">
              <a:spcAft>
                <a:spcPts val="0"/>
              </a:spcAft>
              <a:buNone/>
            </a:pPr>
            <a:r>
              <a:rPr sz="2050" b="1">
                <a:solidFill>
                  <a:srgbClr val="1D1D1F"/>
                </a:solidFill>
                <a:latin typeface="Helvetica Neue"/>
              </a:rPr>
              <a:t>3</a:t>
            </a:r>
          </a:p>
        </p:txBody>
      </p:sp>
      <p:sp>
        <p:nvSpPr>
          <p:cNvPr id="13" name="TextBox 12"/>
          <p:cNvSpPr txBox="1"/>
          <p:nvPr/>
        </p:nvSpPr>
        <p:spPr>
          <a:xfrm>
            <a:off x="1170432" y="2919222"/>
            <a:ext cx="7278624" cy="828675"/>
          </a:xfrm>
          <a:prstGeom prst="rect">
            <a:avLst/>
          </a:prstGeom>
          <a:noFill/>
        </p:spPr>
        <p:txBody>
          <a:bodyPr wrap="square" anchor="ctr" lIns="0" rIns="0" tIns="0" bIns="0">
            <a:spAutoFit/>
          </a:bodyPr>
          <a:lstStyle/>
          <a:p>
            <a:pPr marL="0" indent="0" algn="l">
              <a:spcAft>
                <a:spcPts val="0"/>
              </a:spcAft>
              <a:buNone/>
            </a:pPr>
            <a:r>
              <a:rPr sz="1450" b="0">
                <a:solidFill>
                  <a:srgbClr val="1D1D1F"/>
                </a:solidFill>
                <a:latin typeface="Menlo"/>
              </a:rPr>
              <a:t>Same verdict? Count it. Different? Throw it out as inconsistent</a:t>
            </a:r>
          </a:p>
        </p:txBody>
      </p:sp>
      <p:sp>
        <p:nvSpPr>
          <p:cNvPr id="14" name="Rounded Rectangle 13"/>
          <p:cNvSpPr/>
          <p:nvPr/>
        </p:nvSpPr>
        <p:spPr>
          <a:xfrm>
            <a:off x="457200" y="383933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3839337"/>
            <a:ext cx="475488" cy="828675"/>
          </a:xfrm>
          <a:prstGeom prst="rect">
            <a:avLst/>
          </a:prstGeom>
          <a:noFill/>
        </p:spPr>
        <p:txBody>
          <a:bodyPr wrap="none" anchor="ctr" lIns="0" rIns="0" tIns="0" bIns="0">
            <a:spAutoFit/>
          </a:bodyPr>
          <a:lstStyle/>
          <a:p>
            <a:pPr marL="0" indent="0" algn="l">
              <a:spcAft>
                <a:spcPts val="0"/>
              </a:spcAft>
              <a:buNone/>
            </a:pPr>
            <a:r>
              <a:rPr sz="2050" b="1">
                <a:solidFill>
                  <a:srgbClr val="1D1D1F"/>
                </a:solidFill>
                <a:latin typeface="Helvetica Neue"/>
              </a:rPr>
              <a:t>4</a:t>
            </a:r>
          </a:p>
        </p:txBody>
      </p:sp>
      <p:sp>
        <p:nvSpPr>
          <p:cNvPr id="16" name="TextBox 15"/>
          <p:cNvSpPr txBox="1"/>
          <p:nvPr/>
        </p:nvSpPr>
        <p:spPr>
          <a:xfrm>
            <a:off x="1170432" y="3839337"/>
            <a:ext cx="7278624" cy="828675"/>
          </a:xfrm>
          <a:prstGeom prst="rect">
            <a:avLst/>
          </a:prstGeom>
          <a:noFill/>
        </p:spPr>
        <p:txBody>
          <a:bodyPr wrap="square" anchor="ctr" lIns="0" rIns="0" tIns="0" bIns="0">
            <a:spAutoFit/>
          </a:bodyPr>
          <a:lstStyle/>
          <a:p>
            <a:pPr marL="0" indent="0" algn="l">
              <a:spcAft>
                <a:spcPts val="0"/>
              </a:spcAft>
              <a:buNone/>
            </a:pPr>
            <a:r>
              <a:rPr sz="1450" b="0">
                <a:solidFill>
                  <a:srgbClr val="1D1D1F"/>
                </a:solidFill>
                <a:latin typeface="Menlo"/>
              </a:rPr>
              <a:t>Report the consistency rate beside the win rate</a:t>
            </a:r>
          </a:p>
        </p:txBody>
      </p:sp>
      <p:sp>
        <p:nvSpPr>
          <p:cNvPr id="17" name="TextBox 1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swap test, Zheng et al. 2023</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