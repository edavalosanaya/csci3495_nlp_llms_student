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Impact" panose="020B0806030902050204" pitchFamily="34" charset="0"/>
      <p:regular r:id="rId25"/>
    </p:embeddedFont>
    <p:embeddedFont>
      <p:font typeface="Playfair Display" pitchFamily="2" charset="77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  <p:embeddedFont>
      <p:font typeface="Roboto Light" panose="020F030202020403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C7C7CC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BF71-9145-AE93-5DF99F986C49}"/>
              </c:ext>
            </c:extLst>
          </c:dPt>
          <c:dPt>
            <c:idx val="1"/>
            <c:invertIfNegative val="1"/>
            <c:bubble3D val="0"/>
            <c:spPr>
              <a:solidFill>
                <a:srgbClr val="4C72B0"/>
              </a:solidFill>
            </c:spPr>
            <c:extLst>
              <c:ext xmlns:c16="http://schemas.microsoft.com/office/drawing/2014/chart" uri="{C3380CC4-5D6E-409C-BE32-E72D297353CC}">
                <c16:uniqueId val="{00000003-BF71-9145-AE93-5DF99F986C49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“Answer directly.”</c:v>
                </c:pt>
                <c:pt idx="1">
                  <c:v>“Think step by step.”
then extract the answer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0.433</c:v>
                </c:pt>
                <c:pt idx="1">
                  <c:v>0.833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BF71-9145-AE93-5DF99F986C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solidFill>
            <a:srgbClr val="434343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agreement</c:v>
                </c:pt>
              </c:strCache>
            </c:strRef>
          </c:tx>
          <c:spPr>
            <a:solidFill>
              <a:srgbClr val="C7C7CC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55A5-9548-B09A-92045B7DF422}"/>
              </c:ext>
            </c:extLst>
          </c:dPt>
          <c:dPt>
            <c:idx val="1"/>
            <c:invertIfNegative val="1"/>
            <c:bubble3D val="0"/>
            <c:spPr>
              <a:solidFill>
                <a:srgbClr val="434343"/>
              </a:solidFill>
            </c:spPr>
            <c:extLst>
              <c:ext xmlns:c16="http://schemas.microsoft.com/office/drawing/2014/chart" uri="{C3380CC4-5D6E-409C-BE32-E72D297353CC}">
                <c16:uniqueId val="{00000003-55A5-9548-B09A-92045B7DF422}"/>
              </c:ext>
            </c:extLst>
          </c:dPt>
          <c:dPt>
            <c:idx val="2"/>
            <c:invertIfNegative val="1"/>
            <c:bubble3D val="0"/>
            <c:spPr>
              <a:solidFill>
                <a:srgbClr val="4C72B0"/>
              </a:solidFill>
            </c:spPr>
            <c:extLst>
              <c:ext xmlns:c16="http://schemas.microsoft.com/office/drawing/2014/chart" uri="{C3380CC4-5D6E-409C-BE32-E72D297353CC}">
                <c16:uniqueId val="{00000005-55A5-9548-B09A-92045B7DF42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judge</c:v>
                </c:pt>
                <c:pt idx="1">
                  <c:v>human vs. human</c:v>
                </c:pt>
                <c:pt idx="2">
                  <c:v>GPT-4 vs. human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0.81</c:v>
                </c:pt>
                <c:pt idx="2">
                  <c:v>0.85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55A5-9548-B09A-92045B7DF4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solidFill>
            <a:srgbClr val="434343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523" y="685800"/>
            <a:ext cx="4571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00" t="43847" r="-600" b="13732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2 Columns">
  <p:cSld name="2_Portfolio Thre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3 Columns">
  <p:cSld name="1_Slide with Placehol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3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4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">
  <p:cSld name="Cover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 with Logo">
  <p:cSld name="Cover Slide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cknowledgments Slide">
  <p:cSld name="Cover Slid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sz="560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ig Concept Slide">
  <p:cSld name="Slide with Placehol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">
  <p:cSld name="Large Picture with Log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l="27412" r="6551" b="2009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1">
  <p:cSld name="Large Picture with Logo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2">
  <p:cSld name="Large Picture with Logo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l="27412" r="6551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895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l="39028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3">
  <p:cSld name="Large Picture with Logo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l="24210" r="1252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4">
  <p:cSld name="Large Picture with Logo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l="34525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">
  <p:cSld name="3_Placehol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 1">
  <p:cSld name="3_Placeholder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ingle Statistic">
  <p:cSld name="1_Placehol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4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ultiple Statistics">
  <p:cSld name="1_Placeholder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3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5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ote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818387"/>
                </a:solidFill>
              </a:rPr>
              <a:t>“</a:t>
            </a:r>
            <a:endParaRPr sz="12000" b="1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Title Slide">
  <p:cSld name="1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>
            <a:spLocks noGrp="1"/>
          </p:cNvSpPr>
          <p:nvPr>
            <p:ph type="pic" idx="2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3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4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5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6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 1">
  <p:cSld name="1_Cover Pag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t="43844" r="-563" b="13732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sz="22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sz="15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13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1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sz="5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2">
            <a:alphaModFix/>
          </a:blip>
          <a:srcRect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gi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gi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978408"/>
            <a:ext cx="3776074" cy="1828800"/>
          </a:xfrm>
        </p:spPr>
        <p:txBody>
          <a:bodyPr/>
          <a:lstStyle/>
          <a:p>
            <a:r>
              <a:t>CSCI 3495</a:t>
            </a:r>
          </a:p>
          <a:p>
            <a:r>
              <a:t>Benchmarks: Did the Soldier Pass?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Natural Language Processing &amp; Large Language Models</a:t>
            </a:r>
          </a:p>
          <a:p>
            <a:r>
              <a:t>Week 11, Class 2  ·  Wed Nov 4, 2026</a:t>
            </a:r>
          </a:p>
        </p:txBody>
      </p:sp>
      <p:pic>
        <p:nvPicPr>
          <p:cNvPr id="4" name="Picture 3" descr="mulan-climbs-pol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539" y="495673"/>
            <a:ext cx="4195265" cy="24851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Quiz 6 (paper)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</a:rPr>
              <a:t>~10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434343"/>
                </a:solidFill>
              </a:rPr>
              <a:t>InstructGPT · LoRA</a:t>
            </a:r>
          </a:p>
        </p:txBody>
      </p:sp>
      <p:pic>
        <p:nvPicPr>
          <p:cNvPr id="6" name="Picture 5" descr="mulan-reflec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567291"/>
            <a:ext cx="5029200" cy="27632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0" y="3611880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ln w="254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/>
              </a:rPr>
              <a:t>WHEN WILL MY REFLECTION SHOW</a:t>
            </a:r>
          </a:p>
          <a:p>
            <a:pPr algn="ctr">
              <a:spcAft>
                <a:spcPts val="0"/>
              </a:spcAft>
            </a:pPr>
            <a:r>
              <a:rPr sz="2000" b="1" i="0">
                <a:ln w="254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/>
              </a:rPr>
              <a:t>WHAT I LEARNED INSIDE?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We asked a small model about Mulan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18872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DC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0" y="118872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1D1D1F"/>
                </a:solidFill>
              </a:rPr>
              <a:t>In one sentence, who is Mulan?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7315200" cy="109728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6858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1">
                <a:solidFill>
                  <a:srgbClr val="1D1D1F"/>
                </a:solidFill>
              </a:rPr>
              <a:t>Mulan is a character from the classic Chinese novel “The Cowherd and the Weaver Girl,” known for her bravery and loyalty to her family during the war against the Huns.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6868B"/>
                </a:solidFill>
              </a:rPr>
              <a:t>Qwen2.5-0.5B-Instruct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D8452"/>
                </a:solidFill>
              </a:rPr>
              <a:t>✗  Wrong source. Mulan comes from the Ballad of Mulan, a 5th–6th century folk poem.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D8452"/>
                </a:solidFill>
              </a:rPr>
              <a:t>    “The Cowherd and the Weaver Girl” is a different legend (the Qixi festival story).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D1D1F"/>
                </a:solidFill>
              </a:rPr>
              <a:t>How would a script catch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</a:rPr>
              <a:t>Sources: Wikipedia, “Ballad of Mulan” and “The Cowherd and the Weaver Girl”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2064" y="411480"/>
            <a:ext cx="8010144" cy="4279392"/>
          </a:xfrm>
        </p:spPr>
        <p:txBody>
          <a:bodyPr anchor="ctr"/>
          <a:lstStyle/>
          <a:p>
            <a:r>
              <a:rPr sz="5400"/>
              <a:t>How do we know an LLM is good at a task?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79419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ulan-pole-challenge.gif"/>
          <p:cNvPicPr>
            <a:picLocks noChangeAspect="1"/>
          </p:cNvPicPr>
          <p:nvPr/>
        </p:nvPicPr>
        <p:blipFill>
          <a:blip r:embed="rId2"/>
          <a:srcRect t="13434" b="14254"/>
          <a:stretch/>
        </p:blipFill>
        <p:spPr>
          <a:xfrm>
            <a:off x="429370" y="0"/>
            <a:ext cx="8285259" cy="47929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Grading 1,000,000 students: which test?</a:t>
            </a:r>
          </a:p>
        </p:txBody>
      </p:sp>
      <p:pic>
        <p:nvPicPr>
          <p:cNvPr id="4" name="Picture 3" descr="photo-exam-meas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24663"/>
            <a:ext cx="2651760" cy="17683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429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D1D1F"/>
                </a:solidFill>
              </a:rPr>
              <a:t>(a)  An essay</a:t>
            </a:r>
          </a:p>
        </p:txBody>
      </p:sp>
      <p:pic>
        <p:nvPicPr>
          <p:cNvPr id="6" name="Picture 5" descr="photo-draw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408366"/>
            <a:ext cx="2651760" cy="18009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46120" y="3429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D1D1F"/>
                </a:solidFill>
              </a:rPr>
              <a:t>(b)  A drawing</a:t>
            </a:r>
          </a:p>
        </p:txBody>
      </p:sp>
      <p:pic>
        <p:nvPicPr>
          <p:cNvPr id="8" name="Picture 7" descr="photo-bubble-she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314450"/>
            <a:ext cx="2651760" cy="19888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34290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D1D1F"/>
                </a:solidFill>
              </a:rPr>
              <a:t>(c)  Multiple choice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16168" y="1161288"/>
            <a:ext cx="2798064" cy="2743200"/>
          </a:xfrm>
          <a:prstGeom prst="roundRect">
            <a:avLst/>
          </a:prstGeom>
          <a:noFill/>
          <a:ln w="381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4C72B0"/>
                </a:solidFill>
              </a:rPr>
              <a:t>The SAT, the ACT and most large standardized exams: mostly (c)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</a:rPr>
              <a:t>Photos: Unsplash; Lao child drawing, Wikimedia Commons (CC BY-SA 4.0); Onderwijsgek, Wikimedia Commons (CC BY-SA 2.5 NL)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Testing an LLM needs a grader like (c)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4C72B0"/>
                </a:solidFill>
              </a:rPr>
              <a:t>easy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1887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4C72B0"/>
                </a:solidFill>
              </a:rPr>
              <a:t>scalable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1887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4C72B0"/>
                </a:solidFill>
              </a:rPr>
              <a:t>consistent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59" y="11887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4C72B0"/>
                </a:solidFill>
              </a:rPr>
              <a:t>reliable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1D1D1F"/>
                </a:solidFill>
              </a:rPr>
              <a:t>Think of one task that is easy to check, and one that is hard.</a:t>
            </a:r>
          </a:p>
        </p:txBody>
      </p:sp>
      <p:pic>
        <p:nvPicPr>
          <p:cNvPr id="9" name="Picture 8" descr="photo-rubiks-solv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82" y="2286000"/>
            <a:ext cx="1517514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1148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4C72B0"/>
                </a:solidFill>
              </a:rPr>
              <a:t>Solving a Rubik's cube: solved or not</a:t>
            </a:r>
          </a:p>
        </p:txBody>
      </p:sp>
      <p:pic>
        <p:nvPicPr>
          <p:cNvPr id="11" name="Picture 10" descr="photo-fact-che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039" y="2286000"/>
            <a:ext cx="267128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41148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D8452"/>
                </a:solidFill>
              </a:rPr>
              <a:t>Grading an essay: good by whose standard?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</a:rPr>
              <a:t>Photos: cubemeister.com, Wikimedia Commons (CC BY-SA 3.0); Unsplash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Benchmarks are how the field keeps score</a:t>
            </a:r>
          </a:p>
        </p:txBody>
      </p:sp>
      <p:pic>
        <p:nvPicPr>
          <p:cNvPr id="4" name="Picture 3" descr="owid-ai-test-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789" y="1082141"/>
            <a:ext cx="5622096" cy="39685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 benchmark: questions plus a script that checks</a:t>
            </a:r>
          </a:p>
        </p:txBody>
      </p:sp>
      <p:pic>
        <p:nvPicPr>
          <p:cNvPr id="4" name="Picture 3" descr="mmlu-2021-fig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62586"/>
            <a:ext cx="8412480" cy="1446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5204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D1D1F"/>
                </a:solidFill>
              </a:rPr>
              <a:t>MMLU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65760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34343"/>
                </a:solidFill>
              </a:rPr>
              <a:t>57 subjects, 15,908 questions, one letter each:  answer == "D"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</a:rPr>
              <a:t>Source: Hendrycks et al. 2021, “Measuring Massive Multitask Language Understanding” (arXiv:2009.03300), Fig.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Long answers bury the final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5577840" cy="3337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52578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434343"/>
                </a:solidFill>
                <a:latin typeface="Menlo"/>
              </a:rPr>
              <a:t>To determine how many horses do not fit into the stables, we need to follow these steps:</a:t>
            </a:r>
          </a:p>
          <a:p>
            <a:r>
              <a:rPr sz="1300" b="1">
                <a:solidFill>
                  <a:srgbClr val="1D1D1F"/>
                </a:solidFill>
                <a:latin typeface="Menlo"/>
              </a:rPr>
              <a:t>1</a:t>
            </a:r>
            <a:r>
              <a:rPr sz="1300" b="0">
                <a:solidFill>
                  <a:srgbClr val="434343"/>
                </a:solidFill>
                <a:latin typeface="Menlo"/>
              </a:rPr>
              <a:t>. Calculate the total number of horses that can be held in all five stables.</a:t>
            </a:r>
          </a:p>
          <a:p>
            <a:r>
              <a:rPr sz="1300" b="1">
                <a:solidFill>
                  <a:srgbClr val="1D1D1F"/>
                </a:solidFill>
                <a:latin typeface="Menlo"/>
              </a:rPr>
              <a:t>2</a:t>
            </a:r>
            <a:r>
              <a:rPr sz="1300" b="0">
                <a:solidFill>
                  <a:srgbClr val="434343"/>
                </a:solidFill>
                <a:latin typeface="Menlo"/>
              </a:rPr>
              <a:t>. Subtract this total from the initial number of horses to find out how many horses are left over.</a:t>
            </a:r>
          </a:p>
          <a:p>
            <a:r>
              <a:rPr sz="1300" b="0">
                <a:solidFill>
                  <a:srgbClr val="434343"/>
                </a:solidFill>
                <a:latin typeface="Menlo"/>
              </a:rPr>
              <a:t>\[ </a:t>
            </a:r>
            <a:r>
              <a:rPr sz="1300" b="1">
                <a:solidFill>
                  <a:srgbClr val="1D1D1F"/>
                </a:solidFill>
                <a:latin typeface="Menlo"/>
              </a:rPr>
              <a:t>5</a:t>
            </a:r>
            <a:r>
              <a:rPr sz="1300" b="0">
                <a:solidFill>
                  <a:srgbClr val="434343"/>
                </a:solidFill>
                <a:latin typeface="Menlo"/>
              </a:rPr>
              <a:t> \text{ stables} \times </a:t>
            </a:r>
            <a:r>
              <a:rPr sz="1300" b="1">
                <a:solidFill>
                  <a:srgbClr val="1D1D1F"/>
                </a:solidFill>
                <a:latin typeface="Menlo"/>
              </a:rPr>
              <a:t>16</a:t>
            </a:r>
            <a:r>
              <a:rPr sz="1300" b="0">
                <a:solidFill>
                  <a:srgbClr val="434343"/>
                </a:solidFill>
                <a:latin typeface="Menlo"/>
              </a:rPr>
              <a:t> \text{ horses/stable} = </a:t>
            </a:r>
            <a:r>
              <a:rPr sz="1300" b="1">
                <a:solidFill>
                  <a:srgbClr val="1D1D1F"/>
                </a:solidFill>
                <a:latin typeface="Menlo"/>
              </a:rPr>
              <a:t>80</a:t>
            </a:r>
            <a:r>
              <a:rPr sz="1300" b="0">
                <a:solidFill>
                  <a:srgbClr val="434343"/>
                </a:solidFill>
                <a:latin typeface="Menlo"/>
              </a:rPr>
              <a:t> \text{ horses} \]</a:t>
            </a:r>
          </a:p>
          <a:p>
            <a:r>
              <a:rPr sz="1300" b="0">
                <a:solidFill>
                  <a:srgbClr val="434343"/>
                </a:solidFill>
                <a:latin typeface="Menlo"/>
              </a:rPr>
              <a:t>\[ </a:t>
            </a:r>
            <a:r>
              <a:rPr sz="1300" b="1">
                <a:solidFill>
                  <a:srgbClr val="1D1D1F"/>
                </a:solidFill>
                <a:latin typeface="Menlo"/>
              </a:rPr>
              <a:t>381</a:t>
            </a:r>
            <a:r>
              <a:rPr sz="1300" b="0">
                <a:solidFill>
                  <a:srgbClr val="434343"/>
                </a:solidFill>
                <a:latin typeface="Menlo"/>
              </a:rPr>
              <a:t> \text{ horses} - </a:t>
            </a:r>
            <a:r>
              <a:rPr sz="1300" b="1">
                <a:solidFill>
                  <a:srgbClr val="1D1D1F"/>
                </a:solidFill>
                <a:latin typeface="Menlo"/>
              </a:rPr>
              <a:t>80</a:t>
            </a:r>
            <a:r>
              <a:rPr sz="1300" b="0">
                <a:solidFill>
                  <a:srgbClr val="434343"/>
                </a:solidFill>
                <a:latin typeface="Menlo"/>
              </a:rPr>
              <a:t> \text{ horses} = </a:t>
            </a:r>
            <a:r>
              <a:rPr sz="1300" b="1">
                <a:solidFill>
                  <a:srgbClr val="1D1D1F"/>
                </a:solidFill>
                <a:latin typeface="Menlo"/>
              </a:rPr>
              <a:t>301</a:t>
            </a:r>
            <a:r>
              <a:rPr sz="1300" b="0">
                <a:solidFill>
                  <a:srgbClr val="434343"/>
                </a:solidFill>
                <a:latin typeface="Menlo"/>
              </a:rPr>
              <a:t> \text{ horses} \]</a:t>
            </a:r>
          </a:p>
          <a:p>
            <a:r>
              <a:rPr sz="1300" b="0">
                <a:solidFill>
                  <a:srgbClr val="434343"/>
                </a:solidFill>
                <a:latin typeface="Menlo"/>
              </a:rPr>
              <a:t>Therefore, the number of horses that do not fit into the stables is:</a:t>
            </a:r>
          </a:p>
          <a:p>
            <a:r>
              <a:rPr sz="1300" b="0">
                <a:solidFill>
                  <a:srgbClr val="434343"/>
                </a:solidFill>
                <a:latin typeface="Menlo"/>
              </a:rPr>
              <a:t>\[ \boxed{</a:t>
            </a:r>
            <a:r>
              <a:rPr sz="1300" b="1">
                <a:solidFill>
                  <a:srgbClr val="4C72B0"/>
                </a:solidFill>
                <a:latin typeface="Menlo"/>
              </a:rPr>
              <a:t>301</a:t>
            </a:r>
            <a:r>
              <a:rPr sz="1300" b="0">
                <a:solidFill>
                  <a:srgbClr val="434343"/>
                </a:solidFill>
                <a:latin typeface="Menlo"/>
              </a:rPr>
              <a:t>} \]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344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6868B"/>
                </a:solidFill>
              </a:rPr>
              <a:t>answer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</a:rPr>
              <a:t>301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3774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D1D1F"/>
                </a:solidFill>
                <a:latin typeface="Menlo"/>
              </a:rPr>
              <a:t>✗  output == "301"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72491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DD8452"/>
                </a:solidFill>
              </a:rP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3832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D1D1F"/>
                </a:solidFill>
                <a:latin typeface="Menlo"/>
              </a:rPr>
              <a:t>✓  last number == 301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73075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4C72B0"/>
                </a:solidFill>
              </a:rPr>
              <a:t>93%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5371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6868B"/>
                </a:solidFill>
              </a:rPr>
              <a:t>Qwen2.5-0.5B-Instruct on 30 arithmetic questions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2064" y="411480"/>
            <a:ext cx="8010144" cy="4279392"/>
          </a:xfrm>
        </p:spPr>
        <p:txBody>
          <a:bodyPr anchor="ctr"/>
          <a:lstStyle/>
          <a:p>
            <a:r>
              <a:rPr sz="4800"/>
              <a:t>How could we stop the answer from getting buried?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Structured output: fill in a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868B"/>
                </a:solidFill>
              </a:rPr>
              <a:t>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51760" cy="201168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enlo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enlo"/>
              </a:rPr>
              <a:t>  "type": "object",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enlo"/>
              </a:rPr>
              <a:t>  "properties": {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enlo"/>
              </a:rPr>
              <a:t>    "answer": {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enlo"/>
              </a:rPr>
              <a:t>      "type": "integer"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enlo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enlo"/>
              </a:rPr>
              <a:t>  },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enlo"/>
              </a:rPr>
              <a:t>  "required": ["answer"]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enlo"/>
              </a:rPr>
              <a:t>}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2468880"/>
            <a:ext cx="457200" cy="0"/>
          </a:xfrm>
          <a:prstGeom prst="line">
            <a:avLst/>
          </a:prstGeom>
          <a:ln w="22225">
            <a:solidFill>
              <a:srgbClr val="43434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03320" y="2011680"/>
            <a:ext cx="1554480" cy="914400"/>
          </a:xfrm>
          <a:prstGeom prst="round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2011680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0175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</a:rPr>
              <a:t>decoding is constrained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34343"/>
                </a:solidFill>
              </a:rPr>
              <a:t>to valid JSON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49240" y="2468880"/>
            <a:ext cx="457200" cy="0"/>
          </a:xfrm>
          <a:prstGeom prst="line">
            <a:avLst/>
          </a:prstGeom>
          <a:ln w="22225">
            <a:solidFill>
              <a:srgbClr val="43434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97880" y="11887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868B"/>
                </a:solidFill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1463040"/>
            <a:ext cx="2926080" cy="7315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97880" y="146304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4C72B0"/>
                </a:solidFill>
                <a:latin typeface="Menlo"/>
              </a:rPr>
              <a:t>{"answer": 301}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42316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6868B"/>
                </a:solidFill>
              </a:rPr>
              <a:t>grader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2697480"/>
            <a:ext cx="2926080" cy="7315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97880" y="269748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Menlo"/>
              </a:rPr>
              <a:t>out["answer"] == 301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8321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D1D1F"/>
                </a:solidFill>
              </a:rPr>
              <a:t>The answer always sits in the same field: no parsing, no guessing.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51960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86868B"/>
                </a:solidFill>
              </a:rPr>
              <a:t>e.g. Ollama format=&lt;schema&gt;, OpenAI and Anthropic structured outputs, the Outlines library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Same model, same 30 questions, two prompts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53035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73736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4C72B0"/>
                </a:solidFill>
              </a:rPr>
              <a:t>43% → 83%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251460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34343"/>
                </a:solidFill>
              </a:rPr>
              <a:t>Same questions, same grader: only the method changed. A score belongs to model + prompt + grader.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53712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6868B"/>
                </a:solidFill>
              </a:rPr>
              <a:t>this class's notebook: qwen2.5-3b on 30 arithmetic questions, graded with structured outputs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79419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ulan-training-montage.gif"/>
          <p:cNvPicPr>
            <a:picLocks noChangeAspect="1"/>
          </p:cNvPicPr>
          <p:nvPr/>
        </p:nvPicPr>
        <p:blipFill>
          <a:blip r:embed="rId2"/>
          <a:srcRect t="13434" b="14088"/>
          <a:stretch/>
        </p:blipFill>
        <p:spPr>
          <a:xfrm>
            <a:off x="716885" y="293642"/>
            <a:ext cx="7465007" cy="43283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9027" y="411480"/>
            <a:ext cx="3955774" cy="4279392"/>
          </a:xfrm>
        </p:spPr>
        <p:txBody>
          <a:bodyPr anchor="ctr"/>
          <a:lstStyle/>
          <a:p>
            <a:r>
              <a:rPr lang="en-US" sz="5400" dirty="0"/>
              <a:t>How could the model cheat our test?</a:t>
            </a:r>
            <a:endParaRPr sz="5400" dirty="0"/>
          </a:p>
        </p:txBody>
      </p:sp>
      <p:pic>
        <p:nvPicPr>
          <p:cNvPr id="4" name="Picture 3" descr="mulan-mushu-arr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463" y="1231730"/>
            <a:ext cx="4757071" cy="26800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 1M-parameter model that aces everything</a:t>
            </a:r>
          </a:p>
        </p:txBody>
      </p:sp>
      <p:pic>
        <p:nvPicPr>
          <p:cNvPr id="4" name="Picture 3" descr="pretrain-test-2023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306" y="1143000"/>
            <a:ext cx="4461387" cy="1005840"/>
          </a:xfrm>
          <a:prstGeom prst="rect">
            <a:avLst/>
          </a:prstGeom>
        </p:spPr>
      </p:pic>
      <p:pic>
        <p:nvPicPr>
          <p:cNvPr id="5" name="Picture 4" descr="pretrain-test-2023-fig-1.png"/>
          <p:cNvPicPr>
            <a:picLocks noChangeAspect="1"/>
          </p:cNvPicPr>
          <p:nvPr/>
        </p:nvPicPr>
        <p:blipFill>
          <a:blip r:embed="rId3"/>
          <a:srcRect r="17502"/>
          <a:stretch/>
        </p:blipFill>
        <p:spPr>
          <a:xfrm>
            <a:off x="274319" y="2270016"/>
            <a:ext cx="8754179" cy="24665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</a:rPr>
              <a:t>Source: Schaeffer 2023, “Pretraining on the Test Set Is All You Need” (arXiv:2309.08632), Fig. 1</a:t>
            </a:r>
          </a:p>
        </p:txBody>
      </p:sp>
      <p:pic>
        <p:nvPicPr>
          <p:cNvPr id="2" name="Picture 1" descr="pretrain-test-2023-fig-1.png">
            <a:extLst>
              <a:ext uri="{FF2B5EF4-FFF2-40B4-BE49-F238E27FC236}">
                <a16:creationId xmlns:a16="http://schemas.microsoft.com/office/drawing/2014/main" id="{8FCFB78F-D1EB-CE78-6931-68F3BAF7A1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562" r="6457" b="82547"/>
          <a:stretch/>
        </p:blipFill>
        <p:spPr>
          <a:xfrm>
            <a:off x="8074023" y="1969477"/>
            <a:ext cx="882595" cy="3587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Three ways to check an answer</a:t>
            </a:r>
          </a:p>
        </p:txBody>
      </p:sp>
      <p:pic>
        <p:nvPicPr>
          <p:cNvPr id="4" name="Picture 3" descr="photo-bubble-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07" y="1267736"/>
            <a:ext cx="24384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428" y="3233696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4C72B0"/>
                </a:solidFill>
              </a:rPr>
              <a:t>Match the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428" y="3645176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34343"/>
                </a:solidFill>
              </a:rPr>
              <a:t>multiple choice, a number, exact text</a:t>
            </a:r>
          </a:p>
        </p:txBody>
      </p:sp>
      <p:pic>
        <p:nvPicPr>
          <p:cNvPr id="7" name="Picture 6" descr="swebench-2024-fi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374" y="1826918"/>
            <a:ext cx="3249386" cy="883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63241" y="3253537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4C72B0"/>
                </a:solidFill>
              </a:rPr>
              <a:t>Check the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1" y="3665017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34343"/>
                </a:solidFill>
              </a:rPr>
              <a:t>the tests pass, the bug is fixed, the game is won</a:t>
            </a:r>
          </a:p>
        </p:txBody>
      </p:sp>
      <p:pic>
        <p:nvPicPr>
          <p:cNvPr id="10" name="Picture 9" descr="judge-2023-fig-1-verd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443" y="2008662"/>
            <a:ext cx="2963557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92133" y="3244317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D8452"/>
                </a:solidFill>
              </a:rPr>
              <a:t>Ask an LLM judge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2133" y="3655797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34343"/>
                </a:solidFill>
              </a:rPr>
              <a:t>when the output is open-ended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</a:rPr>
              <a:t>Sources: Jimenez et al. 2024, SWE-bench (arXiv:2310.06770), Fig. 1; Zheng et al. 2023 (arXiv:2306.05685), Fig.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GPT-4 agrees with people as often as people do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64592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4C72B0"/>
                </a:solidFill>
              </a:rP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246888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34343"/>
                </a:solidFill>
              </a:rPr>
              <a:t>GPT-4 agreed with expert human votes on MT-Bench, above the 81% humans reach with each 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</a:rPr>
              <a:t>Source: Zheng et al. 2023, “Judging LLM-as-a-Judge with MT-Bench and Chatbot Arena” (arXiv:2306.05685), Table 5 (non-tie votes)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LLM judges work best as A/B tests</a:t>
            </a:r>
          </a:p>
        </p:txBody>
      </p:sp>
      <p:pic>
        <p:nvPicPr>
          <p:cNvPr id="4" name="Picture 3" descr="judge-2023-fi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29" y="1188720"/>
            <a:ext cx="4245141" cy="35204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55448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D1D1F"/>
                </a:solidFill>
              </a:rPr>
              <a:t>Show two answers.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D1D1F"/>
                </a:solidFill>
              </a:rPr>
              <a:t>Ask which one wins.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292608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DD8452"/>
                </a:solidFill>
              </a:rPr>
              <a:t>But one of them has to be shown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</a:rPr>
              <a:t>Source: Zheng et al. 2023, “Judging LLM-as-a-Judge with MT-Bench and Chatbot Arena” (arXiv:2306.05685), Fig.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Our small judge has a favorite letter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3258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34343"/>
                </a:solidFill>
              </a:rPr>
              <a:t>good answer shown as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709928"/>
            <a:ext cx="457200" cy="502920"/>
          </a:xfrm>
          <a:prstGeom prst="roundRect">
            <a:avLst/>
          </a:prstGeom>
          <a:solidFill>
            <a:srgbClr val="4C72B0"/>
          </a:solidFill>
          <a:ln w="254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77440" y="170992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709928"/>
            <a:ext cx="457200" cy="502920"/>
          </a:xfrm>
          <a:prstGeom prst="roundRect">
            <a:avLst/>
          </a:prstGeom>
          <a:solidFill>
            <a:srgbClr val="4C72B0"/>
          </a:solidFill>
          <a:ln w="254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170992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09928"/>
            <a:ext cx="457200" cy="502920"/>
          </a:xfrm>
          <a:prstGeom prst="roundRect">
            <a:avLst/>
          </a:prstGeom>
          <a:solidFill>
            <a:srgbClr val="4C72B0"/>
          </a:solidFill>
          <a:ln w="254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70992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709928"/>
            <a:ext cx="457200" cy="502920"/>
          </a:xfrm>
          <a:prstGeom prst="roundRect">
            <a:avLst/>
          </a:prstGeom>
          <a:solidFill>
            <a:srgbClr val="4C72B0"/>
          </a:solidFill>
          <a:ln w="254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0" y="170992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709928"/>
            <a:ext cx="457200" cy="502920"/>
          </a:xfrm>
          <a:prstGeom prst="roundRect">
            <a:avLst/>
          </a:prstGeom>
          <a:solidFill>
            <a:srgbClr val="4C72B0"/>
          </a:solidFill>
          <a:ln w="254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70992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709928"/>
            <a:ext cx="457200" cy="502920"/>
          </a:xfrm>
          <a:prstGeom prst="roundRect">
            <a:avLst/>
          </a:prstGeom>
          <a:solidFill>
            <a:srgbClr val="4C72B0"/>
          </a:solidFill>
          <a:ln w="254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70992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79" y="1709928"/>
            <a:ext cx="457200" cy="502920"/>
          </a:xfrm>
          <a:prstGeom prst="roundRect">
            <a:avLst/>
          </a:prstGeom>
          <a:solidFill>
            <a:srgbClr val="4C72B0"/>
          </a:solidFill>
          <a:ln w="254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79" y="170992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09928"/>
            <a:ext cx="457200" cy="502920"/>
          </a:xfrm>
          <a:prstGeom prst="roundRect">
            <a:avLst/>
          </a:prstGeom>
          <a:solidFill>
            <a:srgbClr val="4C72B0"/>
          </a:solidFill>
          <a:ln w="254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70992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56032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34343"/>
                </a:solidFill>
              </a:rPr>
              <a:t>good answer shown as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2944368"/>
            <a:ext cx="4572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77440" y="294436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D8452"/>
                </a:solidFill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2944368"/>
            <a:ext cx="4572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0" y="294436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D8452"/>
                </a:solidFill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2944368"/>
            <a:ext cx="457200" cy="502920"/>
          </a:xfrm>
          <a:prstGeom prst="roundRect">
            <a:avLst/>
          </a:prstGeom>
          <a:solidFill>
            <a:srgbClr val="4C72B0"/>
          </a:solidFill>
          <a:ln w="254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0" y="294436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2944368"/>
            <a:ext cx="4572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23360" y="294436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D8452"/>
                </a:solidFill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2944368"/>
            <a:ext cx="4572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294436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D8452"/>
                </a:solidFill>
              </a:rPr>
              <a:t>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2944368"/>
            <a:ext cx="457200" cy="502920"/>
          </a:xfrm>
          <a:prstGeom prst="roundRect">
            <a:avLst/>
          </a:prstGeom>
          <a:solidFill>
            <a:srgbClr val="4C72B0"/>
          </a:solidFill>
          <a:ln w="254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20640" y="294436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79" y="2944368"/>
            <a:ext cx="4572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79" y="294436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D8452"/>
                </a:solidFill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2944368"/>
            <a:ext cx="4572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294436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D8452"/>
                </a:solidFill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D1D1F"/>
                </a:solidFill>
              </a:rPr>
              <a:t>It said “A” 14 times out of 16.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6868B"/>
                </a:solidFill>
              </a:rPr>
              <a:t>Qwen2.5-0.5B-Instruct judging 8 good/bad answer pairs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Break</a:t>
            </a:r>
          </a:p>
        </p:txBody>
      </p:sp>
      <p:pic>
        <p:nvPicPr>
          <p:cNvPr id="4" name="Picture 3" descr="mulan-shang-pol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2308"/>
            <a:ext cx="4206240" cy="29275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5544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D1D1F"/>
                </a:solidFill>
              </a:rPr>
              <a:t>Five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37744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434343"/>
                </a:solidFill>
              </a:rPr>
              <a:t>Stand up and stretch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434343"/>
                </a:solidFill>
              </a:rPr>
              <a:t>Refill your water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434343"/>
                </a:solidFill>
              </a:rPr>
              <a:t>Compare notes with a neighbor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Let's code: benchmark an LLM</a:t>
            </a:r>
          </a:p>
        </p:txBody>
      </p:sp>
      <p:pic>
        <p:nvPicPr>
          <p:cNvPr id="4" name="Picture 3" descr="mulan-training-s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389120" cy="32918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280160"/>
            <a:ext cx="356616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</a:rPr>
              <a:t>1  Structured outputs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</a:rPr>
              <a:t>2  The benchmark loop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</a:rPr>
              <a:t>3  Prompt: step by step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</a:rPr>
              <a:t>4  Tool: a calculator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</a:rPr>
              <a:t>5  Agent loop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</a:rPr>
              <a:t>6  A bigger model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</a:rPr>
              <a:t>7  LLM judge as grader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D1D1F"/>
                </a:solidFill>
              </a:rPr>
              <a:t>8  Swap the order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1004</Words>
  <Application>Microsoft Macintosh PowerPoint</Application>
  <PresentationFormat>On-screen Show (16:9)</PresentationFormat>
  <Paragraphs>133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Playfair Display</vt:lpstr>
      <vt:lpstr>Menlo</vt:lpstr>
      <vt:lpstr>Impact</vt:lpstr>
      <vt:lpstr>Arial</vt:lpstr>
      <vt:lpstr>Roboto</vt:lpstr>
      <vt:lpstr>Roboto Light</vt:lpstr>
      <vt:lpstr>Office Theme</vt:lpstr>
      <vt:lpstr>CSCI 3495 Benchmarks: Did the Soldier Pass?</vt:lpstr>
      <vt:lpstr>Quiz 6 (paper)</vt:lpstr>
      <vt:lpstr>We asked a small model about Mulan</vt:lpstr>
      <vt:lpstr>How do we know an LLM is good at a task?</vt:lpstr>
      <vt:lpstr>PowerPoint Presentation</vt:lpstr>
      <vt:lpstr>Grading 1,000,000 students: which test?</vt:lpstr>
      <vt:lpstr>Testing an LLM needs a grader like (c)</vt:lpstr>
      <vt:lpstr>Benchmarks are how the field keeps score</vt:lpstr>
      <vt:lpstr>A benchmark: questions plus a script that checks</vt:lpstr>
      <vt:lpstr>Long answers bury the final answer</vt:lpstr>
      <vt:lpstr>How could we stop the answer from getting buried?</vt:lpstr>
      <vt:lpstr>Structured output: fill in a schema</vt:lpstr>
      <vt:lpstr>Same model, same 30 questions, two prompts</vt:lpstr>
      <vt:lpstr>PowerPoint Presentation</vt:lpstr>
      <vt:lpstr>How could the model cheat our test?</vt:lpstr>
      <vt:lpstr>A 1M-parameter model that aces everything</vt:lpstr>
      <vt:lpstr>Three ways to check an answer</vt:lpstr>
      <vt:lpstr>GPT-4 agrees with people as often as people do</vt:lpstr>
      <vt:lpstr>LLM judges work best as A/B tests</vt:lpstr>
      <vt:lpstr>Our small judge has a favorite letter</vt:lpstr>
      <vt:lpstr>Break</vt:lpstr>
      <vt:lpstr>Let's code: benchmark a small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Davalos Anaya, Eduardo</cp:lastModifiedBy>
  <cp:revision>16</cp:revision>
  <dcterms:modified xsi:type="dcterms:W3CDTF">2026-11-01T20:03:39Z</dcterms:modified>
</cp:coreProperties>
</file>