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weight</c:v>
                </c:pt>
              </c:strCache>
            </c:strRef>
          </c:tx>
          <c:spPr>
            <a:solidFill>
              <a:srgbClr val="4C72B0"/>
            </a:solidFill>
            <a:ln>
              <a:noFill/>
            </a:ln>
          </c:spPr>
          <c:dPt>
            <c:idx val="0"/>
            <c:spPr>
              <a:solidFill>
                <a:srgbClr val="4C72B0"/>
              </a:solidFill>
            </c:spPr>
          </c:dPt>
          <c:dPt>
            <c:idx val="1"/>
            <c:spPr>
              <a:solidFill>
                <a:srgbClr val="4C72B0"/>
              </a:solidFill>
            </c:spPr>
          </c:dPt>
          <c:dPt>
            <c:idx val="2"/>
            <c:spPr>
              <a:solidFill>
                <a:srgbClr val="4C72B0"/>
              </a:solidFill>
            </c:spPr>
          </c:dPt>
          <c:cat>
            <c:strRef>
              <c:f>Sheet1!$A$2:$A$4</c:f>
              <c:strCache>
                <c:ptCount val="3"/>
                <c:pt idx="0">
                  <c:v>Adam state</c:v>
                </c:pt>
                <c:pt idx="1">
                  <c:v>gradients</c:v>
                </c:pt>
                <c:pt idx="2">
                  <c:v>weights, 16-bit</c:v>
                </c:pt>
              </c:strCache>
            </c:strRef>
          </c:cat>
          <c:val>
            <c:numRef>
              <c:f>Sheet1!$B$2:$B$4</c:f>
              <c:numCache>
                <c:formatCode>General</c:formatCode>
                <c:ptCount val="3"/>
                <c:pt idx="0">
                  <c:v>84.0</c:v>
                </c:pt>
                <c:pt idx="1">
                  <c:v>14.0</c:v>
                </c:pt>
                <c:pt idx="2">
                  <c:v>14.0</c:v>
                </c:pt>
              </c:numCache>
            </c:numRef>
          </c:val>
        </c:ser>
        <c:dLbls>
          <c:numFmt formatCode="0" sourceLinked="0"/>
          <c:txPr>
            <a:bodyPr/>
            <a:lstStyle/>
            <a:p>
              <a:pPr>
                <a:defRPr sz="1500" b="1">
                  <a:solidFill>
                    <a:srgbClr val="1D1D1F"/>
                  </a:solidFill>
                  <a:latin typeface="Helvetica Neue"/>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none"/>
        <c:minorTickMark val="none"/>
        <c:tickLblPos val="nextTo"/>
        <c:spPr>
          <a:ln>
            <a:solidFill>
              <a:srgbClr val="D2D2D7"/>
            </a:solidFill>
          </a:ln>
        </c:spPr>
        <c:txPr>
          <a:bodyPr/>
          <a:lstStyle/>
          <a:p>
            <a:pPr>
              <a:defRPr sz="1200">
                <a:solidFill>
                  <a:srgbClr val="86868B"/>
                </a:solidFill>
                <a:latin typeface="Helvetica Neue"/>
              </a:defRPr>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crossAx val="-2068027336"/>
        <c:crosses val="autoZero"/>
      </c:valAx>
    </c:plotArea>
    <c:dispBlanksAs val="gap"/>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bonsai is a full tree, deliberately kept tiny. Ask the class: what would you prune from a 7B-parameter model, and what must survive?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7B model is billions of numbers. The whole game today is making those numbers fit and move on modest hardware.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weights are the cheap part. Adam keeps the weights, the gradients and two moments per parameter, so a 7B model needs roughly a hundred gigabytes of peak training memory. Nobody has that in a laptop, and you pay it again for every task. 1 copy / task7B weights saved again for every customer, product or language you fine-tune for. And it repeats. Every new task you adapt to needs its own full copy of the model. Infeasible on a laptop, wasteful even on a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model never moves. Everything here bolts a small trainable piece onto a frozen model, and the three approaches differ mainly in where that piece sits.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 starts at zero, so training begins exactly at the pretrained model; after training, B times A merges back into W, so inference costs nothing extra. B starts at 0; after training, B and A merge back into W: no extra inference latency.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W and learn the update instead, factored into two thin matrices. The bet is that the update has low intrinsic rank, and empirically it does. That is how the trainable parameter count drops by four orders of magnitude.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lone blue dot is full fine-tuning of GPT-3 175B. LoRA (pink) holds that accuracy with about 10,000x fewer trainable parameters, while prefix methods degrade as they grow. Blue dot = full fine-tuning of GPT-3 175B; LoRA (pink) matches it with ~10,000x fewer params.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why a 7B model runs on a laptop at all. Post-training quantization needs no retraining, just map ranges of floats to integer buckets, losing surprisingly little accuracy.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Find the min and max of a block, lay a small grid of integer levels across it, and round every weight to the nearest one. Store the levels plus a single scale factor per block. The precision you lose is mostly precision you were not using.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Quantize the frozen base down to four bits and train only the adapters in sixteen. Gradients never touch the base, so its precision does not matter as much as you would think. This is what puts fine-tuning a large model on one consumer GPU.</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honest answer is yes, and they are about to. Hold it until the lab.</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API key, no network, no per-token bill: the model file sits on your disk, and a Modelfile can set the system prompt, sampling params, and even LoRA adapters.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levers and the price of each. Nothing here is free, and the point is knowing which cost you can afford for a given job. In practice, most local deployments stack these two together: a 4-bit base on disk, a few megabytes of adapters per task.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LoRA layer and the quantizer, train the adapter with the base frozen, then bake off. The smallest model that still works wins, which forces them to find the accuracy cliff rather than just reading about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the base weight; train only A and B. Then run a quantization bake-off at 8/4/2 bits.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collapses; only 48 trainable params; error grows as bits drop.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15 minutes: work with your team while I come around. Checkpoint presentations are next week.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Efficient LLMs: LoRA, PEFT &amp; Quantization</a:t>
            </a:r>
          </a:p>
        </p:txBody>
      </p:sp>
      <p:sp>
        <p:nvSpPr>
          <p:cNvPr id="3" name="Subtitle 2"/>
          <p:cNvSpPr>
            <a:spLocks noGrp="1"/>
          </p:cNvSpPr>
          <p:nvPr>
            <p:ph type="subTitle" idx="1"/>
          </p:nvPr>
        </p:nvSpPr>
        <p:spPr>
          <a:xfrm>
            <a:off x="493926" y="3549825"/>
            <a:ext cx="6204054" cy="970800"/>
          </a:xfrm>
        </p:spPr>
        <p:txBody>
          <a:bodyPr wrap="square"/>
          <a:lstStyle/>
          <a:p>
            <a:pPr marL="0" indent="0">
              <a:buNone/>
            </a:pPr>
            <a:r>
              <a:t>Natural Language Processing &amp; Large Language Models</a:t>
            </a:r>
          </a:p>
          <a:p>
            <a:pPr marL="0" indent="0">
              <a:buNone/>
            </a:pPr>
            <a:r>
              <a:t>Week 11, Class 1  ·  Mon Nov 2, 2026</a:t>
            </a:r>
          </a:p>
        </p:txBody>
      </p:sp>
      <p:pic>
        <p:nvPicPr>
          <p:cNvPr id="5" name="Picture 4" descr="Efficient LLMs: LoRA, PEFT &amp; Quantization"/>
          <p:cNvPicPr>
            <a:picLocks noChangeAspect="1"/>
          </p:cNvPicPr>
          <p:nvPr/>
        </p:nvPicPr>
        <p:blipFill>
          <a:blip r:embed="rId3"/>
          <a:stretch>
            <a:fillRect/>
          </a:stretch>
        </p:blipFill>
        <p:spPr>
          <a:xfrm>
            <a:off x="6926580" y="3474720"/>
            <a:ext cx="18516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Sage Ross,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Billions of weights, one laptop</a:t>
            </a:r>
          </a:p>
        </p:txBody>
      </p:sp>
      <p:pic>
        <p:nvPicPr>
          <p:cNvPr id="5" name="Picture 4" descr="Billions of weights, one laptop"/>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full fine-tuning doesn't scale</a:t>
            </a:r>
          </a:p>
        </p:txBody>
      </p:sp>
      <p:sp>
        <p:nvSpPr>
          <p:cNvPr id="5" name="TextBox 4"/>
          <p:cNvSpPr txBox="1"/>
          <p:nvPr/>
        </p:nvSpPr>
        <p:spPr>
          <a:xfrm>
            <a:off x="457200" y="1078992"/>
            <a:ext cx="8229600" cy="310896"/>
          </a:xfrm>
          <a:prstGeom prst="rect">
            <a:avLst/>
          </a:prstGeom>
          <a:noFill/>
        </p:spPr>
        <p:txBody>
          <a:bodyPr wrap="square" anchor="t" lIns="0" rIns="0" tIns="0" bIns="0">
            <a:spAutoFit/>
          </a:bodyPr>
          <a:lstStyle/>
          <a:p>
            <a:pPr marL="0" indent="0" algn="l">
              <a:spcAft>
                <a:spcPts val="0"/>
              </a:spcAft>
              <a:buNone/>
            </a:pPr>
            <a:r>
              <a:rPr sz="1300" b="0">
                <a:solidFill>
                  <a:srgbClr val="86868B"/>
                </a:solidFill>
                <a:latin typeface="Helvetica Neue"/>
              </a:rPr>
              <a:t>One 7B model with Adam, peak memory in GB</a:t>
            </a:r>
          </a:p>
        </p:txBody>
      </p:sp>
      <p:graphicFrame>
        <p:nvGraphicFramePr>
          <p:cNvPr id="6" name="Chart 5"/>
          <p:cNvGraphicFramePr>
            <a:graphicFrameLocks noGrp="1"/>
          </p:cNvGraphicFramePr>
          <p:nvPr/>
        </p:nvGraphicFramePr>
        <p:xfrm>
          <a:off x="457200" y="1389888"/>
          <a:ext cx="8229600" cy="3278124"/>
        </p:xfrm>
        <a:graphic>
          <a:graphicData uri="http://schemas.openxmlformats.org/drawingml/2006/chart">
            <c:chart xmlns:c="http://schemas.openxmlformats.org/drawingml/2006/chart" r:id="rId3"/>
          </a:graphicData>
        </a:graphic>
      </p:graphicFrame>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Adam memory rule-of-thumb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Parameter-Efficient Fine-Tuning</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bandRow="0"/>
              <a:tblGrid>
                <a:gridCol w="1955355"/>
                <a:gridCol w="1573498"/>
                <a:gridCol w="1573498"/>
              </a:tblGrid>
              <a:tr h="566928">
                <a:tc>
                  <a:txBody>
                    <a:bodyPr wrap="none"/>
                    <a:lstStyle/>
                    <a:p>
                      <a:pPr marL="0" indent="0" algn="l">
                        <a:spcAft>
                          <a:spcPts val="0"/>
                        </a:spcAft>
                        <a:buNone/>
                      </a:pPr>
                      <a:r>
                        <a:rPr sz="1100" b="1" spc="50">
                          <a:solidFill>
                            <a:srgbClr val="86868B"/>
                          </a:solidFill>
                          <a:latin typeface="Helvetica Neue"/>
                        </a:rPr>
                        <a:t>METHOD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WHAT YOU TRAIN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WHERE IT SITS</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Adapters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small bottleneck layers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inserted inside each block</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Prefix tuning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 few virtual tokens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prepended to the input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LoRA</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two thin matrices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beside each weight matrix</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THE MODEL ITSELF</a:t>
            </a:r>
          </a:p>
          <a:p>
            <a:pPr marL="0" indent="0">
              <a:spcAft>
                <a:spcPts val="900"/>
              </a:spcAft>
              <a:buNone/>
            </a:pPr>
            <a:r>
              <a:rPr sz="1300">
                <a:solidFill>
                  <a:srgbClr val="1D1D1F"/>
                </a:solidFill>
                <a:latin typeface="Helvetica Neue"/>
              </a:rPr>
              <a:t>Billions of parameters, frozen, never updated. Everything above is what gets added.</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visually</a:t>
            </a:r>
          </a:p>
        </p:txBody>
      </p:sp>
      <p:pic>
        <p:nvPicPr>
          <p:cNvPr id="5" name="Picture 4" descr="LoRA, visually"/>
          <p:cNvPicPr>
            <a:picLocks noChangeAspect="1"/>
          </p:cNvPicPr>
          <p:nvPr/>
        </p:nvPicPr>
        <p:blipFill>
          <a:blip r:embed="rId3"/>
          <a:stretch>
            <a:fillRect/>
          </a:stretch>
        </p:blipFill>
        <p:spPr>
          <a:xfrm>
            <a:off x="2978335" y="1078992"/>
            <a:ext cx="31873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the core idea</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 DENSE UPDATE</a:t>
            </a:r>
          </a:p>
          <a:p>
            <a:pPr marL="0" indent="0">
              <a:spcAft>
                <a:spcPts val="300"/>
              </a:spcAft>
              <a:buNone/>
            </a:pPr>
            <a:r>
              <a:rPr sz="2000" b="0" u="none">
                <a:solidFill>
                  <a:srgbClr val="1D1D1F"/>
                </a:solidFill>
                <a:latin typeface="Menlo"/>
              </a:rPr>
              <a:t>d x d entries</a:t>
            </a:r>
          </a:p>
          <a:p>
            <a:pPr marL="0" indent="0" algn="l">
              <a:spcAft>
                <a:spcPts val="200"/>
              </a:spcAft>
              <a:buNone/>
            </a:pPr>
            <a:r>
              <a:rPr sz="1200" b="0">
                <a:solidFill>
                  <a:srgbClr val="86868B"/>
                </a:solidFill>
                <a:latin typeface="Helvetica Neue"/>
              </a:rPr>
              <a:t>Every one of them a gradient to keep.</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B TIMES A</a:t>
            </a:r>
          </a:p>
          <a:p>
            <a:pPr marL="0" indent="0">
              <a:spcAft>
                <a:spcPts val="300"/>
              </a:spcAft>
              <a:buNone/>
            </a:pPr>
            <a:r>
              <a:rPr sz="2000" b="0" u="none">
                <a:solidFill>
                  <a:srgbClr val="1D1D1F"/>
                </a:solidFill>
                <a:latin typeface="Menlo"/>
              </a:rPr>
              <a:t>2 x d x r entries</a:t>
            </a:r>
          </a:p>
          <a:p>
            <a:pPr marL="0" indent="0" algn="l">
              <a:spcAft>
                <a:spcPts val="200"/>
              </a:spcAft>
              <a:buNone/>
            </a:pPr>
            <a:r>
              <a:rPr sz="1200" b="0">
                <a:solidFill>
                  <a:srgbClr val="86868B"/>
                </a:solidFill>
                <a:latin typeface="Helvetica Neue"/>
              </a:rPr>
              <a:t>Orders of magnitude fewer when r is small. W is assumed to be low rank.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Hu et al., 2021, arxiv.org/abs/2106.09685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LoRA is a big deal</a:t>
            </a:r>
          </a:p>
        </p:txBody>
      </p:sp>
      <p:pic>
        <p:nvPicPr>
          <p:cNvPr id="5" name="Picture 4" descr="Why LoRA is a big deal"/>
          <p:cNvPicPr>
            <a:picLocks noChangeAspect="1"/>
          </p:cNvPicPr>
          <p:nvPr/>
        </p:nvPicPr>
        <p:blipFill>
          <a:blip r:embed="rId3"/>
          <a:stretch>
            <a:fillRect/>
          </a:stretch>
        </p:blipFill>
        <p:spPr>
          <a:xfrm>
            <a:off x="515770" y="1078992"/>
            <a:ext cx="81124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fewer bits per weight</a:t>
            </a:r>
          </a:p>
        </p:txBody>
      </p:sp>
      <p:graphicFrame>
        <p:nvGraphicFramePr>
          <p:cNvPr id="5" name="Table 4"/>
          <p:cNvGraphicFramePr>
            <a:graphicFrameLocks noGrp="1"/>
          </p:cNvGraphicFramePr>
          <p:nvPr/>
        </p:nvGraphicFramePr>
        <p:xfrm>
          <a:off x="457200" y="1739646"/>
          <a:ext cx="8229599" cy="2267712"/>
        </p:xfrm>
        <a:graphic>
          <a:graphicData uri="http://schemas.openxmlformats.org/drawingml/2006/table">
            <a:tbl>
              <a:tblPr firstRow="1" bandRow="0"/>
              <a:tblGrid>
                <a:gridCol w="1820417"/>
                <a:gridCol w="2136394"/>
                <a:gridCol w="2136394"/>
                <a:gridCol w="2136394"/>
              </a:tblGrid>
              <a:tr h="566928">
                <a:tc>
                  <a:txBody>
                    <a:bodyPr wrap="none"/>
                    <a:lstStyle/>
                    <a:p>
                      <a:pPr marL="0" indent="0" algn="l">
                        <a:spcAft>
                          <a:spcPts val="0"/>
                        </a:spcAft>
                        <a:buNone/>
                      </a:pPr>
                      <a:r>
                        <a:rPr sz="1100" b="1" spc="50">
                          <a:solidFill>
                            <a:srgbClr val="86868B"/>
                          </a:solidFill>
                          <a:latin typeface="Helvetica Neue"/>
                        </a:rPr>
                        <a:t>PRECISION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LEVELS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SIZE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16-bit float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continuous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full</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the usual storage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8-bit int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256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2x smaller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half the bytes moved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4-bit int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4x smaller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where QLoRA lives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quantization works</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CONTINUOUS FLOATS</a:t>
            </a:r>
          </a:p>
          <a:p>
            <a:pPr marL="0" indent="0">
              <a:spcAft>
                <a:spcPts val="300"/>
              </a:spcAft>
              <a:buNone/>
            </a:pPr>
            <a:r>
              <a:rPr sz="2000" b="0" u="none">
                <a:solidFill>
                  <a:srgbClr val="1D1D1F"/>
                </a:solidFill>
                <a:latin typeface="Menlo"/>
              </a:rPr>
              <a:t>0.31   0.62   0.85</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ROUNDED TO A GRID</a:t>
            </a:r>
          </a:p>
          <a:p>
            <a:pPr marL="0" indent="0">
              <a:spcAft>
                <a:spcPts val="300"/>
              </a:spcAft>
              <a:buNone/>
            </a:pPr>
            <a:r>
              <a:rPr sz="2000" b="0" u="none">
                <a:solidFill>
                  <a:srgbClr val="1D1D1F"/>
                </a:solidFill>
                <a:latin typeface="Menlo"/>
              </a:rPr>
              <a:t>2   4   6</a:t>
            </a:r>
          </a:p>
          <a:p>
            <a:pPr marL="0" indent="0" algn="l">
              <a:spcAft>
                <a:spcPts val="200"/>
              </a:spcAft>
              <a:buNone/>
            </a:pPr>
            <a:r>
              <a:rPr sz="1200" b="0">
                <a:solidFill>
                  <a:srgbClr val="86868B"/>
                </a:solidFill>
                <a:latin typeface="Helvetica Neue"/>
              </a:rPr>
              <a:t>Find a block's min and max, round each weight to the nearest level, and keep one scale factor per block. The gap is the rounding error.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QLoRA: the combination</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BASE MODEL, 4-BIT</a:t>
            </a:r>
          </a:p>
          <a:p>
            <a:pPr marL="0" indent="0">
              <a:spcAft>
                <a:spcPts val="300"/>
              </a:spcAft>
              <a:buNone/>
            </a:pPr>
            <a:r>
              <a:rPr sz="2000" b="0" u="none">
                <a:solidFill>
                  <a:srgbClr val="1D1D1F"/>
                </a:solidFill>
                <a:latin typeface="Menlo"/>
              </a:rPr>
              <a:t>frozen, quantized</a:t>
            </a:r>
          </a:p>
          <a:p>
            <a:pPr marL="0" indent="0" algn="l">
              <a:spcAft>
                <a:spcPts val="200"/>
              </a:spcAft>
              <a:buNone/>
            </a:pPr>
            <a:r>
              <a:rPr sz="1200" b="0">
                <a:solidFill>
                  <a:srgbClr val="86868B"/>
                </a:solidFill>
                <a:latin typeface="Helvetica Neue"/>
              </a:rPr>
              <a:t>Tiny footprint. No gradient ever reaches it.</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LORA ADAPTERS, 16-BIT</a:t>
            </a:r>
          </a:p>
          <a:p>
            <a:pPr marL="0" indent="0">
              <a:spcAft>
                <a:spcPts val="300"/>
              </a:spcAft>
              <a:buNone/>
            </a:pPr>
            <a:r>
              <a:rPr sz="2000" b="0" u="none">
                <a:solidFill>
                  <a:srgbClr val="1D1D1F"/>
                </a:solidFill>
                <a:latin typeface="Menlo"/>
              </a:rPr>
              <a:t>trainable</a:t>
            </a:r>
          </a:p>
          <a:p>
            <a:pPr marL="0" indent="0" algn="l">
              <a:spcAft>
                <a:spcPts val="200"/>
              </a:spcAft>
              <a:buNone/>
            </a:pPr>
            <a:r>
              <a:rPr sz="1200" b="0">
                <a:solidFill>
                  <a:srgbClr val="86868B"/>
                </a:solidFill>
                <a:latin typeface="Helvetica Neue"/>
              </a:rPr>
              <a:t>Gradients reach only these. That is what fits a large model on one consumer GPU.</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Dettmers et al., 2023, arxiv.org/abs/2305.14314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ith QLoRA, the honest answer is yes. Hold that thought for the exercise."/>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fine-tune a model on your laptop tonight?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With QLoRA, the honest answer is yes. Hold that thought for the exercise.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https://images.unsplash.com/photo-1498050108023-c5249f4df085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models locally with Ollama</a:t>
            </a:r>
          </a:p>
        </p:txBody>
      </p:sp>
      <p:sp>
        <p:nvSpPr>
          <p:cNvPr id="5" name="Rounded Rectangle 4"/>
          <p:cNvSpPr/>
          <p:nvPr/>
        </p:nvSpPr>
        <p:spPr>
          <a:xfrm>
            <a:off x="457200" y="1085469"/>
            <a:ext cx="8229600" cy="3156966"/>
          </a:xfrm>
          <a:prstGeom prst="roundRect">
            <a:avLst>
              <a:gd name="adj" fmla="val 3475"/>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240917"/>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240917"/>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240917"/>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506093"/>
            <a:ext cx="7607808" cy="2480310"/>
          </a:xfrm>
          <a:prstGeom prst="rect">
            <a:avLst/>
          </a:prstGeom>
          <a:noFill/>
        </p:spPr>
        <p:txBody>
          <a:bodyPr wrap="none" anchor="t" lIns="0" rIns="0" tIns="0" bIns="0">
            <a:spAutoFit/>
          </a:bodyPr>
          <a:lstStyle/>
          <a:p>
            <a:pPr marL="0" indent="0" algn="l">
              <a:lnSpc>
                <a:spcPts val="2170"/>
              </a:lnSpc>
              <a:spcAft>
                <a:spcPts val="0"/>
              </a:spcAft>
              <a:buNone/>
            </a:pPr>
            <a:r>
              <a:rPr sz="1400" b="0">
                <a:solidFill>
                  <a:srgbClr val="F5F5F7"/>
                </a:solidFill>
                <a:latin typeface="Menlo"/>
              </a:rPr>
              <a:t>$ ollama pull qwen2.5:0.5b</a:t>
            </a:r>
          </a:p>
          <a:p>
            <a:pPr marL="0" indent="0" algn="l">
              <a:lnSpc>
                <a:spcPts val="2170"/>
              </a:lnSpc>
              <a:spcAft>
                <a:spcPts val="0"/>
              </a:spcAft>
              <a:buNone/>
            </a:pPr>
            <a:r>
              <a:rPr sz="1400" b="0">
                <a:solidFill>
                  <a:srgbClr val="F5F5F7"/>
                </a:solidFill>
                <a:latin typeface="Menlo"/>
              </a:rPr>
              <a:t>pulling manifest ... verifying sha256 digest ... success</a:t>
            </a:r>
          </a:p>
          <a:p>
            <a:pPr marL="0" indent="0" algn="l">
              <a:lnSpc>
                <a:spcPts val="2170"/>
              </a:lnSpc>
              <a:spcAft>
                <a:spcPts val="0"/>
              </a:spcAft>
              <a:buNone/>
            </a:pPr>
            <a:r>
              <a:rPr sz="1400" b="0">
                <a:solidFill>
                  <a:srgbClr val="F5F5F7"/>
                </a:solidFill>
                <a:latin typeface="Menlo"/>
              </a:rPr>
              <a:t> </a:t>
            </a:r>
          </a:p>
          <a:p>
            <a:pPr marL="0" indent="0" algn="l">
              <a:lnSpc>
                <a:spcPts val="2170"/>
              </a:lnSpc>
              <a:spcAft>
                <a:spcPts val="0"/>
              </a:spcAft>
              <a:buNone/>
            </a:pPr>
            <a:r>
              <a:rPr sz="1400" b="0">
                <a:solidFill>
                  <a:srgbClr val="F5F5F7"/>
                </a:solidFill>
                <a:latin typeface="Menlo"/>
              </a:rPr>
              <a:t>$ ollama list</a:t>
            </a:r>
          </a:p>
          <a:p>
            <a:pPr marL="0" indent="0" algn="l">
              <a:lnSpc>
                <a:spcPts val="2170"/>
              </a:lnSpc>
              <a:spcAft>
                <a:spcPts val="0"/>
              </a:spcAft>
              <a:buNone/>
            </a:pPr>
            <a:r>
              <a:rPr sz="1400" b="0">
                <a:solidFill>
                  <a:srgbClr val="F5F5F7"/>
                </a:solidFill>
                <a:latin typeface="Menlo"/>
              </a:rPr>
              <a:t>NAME            SIZE</a:t>
            </a:r>
          </a:p>
          <a:p>
            <a:pPr marL="0" indent="0" algn="l">
              <a:lnSpc>
                <a:spcPts val="2170"/>
              </a:lnSpc>
              <a:spcAft>
                <a:spcPts val="0"/>
              </a:spcAft>
              <a:buNone/>
            </a:pPr>
            <a:r>
              <a:rPr sz="1400" b="0">
                <a:solidFill>
                  <a:srgbClr val="F5F5F7"/>
                </a:solidFill>
                <a:latin typeface="Menlo"/>
              </a:rPr>
              <a:t>qwen2.5:0.5b    398 MB</a:t>
            </a:r>
          </a:p>
          <a:p>
            <a:pPr marL="0" indent="0" algn="l">
              <a:lnSpc>
                <a:spcPts val="2170"/>
              </a:lnSpc>
              <a:spcAft>
                <a:spcPts val="0"/>
              </a:spcAft>
              <a:buNone/>
            </a:pPr>
            <a:r>
              <a:rPr sz="1400" b="0">
                <a:solidFill>
                  <a:srgbClr val="F5F5F7"/>
                </a:solidFill>
                <a:latin typeface="Menlo"/>
              </a:rPr>
              <a:t> </a:t>
            </a:r>
          </a:p>
          <a:p>
            <a:pPr marL="0" indent="0" algn="l">
              <a:lnSpc>
                <a:spcPts val="2170"/>
              </a:lnSpc>
              <a:spcAft>
                <a:spcPts val="0"/>
              </a:spcAft>
              <a:buNone/>
            </a:pPr>
            <a:r>
              <a:rPr sz="1400" b="0">
                <a:solidFill>
                  <a:srgbClr val="F5F5F7"/>
                </a:solidFill>
                <a:latin typeface="Menlo"/>
              </a:rPr>
              <a:t>$ ollama run qwen2.5:0.5b "Why is the sky blue?"</a:t>
            </a:r>
          </a:p>
          <a:p>
            <a:pPr marL="0" indent="0" algn="l">
              <a:lnSpc>
                <a:spcPts val="2170"/>
              </a:lnSpc>
              <a:spcAft>
                <a:spcPts val="0"/>
              </a:spcAft>
              <a:buNone/>
            </a:pPr>
            <a:r>
              <a:rPr sz="1400" b="0">
                <a:solidFill>
                  <a:srgbClr val="F5F5F7"/>
                </a:solidFill>
                <a:latin typeface="Menlo"/>
              </a:rPr>
              <a:t>Sunlight scatters off air molecules, and blue scatters most ...</a:t>
            </a:r>
          </a:p>
        </p:txBody>
      </p:sp>
      <p:sp>
        <p:nvSpPr>
          <p:cNvPr id="10" name="TextBox 9"/>
          <p:cNvSpPr txBox="1"/>
          <p:nvPr/>
        </p:nvSpPr>
        <p:spPr>
          <a:xfrm>
            <a:off x="768096" y="4370451"/>
            <a:ext cx="7607808" cy="419100"/>
          </a:xfrm>
          <a:prstGeom prst="rect">
            <a:avLst/>
          </a:prstGeom>
          <a:noFill/>
        </p:spPr>
        <p:txBody>
          <a:bodyPr wrap="none" anchor="t" lIns="0" rIns="0" tIns="0" bIns="0">
            <a:spAutoFit/>
          </a:bodyPr>
          <a:lstStyle/>
          <a:p>
            <a:pPr marL="0" indent="0" algn="l">
              <a:lnSpc>
                <a:spcPts val="1860"/>
              </a:lnSpc>
              <a:spcAft>
                <a:spcPts val="0"/>
              </a:spcAft>
              <a:buNone/>
            </a:pPr>
            <a:r>
              <a:rPr sz="1200" b="0">
                <a:solidFill>
                  <a:srgbClr val="86868B"/>
                </a:solidFill>
                <a:latin typeface="Menlo"/>
              </a:rPr>
              <a:t>three commands, no API key, nothing leaves the machine</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model size from ollama.com/library/qwen2.5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efficiency toolbox</a:t>
            </a:r>
          </a:p>
        </p:txBody>
      </p:sp>
      <p:graphicFrame>
        <p:nvGraphicFramePr>
          <p:cNvPr id="5" name="Table 4"/>
          <p:cNvGraphicFramePr>
            <a:graphicFrameLocks noGrp="1"/>
          </p:cNvGraphicFramePr>
          <p:nvPr/>
        </p:nvGraphicFramePr>
        <p:xfrm>
          <a:off x="457200" y="1456182"/>
          <a:ext cx="8229599" cy="2834640"/>
        </p:xfrm>
        <a:graphic>
          <a:graphicData uri="http://schemas.openxmlformats.org/drawingml/2006/table">
            <a:tbl>
              <a:tblPr firstRow="1" bandRow="0"/>
              <a:tblGrid>
                <a:gridCol w="1820417"/>
                <a:gridCol w="3204591"/>
                <a:gridCol w="3204591"/>
              </a:tblGrid>
              <a:tr h="566928">
                <a:tc>
                  <a:txBody>
                    <a:bodyPr wrap="none"/>
                    <a:lstStyle/>
                    <a:p>
                      <a:pPr marL="0" indent="0" algn="l">
                        <a:spcAft>
                          <a:spcPts val="0"/>
                        </a:spcAft>
                        <a:buNone/>
                      </a:pPr>
                      <a:r>
                        <a:rPr sz="1100" b="1" spc="50">
                          <a:solidFill>
                            <a:srgbClr val="86868B"/>
                          </a:solidFill>
                          <a:latin typeface="Helvetica Neue"/>
                        </a:rPr>
                        <a:t>LEVER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SAVES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COSTS</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LoRA / PEFT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training memory and storage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slightly less flexible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Quantization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model size and bandwidth</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small accuracy loss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QLoRA</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both at once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setup complexity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Distillation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inference cost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you must train a student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quantization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bake-off</a:t>
            </a:r>
          </a:p>
        </p:txBody>
      </p:sp>
      <p:sp>
        <p:nvSpPr>
          <p:cNvPr id="5" name="Rounded Rectangle 4"/>
          <p:cNvSpPr/>
          <p:nvPr/>
        </p:nvSpPr>
        <p:spPr>
          <a:xfrm>
            <a:off x="457200" y="107899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1135380"/>
          </a:xfrm>
          <a:prstGeom prst="rect">
            <a:avLst/>
          </a:prstGeom>
          <a:noFill/>
        </p:spPr>
        <p:txBody>
          <a:bodyPr wrap="none" anchor="ctr" lIns="0" rIns="0" tIns="0" bIns="0">
            <a:spAutoFit/>
          </a:bodyPr>
          <a:lstStyle/>
          <a:p>
            <a:pPr marL="0" indent="0" algn="l">
              <a:spcAft>
                <a:spcPts val="0"/>
              </a:spcAft>
              <a:buNone/>
            </a:pPr>
            <a:r>
              <a:rPr sz="1650" b="1">
                <a:solidFill>
                  <a:srgbClr val="1D1D1F"/>
                </a:solidFill>
                <a:latin typeface="Helvetica Neue"/>
              </a:rPr>
              <a:t>1</a:t>
            </a:r>
          </a:p>
        </p:txBody>
      </p:sp>
      <p:sp>
        <p:nvSpPr>
          <p:cNvPr id="7" name="TextBox 6"/>
          <p:cNvSpPr txBox="1"/>
          <p:nvPr/>
        </p:nvSpPr>
        <p:spPr>
          <a:xfrm>
            <a:off x="1170432" y="1078992"/>
            <a:ext cx="7278624" cy="1135380"/>
          </a:xfrm>
          <a:prstGeom prst="rect">
            <a:avLst/>
          </a:prstGeom>
          <a:noFill/>
        </p:spPr>
        <p:txBody>
          <a:bodyPr wrap="square" anchor="ctr" lIns="0" rIns="0" tIns="0" bIns="0">
            <a:spAutoFit/>
          </a:bodyPr>
          <a:lstStyle/>
          <a:p>
            <a:pPr marL="0" indent="0" algn="l">
              <a:spcAft>
                <a:spcPts val="0"/>
              </a:spcAft>
              <a:buNone/>
            </a:pPr>
            <a:r>
              <a:rPr sz="1050" b="0">
                <a:solidFill>
                  <a:srgbClr val="1D1D1F"/>
                </a:solidFill>
                <a:latin typeface="Menlo"/>
              </a:rPr>
              <a:t>Implement LoRALinear and quantize in lora_lab.py. Train the adapter, freeze the base</a:t>
            </a:r>
          </a:p>
        </p:txBody>
      </p:sp>
      <p:sp>
        <p:nvSpPr>
          <p:cNvPr id="8" name="Rounded Rectangle 7"/>
          <p:cNvSpPr/>
          <p:nvPr/>
        </p:nvSpPr>
        <p:spPr>
          <a:xfrm>
            <a:off x="457200" y="230581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305812"/>
            <a:ext cx="475488" cy="1135380"/>
          </a:xfrm>
          <a:prstGeom prst="rect">
            <a:avLst/>
          </a:prstGeom>
          <a:noFill/>
        </p:spPr>
        <p:txBody>
          <a:bodyPr wrap="none" anchor="ctr" lIns="0" rIns="0" tIns="0" bIns="0">
            <a:spAutoFit/>
          </a:bodyPr>
          <a:lstStyle/>
          <a:p>
            <a:pPr marL="0" indent="0" algn="l">
              <a:spcAft>
                <a:spcPts val="0"/>
              </a:spcAft>
              <a:buNone/>
            </a:pPr>
            <a:r>
              <a:rPr sz="1650" b="1">
                <a:solidFill>
                  <a:srgbClr val="1D1D1F"/>
                </a:solidFill>
                <a:latin typeface="Helvetica Neue"/>
              </a:rPr>
              <a:t>2</a:t>
            </a:r>
          </a:p>
        </p:txBody>
      </p:sp>
      <p:sp>
        <p:nvSpPr>
          <p:cNvPr id="10" name="TextBox 9"/>
          <p:cNvSpPr txBox="1"/>
          <p:nvPr/>
        </p:nvSpPr>
        <p:spPr>
          <a:xfrm>
            <a:off x="1170432" y="2305812"/>
            <a:ext cx="7278624" cy="1135380"/>
          </a:xfrm>
          <a:prstGeom prst="rect">
            <a:avLst/>
          </a:prstGeom>
          <a:noFill/>
        </p:spPr>
        <p:txBody>
          <a:bodyPr wrap="square" anchor="ctr" lIns="0" rIns="0" tIns="0" bIns="0">
            <a:spAutoFit/>
          </a:bodyPr>
          <a:lstStyle/>
          <a:p>
            <a:pPr marL="0" indent="0" algn="l">
              <a:spcAft>
                <a:spcPts val="0"/>
              </a:spcAft>
              <a:buNone/>
            </a:pPr>
            <a:r>
              <a:rPr sz="1050" b="0">
                <a:solidFill>
                  <a:srgbClr val="1D1D1F"/>
                </a:solidFill>
                <a:latin typeface="Menlo"/>
              </a:rPr>
              <a:t>Run the sweep at 8, 4 and 2 bits. Record the error and the size each time</a:t>
            </a:r>
          </a:p>
        </p:txBody>
      </p:sp>
      <p:sp>
        <p:nvSpPr>
          <p:cNvPr id="11" name="Rounded Rectangle 10"/>
          <p:cNvSpPr/>
          <p:nvPr/>
        </p:nvSpPr>
        <p:spPr>
          <a:xfrm>
            <a:off x="457200" y="353263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32632"/>
            <a:ext cx="475488" cy="1135380"/>
          </a:xfrm>
          <a:prstGeom prst="rect">
            <a:avLst/>
          </a:prstGeom>
          <a:noFill/>
        </p:spPr>
        <p:txBody>
          <a:bodyPr wrap="none" anchor="ctr" lIns="0" rIns="0" tIns="0" bIns="0">
            <a:spAutoFit/>
          </a:bodyPr>
          <a:lstStyle/>
          <a:p>
            <a:pPr marL="0" indent="0" algn="l">
              <a:spcAft>
                <a:spcPts val="0"/>
              </a:spcAft>
              <a:buNone/>
            </a:pPr>
            <a:r>
              <a:rPr sz="1650" b="1">
                <a:solidFill>
                  <a:srgbClr val="1D1D1F"/>
                </a:solidFill>
                <a:latin typeface="Helvetica Neue"/>
              </a:rPr>
              <a:t>3</a:t>
            </a:r>
          </a:p>
        </p:txBody>
      </p:sp>
      <p:sp>
        <p:nvSpPr>
          <p:cNvPr id="13" name="TextBox 12"/>
          <p:cNvSpPr txBox="1"/>
          <p:nvPr/>
        </p:nvSpPr>
        <p:spPr>
          <a:xfrm>
            <a:off x="1170432" y="3532632"/>
            <a:ext cx="7278624" cy="1135380"/>
          </a:xfrm>
          <a:prstGeom prst="rect">
            <a:avLst/>
          </a:prstGeom>
          <a:noFill/>
        </p:spPr>
        <p:txBody>
          <a:bodyPr wrap="square" anchor="ctr" lIns="0" rIns="0" tIns="0" bIns="0">
            <a:spAutoFit/>
          </a:bodyPr>
          <a:lstStyle/>
          <a:p>
            <a:pPr marL="0" indent="0" algn="l">
              <a:spcAft>
                <a:spcPts val="0"/>
              </a:spcAft>
              <a:buNone/>
            </a:pPr>
            <a:r>
              <a:rPr sz="1050" b="0">
                <a:solidFill>
                  <a:srgbClr val="1D1D1F"/>
                </a:solidFill>
                <a:latin typeface="Menlo"/>
              </a:rPr>
              <a:t>Smallest model that still works wins. About thirty minutes</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LoRA layer</a:t>
            </a:r>
          </a:p>
        </p:txBody>
      </p:sp>
      <p:pic>
        <p:nvPicPr>
          <p:cNvPr id="5" name="Picture 4" descr="Build a LoRA layer"/>
          <p:cNvPicPr>
            <a:picLocks noChangeAspect="1"/>
          </p:cNvPicPr>
          <p:nvPr/>
        </p:nvPicPr>
        <p:blipFill>
          <a:blip r:embed="rId3"/>
          <a:stretch>
            <a:fillRect/>
          </a:stretch>
        </p:blipFill>
        <p:spPr>
          <a:xfrm>
            <a:off x="274320" y="1416198"/>
            <a:ext cx="8595360" cy="2914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weeks/week-11/class-01/exercise/lora_lab.py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sp>
        <p:nvSpPr>
          <p:cNvPr id="5" name="Rounded Rectangle 4"/>
          <p:cNvSpPr/>
          <p:nvPr/>
        </p:nvSpPr>
        <p:spPr>
          <a:xfrm>
            <a:off x="457200" y="1196594"/>
            <a:ext cx="8229600" cy="3353816"/>
          </a:xfrm>
          <a:prstGeom prst="roundRect">
            <a:avLst>
              <a:gd name="adj" fmla="val 3271"/>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3520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3520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3520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617218"/>
            <a:ext cx="7607808" cy="2677160"/>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 python lora_lab.py</a:t>
            </a:r>
          </a:p>
          <a:p>
            <a:pPr marL="0" indent="0" algn="l">
              <a:lnSpc>
                <a:spcPts val="2635"/>
              </a:lnSpc>
              <a:spcAft>
                <a:spcPts val="0"/>
              </a:spcAft>
              <a:buNone/>
            </a:pPr>
            <a:r>
              <a:rPr sz="1700" b="0">
                <a:solidFill>
                  <a:srgbClr val="F5F5F7"/>
                </a:solidFill>
                <a:latin typeface="Menlo"/>
              </a:rPr>
              <a:t>LoRA loss:        9.744 -&gt; 0.000</a:t>
            </a:r>
          </a:p>
          <a:p>
            <a:pPr marL="0" indent="0" algn="l">
              <a:lnSpc>
                <a:spcPts val="2635"/>
              </a:lnSpc>
              <a:spcAft>
                <a:spcPts val="0"/>
              </a:spcAft>
              <a:buNone/>
            </a:pPr>
            <a:r>
              <a:rPr sz="1700" b="0">
                <a:solidFill>
                  <a:srgbClr val="F5F5F7"/>
                </a:solidFill>
                <a:latin typeface="Menlo"/>
              </a:rPr>
              <a:t>Trainable params: 48        Frozen params: 32</a:t>
            </a:r>
          </a:p>
          <a:p>
            <a:pPr marL="0" indent="0" algn="l">
              <a:lnSpc>
                <a:spcPts val="2635"/>
              </a:lnSpc>
              <a:spcAft>
                <a:spcPts val="0"/>
              </a:spcAft>
              <a:buNone/>
            </a:pPr>
            <a:r>
              <a:rPr sz="1700" b="0">
                <a:solidFill>
                  <a:srgbClr val="F5F5F7"/>
                </a:solidFill>
                <a:latin typeface="Menlo"/>
              </a:rPr>
              <a:t> </a:t>
            </a:r>
          </a:p>
          <a:p>
            <a:pPr marL="0" indent="0" algn="l">
              <a:lnSpc>
                <a:spcPts val="2635"/>
              </a:lnSpc>
              <a:spcAft>
                <a:spcPts val="0"/>
              </a:spcAft>
              <a:buNone/>
            </a:pPr>
            <a:r>
              <a:rPr sz="1700" b="0">
                <a:solidFill>
                  <a:srgbClr val="F5F5F7"/>
                </a:solidFill>
                <a:latin typeface="Menlo"/>
              </a:rPr>
              <a:t>Quantization bake-off (mean abs error vs original):</a:t>
            </a:r>
          </a:p>
          <a:p>
            <a:pPr marL="0" indent="0" algn="l">
              <a:lnSpc>
                <a:spcPts val="2635"/>
              </a:lnSpc>
              <a:spcAft>
                <a:spcPts val="0"/>
              </a:spcAft>
              <a:buNone/>
            </a:pPr>
            <a:r>
              <a:rPr sz="1700" b="0">
                <a:solidFill>
                  <a:srgbClr val="F5F5F7"/>
                </a:solidFill>
                <a:latin typeface="Menlo"/>
              </a:rPr>
              <a:t>  8-bit:  error = 0.0072</a:t>
            </a:r>
          </a:p>
          <a:p>
            <a:pPr marL="0" indent="0" algn="l">
              <a:lnSpc>
                <a:spcPts val="2635"/>
              </a:lnSpc>
              <a:spcAft>
                <a:spcPts val="0"/>
              </a:spcAft>
              <a:buNone/>
            </a:pPr>
            <a:r>
              <a:rPr sz="1700" b="0">
                <a:solidFill>
                  <a:srgbClr val="F5F5F7"/>
                </a:solidFill>
                <a:latin typeface="Menlo"/>
              </a:rPr>
              <a:t>  4-bit:  error = 0.1316</a:t>
            </a:r>
          </a:p>
          <a:p>
            <a:pPr marL="0" indent="0" algn="l">
              <a:lnSpc>
                <a:spcPts val="2635"/>
              </a:lnSpc>
              <a:spcAft>
                <a:spcPts val="0"/>
              </a:spcAft>
              <a:buNone/>
            </a:pPr>
            <a:r>
              <a:rPr sz="1700" b="0">
                <a:solidFill>
                  <a:srgbClr val="F5F5F7"/>
                </a:solidFill>
                <a:latin typeface="Menlo"/>
              </a:rPr>
              <a:t>  2-bit:  error = 0.7530</a:t>
            </a:r>
          </a:p>
        </p:txBody>
      </p:sp>
      <p:sp>
        <p:nvSpPr>
          <p:cNvPr id="10" name="TextBox 9"/>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in the course Docker image (seed=0)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and feedback</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What is your question, in one sentence?</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What baseline already runs end to end?</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What is the single biggest thing blocking you?</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Every team gets a turn. Leave with a next action you can finish this week</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 milestones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