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rgbClr val="4C72B0"/>
            </a:solidFill>
            <a:ln>
              <a:noFill/>
            </a:ln>
          </c:spPr>
          <c:dPt>
            <c:idx val="0"/>
            <c:spPr>
              <a:solidFill>
                <a:srgbClr val="4C72B0"/>
              </a:solidFill>
            </c:spPr>
          </c:dPt>
          <c:dPt>
            <c:idx val="1"/>
            <c:spPr>
              <a:solidFill>
                <a:srgbClr val="4C72B0"/>
              </a:solidFill>
            </c:spPr>
          </c:dPt>
          <c:dPt>
            <c:idx val="2"/>
            <c:spPr>
              <a:solidFill>
                <a:srgbClr val="4C72B0"/>
              </a:solidFill>
            </c:spPr>
          </c:dPt>
          <c:cat>
            <c:strRef>
              <c:f>Sheet1!$A$2:$A$4</c:f>
              <c:strCache>
                <c:ptCount val="3"/>
                <c:pt idx="0">
                  <c:v>Adam state</c:v>
                </c:pt>
                <c:pt idx="1">
                  <c:v>gradients</c:v>
                </c:pt>
                <c:pt idx="2">
                  <c:v>weights, 16-bit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</c:v>
                </c:pt>
                <c:pt idx="1">
                  <c:v>14.0</c:v>
                </c:pt>
                <c:pt idx="2">
                  <c:v>14.0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500" b="1">
                  <a:solidFill>
                    <a:srgbClr val="1D1D1F"/>
                  </a:solidFill>
                  <a:latin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2D2D7"/>
            </a:solidFill>
          </a:ln>
        </c:spPr>
        <c:txPr>
          <a:bodyPr/>
          <a:lstStyle/>
          <a:p>
            <a:pPr>
              <a:defRPr sz="1200">
                <a:solidFill>
                  <a:srgbClr val="86868B"/>
                </a:solidFill>
                <a:latin typeface="Helvetica Neue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TickMark val="none"/>
        <c:minorTickMark val="none"/>
        <c:tickLblPos val="none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200">
          <a:latin typeface="Helvetica Neue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Efficient LLMs: LoRA, PEFT &amp; Quantization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620405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11, Class 1  ·  Mon Nov 2, 2026</a:t>
            </a:r>
          </a:p>
        </p:txBody>
      </p:sp>
      <p:pic>
        <p:nvPicPr>
          <p:cNvPr id="5" name="Picture 4" descr="Efficient LLMs: LoRA, PEFT &amp; Quantizati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6580" y="3474720"/>
            <a:ext cx="1851660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Sage Ross, Wikimedia Commons, CC BY-SA 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Billions of weights, one laptop</a:t>
            </a:r>
          </a:p>
        </p:txBody>
      </p:sp>
      <p:pic>
        <p:nvPicPr>
          <p:cNvPr id="5" name="Picture 4" descr="Billions of weights, one laptop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https://images.unsplash.com/photo-1518770660439-4636190af475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full fine-tuning doesn't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78992"/>
            <a:ext cx="8229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300" b="0">
                <a:solidFill>
                  <a:srgbClr val="86868B"/>
                </a:solidFill>
                <a:latin typeface="Helvetica Neue"/>
              </a:rPr>
              <a:t>One 7B model with Adam, peak memory in GB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89888"/>
          <a:ext cx="8229600" cy="3278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Adam memory rule-of-thumb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Parameter-Efficient Fine-Tuning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9646"/>
          <a:ext cx="5102351" cy="2267712"/>
        </p:xfrm>
        <a:graphic>
          <a:graphicData uri="http://schemas.openxmlformats.org/drawingml/2006/table">
            <a:tbl>
              <a:tblPr firstRow="1" bandRow="0"/>
              <a:tblGrid>
                <a:gridCol w="1955355"/>
                <a:gridCol w="1573498"/>
                <a:gridCol w="1573498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METHOD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WHAT YOU TRAIN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WHERE IT SITS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Adapters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small bottleneck layers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inserted inside each block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Prefix tuning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a few virtual tokens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prepended to the input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LoRA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two thin matrices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beside each weight matrix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25312" y="1739646"/>
            <a:ext cx="2761488" cy="22677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10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THE MODEL ITSELF</a:t>
            </a:r>
          </a:p>
          <a:p>
            <a:pPr marL="0" indent="0">
              <a:spcAft>
                <a:spcPts val="900"/>
              </a:spcAft>
              <a:buNone/>
            </a:pPr>
            <a:r>
              <a:rPr sz="1300">
                <a:solidFill>
                  <a:srgbClr val="1D1D1F"/>
                </a:solidFill>
                <a:latin typeface="Helvetica Neue"/>
              </a:rPr>
              <a:t>Billions of parameters, frozen, never updated. Everything above is what gets added.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LoRA, visually</a:t>
            </a:r>
          </a:p>
        </p:txBody>
      </p:sp>
      <p:pic>
        <p:nvPicPr>
          <p:cNvPr id="5" name="Picture 4" descr="LoRA, visuall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8335" y="1078992"/>
            <a:ext cx="318732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Hu et al. 2021 (arXiv:2106.09685), Fig. 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LoRA: the core idea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A DENSE UPDATE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d x d entries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Every one of them a gradient to keep.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B TIMES A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2 x d x r entries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Orders of magnitude fewer when r is small. W is assumed to be low rank.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after Hu et al., 2021, arxiv.org/abs/2106.09685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LoRA is a big deal</a:t>
            </a:r>
          </a:p>
        </p:txBody>
      </p:sp>
      <p:pic>
        <p:nvPicPr>
          <p:cNvPr id="5" name="Picture 4" descr="Why LoRA is a big dea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770" y="1078992"/>
            <a:ext cx="8112459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Hu et al. 2021 (arXiv:2106.09685), Fig.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Quantization: fewer bits per weight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9646"/>
          <a:ext cx="8229599" cy="2267712"/>
        </p:xfrm>
        <a:graphic>
          <a:graphicData uri="http://schemas.openxmlformats.org/drawingml/2006/table">
            <a:tbl>
              <a:tblPr firstRow="1" bandRow="0"/>
              <a:tblGrid>
                <a:gridCol w="1820417"/>
                <a:gridCol w="2136394"/>
                <a:gridCol w="2136394"/>
                <a:gridCol w="2136394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PRECISION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LEVELS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SIZE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/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16-bit float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continuous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full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the usual storage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8-bit int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256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2x smaller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half the bytes moved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4-bit int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16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4x smaller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where QLoRA lives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How quantization works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CONTINUOUS FLOATS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0.31   0.62   0.85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ROUNDED TO A GRID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2   4   6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Find a block's min and max, round each weight to the nearest level, and keep one scale factor per block. The gap is the rounding error.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QLoRA: the combination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BASE MODEL, 4-BIT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frozen, quantized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Tiny footprint. No gradient ever reaches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45152" y="2272220"/>
            <a:ext cx="4041648" cy="1202563"/>
          </a:xfrm>
          <a:prstGeom prst="roundRect">
            <a:avLst>
              <a:gd name="adj" fmla="val 9884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828032" y="2418524"/>
            <a:ext cx="3675888" cy="909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 algn="l">
              <a:spcAft>
                <a:spcPts val="600"/>
              </a:spcAft>
              <a:buNone/>
            </a:pPr>
            <a:r>
              <a:rPr sz="1100" b="1" spc="70">
                <a:solidFill>
                  <a:srgbClr val="86868B"/>
                </a:solidFill>
                <a:latin typeface="Helvetica Neue"/>
              </a:rPr>
              <a:t>LORA ADAPTERS, 16-BIT</a:t>
            </a:r>
          </a:p>
          <a:p>
            <a:pPr marL="0" indent="0">
              <a:spcAft>
                <a:spcPts val="300"/>
              </a:spcAft>
              <a:buNone/>
            </a:pPr>
            <a:r>
              <a:rPr sz="2000" b="0" u="none">
                <a:solidFill>
                  <a:srgbClr val="1D1D1F"/>
                </a:solidFill>
                <a:latin typeface="Menlo"/>
              </a:rPr>
              <a:t>trainable</a:t>
            </a:r>
          </a:p>
          <a:p>
            <a:pPr marL="0" indent="0" algn="l">
              <a:spcAft>
                <a:spcPts val="200"/>
              </a:spcAft>
              <a:buNone/>
            </a:pPr>
            <a:r>
              <a:rPr sz="1200" b="0">
                <a:solidFill>
                  <a:srgbClr val="86868B"/>
                </a:solidFill>
                <a:latin typeface="Helvetica Neue"/>
              </a:rPr>
              <a:t>Gradients reach only these. That is what fits a large model on one consumer GPU.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after Dettmers et al., 2023, arxiv.org/abs/2305.14314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With QLoRA, the honest answer is yes. Hold that thought for the exercise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471488"/>
            <a:ext cx="9144000" cy="608647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Could you fine-tune a model on your laptop tonight?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With QLoRA, the honest answer is yes. Hold that thought for the exercise.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https://images.unsplash.com/photo-1498050108023-c5249f4df085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Running models locally with Ollama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85469"/>
            <a:ext cx="8229600" cy="3156966"/>
          </a:xfrm>
          <a:prstGeom prst="roundRect">
            <a:avLst>
              <a:gd name="adj" fmla="val 3475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1240917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240917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240917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506093"/>
            <a:ext cx="7607808" cy="248031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170"/>
              </a:lnSpc>
              <a:spcAft>
                <a:spcPts val="0"/>
              </a:spcAft>
              <a:buNone/>
            </a:pPr>
            <a:r>
              <a:rPr sz="1400" b="0">
                <a:solidFill>
                  <a:srgbClr val="F5F5F7"/>
                </a:solidFill>
                <a:latin typeface="Menlo"/>
              </a:rPr>
              <a:t>$ ollama pull qwen2.5:0.5b</a:t>
            </a:r>
          </a:p>
          <a:p>
            <a:pPr marL="0" indent="0" algn="l">
              <a:lnSpc>
                <a:spcPts val="2170"/>
              </a:lnSpc>
              <a:spcAft>
                <a:spcPts val="0"/>
              </a:spcAft>
              <a:buNone/>
            </a:pPr>
            <a:r>
              <a:rPr sz="1400" b="0">
                <a:solidFill>
                  <a:srgbClr val="F5F5F7"/>
                </a:solidFill>
                <a:latin typeface="Menlo"/>
              </a:rPr>
              <a:t>pulling manifest ... verifying sha256 digest ... success</a:t>
            </a:r>
          </a:p>
          <a:p>
            <a:pPr marL="0" indent="0" algn="l">
              <a:lnSpc>
                <a:spcPts val="2170"/>
              </a:lnSpc>
              <a:spcAft>
                <a:spcPts val="0"/>
              </a:spcAft>
              <a:buNone/>
            </a:pPr>
            <a:r>
              <a:rPr sz="1400" b="0">
                <a:solidFill>
                  <a:srgbClr val="F5F5F7"/>
                </a:solidFill>
                <a:latin typeface="Menlo"/>
              </a:rPr>
              <a:t> </a:t>
            </a:r>
          </a:p>
          <a:p>
            <a:pPr marL="0" indent="0" algn="l">
              <a:lnSpc>
                <a:spcPts val="2170"/>
              </a:lnSpc>
              <a:spcAft>
                <a:spcPts val="0"/>
              </a:spcAft>
              <a:buNone/>
            </a:pPr>
            <a:r>
              <a:rPr sz="1400" b="0">
                <a:solidFill>
                  <a:srgbClr val="F5F5F7"/>
                </a:solidFill>
                <a:latin typeface="Menlo"/>
              </a:rPr>
              <a:t>$ ollama list</a:t>
            </a:r>
          </a:p>
          <a:p>
            <a:pPr marL="0" indent="0" algn="l">
              <a:lnSpc>
                <a:spcPts val="2170"/>
              </a:lnSpc>
              <a:spcAft>
                <a:spcPts val="0"/>
              </a:spcAft>
              <a:buNone/>
            </a:pPr>
            <a:r>
              <a:rPr sz="1400" b="0">
                <a:solidFill>
                  <a:srgbClr val="F5F5F7"/>
                </a:solidFill>
                <a:latin typeface="Menlo"/>
              </a:rPr>
              <a:t>NAME            SIZE</a:t>
            </a:r>
          </a:p>
          <a:p>
            <a:pPr marL="0" indent="0" algn="l">
              <a:lnSpc>
                <a:spcPts val="2170"/>
              </a:lnSpc>
              <a:spcAft>
                <a:spcPts val="0"/>
              </a:spcAft>
              <a:buNone/>
            </a:pPr>
            <a:r>
              <a:rPr sz="1400" b="0">
                <a:solidFill>
                  <a:srgbClr val="F5F5F7"/>
                </a:solidFill>
                <a:latin typeface="Menlo"/>
              </a:rPr>
              <a:t>qwen2.5:0.5b    398 MB</a:t>
            </a:r>
          </a:p>
          <a:p>
            <a:pPr marL="0" indent="0" algn="l">
              <a:lnSpc>
                <a:spcPts val="2170"/>
              </a:lnSpc>
              <a:spcAft>
                <a:spcPts val="0"/>
              </a:spcAft>
              <a:buNone/>
            </a:pPr>
            <a:r>
              <a:rPr sz="1400" b="0">
                <a:solidFill>
                  <a:srgbClr val="F5F5F7"/>
                </a:solidFill>
                <a:latin typeface="Menlo"/>
              </a:rPr>
              <a:t> </a:t>
            </a:r>
          </a:p>
          <a:p>
            <a:pPr marL="0" indent="0" algn="l">
              <a:lnSpc>
                <a:spcPts val="2170"/>
              </a:lnSpc>
              <a:spcAft>
                <a:spcPts val="0"/>
              </a:spcAft>
              <a:buNone/>
            </a:pPr>
            <a:r>
              <a:rPr sz="1400" b="0">
                <a:solidFill>
                  <a:srgbClr val="F5F5F7"/>
                </a:solidFill>
                <a:latin typeface="Menlo"/>
              </a:rPr>
              <a:t>$ ollama run qwen2.5:0.5b "Why is the sky blue?"</a:t>
            </a:r>
          </a:p>
          <a:p>
            <a:pPr marL="0" indent="0" algn="l">
              <a:lnSpc>
                <a:spcPts val="2170"/>
              </a:lnSpc>
              <a:spcAft>
                <a:spcPts val="0"/>
              </a:spcAft>
              <a:buNone/>
            </a:pPr>
            <a:r>
              <a:rPr sz="1400" b="0">
                <a:solidFill>
                  <a:srgbClr val="F5F5F7"/>
                </a:solidFill>
                <a:latin typeface="Menlo"/>
              </a:rPr>
              <a:t>Sunlight scatters off air molecules, and blue scatters most 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4370451"/>
            <a:ext cx="7607808" cy="4191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1860"/>
              </a:lnSpc>
              <a:spcAft>
                <a:spcPts val="0"/>
              </a:spcAft>
              <a:buNone/>
            </a:pPr>
            <a:r>
              <a:rPr sz="1200" b="0">
                <a:solidFill>
                  <a:srgbClr val="86868B"/>
                </a:solidFill>
                <a:latin typeface="Menlo"/>
              </a:rPr>
              <a:t>three commands, no API key, nothing leaves the machine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model size from ollama.com/library/qwen2.5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efficiency toolbox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56182"/>
          <a:ext cx="8229599" cy="2834640"/>
        </p:xfrm>
        <a:graphic>
          <a:graphicData uri="http://schemas.openxmlformats.org/drawingml/2006/table">
            <a:tbl>
              <a:tblPr firstRow="1" bandRow="0"/>
              <a:tblGrid>
                <a:gridCol w="1820417"/>
                <a:gridCol w="3204591"/>
                <a:gridCol w="3204591"/>
              </a:tblGrid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LEVER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SAVES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100" b="1" spc="50">
                          <a:solidFill>
                            <a:srgbClr val="86868B"/>
                          </a:solidFill>
                          <a:latin typeface="Helvetica Neue"/>
                        </a:rPr>
                        <a:t>COSTS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LoRA / PEFT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training memory and storage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slightly less flexible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Quantization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model size and bandwidth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small accuracy loss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QLoRA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both at once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setup complexity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  <a:tr h="566928">
                <a:tc>
                  <a:txBody>
                    <a:bodyPr wrap="none"/>
                    <a:lstStyle/>
                    <a:p>
                      <a:pPr marL="0" indent="0" algn="l">
                        <a:spcAft>
                          <a:spcPts val="0"/>
                        </a:spcAft>
                        <a:buNone/>
                      </a:pPr>
                      <a:r>
                        <a:rPr sz="1700" b="1">
                          <a:solidFill>
                            <a:srgbClr val="1D1D1F"/>
                          </a:solidFill>
                          <a:latin typeface="Helvetica Neue"/>
                        </a:rPr>
                        <a:t>Distillation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inference cost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  <a:tc>
                  <a:txBody>
                    <a:bodyPr wrap="none"/>
                    <a:lstStyle/>
                    <a:p>
                      <a:pPr marL="0" indent="0" algn="ctr">
                        <a:spcAft>
                          <a:spcPts val="0"/>
                        </a:spcAft>
                        <a:buNone/>
                      </a:pPr>
                      <a:r>
                        <a:rPr sz="1700" b="0">
                          <a:solidFill>
                            <a:srgbClr val="1D1D1F"/>
                          </a:solidFill>
                          <a:latin typeface="Menlo"/>
                        </a:rPr>
                        <a:t>you must train a student</a:t>
                      </a:r>
                    </a:p>
                  </a:txBody>
                  <a:tcPr marL="54864" marR="54864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solidFill>
                        <a:srgbClr val="C6C6CB"/>
                      </a:solidFill>
                    </a:lnT>
                    <a:lnB w="12700" cap="flat" cmpd="sng" algn="ctr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quantization bak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Quantization bake-off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50" b="0">
                <a:solidFill>
                  <a:srgbClr val="1D1D1F"/>
                </a:solidFill>
                <a:latin typeface="Menlo"/>
              </a:rPr>
              <a:t>Implement LoRALinear and quantize in lora_lab.py. Train the adapter, freeze the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0581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230581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230581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50" b="0">
                <a:solidFill>
                  <a:srgbClr val="1D1D1F"/>
                </a:solidFill>
                <a:latin typeface="Menlo"/>
              </a:rPr>
              <a:t>Run the sweep at 8, 4 and 2 bits. Record the error and the size each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532632"/>
            <a:ext cx="8229600" cy="1135380"/>
          </a:xfrm>
          <a:prstGeom prst="roundRect">
            <a:avLst>
              <a:gd name="adj" fmla="val 8859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3532632"/>
            <a:ext cx="475488" cy="11353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6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3532632"/>
            <a:ext cx="7278624" cy="11353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050" b="0">
                <a:solidFill>
                  <a:srgbClr val="1D1D1F"/>
                </a:solidFill>
                <a:latin typeface="Menlo"/>
              </a:rPr>
              <a:t>Smallest model that still works wins. About thirty 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Build a LoRA layer</a:t>
            </a:r>
          </a:p>
        </p:txBody>
      </p:sp>
      <p:pic>
        <p:nvPicPr>
          <p:cNvPr id="5" name="Picture 4" descr="Build a LoRA lay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416198"/>
            <a:ext cx="8595360" cy="2914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weeks/week-11/class-01/exercise/lora_lab.py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96594"/>
            <a:ext cx="8229600" cy="3353816"/>
          </a:xfrm>
          <a:prstGeom prst="roundRect">
            <a:avLst>
              <a:gd name="adj" fmla="val 3271"/>
            </a:avLst>
          </a:prstGeom>
          <a:solidFill>
            <a:srgbClr val="1D1D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768096" y="135204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50976" y="135204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33856" y="1352042"/>
            <a:ext cx="96012" cy="96012"/>
          </a:xfrm>
          <a:prstGeom prst="ellipse">
            <a:avLst/>
          </a:prstGeom>
          <a:solidFill>
            <a:srgbClr val="4848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617218"/>
            <a:ext cx="7607808" cy="267716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$ python lora_lab.py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LoRA loss:        9.744 -&gt; 0.000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Trainable params: 48        Frozen params: 32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 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Quantization bake-off (mean abs error vs original):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  8-bit:  error = 0.0072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  4-bit:  error = 0.1316</a:t>
            </a:r>
          </a:p>
          <a:p>
            <a:pPr marL="0" indent="0" algn="l">
              <a:lnSpc>
                <a:spcPts val="2635"/>
              </a:lnSpc>
              <a:spcAft>
                <a:spcPts val="0"/>
              </a:spcAft>
              <a:buNone/>
            </a:pPr>
            <a:r>
              <a:rPr sz="1700" b="0">
                <a:solidFill>
                  <a:srgbClr val="F5F5F7"/>
                </a:solidFill>
                <a:latin typeface="Menlo"/>
              </a:rPr>
              <a:t>  2-bit:  error = 0.7530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 in the course Docker image (seed=0)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Project work and feedback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7899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94944" y="107899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0432" y="107899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What is your question, in one sentence?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9910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94944" y="199910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99910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What baseline already runs end to end?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919222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94944" y="2919222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" y="2919222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What is the single biggest thing blocking you?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39337"/>
            <a:ext cx="8229600" cy="828675"/>
          </a:xfrm>
          <a:prstGeom prst="roundRect">
            <a:avLst>
              <a:gd name="adj" fmla="val 12137"/>
            </a:avLst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94944" y="3839337"/>
            <a:ext cx="475488" cy="828675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850" b="1">
                <a:solidFill>
                  <a:srgbClr val="1D1D1F"/>
                </a:solidFill>
                <a:latin typeface="Helvetica Ne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839337"/>
            <a:ext cx="7278624" cy="8286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 algn="l">
              <a:spcAft>
                <a:spcPts val="0"/>
              </a:spcAft>
              <a:buNone/>
            </a:pPr>
            <a:r>
              <a:rPr sz="1250" b="0">
                <a:solidFill>
                  <a:srgbClr val="1D1D1F"/>
                </a:solidFill>
                <a:latin typeface="Menlo"/>
              </a:rPr>
              <a:t>Every team gets a turn. Leave with a next action you can finish this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project/README.md milestones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