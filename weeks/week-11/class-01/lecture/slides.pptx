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  <p:sldId id="264" r:id="rId11"/>
    <p:sldId id="265" r:id="rId12"/>
    <p:sldId id="266" r:id="rId13"/>
    <p:sldId id="267" r:id="rId14"/>
    <p:sldId id="268" r:id="rId15"/>
    <p:sldId id="270" r:id="rId16"/>
    <p:sldId id="269" r:id="rId17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9"/>
    </p:embeddedFont>
    <p:embeddedFont>
      <p:font typeface="Playfair Display" pitchFamily="2" charset="77"/>
      <p:regular r:id="rId20"/>
      <p:bold r:id="rId21"/>
      <p:italic r:id="rId22"/>
      <p:boldItalic r:id="rId23"/>
    </p:embeddedFont>
    <p:embeddedFont>
      <p:font typeface="Roboto" panose="02000000000000000000" pitchFamily="2" charset="0"/>
      <p:regular r:id="rId24"/>
      <p:bold r:id="rId25"/>
      <p:italic r:id="rId26"/>
      <p:boldItalic r:id="rId27"/>
    </p:embeddedFont>
    <p:embeddedFont>
      <p:font typeface="Roboto Light" panose="020F0302020204030204" pitchFamily="3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2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Relationship Id="rId23" Type="http://schemas.openxmlformats.org/officeDocument/2006/relationships/font" Target="fonts/font5.fntdata"/><Relationship Id="rId24" Type="http://schemas.openxmlformats.org/officeDocument/2006/relationships/font" Target="fonts/font6.fntdata"/><Relationship Id="rId25" Type="http://schemas.openxmlformats.org/officeDocument/2006/relationships/font" Target="fonts/font7.fntdata"/><Relationship Id="rId26" Type="http://schemas.openxmlformats.org/officeDocument/2006/relationships/font" Target="fonts/font8.fntdata"/><Relationship Id="rId27" Type="http://schemas.openxmlformats.org/officeDocument/2006/relationships/font" Target="fonts/font9.fntdata"/><Relationship Id="rId28" Type="http://schemas.openxmlformats.org/officeDocument/2006/relationships/font" Target="fonts/font10.fntdata"/><Relationship Id="rId29" Type="http://schemas.openxmlformats.org/officeDocument/2006/relationships/font" Target="fonts/font11.fntdata"/><Relationship Id="rId30" Type="http://schemas.openxmlformats.org/officeDocument/2006/relationships/font" Target="fonts/font12.fntdata"/><Relationship Id="rId31" Type="http://schemas.openxmlformats.org/officeDocument/2006/relationships/font" Target="fonts/font13.fntdata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523" y="685800"/>
            <a:ext cx="4571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ver Page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3390300"/>
            <a:ext cx="9144000" cy="175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l="600" t="43847" r="-600" b="13732"/>
          <a:stretch/>
        </p:blipFill>
        <p:spPr>
          <a:xfrm>
            <a:off x="0" y="-70472"/>
            <a:ext cx="9198797" cy="346077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493923" y="976378"/>
            <a:ext cx="8005800" cy="18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layfair Display"/>
              <a:buNone/>
              <a:defRPr sz="3600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493926" y="3549825"/>
            <a:ext cx="7661100" cy="9708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2"/>
          </p:nvPr>
        </p:nvSpPr>
        <p:spPr>
          <a:xfrm>
            <a:off x="493923" y="4079316"/>
            <a:ext cx="7327800" cy="2987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+ 2 Columns">
  <p:cSld name="2_Portfolio Thre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509577" y="1369219"/>
            <a:ext cx="3688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2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3"/>
          </p:nvPr>
        </p:nvSpPr>
        <p:spPr>
          <a:xfrm>
            <a:off x="4827127" y="1369219"/>
            <a:ext cx="3688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+ 3 Columns">
  <p:cSld name="1_Slide with Placehol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2"/>
          </p:nvPr>
        </p:nvSpPr>
        <p:spPr>
          <a:xfrm>
            <a:off x="552175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3"/>
          </p:nvPr>
        </p:nvSpPr>
        <p:spPr>
          <a:xfrm>
            <a:off x="3337475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4"/>
          </p:nvPr>
        </p:nvSpPr>
        <p:spPr>
          <a:xfrm>
            <a:off x="6160800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ver Slide">
  <p:cSld name="Cover Slide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ver Slide with Logo">
  <p:cSld name="Cover Slide_2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3514" y="628706"/>
            <a:ext cx="4936973" cy="3885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Acknowledgments Slide">
  <p:cSld name="Cover Slide_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Playfair Display"/>
              <a:buNone/>
              <a:defRPr sz="5600" i="0" u="none" strike="noStrike" cap="non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ubTitle" idx="1"/>
          </p:nvPr>
        </p:nvSpPr>
        <p:spPr>
          <a:xfrm>
            <a:off x="509521" y="1401113"/>
            <a:ext cx="5120100" cy="15582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27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only">
  <p:cSld name="Custom Layou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ig Concept Slide">
  <p:cSld name="Slide with Placehold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509577" y="2245519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509577" y="3154509"/>
            <a:ext cx="6737700" cy="953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">
  <p:cSld name="Large Picture with Logo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44" name="Google Shape;44;p10"/>
          <p:cNvPicPr preferRelativeResize="0"/>
          <p:nvPr/>
        </p:nvPicPr>
        <p:blipFill rotWithShape="1">
          <a:blip r:embed="rId2">
            <a:alphaModFix/>
          </a:blip>
          <a:srcRect l="27412" r="6551" b="2009"/>
          <a:stretch/>
        </p:blipFill>
        <p:spPr>
          <a:xfrm>
            <a:off x="7006675" y="-56025"/>
            <a:ext cx="2176574" cy="4846049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0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 1">
  <p:cSld name="Large Picture with Logo_1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 2">
  <p:cSld name="Large Picture with Logo_1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53" name="Google Shape;53;p12"/>
          <p:cNvPicPr preferRelativeResize="0"/>
          <p:nvPr/>
        </p:nvPicPr>
        <p:blipFill rotWithShape="1">
          <a:blip r:embed="rId2">
            <a:alphaModFix/>
          </a:blip>
          <a:srcRect l="27412" r="6551"/>
          <a:stretch/>
        </p:blipFill>
        <p:spPr>
          <a:xfrm>
            <a:off x="7006675" y="-57150"/>
            <a:ext cx="2137324" cy="485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12"/>
          <p:cNvPicPr preferRelativeResize="0"/>
          <p:nvPr/>
        </p:nvPicPr>
        <p:blipFill rotWithShape="1">
          <a:blip r:embed="rId3">
            <a:alphaModFix/>
          </a:blip>
          <a:srcRect l="8950"/>
          <a:stretch/>
        </p:blipFill>
        <p:spPr>
          <a:xfrm>
            <a:off x="7006665" y="-57150"/>
            <a:ext cx="6633784" cy="4856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2"/>
          <p:cNvPicPr preferRelativeResize="0"/>
          <p:nvPr/>
        </p:nvPicPr>
        <p:blipFill rotWithShape="1">
          <a:blip r:embed="rId4">
            <a:alphaModFix/>
          </a:blip>
          <a:srcRect l="39028"/>
          <a:stretch/>
        </p:blipFill>
        <p:spPr>
          <a:xfrm>
            <a:off x="7006676" y="-57150"/>
            <a:ext cx="4442373" cy="485612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2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 3">
  <p:cSld name="Large Picture with Logo_1_1_1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60" name="Google Shape;60;p13"/>
          <p:cNvPicPr preferRelativeResize="0"/>
          <p:nvPr/>
        </p:nvPicPr>
        <p:blipFill rotWithShape="1">
          <a:blip r:embed="rId2">
            <a:alphaModFix/>
          </a:blip>
          <a:srcRect l="24210" r="1252"/>
          <a:stretch/>
        </p:blipFill>
        <p:spPr>
          <a:xfrm>
            <a:off x="7006675" y="-57150"/>
            <a:ext cx="5430948" cy="485612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and Photo 4">
  <p:cSld name="Large Picture with Logo_1_1_1_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65" name="Google Shape;65;p14"/>
          <p:cNvPicPr preferRelativeResize="0"/>
          <p:nvPr/>
        </p:nvPicPr>
        <p:blipFill rotWithShape="1">
          <a:blip r:embed="rId2">
            <a:alphaModFix/>
          </a:blip>
          <a:srcRect l="34525"/>
          <a:stretch/>
        </p:blipFill>
        <p:spPr>
          <a:xfrm>
            <a:off x="7010075" y="-57150"/>
            <a:ext cx="2543048" cy="485612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>
            <a:spLocks noGrp="1"/>
          </p:cNvSpPr>
          <p:nvPr>
            <p:ph type="body" idx="2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with Large Photo">
  <p:cSld name="3_Placehold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509577" y="702469"/>
            <a:ext cx="22071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layfair Display"/>
              <a:buNone/>
              <a:defRPr sz="27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2"/>
          </p:nvPr>
        </p:nvSpPr>
        <p:spPr>
          <a:xfrm>
            <a:off x="509575" y="1902650"/>
            <a:ext cx="2253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ext with Large Photo 1">
  <p:cSld name="3_Placeholder_1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509577" y="702469"/>
            <a:ext cx="22071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layfair Display"/>
              <a:buNone/>
              <a:defRPr sz="27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2"/>
          </p:nvPr>
        </p:nvSpPr>
        <p:spPr>
          <a:xfrm>
            <a:off x="509575" y="1902650"/>
            <a:ext cx="22533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sz="22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sz="18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sz="15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sz="13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228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sz="1100" i="0" u="none" strike="noStrike" cap="none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2857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Single Statistic">
  <p:cSld name="1_Placeholder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title"/>
          </p:nvPr>
        </p:nvSpPr>
        <p:spPr>
          <a:xfrm>
            <a:off x="454066" y="1824338"/>
            <a:ext cx="4305900" cy="1385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400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subTitle" idx="2"/>
          </p:nvPr>
        </p:nvSpPr>
        <p:spPr>
          <a:xfrm>
            <a:off x="454066" y="3127509"/>
            <a:ext cx="8353200" cy="7152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8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ubTitle" idx="3"/>
          </p:nvPr>
        </p:nvSpPr>
        <p:spPr>
          <a:xfrm>
            <a:off x="4838166" y="1824350"/>
            <a:ext cx="3866400" cy="11745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title" idx="4"/>
          </p:nvPr>
        </p:nvSpPr>
        <p:spPr>
          <a:xfrm>
            <a:off x="509577" y="837514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Multiple Statistics">
  <p:cSld name="1_Placeholder_1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title"/>
          </p:nvPr>
        </p:nvSpPr>
        <p:spPr>
          <a:xfrm>
            <a:off x="454066" y="759488"/>
            <a:ext cx="4305900" cy="1385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ubTitle" idx="2"/>
          </p:nvPr>
        </p:nvSpPr>
        <p:spPr>
          <a:xfrm>
            <a:off x="4759893" y="759488"/>
            <a:ext cx="4008300" cy="11745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title" idx="3"/>
          </p:nvPr>
        </p:nvSpPr>
        <p:spPr>
          <a:xfrm>
            <a:off x="454066" y="2037533"/>
            <a:ext cx="4305900" cy="1385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5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subTitle" idx="4"/>
          </p:nvPr>
        </p:nvSpPr>
        <p:spPr>
          <a:xfrm>
            <a:off x="4759893" y="2037533"/>
            <a:ext cx="4008300" cy="11745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title" idx="5"/>
          </p:nvPr>
        </p:nvSpPr>
        <p:spPr>
          <a:xfrm>
            <a:off x="454066" y="3437708"/>
            <a:ext cx="4305900" cy="13851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subTitle" idx="6"/>
          </p:nvPr>
        </p:nvSpPr>
        <p:spPr>
          <a:xfrm>
            <a:off x="4759893" y="3437709"/>
            <a:ext cx="4008300" cy="11745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Quote">
  <p:cSld name="CUSTOM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subTitle" idx="1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100" b="1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9"/>
          <p:cNvSpPr/>
          <p:nvPr/>
        </p:nvSpPr>
        <p:spPr>
          <a:xfrm>
            <a:off x="5748887" y="1561152"/>
            <a:ext cx="1718100" cy="219300"/>
          </a:xfrm>
          <a:prstGeom prst="rect">
            <a:avLst/>
          </a:prstGeom>
          <a:solidFill>
            <a:srgbClr val="738D33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9"/>
          <p:cNvSpPr/>
          <p:nvPr/>
        </p:nvSpPr>
        <p:spPr>
          <a:xfrm>
            <a:off x="7467434" y="1561152"/>
            <a:ext cx="1718100" cy="219300"/>
          </a:xfrm>
          <a:prstGeom prst="rect">
            <a:avLst/>
          </a:prstGeom>
          <a:solidFill>
            <a:srgbClr val="625578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9"/>
          <p:cNvSpPr/>
          <p:nvPr/>
        </p:nvSpPr>
        <p:spPr>
          <a:xfrm>
            <a:off x="0" y="1561152"/>
            <a:ext cx="1718100" cy="2193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9"/>
          <p:cNvSpPr/>
          <p:nvPr/>
        </p:nvSpPr>
        <p:spPr>
          <a:xfrm>
            <a:off x="1718076" y="1561152"/>
            <a:ext cx="1718100" cy="219300"/>
          </a:xfrm>
          <a:prstGeom prst="rect">
            <a:avLst/>
          </a:prstGeom>
          <a:solidFill>
            <a:srgbClr val="498DA0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9"/>
          <p:cNvSpPr txBox="1"/>
          <p:nvPr/>
        </p:nvSpPr>
        <p:spPr>
          <a:xfrm>
            <a:off x="3589051" y="975950"/>
            <a:ext cx="1965900" cy="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 b="1">
                <a:solidFill>
                  <a:srgbClr val="818387"/>
                </a:solidFill>
              </a:rPr>
              <a:t>“</a:t>
            </a:r>
            <a:endParaRPr sz="12000" b="1">
              <a:solidFill>
                <a:srgbClr val="818387"/>
              </a:solidFill>
            </a:endParaRPr>
          </a:p>
        </p:txBody>
      </p:sp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1682308" y="2130769"/>
            <a:ext cx="5779500" cy="19626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ubTitle" idx="2"/>
          </p:nvPr>
        </p:nvSpPr>
        <p:spPr>
          <a:xfrm>
            <a:off x="3300470" y="3999056"/>
            <a:ext cx="2543100" cy="384600"/>
          </a:xfrm>
          <a:prstGeom prst="rect">
            <a:avLst/>
          </a:prstGeom>
        </p:spPr>
        <p:txBody>
          <a:bodyPr spcFirstLastPara="1" wrap="square" lIns="34275" tIns="34275" rIns="34275" bIns="34275" anchor="t" anchorCtr="0">
            <a:noAutofit/>
          </a:bodyPr>
          <a:lstStyle>
            <a:lvl1pPr lvl="0" algn="ctr">
              <a:spcBef>
                <a:spcPts val="700"/>
              </a:spcBef>
              <a:spcAft>
                <a:spcPts val="0"/>
              </a:spcAft>
              <a:buNone/>
              <a:defRPr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3_Title Slide">
  <p:cSld name="13_Title Slide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>
            <a:spLocks noGrp="1"/>
          </p:cNvSpPr>
          <p:nvPr>
            <p:ph type="pic" idx="2"/>
          </p:nvPr>
        </p:nvSpPr>
        <p:spPr>
          <a:xfrm>
            <a:off x="192505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20"/>
          <p:cNvSpPr>
            <a:spLocks noGrp="1"/>
          </p:cNvSpPr>
          <p:nvPr>
            <p:ph type="pic" idx="3"/>
          </p:nvPr>
        </p:nvSpPr>
        <p:spPr>
          <a:xfrm>
            <a:off x="1997242" y="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20"/>
          <p:cNvSpPr>
            <a:spLocks noGrp="1"/>
          </p:cNvSpPr>
          <p:nvPr>
            <p:ph type="pic" idx="4"/>
          </p:nvPr>
        </p:nvSpPr>
        <p:spPr>
          <a:xfrm>
            <a:off x="3801980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20"/>
          <p:cNvSpPr>
            <a:spLocks noGrp="1"/>
          </p:cNvSpPr>
          <p:nvPr>
            <p:ph type="pic" idx="5"/>
          </p:nvPr>
        </p:nvSpPr>
        <p:spPr>
          <a:xfrm>
            <a:off x="5606716" y="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20"/>
          <p:cNvSpPr>
            <a:spLocks noGrp="1"/>
          </p:cNvSpPr>
          <p:nvPr>
            <p:ph type="pic" idx="6"/>
          </p:nvPr>
        </p:nvSpPr>
        <p:spPr>
          <a:xfrm>
            <a:off x="7411453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ver Page 1">
  <p:cSld name="1_Cover Page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-53437" y="3390300"/>
            <a:ext cx="9197400" cy="175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21"/>
          <p:cNvPicPr preferRelativeResize="0"/>
          <p:nvPr/>
        </p:nvPicPr>
        <p:blipFill rotWithShape="1">
          <a:blip r:embed="rId2">
            <a:alphaModFix/>
          </a:blip>
          <a:srcRect t="43844" r="-563" b="13732"/>
          <a:stretch/>
        </p:blipFill>
        <p:spPr>
          <a:xfrm>
            <a:off x="-53437" y="-70462"/>
            <a:ext cx="9250875" cy="346075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1"/>
          <p:cNvSpPr txBox="1">
            <a:spLocks noGrp="1"/>
          </p:cNvSpPr>
          <p:nvPr>
            <p:ph type="title"/>
          </p:nvPr>
        </p:nvSpPr>
        <p:spPr>
          <a:xfrm>
            <a:off x="493923" y="976378"/>
            <a:ext cx="8005800" cy="18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700" tIns="25700" rIns="25700" bIns="257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fair Display"/>
              <a:buNone/>
              <a:defRPr sz="3600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108" name="Google Shape;108;p21"/>
          <p:cNvSpPr txBox="1">
            <a:spLocks noGrp="1"/>
          </p:cNvSpPr>
          <p:nvPr>
            <p:ph type="subTitle" idx="1"/>
          </p:nvPr>
        </p:nvSpPr>
        <p:spPr>
          <a:xfrm>
            <a:off x="493926" y="3549825"/>
            <a:ext cx="7661100" cy="9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1"/>
          <p:cNvSpPr txBox="1">
            <a:spLocks noGrp="1"/>
          </p:cNvSpPr>
          <p:nvPr>
            <p:ph type="subTitle" idx="2"/>
          </p:nvPr>
        </p:nvSpPr>
        <p:spPr>
          <a:xfrm>
            <a:off x="493923" y="4079316"/>
            <a:ext cx="7327800" cy="29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Relationship Id="rId22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sz="3600" i="0" u="none" strike="noStrike" cap="non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09577" y="1401113"/>
            <a:ext cx="80058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Roboto"/>
              <a:buNone/>
              <a:defRPr sz="22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8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None/>
              <a:defRPr sz="15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None/>
              <a:defRPr sz="13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sz="110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857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•"/>
              <a:defRPr sz="9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730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sz="7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603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sz="5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54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sz="40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22">
            <a:alphaModFix/>
          </a:blip>
          <a:srcRect t="35296"/>
          <a:stretch/>
        </p:blipFill>
        <p:spPr>
          <a:xfrm>
            <a:off x="0" y="4794384"/>
            <a:ext cx="9144000" cy="34911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gi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gi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776" y="978408"/>
            <a:ext cx="3609097" cy="1828800"/>
          </a:xfrm>
        </p:spPr>
        <p:txBody>
          <a:bodyPr/>
          <a:lstStyle/>
          <a:p>
            <a:r>
              <a:rPr dirty="0"/>
              <a:t>CSCI 3495</a:t>
            </a:r>
          </a:p>
          <a:p>
            <a:r>
              <a:rPr dirty="0" err="1"/>
              <a:t>LoRA</a:t>
            </a:r>
            <a:r>
              <a:rPr dirty="0"/>
              <a:t>: Anyone Can</a:t>
            </a:r>
            <a:r>
              <a:rPr lang="en-US" dirty="0"/>
              <a:t> </a:t>
            </a:r>
            <a:r>
              <a:rPr dirty="0"/>
              <a:t>Fine-Tune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Natural Language Processing &amp; Large Language Models</a:t>
            </a:r>
          </a:p>
          <a:p>
            <a:r>
              <a:t>Week 11, Class 1  ·  Mon Nov 2, 2026</a:t>
            </a:r>
          </a:p>
        </p:txBody>
      </p:sp>
      <p:pic>
        <p:nvPicPr>
          <p:cNvPr id="6" name="Picture 5" descr="A hand holding a mouse&#10;&#10;AI-generated content may be incorrect.">
            <a:extLst>
              <a:ext uri="{FF2B5EF4-FFF2-40B4-BE49-F238E27FC236}">
                <a16:creationId xmlns:a16="http://schemas.microsoft.com/office/drawing/2014/main" id="{E9E285C9-C081-8D99-EB79-6A57E19DE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873" y="917071"/>
            <a:ext cx="4934807" cy="20726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57623" y="259609"/>
            <a:ext cx="5212080" cy="4279392"/>
          </a:xfrm>
        </p:spPr>
        <p:txBody>
          <a:bodyPr anchor="ctr"/>
          <a:lstStyle/>
          <a:p>
            <a:r>
              <a:rPr sz="6000" dirty="0"/>
              <a:t>How do you teach a pretrained model a new task?</a:t>
            </a:r>
          </a:p>
        </p:txBody>
      </p:sp>
      <p:pic>
        <p:nvPicPr>
          <p:cNvPr id="4" name="Picture 3" descr="linguin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5999" y="353831"/>
            <a:ext cx="4090948" cy="40909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Full fine-tuning keeps 4 copies of every weight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2588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 i="0">
                <a:solidFill>
                  <a:srgbClr val="434343"/>
                </a:solidFill>
              </a:rPr>
              <a:t>weights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377440" y="1325880"/>
            <a:ext cx="4480560" cy="457200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377440" y="1325880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</a:rPr>
              <a:t>280 GB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47672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 i="0">
                <a:solidFill>
                  <a:srgbClr val="434343"/>
                </a:solidFill>
              </a:rPr>
              <a:t>gradients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1947672"/>
            <a:ext cx="4480560" cy="457200"/>
          </a:xfrm>
          <a:prstGeom prst="rect">
            <a:avLst/>
          </a:prstGeom>
          <a:solidFill>
            <a:srgbClr val="6E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77440" y="1947672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</a:rPr>
              <a:t>280 GB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569464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 i="0">
                <a:solidFill>
                  <a:srgbClr val="434343"/>
                </a:solidFill>
              </a:rPr>
              <a:t>Adam: momentum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" y="2569464"/>
            <a:ext cx="4480560" cy="457200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377440" y="2569464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1" i="0">
                <a:solidFill>
                  <a:srgbClr val="1D1D1F"/>
                </a:solidFill>
              </a:rPr>
              <a:t>280 GB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191256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 i="0" dirty="0">
                <a:solidFill>
                  <a:srgbClr val="434343"/>
                </a:solidFill>
              </a:rPr>
              <a:t>Adam: variance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3191256"/>
            <a:ext cx="4480560" cy="457200"/>
          </a:xfrm>
          <a:prstGeom prst="rect">
            <a:avLst/>
          </a:prstGeom>
          <a:solidFill>
            <a:srgbClr val="C7C7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377440" y="3191256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1" i="0">
                <a:solidFill>
                  <a:srgbClr val="1D1D1F"/>
                </a:solidFill>
              </a:rPr>
              <a:t>280 GB</a:t>
            </a:r>
          </a:p>
        </p:txBody>
      </p:sp>
      <p:sp>
        <p:nvSpPr>
          <p:cNvPr id="2" name="Freeform 1"/>
          <p:cNvSpPr/>
          <p:nvPr/>
        </p:nvSpPr>
        <p:spPr>
          <a:xfrm>
            <a:off x="6995160" y="1325880"/>
            <a:ext cx="137160" cy="2322576"/>
          </a:xfrm>
          <a:custGeom>
            <a:avLst/>
            <a:gdLst/>
            <a:ahLst/>
            <a:cxnLst/>
            <a:rect l="l" t="t" r="r" b="b"/>
            <a:pathLst>
              <a:path w="150" h="2540">
                <a:moveTo>
                  <a:pt x="0" y="0"/>
                </a:moveTo>
                <a:lnTo>
                  <a:pt x="150" y="0"/>
                </a:lnTo>
                <a:lnTo>
                  <a:pt x="150" y="2540"/>
                </a:lnTo>
                <a:lnTo>
                  <a:pt x="0" y="2540"/>
                </a:lnTo>
              </a:path>
            </a:pathLst>
          </a:custGeom>
          <a:noFill/>
          <a:ln w="19050">
            <a:solidFill>
              <a:srgbClr val="8686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69480" y="2057400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D1D1F"/>
                </a:solidFill>
              </a:rPr>
              <a:t>1.1 TB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697480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34343"/>
                </a:solidFill>
              </a:rPr>
              <a:t>to train a 70B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84048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 i="0">
                <a:solidFill>
                  <a:srgbClr val="DD8452"/>
                </a:solidFill>
              </a:rPr>
              <a:t>one 80 GB GPU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77440" y="3840480"/>
            <a:ext cx="1280160" cy="41148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40480" y="3840480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434343"/>
                </a:solidFill>
              </a:rPr>
              <a:t>you need 14 of them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4348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 dirty="0">
                <a:solidFill>
                  <a:srgbClr val="86868B"/>
                </a:solidFill>
              </a:rPr>
              <a:t>4 bytes per number (float32), so 70B weights = 280 GB per copy.   distilgpt2: 1.3 GB.   7B: 112 GB.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94012" y="363773"/>
            <a:ext cx="3368173" cy="4279392"/>
          </a:xfrm>
        </p:spPr>
        <p:txBody>
          <a:bodyPr anchor="ctr"/>
          <a:lstStyle/>
          <a:p>
            <a:r>
              <a:rPr sz="4800" dirty="0"/>
              <a:t>What if the model stays frozen, and something tiny steers it?</a:t>
            </a:r>
          </a:p>
        </p:txBody>
      </p:sp>
      <p:pic>
        <p:nvPicPr>
          <p:cNvPr id="4" name="Picture 3" descr="rat-remy-steers-linguini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8593" y="1515702"/>
            <a:ext cx="5081275" cy="21120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A big matrix from two skinny ones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Equation 4"/>
              <p:cNvSpPr txBox="1"/>
              <p:nvPr/>
            </p:nvSpPr>
            <p:spPr>
              <a:xfrm>
                <a:off x="457200" y="1401150"/>
                <a:ext cx="8229600" cy="242316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sz="3400" dirty="0">
                              <a:solidFill>
                                <a:srgbClr val="4C72B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3400" dirty="0">
                                  <a:solidFill>
                                    <a:srgbClr val="4C72B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3400" dirty="0">
                                      <a:solidFill>
                                        <a:srgbClr val="4C72B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3400" i="0" dirty="0">
                                        <a:solidFill>
                                          <a:srgbClr val="4C72B0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3400" i="0" dirty="0">
                                        <a:solidFill>
                                          <a:srgbClr val="4C72B0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3400" i="0" dirty="0">
                                        <a:solidFill>
                                          <a:srgbClr val="4C72B0"/>
                                        </a:solidFill>
                                        <a:latin typeface="Cambria Math"/>
                                      </a:rPr>
                                      <m:t>3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3400" i="0" dirty="0">
                                        <a:solidFill>
                                          <a:srgbClr val="4C72B0"/>
                                        </a:solidFill>
                                        <a:latin typeface="Cambria Math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lim>
                          <m:r>
                            <a:rPr lang="en-US" sz="3400" i="1" dirty="0">
                              <a:solidFill>
                                <a:srgbClr val="4C72B0"/>
                              </a:solidFill>
                              <a:latin typeface="Cambria Math"/>
                            </a:rPr>
                            <m:t>𝐵</m:t>
                          </m:r>
                          <m:r>
                            <a:rPr lang="en-US" sz="3400" i="0" dirty="0">
                              <a:solidFill>
                                <a:srgbClr val="86868B"/>
                              </a:solidFill>
                              <a:latin typeface="Cambria Math"/>
                            </a:rPr>
                            <m:t> 4×1</m:t>
                          </m:r>
                        </m:lim>
                      </m:limLow>
                      <m:limLow>
                        <m:limLowPr>
                          <m:ctrlPr>
                            <a:rPr lang="en-US" sz="3400" i="1" dirty="0">
                              <a:solidFill>
                                <a:srgbClr val="86868B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3400" i="1" dirty="0">
                                  <a:solidFill>
                                    <a:srgbClr val="86868B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3400" i="1" dirty="0">
                                      <a:solidFill>
                                        <a:srgbClr val="86868B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3400" i="0" dirty="0">
                                        <a:solidFill>
                                          <a:srgbClr val="DD8452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3400" i="0" dirty="0">
                                        <a:solidFill>
                                          <a:srgbClr val="DD8452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3400" i="0" dirty="0">
                                        <a:solidFill>
                                          <a:srgbClr val="DD8452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sz="3400" i="0" dirty="0">
                                        <a:solidFill>
                                          <a:srgbClr val="DD8452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lim>
                          <m:r>
                            <a:rPr lang="en-US" sz="3400" i="1" dirty="0">
                              <a:solidFill>
                                <a:srgbClr val="DD8452"/>
                              </a:solidFill>
                              <a:latin typeface="Cambria Math"/>
                            </a:rPr>
                            <m:t>𝐴</m:t>
                          </m:r>
                          <m:r>
                            <a:rPr lang="en-US" sz="3400" i="0" dirty="0">
                              <a:solidFill>
                                <a:srgbClr val="86868B"/>
                              </a:solidFill>
                              <a:latin typeface="Cambria Math"/>
                            </a:rPr>
                            <m:t> 1×4</m:t>
                          </m:r>
                        </m:lim>
                      </m:limLow>
                      <m:r>
                        <a:rPr lang="en-US" sz="3400" i="0" dirty="0">
                          <a:solidFill>
                            <a:srgbClr val="1D1D1F"/>
                          </a:solidFill>
                          <a:latin typeface="Cambria Math"/>
                        </a:rPr>
                        <m:t>=</m:t>
                      </m:r>
                      <m:limLow>
                        <m:limLowPr>
                          <m:ctrlPr>
                            <a:rPr lang="en-US" sz="3400" i="1" dirty="0">
                              <a:solidFill>
                                <a:srgbClr val="1D1D1F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3400" i="1" dirty="0">
                                  <a:solidFill>
                                    <a:srgbClr val="1D1D1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4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3400" i="1" dirty="0">
                                      <a:solidFill>
                                        <a:srgbClr val="1D1D1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US" sz="3400" i="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sz="3400" i="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3400" i="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sz="3400" i="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3400" i="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sz="3400" i="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3400" i="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US" sz="3400" i="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3400" i="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</a:rPr>
                                      <m:t>3</m:t>
                                    </m:r>
                                  </m:e>
                                  <m:e>
                                    <m:r>
                                      <a:rPr lang="en-US" sz="3400" i="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3400" i="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</a:rPr>
                                      <m:t>6</m:t>
                                    </m:r>
                                  </m:e>
                                  <m:e>
                                    <m:r>
                                      <a:rPr lang="en-US" sz="3400" i="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</a:rPr>
                                      <m:t>3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sz="3400" i="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</a:rPr>
                                      <m:t>4</m:t>
                                    </m:r>
                                  </m:e>
                                  <m:e>
                                    <m:r>
                                      <a:rPr lang="en-US" sz="3400" i="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n-US" sz="3400" i="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</a:rPr>
                                      <m:t>8</m:t>
                                    </m:r>
                                  </m:e>
                                  <m:e>
                                    <m:r>
                                      <a:rPr lang="en-US" sz="3400" i="0" dirty="0">
                                        <a:solidFill>
                                          <a:srgbClr val="1D1D1F"/>
                                        </a:solidFill>
                                        <a:latin typeface="Cambria Math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lim>
                          <m:r>
                            <a:rPr lang="en-US" sz="3400" i="1" dirty="0">
                              <a:solidFill>
                                <a:srgbClr val="1D1D1F"/>
                              </a:solidFill>
                              <a:latin typeface="Cambria Math"/>
                            </a:rPr>
                            <m:t>𝐵𝐴</m:t>
                          </m:r>
                          <m:r>
                            <a:rPr lang="en-US" sz="3400" i="0" dirty="0">
                              <a:solidFill>
                                <a:srgbClr val="86868B"/>
                              </a:solidFill>
                              <a:latin typeface="Cambria Math"/>
                            </a:rPr>
                            <m:t> 4×4</m:t>
                          </m:r>
                        </m:lim>
                      </m:limLow>
                    </m:oMath>
                  </m:oMathPara>
                </a14:m>
                <a:endParaRPr lang="en-US" sz="3400"/>
              </a:p>
            </p:txBody>
          </p:sp>
        </mc:Choice>
        <mc:Fallback>
          <p:sp>
            <p:nvSpPr>
              <p:cNvPr id="4" name="Equation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401150"/>
                <a:ext cx="8229600" cy="2423160"/>
              </a:xfrm>
              <a:prstGeom prst="rect">
                <a:avLst/>
              </a:prstGeom>
              <a:blipFill>
                <a:blip r:embed="rId2"/>
                <a:stretch>
                  <a:fillRect b="-47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Equation 7"/>
              <p:cNvSpPr txBox="1"/>
              <p:nvPr/>
            </p:nvSpPr>
            <p:spPr>
              <a:xfrm>
                <a:off x="3029447" y="4187910"/>
                <a:ext cx="3291840" cy="41148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800" i="0" dirty="0">
                          <a:solidFill>
                            <a:srgbClr val="4C72B0"/>
                          </a:solidFill>
                          <a:latin typeface="Cambria Math"/>
                        </a:rPr>
                        <m:t>rank</m:t>
                      </m:r>
                      <m:r>
                        <m:rPr>
                          <m:nor/>
                        </m:rPr>
                        <a:rPr lang="en-US" sz="1800" i="0" dirty="0">
                          <a:solidFill>
                            <a:srgbClr val="4C72B0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800" i="1" dirty="0">
                          <a:solidFill>
                            <a:srgbClr val="4C72B0"/>
                          </a:solidFill>
                          <a:latin typeface="Cambria Math"/>
                        </a:rPr>
                        <m:t>𝑟</m:t>
                      </m:r>
                      <m:r>
                        <a:rPr lang="en-US" sz="1800" i="0" dirty="0">
                          <a:solidFill>
                            <a:srgbClr val="4C72B0"/>
                          </a:solidFill>
                          <a:latin typeface="Cambria Math"/>
                        </a:rPr>
                        <m:t>:  </m:t>
                      </m:r>
                      <m:r>
                        <a:rPr lang="en-US" sz="1800" i="1" dirty="0">
                          <a:solidFill>
                            <a:srgbClr val="4C72B0"/>
                          </a:solidFill>
                          <a:latin typeface="Cambria Math"/>
                        </a:rPr>
                        <m:t>𝐵</m:t>
                      </m:r>
                      <m:r>
                        <m:rPr>
                          <m:nor/>
                        </m:rPr>
                        <a:rPr lang="en-US" sz="1800" i="0" dirty="0">
                          <a:solidFill>
                            <a:srgbClr val="4C72B0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800" i="0" dirty="0">
                          <a:solidFill>
                            <a:srgbClr val="4C72B0"/>
                          </a:solidFill>
                          <a:latin typeface="Cambria Math"/>
                        </a:rPr>
                        <m:t>is</m:t>
                      </m:r>
                      <m:r>
                        <m:rPr>
                          <m:nor/>
                        </m:rPr>
                        <a:rPr lang="en-US" sz="1800" i="0" dirty="0">
                          <a:solidFill>
                            <a:srgbClr val="4C72B0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800" i="1" dirty="0">
                          <a:solidFill>
                            <a:srgbClr val="4C72B0"/>
                          </a:solidFill>
                          <a:latin typeface="Cambria Math"/>
                        </a:rPr>
                        <m:t>𝑑</m:t>
                      </m:r>
                      <m:r>
                        <a:rPr lang="en-US" sz="1800" i="0" dirty="0">
                          <a:solidFill>
                            <a:srgbClr val="4C72B0"/>
                          </a:solidFill>
                          <a:latin typeface="Cambria Math"/>
                        </a:rPr>
                        <m:t>×</m:t>
                      </m:r>
                      <m:r>
                        <a:rPr lang="en-US" sz="1800" i="1" dirty="0">
                          <a:solidFill>
                            <a:srgbClr val="4C72B0"/>
                          </a:solidFill>
                          <a:latin typeface="Cambria Math"/>
                        </a:rPr>
                        <m:t>𝑟</m:t>
                      </m:r>
                      <m:r>
                        <m:rPr>
                          <m:nor/>
                        </m:rPr>
                        <a:rPr lang="en-US" sz="1800" i="0" dirty="0">
                          <a:solidFill>
                            <a:srgbClr val="4C72B0"/>
                          </a:solidFill>
                          <a:latin typeface="Cambria Math"/>
                        </a:rPr>
                        <m:t>,  </m:t>
                      </m:r>
                      <m:r>
                        <a:rPr lang="en-US" sz="1800" i="1" dirty="0">
                          <a:solidFill>
                            <a:srgbClr val="4C72B0"/>
                          </a:solidFill>
                          <a:latin typeface="Cambria Math"/>
                        </a:rPr>
                        <m:t>𝐴</m:t>
                      </m:r>
                      <m:r>
                        <m:rPr>
                          <m:nor/>
                        </m:rPr>
                        <a:rPr lang="en-US" sz="1800" i="0" dirty="0">
                          <a:solidFill>
                            <a:srgbClr val="4C72B0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800" i="0" dirty="0">
                          <a:solidFill>
                            <a:srgbClr val="4C72B0"/>
                          </a:solidFill>
                          <a:latin typeface="Cambria Math"/>
                        </a:rPr>
                        <m:t>is</m:t>
                      </m:r>
                      <m:r>
                        <m:rPr>
                          <m:nor/>
                        </m:rPr>
                        <a:rPr lang="en-US" sz="1800" i="0" dirty="0">
                          <a:solidFill>
                            <a:srgbClr val="4C72B0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800" i="1" dirty="0">
                          <a:solidFill>
                            <a:srgbClr val="4C72B0"/>
                          </a:solidFill>
                          <a:latin typeface="Cambria Math"/>
                        </a:rPr>
                        <m:t>𝑟</m:t>
                      </m:r>
                      <m:r>
                        <a:rPr lang="en-US" sz="1800" i="0" dirty="0">
                          <a:solidFill>
                            <a:srgbClr val="4C72B0"/>
                          </a:solidFill>
                          <a:latin typeface="Cambria Math"/>
                        </a:rPr>
                        <m:t>×</m:t>
                      </m:r>
                      <m:r>
                        <a:rPr lang="en-US" sz="1800" i="1" dirty="0">
                          <a:solidFill>
                            <a:srgbClr val="4C72B0"/>
                          </a:solidFill>
                          <a:latin typeface="Cambria Math"/>
                        </a:rPr>
                        <m:t>𝑑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>
          <p:sp>
            <p:nvSpPr>
              <p:cNvPr id="7" name="Equation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9447" y="4187910"/>
                <a:ext cx="3291840" cy="411480"/>
              </a:xfrm>
              <a:prstGeom prst="rect">
                <a:avLst/>
              </a:prstGeom>
              <a:blipFill>
                <a:blip r:embed="rId3"/>
                <a:stretch>
                  <a:fillRect l="-2692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/>
              <a:t>Recap</a:t>
            </a:r>
            <a:r>
              <a:rPr lang="en-US" sz="2400" dirty="0"/>
              <a:t>: </a:t>
            </a:r>
            <a:r>
              <a:rPr sz="2400" dirty="0"/>
              <a:t>Self-attention is made of big weight matrices</a:t>
            </a:r>
          </a:p>
        </p:txBody>
      </p:sp>
      <p:pic>
        <p:nvPicPr>
          <p:cNvPr id="4" name="Picture 3" descr="self-attention-lay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101" y="1188719"/>
            <a:ext cx="5797796" cy="3246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462272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434343"/>
                </a:solidFill>
              </a:rPr>
              <a:t>distilgpt2: 6 layers × 4 matrices (Q, K, V, O), each 768 × 768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LoRA: freeze W, learn B and A</a:t>
            </a:r>
          </a:p>
        </p:txBody>
      </p:sp>
      <p:pic>
        <p:nvPicPr>
          <p:cNvPr id="4" name="Picture 3" descr="lora-2021-fig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907" y="1234440"/>
            <a:ext cx="2872664" cy="347472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Equation 5"/>
              <p:cNvSpPr txBox="1"/>
              <p:nvPr/>
            </p:nvSpPr>
            <p:spPr>
              <a:xfrm>
                <a:off x="3657600" y="1646979"/>
                <a:ext cx="5120640" cy="82296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4000" i="1" dirty="0">
                          <a:solidFill>
                            <a:srgbClr val="1D1D1F"/>
                          </a:solidFill>
                          <a:latin typeface="Cambria Math"/>
                        </a:rPr>
                        <m:t>h</m:t>
                      </m:r>
                      <m:r>
                        <a:rPr lang="en-US" sz="4000" i="0" dirty="0">
                          <a:solidFill>
                            <a:srgbClr val="1D1D1F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4000" i="1" dirty="0">
                          <a:solidFill>
                            <a:srgbClr val="1D1D1F"/>
                          </a:solidFill>
                          <a:latin typeface="Cambria Math"/>
                        </a:rPr>
                        <m:t>𝑊𝑥</m:t>
                      </m:r>
                      <m:r>
                        <a:rPr lang="en-US" sz="4000" i="0" dirty="0">
                          <a:solidFill>
                            <a:srgbClr val="1D1D1F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4000" i="1" dirty="0">
                          <a:solidFill>
                            <a:srgbClr val="4C72B0"/>
                          </a:solidFill>
                          <a:latin typeface="Cambria Math"/>
                        </a:rPr>
                        <m:t>𝐵𝐴</m:t>
                      </m:r>
                      <m:r>
                        <a:rPr lang="en-US" sz="4000" i="1" dirty="0">
                          <a:solidFill>
                            <a:srgbClr val="1D1D1F"/>
                          </a:solidFill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>
          <p:sp>
            <p:nvSpPr>
              <p:cNvPr id="5" name="Equation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1646979"/>
                <a:ext cx="5120640" cy="822960"/>
              </a:xfrm>
              <a:prstGeom prst="rect">
                <a:avLst/>
              </a:prstGeom>
              <a:blipFill>
                <a:blip r:embed="rId3"/>
                <a:stretch>
                  <a:fillRect l="-37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Equation 5"/>
              <p:cNvSpPr txBox="1"/>
              <p:nvPr/>
            </p:nvSpPr>
            <p:spPr>
              <a:xfrm>
                <a:off x="3657600" y="2815049"/>
                <a:ext cx="5120640" cy="45720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 dirty="0">
                          <a:solidFill>
                            <a:srgbClr val="86868B"/>
                          </a:solidFill>
                          <a:latin typeface="Cambria Math"/>
                        </a:rPr>
                        <m:t>𝑊</m:t>
                      </m:r>
                      <m:r>
                        <m:rPr>
                          <m:nor/>
                        </m:rPr>
                        <a:rPr lang="en-US" sz="2200" i="0" dirty="0">
                          <a:solidFill>
                            <a:srgbClr val="86868B"/>
                          </a:solidFill>
                          <a:latin typeface="Cambria Math"/>
                        </a:rPr>
                        <m:t>  </m:t>
                      </m:r>
                      <m:r>
                        <m:rPr>
                          <m:nor/>
                        </m:rPr>
                        <a:rPr lang="en-US" sz="2200" i="0" dirty="0">
                          <a:solidFill>
                            <a:srgbClr val="86868B"/>
                          </a:solidFill>
                          <a:latin typeface="Cambria Math"/>
                        </a:rPr>
                        <m:t>frozen</m:t>
                      </m:r>
                      <m:r>
                        <m:rPr>
                          <m:nor/>
                        </m:rPr>
                        <a:rPr lang="en-US" sz="2200" i="0" dirty="0">
                          <a:solidFill>
                            <a:srgbClr val="86868B"/>
                          </a:solidFill>
                          <a:latin typeface="Cambria Math"/>
                        </a:rPr>
                        <m:t>  </m:t>
                      </m:r>
                      <m:r>
                        <a:rPr lang="en-US" sz="2200" i="0" dirty="0">
                          <a:solidFill>
                            <a:srgbClr val="86868B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200" i="1" dirty="0">
                          <a:solidFill>
                            <a:srgbClr val="86868B"/>
                          </a:solidFill>
                          <a:latin typeface="Cambria Math"/>
                        </a:rPr>
                        <m:t>𝑑</m:t>
                      </m:r>
                      <m:r>
                        <a:rPr lang="en-US" sz="2200" i="0" dirty="0">
                          <a:solidFill>
                            <a:srgbClr val="86868B"/>
                          </a:solidFill>
                          <a:latin typeface="Cambria Math"/>
                        </a:rPr>
                        <m:t>×</m:t>
                      </m:r>
                      <m:r>
                        <a:rPr lang="en-US" sz="2200" i="1" dirty="0">
                          <a:solidFill>
                            <a:srgbClr val="86868B"/>
                          </a:solidFill>
                          <a:latin typeface="Cambria Math"/>
                        </a:rPr>
                        <m:t>𝑑</m:t>
                      </m:r>
                      <m:r>
                        <a:rPr lang="en-US" sz="2200" i="0" dirty="0">
                          <a:solidFill>
                            <a:srgbClr val="86868B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200"/>
              </a:p>
            </p:txBody>
          </p:sp>
        </mc:Choice>
        <mc:Fallback>
          <p:sp>
            <p:nvSpPr>
              <p:cNvPr id="2" name="Equation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2815049"/>
                <a:ext cx="5120640" cy="457200"/>
              </a:xfrm>
              <a:prstGeom prst="rect">
                <a:avLst/>
              </a:prstGeom>
              <a:blipFill>
                <a:blip r:embed="rId4"/>
                <a:stretch>
                  <a:fillRect l="-1980"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Equation 5"/>
              <p:cNvSpPr txBox="1"/>
              <p:nvPr/>
            </p:nvSpPr>
            <p:spPr>
              <a:xfrm>
                <a:off x="3657600" y="3272249"/>
                <a:ext cx="5120640" cy="45720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i="1" dirty="0">
                          <a:solidFill>
                            <a:srgbClr val="4C72B0"/>
                          </a:solidFill>
                          <a:latin typeface="Cambria Math"/>
                        </a:rPr>
                        <m:t>𝐵</m:t>
                      </m:r>
                      <m:r>
                        <m:rPr>
                          <m:nor/>
                        </m:rPr>
                        <a:rPr lang="en-US" sz="2200" i="0" dirty="0">
                          <a:solidFill>
                            <a:srgbClr val="4C72B0"/>
                          </a:solidFill>
                          <a:latin typeface="Cambria Math"/>
                        </a:rPr>
                        <m:t>,  </m:t>
                      </m:r>
                      <m:r>
                        <a:rPr lang="en-US" sz="2200" i="1" dirty="0">
                          <a:solidFill>
                            <a:srgbClr val="4C72B0"/>
                          </a:solidFill>
                          <a:latin typeface="Cambria Math"/>
                        </a:rPr>
                        <m:t>𝐴</m:t>
                      </m:r>
                      <m:r>
                        <m:rPr>
                          <m:nor/>
                        </m:rPr>
                        <a:rPr lang="en-US" sz="2200" i="0" dirty="0">
                          <a:solidFill>
                            <a:srgbClr val="4C72B0"/>
                          </a:solidFill>
                          <a:latin typeface="Cambria Math"/>
                        </a:rPr>
                        <m:t>  </m:t>
                      </m:r>
                      <m:r>
                        <m:rPr>
                          <m:nor/>
                        </m:rPr>
                        <a:rPr lang="en-US" sz="2200" i="0" dirty="0">
                          <a:solidFill>
                            <a:srgbClr val="4C72B0"/>
                          </a:solidFill>
                          <a:latin typeface="Cambria Math"/>
                        </a:rPr>
                        <m:t>trained</m:t>
                      </m:r>
                      <m:r>
                        <m:rPr>
                          <m:nor/>
                        </m:rPr>
                        <a:rPr lang="en-US" sz="2200" i="0" dirty="0">
                          <a:solidFill>
                            <a:srgbClr val="4C72B0"/>
                          </a:solidFill>
                          <a:latin typeface="Cambria Math"/>
                        </a:rPr>
                        <m:t>  </m:t>
                      </m:r>
                      <m:r>
                        <a:rPr lang="en-US" sz="2200" i="0" dirty="0">
                          <a:solidFill>
                            <a:srgbClr val="4C72B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200" i="1" dirty="0">
                          <a:solidFill>
                            <a:srgbClr val="4C72B0"/>
                          </a:solidFill>
                          <a:latin typeface="Cambria Math"/>
                        </a:rPr>
                        <m:t>𝑑</m:t>
                      </m:r>
                      <m:r>
                        <a:rPr lang="en-US" sz="2200" i="0" dirty="0">
                          <a:solidFill>
                            <a:srgbClr val="4C72B0"/>
                          </a:solidFill>
                          <a:latin typeface="Cambria Math"/>
                        </a:rPr>
                        <m:t>×</m:t>
                      </m:r>
                      <m:r>
                        <a:rPr lang="en-US" sz="2200" i="1" dirty="0">
                          <a:solidFill>
                            <a:srgbClr val="4C72B0"/>
                          </a:solidFill>
                          <a:latin typeface="Cambria Math"/>
                        </a:rPr>
                        <m:t>𝑟</m:t>
                      </m:r>
                      <m:r>
                        <a:rPr lang="en-US" sz="2200" i="0" dirty="0">
                          <a:solidFill>
                            <a:srgbClr val="4C72B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nor/>
                        </m:rPr>
                        <a:rPr lang="en-US" sz="2200" i="0" dirty="0">
                          <a:solidFill>
                            <a:srgbClr val="4C72B0"/>
                          </a:solidFill>
                          <a:latin typeface="Cambria Math"/>
                        </a:rPr>
                        <m:t>, </m:t>
                      </m:r>
                      <m:r>
                        <a:rPr lang="en-US" sz="2200" i="0" dirty="0">
                          <a:solidFill>
                            <a:srgbClr val="4C72B0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2200" i="1" dirty="0">
                          <a:solidFill>
                            <a:srgbClr val="4C72B0"/>
                          </a:solidFill>
                          <a:latin typeface="Cambria Math"/>
                        </a:rPr>
                        <m:t>𝑟</m:t>
                      </m:r>
                      <m:r>
                        <a:rPr lang="en-US" sz="2200" i="0" dirty="0">
                          <a:solidFill>
                            <a:srgbClr val="4C72B0"/>
                          </a:solidFill>
                          <a:latin typeface="Cambria Math"/>
                        </a:rPr>
                        <m:t>×</m:t>
                      </m:r>
                      <m:r>
                        <a:rPr lang="en-US" sz="2200" i="1" dirty="0">
                          <a:solidFill>
                            <a:srgbClr val="4C72B0"/>
                          </a:solidFill>
                          <a:latin typeface="Cambria Math"/>
                        </a:rPr>
                        <m:t>𝑑</m:t>
                      </m:r>
                      <m:r>
                        <a:rPr lang="en-US" sz="2200" i="0" dirty="0">
                          <a:solidFill>
                            <a:srgbClr val="4C72B0"/>
                          </a:solidFill>
                          <a:latin typeface="Cambria Math"/>
                        </a:rPr>
                        <m:t>)</m:t>
                      </m:r>
                      <m:r>
                        <m:rPr>
                          <m:nor/>
                        </m:rPr>
                        <a:rPr lang="en-US" sz="2200" i="0" dirty="0">
                          <a:solidFill>
                            <a:srgbClr val="4C72B0"/>
                          </a:solidFill>
                          <a:latin typeface="Cambria Math"/>
                        </a:rPr>
                        <m:t>,  </m:t>
                      </m:r>
                      <m:r>
                        <a:rPr lang="en-US" sz="2200" i="1" dirty="0">
                          <a:solidFill>
                            <a:srgbClr val="4C72B0"/>
                          </a:solidFill>
                          <a:latin typeface="Cambria Math"/>
                        </a:rPr>
                        <m:t>𝑟</m:t>
                      </m:r>
                      <m:r>
                        <a:rPr lang="en-US" sz="2200" i="0" dirty="0">
                          <a:solidFill>
                            <a:srgbClr val="4C72B0"/>
                          </a:solidFill>
                          <a:latin typeface="Cambria Math"/>
                        </a:rPr>
                        <m:t>=8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>
          <p:sp>
            <p:nvSpPr>
              <p:cNvPr id="8" name="Equation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3272249"/>
                <a:ext cx="5120640" cy="457200"/>
              </a:xfrm>
              <a:prstGeom prst="rect">
                <a:avLst/>
              </a:prstGeom>
              <a:blipFill>
                <a:blip r:embed="rId5"/>
                <a:stretch>
                  <a:fillRect l="-1980"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657600" y="4178808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 dirty="0">
                <a:solidFill>
                  <a:srgbClr val="434343"/>
                </a:solidFill>
              </a:rPr>
              <a:t>B starts at zero, so on day one </a:t>
            </a:r>
            <a:r>
              <a:rPr sz="1500" b="0" i="0" dirty="0" err="1">
                <a:solidFill>
                  <a:srgbClr val="434343"/>
                </a:solidFill>
              </a:rPr>
              <a:t>LoRA</a:t>
            </a:r>
            <a:r>
              <a:rPr sz="1500" b="0" i="0" dirty="0">
                <a:solidFill>
                  <a:srgbClr val="434343"/>
                </a:solidFill>
              </a:rPr>
              <a:t> changes nothing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81888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</a:rPr>
              <a:t>Source: Hu et al. 2021, “LoRA: Low-Rank Adaptation of Large Language Models” (arXiv:2106.09685), Fig.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One 4096 × 4096 layer, drawn to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3291840" cy="3291840"/>
          </a:xfrm>
          <a:prstGeom prst="rect">
            <a:avLst/>
          </a:prstGeom>
          <a:solidFill>
            <a:srgbClr val="F5F5F7"/>
          </a:solidFill>
          <a:ln w="9525">
            <a:solidFill>
              <a:srgbClr val="C6C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51460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 i="0">
                <a:solidFill>
                  <a:srgbClr val="434343"/>
                </a:solidFill>
              </a:rPr>
              <a:t>16,777,216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6324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434343"/>
                </a:solidFill>
              </a:rPr>
              <a:t>W: full fine-tuning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280160"/>
            <a:ext cx="6429" cy="3291840"/>
          </a:xfrm>
          <a:prstGeom prst="rect">
            <a:avLst/>
          </a:prstGeom>
          <a:solidFill>
            <a:srgbClr val="4C72B0"/>
          </a:solidFill>
          <a:ln w="6350">
            <a:solidFill>
              <a:srgbClr val="4C7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800600" y="1280160"/>
            <a:ext cx="3291840" cy="6429"/>
          </a:xfrm>
          <a:prstGeom prst="rect">
            <a:avLst/>
          </a:prstGeom>
          <a:solidFill>
            <a:srgbClr val="4C72B0"/>
          </a:solidFill>
          <a:ln w="6350">
            <a:solidFill>
              <a:srgbClr val="4C7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00600" y="1389888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4C72B0"/>
                </a:solidFill>
              </a:rPr>
              <a:t>A: 8 × 4096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425196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4C72B0"/>
                </a:solidFill>
              </a:rPr>
              <a:t>B: 4096 ×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240280"/>
            <a:ext cx="3657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 i="0">
                <a:solidFill>
                  <a:srgbClr val="4C72B0"/>
                </a:solidFill>
              </a:rPr>
              <a:t>65,536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9718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434343"/>
                </a:solidFill>
              </a:rPr>
              <a:t>LoRA, r = 8:  0.39% of the layer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CB32C8E-E999-4423-1C3B-E2621C5F2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an LLM is hard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08753FC-A59F-27B6-4251-4207448B3527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5806AB-420C-4DA0-C0B9-4CF21840D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523" y="1492884"/>
            <a:ext cx="4025900" cy="304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AB5EFE6-82AF-610A-1462-54C32CE004A5}"/>
              </a:ext>
            </a:extLst>
          </p:cNvPr>
          <p:cNvSpPr txBox="1"/>
          <p:nvPr/>
        </p:nvSpPr>
        <p:spPr>
          <a:xfrm>
            <a:off x="310100" y="1492884"/>
            <a:ext cx="4225377" cy="2959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During training many things can go wrong: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Power blackout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Computer crash (too high CPU/GPU usage)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Run out of memory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Model isn’t learning</a:t>
            </a:r>
          </a:p>
        </p:txBody>
      </p:sp>
    </p:spTree>
    <p:extLst>
      <p:ext uri="{BB962C8B-B14F-4D97-AF65-F5344CB8AC3E}">
        <p14:creationId xmlns:p14="http://schemas.microsoft.com/office/powerpoint/2010/main" val="2971675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Why save checkpoints while you train?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4343400"/>
            <a:ext cx="4846320" cy="0"/>
          </a:xfrm>
          <a:prstGeom prst="line">
            <a:avLst/>
          </a:prstGeom>
          <a:ln w="15875">
            <a:solidFill>
              <a:srgbClr val="8686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822960" y="1280160"/>
            <a:ext cx="0" cy="3063240"/>
          </a:xfrm>
          <a:prstGeom prst="line">
            <a:avLst/>
          </a:prstGeom>
          <a:ln w="15875">
            <a:solidFill>
              <a:srgbClr val="8686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23360" y="438912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86868B"/>
                </a:solidFill>
              </a:rPr>
              <a:t>training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2344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6868B"/>
                </a:solidFill>
              </a:rPr>
              <a:t>validation loss</a:t>
            </a:r>
          </a:p>
        </p:txBody>
      </p:sp>
      <p:sp>
        <p:nvSpPr>
          <p:cNvPr id="2" name="Freeform 1"/>
          <p:cNvSpPr/>
          <p:nvPr/>
        </p:nvSpPr>
        <p:spPr>
          <a:xfrm>
            <a:off x="914400" y="1512418"/>
            <a:ext cx="4197096" cy="1989734"/>
          </a:xfrm>
          <a:custGeom>
            <a:avLst/>
            <a:gdLst/>
            <a:ahLst/>
            <a:cxnLst/>
            <a:rect l="l" t="t" r="r" b="b"/>
            <a:pathLst>
              <a:path w="4590" h="2176">
                <a:moveTo>
                  <a:pt x="0" y="0"/>
                </a:moveTo>
                <a:lnTo>
                  <a:pt x="42" y="141"/>
                </a:lnTo>
                <a:lnTo>
                  <a:pt x="85" y="274"/>
                </a:lnTo>
                <a:lnTo>
                  <a:pt x="127" y="399"/>
                </a:lnTo>
                <a:lnTo>
                  <a:pt x="170" y="518"/>
                </a:lnTo>
                <a:lnTo>
                  <a:pt x="212" y="630"/>
                </a:lnTo>
                <a:lnTo>
                  <a:pt x="255" y="736"/>
                </a:lnTo>
                <a:lnTo>
                  <a:pt x="297" y="835"/>
                </a:lnTo>
                <a:lnTo>
                  <a:pt x="339" y="929"/>
                </a:lnTo>
                <a:lnTo>
                  <a:pt x="382" y="1018"/>
                </a:lnTo>
                <a:lnTo>
                  <a:pt x="424" y="1102"/>
                </a:lnTo>
                <a:lnTo>
                  <a:pt x="467" y="1180"/>
                </a:lnTo>
                <a:lnTo>
                  <a:pt x="509" y="1255"/>
                </a:lnTo>
                <a:lnTo>
                  <a:pt x="552" y="1325"/>
                </a:lnTo>
                <a:lnTo>
                  <a:pt x="594" y="1390"/>
                </a:lnTo>
                <a:lnTo>
                  <a:pt x="637" y="1452"/>
                </a:lnTo>
                <a:lnTo>
                  <a:pt x="680" y="1510"/>
                </a:lnTo>
                <a:lnTo>
                  <a:pt x="722" y="1565"/>
                </a:lnTo>
                <a:lnTo>
                  <a:pt x="765" y="1616"/>
                </a:lnTo>
                <a:lnTo>
                  <a:pt x="807" y="1664"/>
                </a:lnTo>
                <a:lnTo>
                  <a:pt x="849" y="1709"/>
                </a:lnTo>
                <a:lnTo>
                  <a:pt x="892" y="1751"/>
                </a:lnTo>
                <a:lnTo>
                  <a:pt x="935" y="1790"/>
                </a:lnTo>
                <a:lnTo>
                  <a:pt x="977" y="1827"/>
                </a:lnTo>
                <a:lnTo>
                  <a:pt x="1019" y="1862"/>
                </a:lnTo>
                <a:lnTo>
                  <a:pt x="1062" y="1893"/>
                </a:lnTo>
                <a:lnTo>
                  <a:pt x="1105" y="1923"/>
                </a:lnTo>
                <a:lnTo>
                  <a:pt x="1147" y="1951"/>
                </a:lnTo>
                <a:lnTo>
                  <a:pt x="1189" y="1976"/>
                </a:lnTo>
                <a:lnTo>
                  <a:pt x="1232" y="2000"/>
                </a:lnTo>
                <a:lnTo>
                  <a:pt x="1275" y="2021"/>
                </a:lnTo>
                <a:lnTo>
                  <a:pt x="1317" y="2041"/>
                </a:lnTo>
                <a:lnTo>
                  <a:pt x="1360" y="2060"/>
                </a:lnTo>
                <a:lnTo>
                  <a:pt x="1402" y="2076"/>
                </a:lnTo>
                <a:lnTo>
                  <a:pt x="1445" y="2092"/>
                </a:lnTo>
                <a:lnTo>
                  <a:pt x="1487" y="2105"/>
                </a:lnTo>
                <a:lnTo>
                  <a:pt x="1530" y="2118"/>
                </a:lnTo>
                <a:lnTo>
                  <a:pt x="1572" y="2128"/>
                </a:lnTo>
                <a:lnTo>
                  <a:pt x="1614" y="2138"/>
                </a:lnTo>
                <a:lnTo>
                  <a:pt x="1657" y="2147"/>
                </a:lnTo>
                <a:lnTo>
                  <a:pt x="1699" y="2154"/>
                </a:lnTo>
                <a:lnTo>
                  <a:pt x="1742" y="2160"/>
                </a:lnTo>
                <a:lnTo>
                  <a:pt x="1785" y="2165"/>
                </a:lnTo>
                <a:lnTo>
                  <a:pt x="1827" y="2169"/>
                </a:lnTo>
                <a:lnTo>
                  <a:pt x="1870" y="2173"/>
                </a:lnTo>
                <a:lnTo>
                  <a:pt x="1912" y="2175"/>
                </a:lnTo>
                <a:lnTo>
                  <a:pt x="1954" y="2176"/>
                </a:lnTo>
                <a:lnTo>
                  <a:pt x="1997" y="2176"/>
                </a:lnTo>
                <a:lnTo>
                  <a:pt x="2039" y="2176"/>
                </a:lnTo>
                <a:lnTo>
                  <a:pt x="2082" y="2175"/>
                </a:lnTo>
                <a:lnTo>
                  <a:pt x="2125" y="2173"/>
                </a:lnTo>
                <a:lnTo>
                  <a:pt x="2167" y="2170"/>
                </a:lnTo>
                <a:lnTo>
                  <a:pt x="2210" y="2167"/>
                </a:lnTo>
                <a:lnTo>
                  <a:pt x="2252" y="2163"/>
                </a:lnTo>
                <a:lnTo>
                  <a:pt x="2295" y="2158"/>
                </a:lnTo>
                <a:lnTo>
                  <a:pt x="2337" y="2152"/>
                </a:lnTo>
                <a:lnTo>
                  <a:pt x="2379" y="2146"/>
                </a:lnTo>
                <a:lnTo>
                  <a:pt x="2422" y="2140"/>
                </a:lnTo>
                <a:lnTo>
                  <a:pt x="2465" y="2132"/>
                </a:lnTo>
                <a:lnTo>
                  <a:pt x="2507" y="2125"/>
                </a:lnTo>
                <a:lnTo>
                  <a:pt x="2550" y="2116"/>
                </a:lnTo>
                <a:lnTo>
                  <a:pt x="2592" y="2107"/>
                </a:lnTo>
                <a:lnTo>
                  <a:pt x="2635" y="2098"/>
                </a:lnTo>
                <a:lnTo>
                  <a:pt x="2677" y="2088"/>
                </a:lnTo>
                <a:lnTo>
                  <a:pt x="2719" y="2078"/>
                </a:lnTo>
                <a:lnTo>
                  <a:pt x="2762" y="2067"/>
                </a:lnTo>
                <a:lnTo>
                  <a:pt x="2804" y="2056"/>
                </a:lnTo>
                <a:lnTo>
                  <a:pt x="2847" y="2044"/>
                </a:lnTo>
                <a:lnTo>
                  <a:pt x="2889" y="2032"/>
                </a:lnTo>
                <a:lnTo>
                  <a:pt x="2932" y="2019"/>
                </a:lnTo>
                <a:lnTo>
                  <a:pt x="2975" y="2006"/>
                </a:lnTo>
                <a:lnTo>
                  <a:pt x="3017" y="1993"/>
                </a:lnTo>
                <a:lnTo>
                  <a:pt x="3059" y="1979"/>
                </a:lnTo>
                <a:lnTo>
                  <a:pt x="3102" y="1965"/>
                </a:lnTo>
                <a:lnTo>
                  <a:pt x="3145" y="1951"/>
                </a:lnTo>
                <a:lnTo>
                  <a:pt x="3187" y="1936"/>
                </a:lnTo>
                <a:lnTo>
                  <a:pt x="3229" y="1921"/>
                </a:lnTo>
                <a:lnTo>
                  <a:pt x="3272" y="1905"/>
                </a:lnTo>
                <a:lnTo>
                  <a:pt x="3314" y="1889"/>
                </a:lnTo>
                <a:lnTo>
                  <a:pt x="3357" y="1873"/>
                </a:lnTo>
                <a:lnTo>
                  <a:pt x="3399" y="1856"/>
                </a:lnTo>
                <a:lnTo>
                  <a:pt x="3442" y="1839"/>
                </a:lnTo>
                <a:lnTo>
                  <a:pt x="3484" y="1822"/>
                </a:lnTo>
                <a:lnTo>
                  <a:pt x="3527" y="1804"/>
                </a:lnTo>
                <a:lnTo>
                  <a:pt x="3570" y="1786"/>
                </a:lnTo>
                <a:lnTo>
                  <a:pt x="3612" y="1768"/>
                </a:lnTo>
                <a:lnTo>
                  <a:pt x="3654" y="1750"/>
                </a:lnTo>
                <a:lnTo>
                  <a:pt x="3697" y="1731"/>
                </a:lnTo>
                <a:lnTo>
                  <a:pt x="3740" y="1712"/>
                </a:lnTo>
                <a:lnTo>
                  <a:pt x="3782" y="1692"/>
                </a:lnTo>
                <a:lnTo>
                  <a:pt x="3824" y="1672"/>
                </a:lnTo>
                <a:lnTo>
                  <a:pt x="3867" y="1652"/>
                </a:lnTo>
                <a:lnTo>
                  <a:pt x="3909" y="1632"/>
                </a:lnTo>
                <a:lnTo>
                  <a:pt x="3952" y="1612"/>
                </a:lnTo>
                <a:lnTo>
                  <a:pt x="3994" y="1591"/>
                </a:lnTo>
                <a:lnTo>
                  <a:pt x="4037" y="1570"/>
                </a:lnTo>
                <a:lnTo>
                  <a:pt x="4079" y="1548"/>
                </a:lnTo>
                <a:lnTo>
                  <a:pt x="4122" y="1526"/>
                </a:lnTo>
                <a:lnTo>
                  <a:pt x="4165" y="1504"/>
                </a:lnTo>
                <a:lnTo>
                  <a:pt x="4207" y="1482"/>
                </a:lnTo>
                <a:lnTo>
                  <a:pt x="4250" y="1460"/>
                </a:lnTo>
                <a:lnTo>
                  <a:pt x="4292" y="1437"/>
                </a:lnTo>
                <a:lnTo>
                  <a:pt x="4335" y="1414"/>
                </a:lnTo>
                <a:lnTo>
                  <a:pt x="4377" y="1391"/>
                </a:lnTo>
                <a:lnTo>
                  <a:pt x="4420" y="1367"/>
                </a:lnTo>
                <a:lnTo>
                  <a:pt x="4462" y="1343"/>
                </a:lnTo>
                <a:lnTo>
                  <a:pt x="4505" y="1319"/>
                </a:lnTo>
                <a:lnTo>
                  <a:pt x="4547" y="1295"/>
                </a:lnTo>
                <a:lnTo>
                  <a:pt x="4590" y="1270"/>
                </a:lnTo>
              </a:path>
            </a:pathLst>
          </a:custGeom>
          <a:noFill/>
          <a:ln w="31750">
            <a:solidFill>
              <a:srgbClr val="1D1D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618487" y="3002448"/>
            <a:ext cx="146304" cy="14630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C7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Oval 8"/>
          <p:cNvSpPr/>
          <p:nvPr/>
        </p:nvSpPr>
        <p:spPr>
          <a:xfrm>
            <a:off x="2368296" y="3381892"/>
            <a:ext cx="201168" cy="201168"/>
          </a:xfrm>
          <a:prstGeom prst="ellipse">
            <a:avLst/>
          </a:prstGeom>
          <a:solidFill>
            <a:srgbClr val="4C72B0"/>
          </a:solidFill>
          <a:ln w="22225">
            <a:solidFill>
              <a:srgbClr val="4C7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Oval 9"/>
          <p:cNvSpPr/>
          <p:nvPr/>
        </p:nvSpPr>
        <p:spPr>
          <a:xfrm>
            <a:off x="3172968" y="3374885"/>
            <a:ext cx="146304" cy="14630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C7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3950207" y="3136900"/>
            <a:ext cx="146304" cy="14630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C7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Oval 11"/>
          <p:cNvSpPr/>
          <p:nvPr/>
        </p:nvSpPr>
        <p:spPr>
          <a:xfrm>
            <a:off x="4727448" y="2774516"/>
            <a:ext cx="146304" cy="14630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C7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20239" y="364706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4C72B0"/>
                </a:solidFill>
              </a:rPr>
              <a:t>best: keep this 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74336" y="245510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DD8452"/>
                </a:solidFill>
              </a:rP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82896" y="217163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D8452"/>
                </a:solidFill>
              </a:rPr>
              <a:t>crash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141732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C72B0"/>
                </a:solidFill>
              </a:rPr>
              <a:t>○  a saved checkpoint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46304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D1D1F"/>
                </a:solidFill>
              </a:rPr>
              <a:t>Crashed?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8745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434343"/>
                </a:solidFill>
              </a:rPr>
              <a:t>resume from the last save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42316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D1D1F"/>
                </a:solidFill>
              </a:rPr>
              <a:t>Overfit?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8346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434343"/>
                </a:solidFill>
              </a:rPr>
              <a:t>roll back to the best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38328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D1D1F"/>
                </a:solidFill>
              </a:rPr>
              <a:t>Which run won?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7947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434343"/>
                </a:solidFill>
              </a:rPr>
              <a:t>load two and compare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Fine-tune GPT-3 for 100 tasks, two 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434343"/>
                </a:solidFill>
              </a:rPr>
              <a:t>Full fine-tuning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1115568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2600" b="1" i="0">
                <a:solidFill>
                  <a:srgbClr val="1D1D1F"/>
                </a:solidFill>
              </a:rPr>
              <a:t>35 TB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77824" y="1691640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207007" y="1691640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536192" y="1691640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865376" y="1691640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194560" y="1691640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23744" y="1691640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52928" y="1691640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182112" y="1691640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511296" y="1691640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1984248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77824" y="1984248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207007" y="1984248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536192" y="1984248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865376" y="1984248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194560" y="1984248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523744" y="1984248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852928" y="1984248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182112" y="1984248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511296" y="1984248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2276856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77824" y="2276856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207007" y="2276856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536192" y="2276856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865376" y="2276856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194560" y="2276856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523744" y="2276856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852928" y="2276856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182112" y="2276856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511296" y="2276856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48640" y="2569464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77824" y="2569464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207007" y="2569464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536192" y="2569464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865376" y="2569464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2194560" y="2569464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2523744" y="2569464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852928" y="2569464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182112" y="2569464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511296" y="2569464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48640" y="2862072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77824" y="2862072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207007" y="2862072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536192" y="2862072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865376" y="2862072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2194560" y="2862072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2523744" y="2862072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2852928" y="2862072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3182112" y="2862072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511296" y="2862072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548640" y="3154680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877824" y="3154680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1207007" y="3154680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1536192" y="3154680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1865376" y="3154680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194560" y="3154680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523744" y="3154680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2852928" y="3154680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3182112" y="3154680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3511296" y="3154680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548640" y="3447288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877824" y="3447288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1207007" y="3447288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1536192" y="3447288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1865376" y="3447288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2194560" y="3447288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2523744" y="3447288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2852928" y="3447288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3182112" y="3447288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3511296" y="3447288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548640" y="3739896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877824" y="3739896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1207007" y="3739896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1536192" y="3739896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1865376" y="3739896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2194560" y="3739896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2523744" y="3739896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2852928" y="3739896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3182112" y="3739896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3511296" y="3739896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548640" y="4032504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877824" y="4032504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1207007" y="4032504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1536192" y="4032504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1865376" y="4032504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2194560" y="4032504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2523744" y="4032504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2852928" y="4032504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3182112" y="4032504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3511296" y="4032504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548640" y="4325112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877824" y="4325112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1207007" y="4325112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1536192" y="4325112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1865376" y="4325112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2194560" y="4325112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2523744" y="4325112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2852928" y="4325112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3182112" y="4325112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3511296" y="4325112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4754880" y="11887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4C72B0"/>
                </a:solidFill>
              </a:rPr>
              <a:t>LoRA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949440" y="1115568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2600" b="1" i="0">
                <a:solidFill>
                  <a:srgbClr val="4C72B0"/>
                </a:solidFill>
              </a:rPr>
              <a:t>354 GB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754880" y="1691640"/>
            <a:ext cx="274320" cy="237744"/>
          </a:xfrm>
          <a:prstGeom prst="rect">
            <a:avLst/>
          </a:prstGeom>
          <a:solidFill>
            <a:srgbClr val="989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5166360" y="167335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434343"/>
                </a:solidFill>
              </a:rPr>
              <a:t>one frozen GPT-3, 350 GB</a:t>
            </a:r>
          </a:p>
        </p:txBody>
      </p:sp>
      <p:sp>
        <p:nvSpPr>
          <p:cNvPr id="110" name="Oval 109"/>
          <p:cNvSpPr/>
          <p:nvPr/>
        </p:nvSpPr>
        <p:spPr>
          <a:xfrm>
            <a:off x="4800600" y="2240280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4910328" y="2240280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5020056" y="2240280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5129784" y="2240280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5239512" y="2240280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5349240" y="2240280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5458968" y="2240280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5568696" y="2240280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8" name="Oval 117"/>
          <p:cNvSpPr/>
          <p:nvPr/>
        </p:nvSpPr>
        <p:spPr>
          <a:xfrm>
            <a:off x="5678424" y="2240280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9" name="Oval 118"/>
          <p:cNvSpPr/>
          <p:nvPr/>
        </p:nvSpPr>
        <p:spPr>
          <a:xfrm>
            <a:off x="5788152" y="2240280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4800600" y="2350008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4910328" y="2350008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5020056" y="2350008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5129784" y="2350008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5239512" y="2350008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5" name="Oval 124"/>
          <p:cNvSpPr/>
          <p:nvPr/>
        </p:nvSpPr>
        <p:spPr>
          <a:xfrm>
            <a:off x="5349240" y="2350008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5458968" y="2350008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7" name="Oval 126"/>
          <p:cNvSpPr/>
          <p:nvPr/>
        </p:nvSpPr>
        <p:spPr>
          <a:xfrm>
            <a:off x="5568696" y="2350008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8" name="Oval 127"/>
          <p:cNvSpPr/>
          <p:nvPr/>
        </p:nvSpPr>
        <p:spPr>
          <a:xfrm>
            <a:off x="5678424" y="2350008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9" name="Oval 128"/>
          <p:cNvSpPr/>
          <p:nvPr/>
        </p:nvSpPr>
        <p:spPr>
          <a:xfrm>
            <a:off x="5788152" y="2350008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0" name="Oval 129"/>
          <p:cNvSpPr/>
          <p:nvPr/>
        </p:nvSpPr>
        <p:spPr>
          <a:xfrm>
            <a:off x="4800600" y="2459736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1" name="Oval 130"/>
          <p:cNvSpPr/>
          <p:nvPr/>
        </p:nvSpPr>
        <p:spPr>
          <a:xfrm>
            <a:off x="4910328" y="2459736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2" name="Oval 131"/>
          <p:cNvSpPr/>
          <p:nvPr/>
        </p:nvSpPr>
        <p:spPr>
          <a:xfrm>
            <a:off x="5020056" y="2459736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3" name="Oval 132"/>
          <p:cNvSpPr/>
          <p:nvPr/>
        </p:nvSpPr>
        <p:spPr>
          <a:xfrm>
            <a:off x="5129784" y="2459736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4" name="Oval 133"/>
          <p:cNvSpPr/>
          <p:nvPr/>
        </p:nvSpPr>
        <p:spPr>
          <a:xfrm>
            <a:off x="5239512" y="2459736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5" name="Oval 134"/>
          <p:cNvSpPr/>
          <p:nvPr/>
        </p:nvSpPr>
        <p:spPr>
          <a:xfrm>
            <a:off x="5349240" y="2459736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6" name="Oval 135"/>
          <p:cNvSpPr/>
          <p:nvPr/>
        </p:nvSpPr>
        <p:spPr>
          <a:xfrm>
            <a:off x="5458968" y="2459736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7" name="Oval 136"/>
          <p:cNvSpPr/>
          <p:nvPr/>
        </p:nvSpPr>
        <p:spPr>
          <a:xfrm>
            <a:off x="5568696" y="2459736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8" name="Oval 137"/>
          <p:cNvSpPr/>
          <p:nvPr/>
        </p:nvSpPr>
        <p:spPr>
          <a:xfrm>
            <a:off x="5678424" y="2459736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9" name="Oval 138"/>
          <p:cNvSpPr/>
          <p:nvPr/>
        </p:nvSpPr>
        <p:spPr>
          <a:xfrm>
            <a:off x="5788152" y="2459736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0" name="Oval 139"/>
          <p:cNvSpPr/>
          <p:nvPr/>
        </p:nvSpPr>
        <p:spPr>
          <a:xfrm>
            <a:off x="4800600" y="2569464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1" name="Oval 140"/>
          <p:cNvSpPr/>
          <p:nvPr/>
        </p:nvSpPr>
        <p:spPr>
          <a:xfrm>
            <a:off x="4910328" y="2569464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2" name="Oval 141"/>
          <p:cNvSpPr/>
          <p:nvPr/>
        </p:nvSpPr>
        <p:spPr>
          <a:xfrm>
            <a:off x="5020056" y="2569464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3" name="Oval 142"/>
          <p:cNvSpPr/>
          <p:nvPr/>
        </p:nvSpPr>
        <p:spPr>
          <a:xfrm>
            <a:off x="5129784" y="2569464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4" name="Oval 143"/>
          <p:cNvSpPr/>
          <p:nvPr/>
        </p:nvSpPr>
        <p:spPr>
          <a:xfrm>
            <a:off x="5239512" y="2569464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5" name="Oval 144"/>
          <p:cNvSpPr/>
          <p:nvPr/>
        </p:nvSpPr>
        <p:spPr>
          <a:xfrm>
            <a:off x="5349240" y="2569464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6" name="Oval 145"/>
          <p:cNvSpPr/>
          <p:nvPr/>
        </p:nvSpPr>
        <p:spPr>
          <a:xfrm>
            <a:off x="5458968" y="2569464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7" name="Oval 146"/>
          <p:cNvSpPr/>
          <p:nvPr/>
        </p:nvSpPr>
        <p:spPr>
          <a:xfrm>
            <a:off x="5568696" y="2569464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8" name="Oval 147"/>
          <p:cNvSpPr/>
          <p:nvPr/>
        </p:nvSpPr>
        <p:spPr>
          <a:xfrm>
            <a:off x="5678424" y="2569464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9" name="Oval 148"/>
          <p:cNvSpPr/>
          <p:nvPr/>
        </p:nvSpPr>
        <p:spPr>
          <a:xfrm>
            <a:off x="5788152" y="2569464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0" name="Oval 149"/>
          <p:cNvSpPr/>
          <p:nvPr/>
        </p:nvSpPr>
        <p:spPr>
          <a:xfrm>
            <a:off x="4800600" y="2679192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1" name="Oval 150"/>
          <p:cNvSpPr/>
          <p:nvPr/>
        </p:nvSpPr>
        <p:spPr>
          <a:xfrm>
            <a:off x="4910328" y="2679192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2" name="Oval 151"/>
          <p:cNvSpPr/>
          <p:nvPr/>
        </p:nvSpPr>
        <p:spPr>
          <a:xfrm>
            <a:off x="5020056" y="2679192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3" name="Oval 152"/>
          <p:cNvSpPr/>
          <p:nvPr/>
        </p:nvSpPr>
        <p:spPr>
          <a:xfrm>
            <a:off x="5129784" y="2679192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4" name="Oval 153"/>
          <p:cNvSpPr/>
          <p:nvPr/>
        </p:nvSpPr>
        <p:spPr>
          <a:xfrm>
            <a:off x="5239512" y="2679192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5" name="Oval 154"/>
          <p:cNvSpPr/>
          <p:nvPr/>
        </p:nvSpPr>
        <p:spPr>
          <a:xfrm>
            <a:off x="5349240" y="2679192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6" name="Oval 155"/>
          <p:cNvSpPr/>
          <p:nvPr/>
        </p:nvSpPr>
        <p:spPr>
          <a:xfrm>
            <a:off x="5458968" y="2679192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7" name="Oval 156"/>
          <p:cNvSpPr/>
          <p:nvPr/>
        </p:nvSpPr>
        <p:spPr>
          <a:xfrm>
            <a:off x="5568696" y="2679192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8" name="Oval 157"/>
          <p:cNvSpPr/>
          <p:nvPr/>
        </p:nvSpPr>
        <p:spPr>
          <a:xfrm>
            <a:off x="5678424" y="2679192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9" name="Oval 158"/>
          <p:cNvSpPr/>
          <p:nvPr/>
        </p:nvSpPr>
        <p:spPr>
          <a:xfrm>
            <a:off x="5788152" y="2679192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0" name="Oval 159"/>
          <p:cNvSpPr/>
          <p:nvPr/>
        </p:nvSpPr>
        <p:spPr>
          <a:xfrm>
            <a:off x="4800600" y="2788920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1" name="Oval 160"/>
          <p:cNvSpPr/>
          <p:nvPr/>
        </p:nvSpPr>
        <p:spPr>
          <a:xfrm>
            <a:off x="4910328" y="2788920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2" name="Oval 161"/>
          <p:cNvSpPr/>
          <p:nvPr/>
        </p:nvSpPr>
        <p:spPr>
          <a:xfrm>
            <a:off x="5020056" y="2788920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3" name="Oval 162"/>
          <p:cNvSpPr/>
          <p:nvPr/>
        </p:nvSpPr>
        <p:spPr>
          <a:xfrm>
            <a:off x="5129784" y="2788920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4" name="Oval 163"/>
          <p:cNvSpPr/>
          <p:nvPr/>
        </p:nvSpPr>
        <p:spPr>
          <a:xfrm>
            <a:off x="5239512" y="2788920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5" name="Oval 164"/>
          <p:cNvSpPr/>
          <p:nvPr/>
        </p:nvSpPr>
        <p:spPr>
          <a:xfrm>
            <a:off x="5349240" y="2788920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6" name="Oval 165"/>
          <p:cNvSpPr/>
          <p:nvPr/>
        </p:nvSpPr>
        <p:spPr>
          <a:xfrm>
            <a:off x="5458968" y="2788920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7" name="Oval 166"/>
          <p:cNvSpPr/>
          <p:nvPr/>
        </p:nvSpPr>
        <p:spPr>
          <a:xfrm>
            <a:off x="5568696" y="2788920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8" name="Oval 167"/>
          <p:cNvSpPr/>
          <p:nvPr/>
        </p:nvSpPr>
        <p:spPr>
          <a:xfrm>
            <a:off x="5678424" y="2788920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9" name="Oval 168"/>
          <p:cNvSpPr/>
          <p:nvPr/>
        </p:nvSpPr>
        <p:spPr>
          <a:xfrm>
            <a:off x="5788152" y="2788920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0" name="Oval 169"/>
          <p:cNvSpPr/>
          <p:nvPr/>
        </p:nvSpPr>
        <p:spPr>
          <a:xfrm>
            <a:off x="4800600" y="2898648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1" name="Oval 170"/>
          <p:cNvSpPr/>
          <p:nvPr/>
        </p:nvSpPr>
        <p:spPr>
          <a:xfrm>
            <a:off x="4910328" y="2898648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2" name="Oval 171"/>
          <p:cNvSpPr/>
          <p:nvPr/>
        </p:nvSpPr>
        <p:spPr>
          <a:xfrm>
            <a:off x="5020056" y="2898648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3" name="Oval 172"/>
          <p:cNvSpPr/>
          <p:nvPr/>
        </p:nvSpPr>
        <p:spPr>
          <a:xfrm>
            <a:off x="5129784" y="2898648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" name="Oval 173"/>
          <p:cNvSpPr/>
          <p:nvPr/>
        </p:nvSpPr>
        <p:spPr>
          <a:xfrm>
            <a:off x="5239512" y="2898648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5" name="Oval 174"/>
          <p:cNvSpPr/>
          <p:nvPr/>
        </p:nvSpPr>
        <p:spPr>
          <a:xfrm>
            <a:off x="5349240" y="2898648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6" name="Oval 175"/>
          <p:cNvSpPr/>
          <p:nvPr/>
        </p:nvSpPr>
        <p:spPr>
          <a:xfrm>
            <a:off x="5458968" y="2898648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7" name="Oval 176"/>
          <p:cNvSpPr/>
          <p:nvPr/>
        </p:nvSpPr>
        <p:spPr>
          <a:xfrm>
            <a:off x="5568696" y="2898648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8" name="Oval 177"/>
          <p:cNvSpPr/>
          <p:nvPr/>
        </p:nvSpPr>
        <p:spPr>
          <a:xfrm>
            <a:off x="5678424" y="2898648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9" name="Oval 178"/>
          <p:cNvSpPr/>
          <p:nvPr/>
        </p:nvSpPr>
        <p:spPr>
          <a:xfrm>
            <a:off x="5788152" y="2898648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0" name="Oval 179"/>
          <p:cNvSpPr/>
          <p:nvPr/>
        </p:nvSpPr>
        <p:spPr>
          <a:xfrm>
            <a:off x="4800600" y="3008376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1" name="Oval 180"/>
          <p:cNvSpPr/>
          <p:nvPr/>
        </p:nvSpPr>
        <p:spPr>
          <a:xfrm>
            <a:off x="4910328" y="3008376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2" name="Oval 181"/>
          <p:cNvSpPr/>
          <p:nvPr/>
        </p:nvSpPr>
        <p:spPr>
          <a:xfrm>
            <a:off x="5020056" y="3008376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3" name="Oval 182"/>
          <p:cNvSpPr/>
          <p:nvPr/>
        </p:nvSpPr>
        <p:spPr>
          <a:xfrm>
            <a:off x="5129784" y="3008376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4" name="Oval 183"/>
          <p:cNvSpPr/>
          <p:nvPr/>
        </p:nvSpPr>
        <p:spPr>
          <a:xfrm>
            <a:off x="5239512" y="3008376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5" name="Oval 184"/>
          <p:cNvSpPr/>
          <p:nvPr/>
        </p:nvSpPr>
        <p:spPr>
          <a:xfrm>
            <a:off x="5349240" y="3008376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6" name="Oval 185"/>
          <p:cNvSpPr/>
          <p:nvPr/>
        </p:nvSpPr>
        <p:spPr>
          <a:xfrm>
            <a:off x="5458968" y="3008376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7" name="Oval 186"/>
          <p:cNvSpPr/>
          <p:nvPr/>
        </p:nvSpPr>
        <p:spPr>
          <a:xfrm>
            <a:off x="5568696" y="3008376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8" name="Oval 187"/>
          <p:cNvSpPr/>
          <p:nvPr/>
        </p:nvSpPr>
        <p:spPr>
          <a:xfrm>
            <a:off x="5678424" y="3008376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9" name="Oval 188"/>
          <p:cNvSpPr/>
          <p:nvPr/>
        </p:nvSpPr>
        <p:spPr>
          <a:xfrm>
            <a:off x="5788152" y="3008376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0" name="Oval 189"/>
          <p:cNvSpPr/>
          <p:nvPr/>
        </p:nvSpPr>
        <p:spPr>
          <a:xfrm>
            <a:off x="4800600" y="3118104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1" name="Oval 190"/>
          <p:cNvSpPr/>
          <p:nvPr/>
        </p:nvSpPr>
        <p:spPr>
          <a:xfrm>
            <a:off x="4910328" y="3118104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2" name="Oval 191"/>
          <p:cNvSpPr/>
          <p:nvPr/>
        </p:nvSpPr>
        <p:spPr>
          <a:xfrm>
            <a:off x="5020056" y="3118104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3" name="Oval 192"/>
          <p:cNvSpPr/>
          <p:nvPr/>
        </p:nvSpPr>
        <p:spPr>
          <a:xfrm>
            <a:off x="5129784" y="3118104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4" name="Oval 193"/>
          <p:cNvSpPr/>
          <p:nvPr/>
        </p:nvSpPr>
        <p:spPr>
          <a:xfrm>
            <a:off x="5239512" y="3118104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5" name="Oval 194"/>
          <p:cNvSpPr/>
          <p:nvPr/>
        </p:nvSpPr>
        <p:spPr>
          <a:xfrm>
            <a:off x="5349240" y="3118104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6" name="Oval 195"/>
          <p:cNvSpPr/>
          <p:nvPr/>
        </p:nvSpPr>
        <p:spPr>
          <a:xfrm>
            <a:off x="5458968" y="3118104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7" name="Oval 196"/>
          <p:cNvSpPr/>
          <p:nvPr/>
        </p:nvSpPr>
        <p:spPr>
          <a:xfrm>
            <a:off x="5568696" y="3118104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8" name="Oval 197"/>
          <p:cNvSpPr/>
          <p:nvPr/>
        </p:nvSpPr>
        <p:spPr>
          <a:xfrm>
            <a:off x="5678424" y="3118104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9" name="Oval 198"/>
          <p:cNvSpPr/>
          <p:nvPr/>
        </p:nvSpPr>
        <p:spPr>
          <a:xfrm>
            <a:off x="5788152" y="3118104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0" name="Oval 199"/>
          <p:cNvSpPr/>
          <p:nvPr/>
        </p:nvSpPr>
        <p:spPr>
          <a:xfrm>
            <a:off x="4800600" y="3227832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1" name="Oval 200"/>
          <p:cNvSpPr/>
          <p:nvPr/>
        </p:nvSpPr>
        <p:spPr>
          <a:xfrm>
            <a:off x="4910328" y="3227832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2" name="Oval 201"/>
          <p:cNvSpPr/>
          <p:nvPr/>
        </p:nvSpPr>
        <p:spPr>
          <a:xfrm>
            <a:off x="5020056" y="3227832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3" name="Oval 202"/>
          <p:cNvSpPr/>
          <p:nvPr/>
        </p:nvSpPr>
        <p:spPr>
          <a:xfrm>
            <a:off x="5129784" y="3227832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4" name="Oval 203"/>
          <p:cNvSpPr/>
          <p:nvPr/>
        </p:nvSpPr>
        <p:spPr>
          <a:xfrm>
            <a:off x="5239512" y="3227832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5" name="Oval 204"/>
          <p:cNvSpPr/>
          <p:nvPr/>
        </p:nvSpPr>
        <p:spPr>
          <a:xfrm>
            <a:off x="5349240" y="3227832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6" name="Oval 205"/>
          <p:cNvSpPr/>
          <p:nvPr/>
        </p:nvSpPr>
        <p:spPr>
          <a:xfrm>
            <a:off x="5458968" y="3227832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7" name="Oval 206"/>
          <p:cNvSpPr/>
          <p:nvPr/>
        </p:nvSpPr>
        <p:spPr>
          <a:xfrm>
            <a:off x="5568696" y="3227832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8" name="Oval 207"/>
          <p:cNvSpPr/>
          <p:nvPr/>
        </p:nvSpPr>
        <p:spPr>
          <a:xfrm>
            <a:off x="5678424" y="3227832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9" name="Oval 208"/>
          <p:cNvSpPr/>
          <p:nvPr/>
        </p:nvSpPr>
        <p:spPr>
          <a:xfrm>
            <a:off x="5788152" y="3227832"/>
            <a:ext cx="45720" cy="45720"/>
          </a:xfrm>
          <a:prstGeom prst="ellipse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0" name="TextBox 209"/>
          <p:cNvSpPr txBox="1"/>
          <p:nvPr/>
        </p:nvSpPr>
        <p:spPr>
          <a:xfrm>
            <a:off x="6080760" y="251460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4C72B0"/>
                </a:solidFill>
              </a:rPr>
              <a:t>+ 100 adapters, 35 MB each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6080760" y="278892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6868B"/>
                </a:solidFill>
              </a:rPr>
              <a:t>(dots enlarged: to scale they vanish)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4754880" y="361188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 dirty="0">
                <a:solidFill>
                  <a:srgbClr val="1D1D1F"/>
                </a:solidFill>
              </a:rPr>
              <a:t>each task: 350 GB → 35 MB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4754880" y="406908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434343"/>
                </a:solidFill>
              </a:rPr>
              <a:t>10,000× smaller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274320" y="4818888"/>
            <a:ext cx="85953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</a:rPr>
              <a:t>Source: Hu et al. 2021, “LoRA: Low-Rank Adaptation of Large Language Models” (arXiv:2106.09685), §4.2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One frozen model, a different 0.6 MB file per task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63040" y="1234440"/>
            <a:ext cx="6217920" cy="54864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63040" y="1234440"/>
            <a:ext cx="62179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 i="1">
                <a:solidFill>
                  <a:srgbClr val="1D1D1F"/>
                </a:solidFill>
              </a:rPr>
              <a:t>“Hilarious from start to finish. I laughed the whole time.”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" y="1783080"/>
            <a:ext cx="0" cy="457200"/>
          </a:xfrm>
          <a:prstGeom prst="line">
            <a:avLst/>
          </a:prstGeom>
          <a:ln w="22225">
            <a:solidFill>
              <a:srgbClr val="43434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291840" y="2240280"/>
            <a:ext cx="2560320" cy="914400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91840" y="23774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</a:rPr>
              <a:t>distilgpt2, frozen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724912"/>
            <a:ext cx="2560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</a:rPr>
              <a:t>328 MB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77440"/>
            <a:ext cx="210312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4C72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404872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4C72B0"/>
                </a:solidFill>
              </a:rPr>
              <a:t>sentiment adapter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9748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434343"/>
                </a:solidFill>
              </a:rPr>
              <a:t>0.6 MB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60320" y="2697480"/>
            <a:ext cx="731520" cy="0"/>
          </a:xfrm>
          <a:prstGeom prst="line">
            <a:avLst/>
          </a:prstGeom>
          <a:ln w="22225">
            <a:solidFill>
              <a:srgbClr val="4C72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508760" y="3154680"/>
            <a:ext cx="2514600" cy="457200"/>
          </a:xfrm>
          <a:prstGeom prst="line">
            <a:avLst/>
          </a:prstGeom>
          <a:ln w="22225">
            <a:solidFill>
              <a:srgbClr val="4C72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361188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4C72B0"/>
                </a:solidFill>
              </a:rPr>
              <a:t>positive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1480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434343"/>
                </a:solidFill>
              </a:rPr>
              <a:t>98% on test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2377440"/>
            <a:ext cx="2103120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DD84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2404872"/>
            <a:ext cx="2103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DD8452"/>
                </a:solidFill>
              </a:rPr>
              <a:t>genre adapter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69748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434343"/>
                </a:solidFill>
              </a:rPr>
              <a:t>0.6 MB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5852160" y="2697480"/>
            <a:ext cx="731520" cy="0"/>
          </a:xfrm>
          <a:prstGeom prst="line">
            <a:avLst/>
          </a:prstGeom>
          <a:ln w="22225">
            <a:solidFill>
              <a:srgbClr val="DD84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20640" y="3154680"/>
            <a:ext cx="2514600" cy="457200"/>
          </a:xfrm>
          <a:prstGeom prst="line">
            <a:avLst/>
          </a:prstGeom>
          <a:ln w="22225">
            <a:solidFill>
              <a:srgbClr val="DD845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83680" y="361188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DD8452"/>
                </a:solidFill>
              </a:rPr>
              <a:t>comedy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11480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434343"/>
                </a:solidFill>
              </a:rPr>
              <a:t>98% on 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443484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86868B"/>
                </a:solidFill>
              </a:rPr>
              <a:t>numbers from this class's notebook, distilgpt2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Merge: fold BA back into 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quation 4"/>
              <p:cNvSpPr txBox="1"/>
              <p:nvPr/>
            </p:nvSpPr>
            <p:spPr>
              <a:xfrm>
                <a:off x="548640" y="1463040"/>
                <a:ext cx="4572000" cy="91440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800" dirty="0">
                              <a:solidFill>
                                <a:srgbClr val="1D1D1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800" i="1" dirty="0">
                              <a:solidFill>
                                <a:srgbClr val="1D1D1F"/>
                              </a:solidFill>
                              <a:latin typeface="Cambria Math"/>
                            </a:rPr>
                            <m:t>𝑊</m:t>
                          </m:r>
                        </m:e>
                        <m:sup>
                          <m:r>
                            <a:rPr lang="en-US" sz="4800" i="0" dirty="0">
                              <a:solidFill>
                                <a:srgbClr val="1D1D1F"/>
                              </a:solidFill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en-US" sz="4800" i="0" dirty="0">
                          <a:solidFill>
                            <a:srgbClr val="1D1D1F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4800" i="1" dirty="0">
                          <a:solidFill>
                            <a:srgbClr val="1D1D1F"/>
                          </a:solidFill>
                          <a:latin typeface="Cambria Math"/>
                        </a:rPr>
                        <m:t>𝑊</m:t>
                      </m:r>
                      <m:r>
                        <a:rPr lang="en-US" sz="4800" i="0" dirty="0">
                          <a:solidFill>
                            <a:srgbClr val="1D1D1F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4800" i="1" dirty="0">
                          <a:solidFill>
                            <a:srgbClr val="4C72B0"/>
                          </a:solidFill>
                          <a:latin typeface="Cambria Math"/>
                        </a:rPr>
                        <m:t>𝐵𝐴</m:t>
                      </m:r>
                    </m:oMath>
                  </m:oMathPara>
                </a14:m>
                <a:endParaRPr lang="en-US" sz="4800"/>
              </a:p>
            </p:txBody>
          </p:sp>
        </mc:Choice>
        <mc:Fallback xmlns:m="http://schemas.openxmlformats.org/officeDocument/2006/math" xmlns="">
          <p:sp>
            <p:nvSpPr>
              <p:cNvPr id="4" name="Equation 4"/>
              <p:cNvSpPr txBox="1"/>
              <p:nvPr/>
            </p:nvSpPr>
            <p:spPr>
              <a:xfrm>
                <a:off x="548640" y="1463040"/>
                <a:ext cx="4572000" cy="91440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l"/>
                <a:r>
                  <a:rPr lang="en-US" sz="4800" i="1">
                    <a:solidFill>
                      <a:srgbClr val="1D1D1F"/>
                    </a:solidFill>
                    <a:latin typeface="Cambria Math"/>
                  </a:rPr>
                  <a:t>W′ = W + BA</a:t>
                </a:r>
                <a:endParaRPr lang="en-US" sz="4800"/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548640" y="2606040"/>
            <a:ext cx="4572000" cy="1631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0" i="0" dirty="0">
                <a:solidFill>
                  <a:srgbClr val="434343"/>
                </a:solidFill>
              </a:rPr>
              <a:t>Same size as before.</a:t>
            </a:r>
          </a:p>
          <a:p>
            <a:pPr algn="l">
              <a:spcAft>
                <a:spcPts val="600"/>
              </a:spcAft>
            </a:pPr>
            <a:r>
              <a:rPr sz="3200" b="0" i="0" dirty="0">
                <a:solidFill>
                  <a:srgbClr val="434343"/>
                </a:solidFill>
              </a:rPr>
              <a:t>No extra layer.</a:t>
            </a:r>
          </a:p>
          <a:p>
            <a:pPr algn="l">
              <a:spcAft>
                <a:spcPts val="600"/>
              </a:spcAft>
            </a:pPr>
            <a:r>
              <a:rPr sz="3200" b="0" i="0" dirty="0">
                <a:solidFill>
                  <a:srgbClr val="434343"/>
                </a:solidFill>
              </a:rPr>
              <a:t>No extra latency.</a:t>
            </a:r>
          </a:p>
        </p:txBody>
      </p:sp>
      <p:pic>
        <p:nvPicPr>
          <p:cNvPr id="6" name="Picture 5" descr="rat-remy-under-hat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894166"/>
            <a:ext cx="3657599" cy="206382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dirty="0"/>
              <a:t>Brea</a:t>
            </a:r>
            <a:r>
              <a:rPr lang="en-US" sz="2800" dirty="0"/>
              <a:t>k</a:t>
            </a:r>
            <a:endParaRPr sz="2800" dirty="0"/>
          </a:p>
        </p:txBody>
      </p:sp>
      <p:pic>
        <p:nvPicPr>
          <p:cNvPr id="4" name="Picture 3" descr="rat-inspector-tied-up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60" y="1609603"/>
            <a:ext cx="5227609" cy="26872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28306" y="1554480"/>
            <a:ext cx="2858494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 dirty="0">
                <a:solidFill>
                  <a:srgbClr val="1D1D1F"/>
                </a:solidFill>
              </a:rPr>
              <a:t>Five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8306" y="2377440"/>
            <a:ext cx="2858494" cy="943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 dirty="0">
                <a:solidFill>
                  <a:srgbClr val="434343"/>
                </a:solidFill>
              </a:rPr>
              <a:t>Stand up and stretch</a:t>
            </a:r>
          </a:p>
          <a:p>
            <a:pPr algn="l">
              <a:spcAft>
                <a:spcPts val="800"/>
              </a:spcAft>
            </a:pPr>
            <a:r>
              <a:rPr sz="1600" b="0" i="0" dirty="0">
                <a:solidFill>
                  <a:srgbClr val="434343"/>
                </a:solidFill>
              </a:rPr>
              <a:t>Refill your water</a:t>
            </a:r>
          </a:p>
          <a:p>
            <a:pPr algn="l">
              <a:spcAft>
                <a:spcPts val="800"/>
              </a:spcAft>
            </a:pPr>
            <a:r>
              <a:rPr sz="1600" b="0" i="0" dirty="0">
                <a:solidFill>
                  <a:srgbClr val="434343"/>
                </a:solidFill>
              </a:rPr>
              <a:t>Compare notes with a neighbor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Checkpoint due Mon Nov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434343"/>
                </a:solidFill>
              </a:rPr>
              <a:t>One page: abstract, method, preliminary findings, conclusion.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8046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D1D1F"/>
                </a:solidFill>
              </a:rPr>
              <a:t>Bring a real number next to a baseline.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0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86868B"/>
                </a:solidFill>
              </a:rPr>
              <a:t>project/checkpoint/CSCI3495_Project_Checkpoint_Template.docx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Let's code: LoRA on a GPT</a:t>
            </a:r>
          </a:p>
        </p:txBody>
      </p:sp>
      <p:pic>
        <p:nvPicPr>
          <p:cNvPr id="4" name="Picture 3" descr="rat-linguini-lets-do-thi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4389120" cy="24688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12080" y="1325880"/>
            <a:ext cx="356616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D1D1F"/>
                </a:solidFill>
              </a:rPr>
              <a:t>1  Load a GPT</a:t>
            </a:r>
          </a:p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D1D1F"/>
                </a:solidFill>
              </a:rPr>
              <a:t>2  Label a review</a:t>
            </a:r>
          </a:p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D1D1F"/>
                </a:solidFill>
              </a:rPr>
              <a:t>3  Add LoRA</a:t>
            </a:r>
          </a:p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D1D1F"/>
                </a:solidFill>
              </a:rPr>
              <a:t>4  Train a sentiment adapter</a:t>
            </a:r>
          </a:p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D1D1F"/>
                </a:solidFill>
              </a:rPr>
              <a:t>5  Save the adapter</a:t>
            </a:r>
          </a:p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D1D1F"/>
                </a:solidFill>
              </a:rPr>
              <a:t>6  Swap in a genre adapter</a:t>
            </a:r>
          </a:p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1D1D1F"/>
                </a:solidFill>
              </a:rPr>
              <a:t>7  Merge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">
      <a:dk1>
        <a:srgbClr val="434343"/>
      </a:dk1>
      <a:lt1>
        <a:srgbClr val="FFFFFF"/>
      </a:lt1>
      <a:dk2>
        <a:srgbClr val="818387"/>
      </a:dk2>
      <a:lt2>
        <a:srgbClr val="F6F7FA"/>
      </a:lt2>
      <a:accent1>
        <a:srgbClr val="723130"/>
      </a:accent1>
      <a:accent2>
        <a:srgbClr val="818387"/>
      </a:accent2>
      <a:accent3>
        <a:srgbClr val="FFB600"/>
      </a:accent3>
      <a:accent4>
        <a:srgbClr val="738D33"/>
      </a:accent4>
      <a:accent5>
        <a:srgbClr val="625578"/>
      </a:accent5>
      <a:accent6>
        <a:srgbClr val="498DA0"/>
      </a:accent6>
      <a:hlink>
        <a:srgbClr val="B1B4B5"/>
      </a:hlink>
      <a:folHlink>
        <a:srgbClr val="B0B1B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600</Words>
  <Application>Microsoft Macintosh PowerPoint</Application>
  <PresentationFormat>On-screen Show (16:9)</PresentationFormat>
  <Paragraphs>103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Playfair Display</vt:lpstr>
      <vt:lpstr>Arial</vt:lpstr>
      <vt:lpstr>Roboto</vt:lpstr>
      <vt:lpstr>Roboto Light</vt:lpstr>
      <vt:lpstr>Cambria Math</vt:lpstr>
      <vt:lpstr>Office Theme</vt:lpstr>
      <vt:lpstr>CSCI 3495 LoRA: Anyone Can Fine-Tune</vt:lpstr>
      <vt:lpstr>How do you teach a pretrained model a new task?</vt:lpstr>
      <vt:lpstr>Full fine-tuning keeps 4 copies of every weight</vt:lpstr>
      <vt:lpstr>What if the model stays frozen, and something tiny steers it?</vt:lpstr>
      <vt:lpstr>A big matrix from two skinny ones</vt:lpstr>
      <vt:lpstr>Recap: Self-attention is made of big weight matrices</vt:lpstr>
      <vt:lpstr>LoRA: freeze W, learn B and A</vt:lpstr>
      <vt:lpstr>One 4096 × 4096 layer, drawn to scale</vt:lpstr>
      <vt:lpstr>Training an LLM is hard</vt:lpstr>
      <vt:lpstr>Why save checkpoints while you train?</vt:lpstr>
      <vt:lpstr>Fine-tune GPT-3 for 100 tasks, two ways</vt:lpstr>
      <vt:lpstr>One frozen model, a different 0.6 MB file per task</vt:lpstr>
      <vt:lpstr>Merge: fold BA back into W</vt:lpstr>
      <vt:lpstr>Break</vt:lpstr>
      <vt:lpstr>Checkpoint due Mon Nov 9</vt:lpstr>
      <vt:lpstr>Let's code: LoRA from scratch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Davalos Anaya, Eduardo</cp:lastModifiedBy>
  <cp:revision>28</cp:revision>
  <dcterms:modified xsi:type="dcterms:W3CDTF">2026-10-31T01:31:41Z</dcterms:modified>
</cp:coreProperties>
</file>