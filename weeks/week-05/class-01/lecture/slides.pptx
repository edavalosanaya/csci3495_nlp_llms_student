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Seq2seq &amp; Attention: The Encoder-Decoder &amp; the Attention Mechanism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78996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5, Class 1</a:t>
            </a:r>
          </a:p>
        </p:txBody>
      </p:sp>
      <p:pic>
        <p:nvPicPr>
          <p:cNvPr id="5" name="Picture 4" descr="The Rosetta Stone: one decree, three scripts. Decoding any line meant constantly glancing back at the others. Today we give neural translators that same gla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486" y="3474720"/>
            <a:ext cx="126575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Hans Hillewaert,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86" y="1078992"/>
            <a:ext cx="787182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tiles: Unsplash; Jurafsky &amp; Martin SLP3 Figs. 13.18, 13.22; Bahdanau et al. 2014 Figs. 2-3; course exercise output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Translation: read one language, write another</a:t>
            </a:r>
          </a:p>
        </p:txBody>
      </p:sp>
      <p:pic>
        <p:nvPicPr>
          <p:cNvPr id="5" name="Picture 4" descr="A sentence in, a sentence out. The model must hold the whole meaning before it writes a wo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https://images.unsplash.com/photo-1456513080510-7bf3a84b82f8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seq2seq (Sutskever et al. 2014)</a:t>
            </a:r>
          </a:p>
        </p:txBody>
      </p:sp>
      <p:pic>
        <p:nvPicPr>
          <p:cNvPr id="5" name="Picture 4" descr="Recap: seq2seq (Sutskever et al. 2014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78" y="1078992"/>
            <a:ext cx="85556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Sutskever, Vinyals &amp; Le 2014, arXiv:1409.3215;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bottleneck problem</a:t>
            </a:r>
          </a:p>
        </p:txBody>
      </p:sp>
      <p:pic>
        <p:nvPicPr>
          <p:cNvPr id="5" name="Picture 4" descr="Same figure as last class, new reading: EVERYTHING the decoder will ever know about the English sentence must squeeze through the single green box h_n. Long sentence, same-size box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944" y="1078992"/>
            <a:ext cx="665211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at is the decoder's problem. Attention lets it shine a spotlight back on the inpu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How would you write a long essay from one sticky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That is the decoder's problem. Attention lets it shine a spotlight back on the input.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https://images.unsplash.com/photo-1514525253161-7a46d19cd819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idea: attention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setup, formally: one frozen context</a:t>
            </a:r>
          </a:p>
        </p:txBody>
      </p:sp>
      <p:pic>
        <p:nvPicPr>
          <p:cNvPr id="5" name="Picture 4" descr="The basic encoder-decoder, drawn precisely: the green c = h_n is handed to EVERY decoder step, and it never changes. Attention's move: keep all the h_e states around and rebuild a fresh c_i for each output wo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08" y="1078992"/>
            <a:ext cx="698978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Attention in three steps</a:t>
            </a:r>
          </a:p>
        </p:txBody>
      </p:sp>
      <p:pic>
        <p:nvPicPr>
          <p:cNvPr id="5" name="Picture 4" descr="Every output word re-weights the whole input. Watch the peak jump backwards when &quot;chat noir&quot; comes out revers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whole computation, drawn</a:t>
            </a:r>
          </a:p>
        </p:txBody>
      </p:sp>
      <p:pic>
        <p:nvPicPr>
          <p:cNvPr id="5" name="Picture 4" descr="One decoding step: every encoder state gets a weight (here .4, .3, .1, .2 from dot products with the previous decoder state), and their weighted sum becomes c_i, an input to the next decoder state. Repeat fresh for every output wo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044" y="1078992"/>
            <a:ext cx="651391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13.22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math, in four lines</a:t>
            </a:r>
          </a:p>
        </p:txBody>
      </p:sp>
      <p:pic>
        <p:nvPicPr>
          <p:cNvPr id="5" name="Picture 4" descr="Dot-product attention, straight from the book, and exactly what you will trace on the whiteboard and then code after the brea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9744"/>
            <a:ext cx="8595360" cy="3187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Eqs. 13.34-13.37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Additive (Bahdanau) attention: the math</a:t>
            </a:r>
          </a:p>
        </p:txBody>
      </p:sp>
      <p:pic>
        <p:nvPicPr>
          <p:cNvPr id="5" name="Picture 4" descr="The score is a tiny MLP, hence &quot;additive.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26" y="1078992"/>
            <a:ext cx="7602547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Bahdanau, Cho &amp; Bengio 2014, arXiv:1409.0473;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Query, keys, values</a:t>
            </a:r>
          </a:p>
        </p:txBody>
      </p:sp>
      <p:pic>
        <p:nvPicPr>
          <p:cNvPr id="5" name="Picture 4" descr="Query, keys, valu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attention buys us</a:t>
            </a:r>
          </a:p>
        </p:txBody>
      </p:sp>
      <p:pic>
        <p:nvPicPr>
          <p:cNvPr id="5" name="Picture 4" descr="Bahdanau et al. saw the largest translation gains on long sentenc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6409"/>
            <a:ext cx="8595360" cy="32341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Bahdanau, Cho &amp; Bengio 2014, arXiv:1409.0473;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payoff: long sentences stop hurting</a:t>
            </a:r>
          </a:p>
        </p:txBody>
      </p:sp>
      <p:pic>
        <p:nvPicPr>
          <p:cNvPr id="5" name="Picture 4" descr="RNNsearch is the attention model, RNNenc the fixed-vector baseline; 30 vs 50 is the training sentence length. Only the attention models hold their BLEU past 30 words: the bottleneck was real, and this plot is the proo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635" y="1078992"/>
            <a:ext cx="771672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Bahdanau, Cho &amp; Bengio 2014 (arXiv:1409.0473), Fig.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attention as alignment</a:t>
            </a:r>
          </a:p>
        </p:txBody>
      </p:sp>
      <p:pic>
        <p:nvPicPr>
          <p:cNvPr id="5" name="Picture 4" descr="Real learned weights, two examples: rows are French output words, columns the English source, white means high alpha. Left: &quot;zone economique europeenne&quot; reverses &quot;European Economic Area&quot;. Right: French says &quot;a dit l'homme&quot; (said the man), and the weights jump backwards to &quot;the man said&quot;. Nobody labeled any of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685" y="1078992"/>
            <a:ext cx="513463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Bahdanau, Cho &amp; Bengio 2014 (arXiv:1409.0473), Fig. 3 (a, 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Additive vs. multiplicative scoring</a:t>
            </a:r>
          </a:p>
        </p:txBody>
      </p:sp>
      <p:pic>
        <p:nvPicPr>
          <p:cNvPr id="5" name="Picture 4" descr="Additive vs. multiplicative scor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4998"/>
            <a:ext cx="8595360" cy="27170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that motivate the Transformer</a:t>
            </a:r>
          </a:p>
        </p:txBody>
      </p:sp>
      <p:pic>
        <p:nvPicPr>
          <p:cNvPr id="5" name="Picture 4" descr="Limitations that motivate the Transfor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70977"/>
            <a:ext cx="8595360" cy="3205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whiteboard hand-trace of attention with a partn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Activity: trace attention, then build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Fifteen minutes drawing the alignment with a partner, then a short build of the exact same th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First trace it by hand on a 3-token toy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Fifteen minutes drawing the alignment with a partner, then a short build of the exact same 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https://images.unsplash.com/photo-1531403009284-440f080d1e12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hand-trace attention on 3 tokens</a:t>
            </a:r>
          </a:p>
        </p:txBody>
      </p:sp>
      <p:pic>
        <p:nvPicPr>
          <p:cNvPr id="5" name="Picture 4" descr="Every number you need is in the green box, including the exp values so no calculator is required. Answers get checked on the board, then you code this exact computa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183"/>
            <a:ext cx="8595360" cy="30046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Now build exactly what you traced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Individual, shortened: score, softmax, weighted sum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Then render the weights as a text heatmap</a:t>
            </a:r>
          </a:p>
        </p:txBody>
      </p:sp>
      <p:pic>
        <p:nvPicPr>
          <p:cNvPr id="6" name="Picture 5" descr="Now build exactly what you trac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814" y="1078992"/>
            <a:ext cx="3778372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weeks/week-05/class-01/exercise/attention.py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Two heatmaps on purpose: the untrained scorer is a uniform blur (every weight ~1/3), then a few hundred gradient steps make the diagonal emerge. Attention weights are learn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604" y="1078992"/>
            <a:ext cx="5890792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weeks/week-05/class-01/solutions/attention.py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18956"/>
            <a:ext cx="8595360" cy="2309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HW2 due today; project proposal due next class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Required reading: Attention Is All You Need (Vaswani 2017)</a:t>
            </a:r>
          </a:p>
        </p:txBody>
      </p:sp>
      <p:pic>
        <p:nvPicPr>
          <p:cNvPr id="6" name="Picture 5" descr="Next class: the Transformer drops recurren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30" y="1078992"/>
            <a:ext cx="7712340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