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Open with the scene, not the topic. A body in Lauriston Gardens, and six things noted beside it. Baker Street keeps a hundred old cases and one of them is the same hand. Read the six words out and let the room hear how ordinary they are. That is the difficulty, not the drama. Laptops open, notebook empty: you type, they type.</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Six observations, a hundred old cases, and not one of them notes all six. Say the middle card out loud: zero. Every word here is ordinary, which is exactly why this is hard. If the scene had said "a Siamese cat" we would search for that and go home.</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Type the search before any theory and let it fail. Twenty to fifty cases for every word, nothing for the six together. The honest answer to "just search for it" is that there is nothing to search for. What they want is an order, counting a rare observation for more than one noted at every crime, and everything today builds that.</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One-hot gives every word its own dimension, so every pair of distinct words is equally dissimilar. Plainly wrong, and it is the problem the whole week is about. Same defect as Ctrl+F: a word matches or it does not, and nothing is nearer than anything else.</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You have never seen the word tezguino and after two sentences you know it is a drink, because you know what surrounds a drink. That is the distributional hypothesis, and it is the one idea the next four weeks are built on: meaning can be estimated from context, and context can be counted.</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Count the observation, divide by how long the file is, so a long file does not win by being long. Then read the last column: inside any one file every observation scores the same. tf says london matters as much as creosote. Counting cannot rank, which is the Ctrl+F complaint again, and the reason idf exists.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Count how many files mention it at all, weight by the log of the total over that. Boots and london are in all four, so each divides by itself, the log is zero, and both are switched off. Not filtered by a list of boring words: switched off by the arithmetic. Multiply and creosote tops the file, because it is the only thing that says which case you are reading.</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long case file and a short one about the same crime sit far apart by straight-line distance, purely because one has more numbers in it. The cosine of the angle throws length away: same direction gives 1, nothing in common gives 0. Dividing by both lengths is what does the throwing away.</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Same arithmetic, a hundred files, one call. Only the observations are indexed and never the title, so no answer is something they could have searched for. Pause on the top score: it shares five of the six, and nothing shares all six, which is what ranking buys you over matching.</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Teams of three, twenty-five minutes, and no code given at all: they write the search from scratch using what they typed before the break. The top three come out at 0.719, 0.613 and 0.603, close enough that which case has to be argued rather than read off. The word doing the least work is london at idf 1.18, noted at eighty-three of the hundred, which is the same lesson the four-case table made an hour earlier.</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Vector Semantics</a:t>
            </a:r>
          </a:p>
        </p:txBody>
      </p:sp>
      <p:sp>
        <p:nvSpPr>
          <p:cNvPr id="3" name="Subtitle 2"/>
          <p:cNvSpPr>
            <a:spLocks noGrp="1"/>
          </p:cNvSpPr>
          <p:nvPr>
            <p:ph type="subTitle" idx="1"/>
          </p:nvPr>
        </p:nvSpPr>
        <p:spPr/>
        <p:txBody>
          <a:bodyPr wrap="square"/>
          <a:lstStyle/>
          <a:p>
            <a:pPr marL="0" indent="0">
              <a:buNone/>
            </a:pPr>
            <a:r>
              <a:t>Natural Language Processing &amp; Large Language Models</a:t>
            </a:r>
          </a:p>
          <a:p>
            <a:pPr marL="0" indent="0">
              <a:buNone/>
            </a:pPr>
            <a:r>
              <a:t>Week 5, Class 1  ·  Mon Sep 21,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Noted at the scene</a:t>
            </a:r>
          </a:p>
        </p:txBody>
      </p:sp>
      <p:sp>
        <p:nvSpPr>
          <p:cNvPr id="5" name="Rounded Rectangle 4"/>
          <p:cNvSpPr/>
          <p:nvPr/>
        </p:nvSpPr>
        <p:spPr>
          <a:xfrm>
            <a:off x="457200" y="2250472"/>
            <a:ext cx="2645664" cy="1246060"/>
          </a:xfrm>
          <a:prstGeom prst="roundRect">
            <a:avLst>
              <a:gd name="adj" fmla="val 9539"/>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0080" y="2396776"/>
            <a:ext cx="2279904" cy="953452"/>
          </a:xfrm>
          <a:prstGeom prst="rect">
            <a:avLst/>
          </a:prstGeom>
          <a:noFill/>
        </p:spPr>
        <p:txBody>
          <a:bodyPr wrap="square" anchor="t" lIns="0" rIns="0" tIns="0" bIns="0">
            <a:spAutoFit/>
          </a:bodyPr>
          <a:lstStyle/>
          <a:p>
            <a:pPr marL="0" indent="0" algn="l">
              <a:spcAft>
                <a:spcPts val="600"/>
              </a:spcAft>
              <a:buNone/>
            </a:pPr>
            <a:r>
              <a:rPr sz="750" b="1" spc="70">
                <a:solidFill>
                  <a:srgbClr val="86868B"/>
                </a:solidFill>
                <a:latin typeface="Helvetica Neue"/>
              </a:rPr>
              <a:t>LAURISTON GARDENS</a:t>
            </a:r>
          </a:p>
          <a:p>
            <a:pPr marL="0" indent="0">
              <a:spcAft>
                <a:spcPts val="300"/>
              </a:spcAft>
              <a:buNone/>
            </a:pPr>
            <a:r>
              <a:rPr sz="850" b="0" u="none">
                <a:solidFill>
                  <a:srgbClr val="1D1D1F"/>
                </a:solidFill>
                <a:latin typeface="Menlo"/>
              </a:rPr>
              <a:t>mud  rain  tobacco cab  boots  bruise</a:t>
            </a:r>
          </a:p>
        </p:txBody>
      </p:sp>
      <p:sp>
        <p:nvSpPr>
          <p:cNvPr id="7" name="Rounded Rectangle 6"/>
          <p:cNvSpPr/>
          <p:nvPr/>
        </p:nvSpPr>
        <p:spPr>
          <a:xfrm>
            <a:off x="3249168" y="2250472"/>
            <a:ext cx="2645664" cy="1246060"/>
          </a:xfrm>
          <a:prstGeom prst="roundRect">
            <a:avLst>
              <a:gd name="adj" fmla="val 9539"/>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432048" y="2396776"/>
            <a:ext cx="2279904" cy="953452"/>
          </a:xfrm>
          <a:prstGeom prst="rect">
            <a:avLst/>
          </a:prstGeom>
          <a:noFill/>
        </p:spPr>
        <p:txBody>
          <a:bodyPr wrap="square" anchor="t" lIns="0" rIns="0" tIns="0" bIns="0">
            <a:spAutoFit/>
          </a:bodyPr>
          <a:lstStyle/>
          <a:p>
            <a:pPr marL="0" indent="0" algn="l">
              <a:spcAft>
                <a:spcPts val="600"/>
              </a:spcAft>
              <a:buNone/>
            </a:pPr>
            <a:r>
              <a:rPr sz="750" b="1" spc="70">
                <a:solidFill>
                  <a:srgbClr val="86868B"/>
                </a:solidFill>
                <a:latin typeface="Helvetica Neue"/>
              </a:rPr>
              <a:t>THE CASEBOOK</a:t>
            </a:r>
          </a:p>
          <a:p>
            <a:pPr marL="0" indent="0">
              <a:spcAft>
                <a:spcPts val="300"/>
              </a:spcAft>
              <a:buNone/>
            </a:pPr>
            <a:r>
              <a:rPr sz="850" b="0" u="none">
                <a:solidFill>
                  <a:srgbClr val="1D1D1F"/>
                </a:solidFill>
                <a:latin typeface="Menlo"/>
              </a:rPr>
              <a:t>100 prior cases</a:t>
            </a:r>
          </a:p>
          <a:p>
            <a:pPr marL="0" indent="0">
              <a:spcBef>
                <a:spcPts val="1400"/>
              </a:spcBef>
              <a:spcAft>
                <a:spcPts val="200"/>
              </a:spcAft>
              <a:buNone/>
            </a:pPr>
            <a:r>
              <a:rPr sz="2210" b="1">
                <a:solidFill>
                  <a:srgbClr val="86868B"/>
                </a:solidFill>
                <a:latin typeface="Helvetica Neue"/>
              </a:rPr>
              <a:t>0</a:t>
            </a:r>
            <a:r>
              <a:rPr sz="900">
                <a:solidFill>
                  <a:srgbClr val="86868B"/>
                </a:solidFill>
                <a:latin typeface="Helvetica Neue"/>
              </a:rPr>
              <a:t>  note all six</a:t>
            </a:r>
          </a:p>
        </p:txBody>
      </p:sp>
      <p:sp>
        <p:nvSpPr>
          <p:cNvPr id="9" name="Rounded Rectangle 8"/>
          <p:cNvSpPr/>
          <p:nvPr/>
        </p:nvSpPr>
        <p:spPr>
          <a:xfrm>
            <a:off x="6041136" y="2250472"/>
            <a:ext cx="2645664" cy="1246060"/>
          </a:xfrm>
          <a:prstGeom prst="roundRect">
            <a:avLst>
              <a:gd name="adj" fmla="val 9539"/>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224016" y="2396776"/>
            <a:ext cx="2279904" cy="953452"/>
          </a:xfrm>
          <a:prstGeom prst="rect">
            <a:avLst/>
          </a:prstGeom>
          <a:noFill/>
        </p:spPr>
        <p:txBody>
          <a:bodyPr wrap="square" anchor="t" lIns="0" rIns="0" tIns="0" bIns="0">
            <a:spAutoFit/>
          </a:bodyPr>
          <a:lstStyle/>
          <a:p>
            <a:pPr marL="0" indent="0" algn="l">
              <a:spcAft>
                <a:spcPts val="600"/>
              </a:spcAft>
              <a:buNone/>
            </a:pPr>
            <a:r>
              <a:rPr sz="750" b="1" spc="70">
                <a:solidFill>
                  <a:srgbClr val="86868B"/>
                </a:solidFill>
                <a:latin typeface="Helvetica Neue"/>
              </a:rPr>
              <a:t>THE QUESTION</a:t>
            </a:r>
          </a:p>
          <a:p>
            <a:pPr marL="0" indent="0">
              <a:spcAft>
                <a:spcPts val="300"/>
              </a:spcAft>
              <a:buNone/>
            </a:pPr>
            <a:r>
              <a:rPr sz="850" b="0" u="none">
                <a:solidFill>
                  <a:srgbClr val="1D1D1F"/>
                </a:solidFill>
                <a:latin typeface="Menlo"/>
              </a:rPr>
              <a:t>Which one is the same hand?</a:t>
            </a:r>
          </a:p>
        </p:txBody>
      </p:sp>
      <p:sp>
        <p:nvSpPr>
          <p:cNvPr id="11" name="TextBox 10"/>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the casebook in today's notebook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Ctrl+F finds a word, not a ranking</a:t>
            </a:r>
          </a:p>
        </p:txBody>
      </p:sp>
      <p:graphicFrame>
        <p:nvGraphicFramePr>
          <p:cNvPr id="5" name="Table 4"/>
          <p:cNvGraphicFramePr>
            <a:graphicFrameLocks noGrp="1"/>
          </p:cNvGraphicFramePr>
          <p:nvPr/>
        </p:nvGraphicFramePr>
        <p:xfrm>
          <a:off x="457200" y="1078992"/>
          <a:ext cx="5102352" cy="3589019"/>
        </p:xfrm>
        <a:graphic>
          <a:graphicData uri="http://schemas.openxmlformats.org/drawingml/2006/table">
            <a:tbl>
              <a:tblPr firstRow="1" bandRow="0"/>
              <a:tblGrid>
                <a:gridCol w="1326611"/>
                <a:gridCol w="3775741"/>
              </a:tblGrid>
              <a:tr h="512717">
                <a:tc>
                  <a:txBody>
                    <a:bodyPr wrap="none"/>
                    <a:lstStyle/>
                    <a:p>
                      <a:pPr marL="0" indent="0" algn="l">
                        <a:spcAft>
                          <a:spcPts val="0"/>
                        </a:spcAft>
                        <a:buNone/>
                      </a:pPr>
                      <a:r>
                        <a:rPr sz="1100" b="1" spc="50">
                          <a:solidFill>
                            <a:srgbClr val="86868B"/>
                          </a:solidFill>
                          <a:latin typeface="Helvetica Neue"/>
                        </a:rPr>
                        <a:t>OBSERVATION</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1100" b="1" spc="50">
                          <a:solidFill>
                            <a:srgbClr val="86868B"/>
                          </a:solidFill>
                          <a:latin typeface="Helvetica Neue"/>
                        </a:rPr>
                        <a:t>CASE FILES</a:t>
                      </a:r>
                    </a:p>
                  </a:txBody>
                  <a:tcPr marL="54864" marR="54864" anchor="ctr">
                    <a:lnL w="12700" cap="flat" cmpd="sng" algn="ctr">
                      <a:noFill/>
                    </a:lnL>
                    <a:lnR w="12700" cap="flat" cmpd="sng" algn="ctr">
                      <a:noFill/>
                    </a:lnR>
                    <a:lnT w="12700" cap="flat" cmpd="sng" algn="ctr">
                      <a:noFill/>
                    </a:lnT>
                    <a:lnB w="12700" cap="flat" cmpd="sng" algn="ctr">
                      <a:noFill/>
                    </a:lnB>
                    <a:noFill/>
                  </a:tcPr>
                </a:tc>
              </a:tr>
              <a:tr h="512717">
                <a:tc>
                  <a:txBody>
                    <a:bodyPr wrap="none"/>
                    <a:lstStyle/>
                    <a:p>
                      <a:pPr marL="0" indent="0" algn="l">
                        <a:spcAft>
                          <a:spcPts val="0"/>
                        </a:spcAft>
                        <a:buNone/>
                      </a:pPr>
                      <a:r>
                        <a:rPr sz="1700" b="1">
                          <a:solidFill>
                            <a:srgbClr val="1D1D1F"/>
                          </a:solidFill>
                          <a:latin typeface="Helvetica Neue"/>
                        </a:rPr>
                        <a:t>mud</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34</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12717">
                <a:tc>
                  <a:txBody>
                    <a:bodyPr wrap="none"/>
                    <a:lstStyle/>
                    <a:p>
                      <a:pPr marL="0" indent="0" algn="l">
                        <a:spcAft>
                          <a:spcPts val="0"/>
                        </a:spcAft>
                        <a:buNone/>
                      </a:pPr>
                      <a:r>
                        <a:rPr sz="1700" b="1">
                          <a:solidFill>
                            <a:srgbClr val="1D1D1F"/>
                          </a:solidFill>
                          <a:latin typeface="Helvetica Neue"/>
                        </a:rPr>
                        <a:t>rain</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24</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12717">
                <a:tc>
                  <a:txBody>
                    <a:bodyPr wrap="none"/>
                    <a:lstStyle/>
                    <a:p>
                      <a:pPr marL="0" indent="0" algn="l">
                        <a:spcAft>
                          <a:spcPts val="0"/>
                        </a:spcAft>
                        <a:buNone/>
                      </a:pPr>
                      <a:r>
                        <a:rPr sz="1700" b="1">
                          <a:solidFill>
                            <a:srgbClr val="1D1D1F"/>
                          </a:solidFill>
                          <a:latin typeface="Helvetica Neue"/>
                        </a:rPr>
                        <a:t>tobacco</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27</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12717">
                <a:tc>
                  <a:txBody>
                    <a:bodyPr wrap="none"/>
                    <a:lstStyle/>
                    <a:p>
                      <a:pPr marL="0" indent="0" algn="l">
                        <a:spcAft>
                          <a:spcPts val="0"/>
                        </a:spcAft>
                        <a:buNone/>
                      </a:pPr>
                      <a:r>
                        <a:rPr sz="1700" b="1">
                          <a:solidFill>
                            <a:srgbClr val="1D1D1F"/>
                          </a:solidFill>
                          <a:latin typeface="Helvetica Neue"/>
                        </a:rPr>
                        <a:t>cab</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22</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12717">
                <a:tc>
                  <a:txBody>
                    <a:bodyPr wrap="none"/>
                    <a:lstStyle/>
                    <a:p>
                      <a:pPr marL="0" indent="0" algn="l">
                        <a:spcAft>
                          <a:spcPts val="0"/>
                        </a:spcAft>
                        <a:buNone/>
                      </a:pPr>
                      <a:r>
                        <a:rPr sz="1700" b="1">
                          <a:solidFill>
                            <a:srgbClr val="1D1D1F"/>
                          </a:solidFill>
                          <a:latin typeface="Helvetica Neue"/>
                        </a:rPr>
                        <a:t>boots</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47</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12717">
                <a:tc>
                  <a:txBody>
                    <a:bodyPr wrap="none"/>
                    <a:lstStyle/>
                    <a:p>
                      <a:pPr marL="0" indent="0" algn="l">
                        <a:spcAft>
                          <a:spcPts val="0"/>
                        </a:spcAft>
                        <a:buNone/>
                      </a:pPr>
                      <a:r>
                        <a:rPr sz="1700" b="1">
                          <a:solidFill>
                            <a:srgbClr val="1D1D1F"/>
                          </a:solidFill>
                          <a:latin typeface="Helvetica Neue"/>
                        </a:rPr>
                        <a:t>bruise</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45</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bl>
          </a:graphicData>
        </a:graphic>
      </p:graphicFrame>
      <p:sp>
        <p:nvSpPr>
          <p:cNvPr id="6" name="TextBox 5"/>
          <p:cNvSpPr txBox="1"/>
          <p:nvPr/>
        </p:nvSpPr>
        <p:spPr>
          <a:xfrm>
            <a:off x="5925312" y="1078992"/>
            <a:ext cx="2761488" cy="3589019"/>
          </a:xfrm>
          <a:prstGeom prst="rect">
            <a:avLst/>
          </a:prstGeom>
          <a:noFill/>
        </p:spPr>
        <p:txBody>
          <a:bodyPr wrap="square" anchor="t" lIns="0" rIns="0" tIns="0" bIns="0">
            <a:spAutoFit/>
          </a:bodyPr>
          <a:lstStyle/>
          <a:p>
            <a:pPr marL="0" indent="0" algn="l">
              <a:spcAft>
                <a:spcPts val="1000"/>
              </a:spcAft>
              <a:buNone/>
            </a:pPr>
            <a:r>
              <a:rPr sz="1100" b="1" spc="70">
                <a:solidFill>
                  <a:srgbClr val="86868B"/>
                </a:solidFill>
                <a:latin typeface="Helvetica Neue"/>
              </a:rPr>
              <a:t>SO</a:t>
            </a:r>
          </a:p>
          <a:p>
            <a:pPr marL="0" indent="0">
              <a:spcAft>
                <a:spcPts val="900"/>
              </a:spcAft>
              <a:buNone/>
            </a:pPr>
            <a:r>
              <a:rPr sz="1300">
                <a:solidFill>
                  <a:srgbClr val="1D1D1F"/>
                </a:solidFill>
                <a:latin typeface="Helvetica Neue"/>
              </a:rPr>
              <a:t>No string to find.</a:t>
            </a:r>
          </a:p>
          <a:p>
            <a:pPr marL="0" indent="0">
              <a:spcAft>
                <a:spcPts val="900"/>
              </a:spcAft>
              <a:buNone/>
            </a:pPr>
            <a:r>
              <a:rPr sz="1300">
                <a:solidFill>
                  <a:srgbClr val="1D1D1F"/>
                </a:solidFill>
                <a:latin typeface="Helvetica Neue"/>
              </a:rPr>
              <a:t>Only a ranking to compute.</a:t>
            </a:r>
          </a:p>
        </p:txBody>
      </p:sp>
      <p:sp>
        <p:nvSpPr>
          <p:cNvPr id="7" name="TextBox 6"/>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the casebook in today's notebook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"cat" is as far from "dog" as from "algebra"</a:t>
            </a:r>
          </a:p>
        </p:txBody>
      </p:sp>
      <p:graphicFrame>
        <p:nvGraphicFramePr>
          <p:cNvPr id="5" name="Table 4"/>
          <p:cNvGraphicFramePr>
            <a:graphicFrameLocks noGrp="1"/>
          </p:cNvGraphicFramePr>
          <p:nvPr/>
        </p:nvGraphicFramePr>
        <p:xfrm>
          <a:off x="457200" y="1456182"/>
          <a:ext cx="5102351" cy="2834640"/>
        </p:xfrm>
        <a:graphic>
          <a:graphicData uri="http://schemas.openxmlformats.org/drawingml/2006/table">
            <a:tbl>
              <a:tblPr firstRow="1" bandRow="0"/>
              <a:tblGrid>
                <a:gridCol w="1326611"/>
                <a:gridCol w="943935"/>
                <a:gridCol w="943935"/>
                <a:gridCol w="943935"/>
                <a:gridCol w="943935"/>
              </a:tblGrid>
              <a:tr h="566928">
                <a:tc>
                  <a:txBody>
                    <a:bodyPr wrap="none"/>
                    <a:lstStyle/>
                    <a:p>
                      <a:pPr marL="0" indent="0" algn="l">
                        <a:spcAft>
                          <a:spcPts val="0"/>
                        </a:spcAft>
                        <a:buNone/>
                      </a:pPr>
                      <a:r>
                        <a:rPr sz="950" b="1" spc="50">
                          <a:solidFill>
                            <a:srgbClr val="86868B"/>
                          </a:solidFill>
                          <a:latin typeface="Helvetica Neue"/>
                        </a:rPr>
                        <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950" b="1" spc="50">
                          <a:solidFill>
                            <a:srgbClr val="86868B"/>
                          </a:solidFill>
                          <a:latin typeface="Helvetica Neue"/>
                        </a:rPr>
                        <a:t>CAT</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950" b="1" spc="50">
                          <a:solidFill>
                            <a:srgbClr val="86868B"/>
                          </a:solidFill>
                          <a:latin typeface="Helvetica Neue"/>
                        </a:rPr>
                        <a:t>DOG</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950" b="1" spc="50">
                          <a:solidFill>
                            <a:srgbClr val="86868B"/>
                          </a:solidFill>
                          <a:latin typeface="Helvetica Neue"/>
                        </a:rPr>
                        <a:t>KING</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950" b="1" spc="50">
                          <a:solidFill>
                            <a:srgbClr val="86868B"/>
                          </a:solidFill>
                          <a:latin typeface="Helvetica Neue"/>
                        </a:rPr>
                        <a:t>DEMOCRACY</a:t>
                      </a:r>
                    </a:p>
                  </a:txBody>
                  <a:tcPr marL="54864" marR="54864" anchor="ctr">
                    <a:lnL w="12700" cap="flat" cmpd="sng" algn="ctr">
                      <a:noFill/>
                    </a:lnL>
                    <a:lnR w="12700" cap="flat" cmpd="sng" algn="ctr">
                      <a:noFill/>
                    </a:lnR>
                    <a:lnT w="12700" cap="flat" cmpd="sng" algn="ctr">
                      <a:no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cat</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1</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dog</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1</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king</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1</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democracy</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1</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bl>
          </a:graphicData>
        </a:graphic>
      </p:graphicFrame>
      <p:sp>
        <p:nvSpPr>
          <p:cNvPr id="6" name="TextBox 5"/>
          <p:cNvSpPr txBox="1"/>
          <p:nvPr/>
        </p:nvSpPr>
        <p:spPr>
          <a:xfrm>
            <a:off x="5925312" y="1456182"/>
            <a:ext cx="2761488" cy="2834640"/>
          </a:xfrm>
          <a:prstGeom prst="rect">
            <a:avLst/>
          </a:prstGeom>
          <a:noFill/>
        </p:spPr>
        <p:txBody>
          <a:bodyPr wrap="square" anchor="t" lIns="0" rIns="0" tIns="0" bIns="0">
            <a:spAutoFit/>
          </a:bodyPr>
          <a:lstStyle/>
          <a:p>
            <a:pPr marL="0" indent="0" algn="l">
              <a:spcAft>
                <a:spcPts val="1000"/>
              </a:spcAft>
              <a:buNone/>
            </a:pPr>
            <a:r>
              <a:rPr sz="1100" b="1" spc="70">
                <a:solidFill>
                  <a:srgbClr val="86868B"/>
                </a:solidFill>
                <a:latin typeface="Helvetica Neue"/>
              </a:rPr>
              <a:t>EVERY PAIR</a:t>
            </a:r>
          </a:p>
          <a:p>
            <a:pPr marL="0" indent="0">
              <a:spcAft>
                <a:spcPts val="900"/>
              </a:spcAft>
              <a:buNone/>
            </a:pPr>
            <a:r>
              <a:rPr sz="1300">
                <a:solidFill>
                  <a:srgbClr val="1D1D1F"/>
                </a:solidFill>
                <a:latin typeface="Helvetica Neue"/>
              </a:rPr>
              <a:t>cat · dog = 0, and so does cat · democracy.</a:t>
            </a:r>
          </a:p>
        </p:txBody>
      </p:sp>
      <p:sp>
        <p:nvSpPr>
          <p:cNvPr id="7" name="TextBox 6"/>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You shall know a word by the company it keeps</a:t>
            </a:r>
          </a:p>
        </p:txBody>
      </p:sp>
      <p:sp>
        <p:nvSpPr>
          <p:cNvPr id="5" name="Rounded Rectangle 4"/>
          <p:cNvSpPr/>
          <p:nvPr/>
        </p:nvSpPr>
        <p:spPr>
          <a:xfrm>
            <a:off x="457200" y="1903921"/>
            <a:ext cx="4041648" cy="1939162"/>
          </a:xfrm>
          <a:prstGeom prst="roundRect">
            <a:avLst>
              <a:gd name="adj" fmla="val 6130"/>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0080" y="2050225"/>
            <a:ext cx="3675888" cy="1646554"/>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PREDICT</a:t>
            </a:r>
          </a:p>
          <a:p>
            <a:pPr marL="0" indent="0">
              <a:spcAft>
                <a:spcPts val="300"/>
              </a:spcAft>
              <a:buNone/>
            </a:pPr>
            <a:r>
              <a:rPr sz="2000" b="0" u="none">
                <a:solidFill>
                  <a:srgbClr val="1D1D1F"/>
                </a:solidFill>
                <a:latin typeface="Menlo"/>
              </a:rPr>
              <a:t>"I poured a cup of ___"</a:t>
            </a:r>
          </a:p>
          <a:p>
            <a:pPr marL="0" indent="0" algn="l">
              <a:spcAft>
                <a:spcPts val="200"/>
              </a:spcAft>
              <a:buNone/>
            </a:pPr>
            <a:r>
              <a:rPr sz="1200" b="0">
                <a:solidFill>
                  <a:srgbClr val="86868B"/>
                </a:solidFill>
                <a:latin typeface="Helvetica Neue"/>
              </a:rPr>
              <a:t>coffee, tea, water</a:t>
            </a:r>
          </a:p>
        </p:txBody>
      </p:sp>
      <p:sp>
        <p:nvSpPr>
          <p:cNvPr id="7" name="Rounded Rectangle 6"/>
          <p:cNvSpPr/>
          <p:nvPr/>
        </p:nvSpPr>
        <p:spPr>
          <a:xfrm>
            <a:off x="4645152" y="1903921"/>
            <a:ext cx="4041648" cy="1939162"/>
          </a:xfrm>
          <a:prstGeom prst="roundRect">
            <a:avLst>
              <a:gd name="adj" fmla="val 6130"/>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828032" y="2050225"/>
            <a:ext cx="3675888" cy="1646554"/>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INFER</a:t>
            </a:r>
          </a:p>
          <a:p>
            <a:pPr marL="0" indent="0">
              <a:spcAft>
                <a:spcPts val="300"/>
              </a:spcAft>
              <a:buNone/>
            </a:pPr>
            <a:r>
              <a:rPr sz="2000" b="0" u="none">
                <a:solidFill>
                  <a:srgbClr val="1D1D1F"/>
                </a:solidFill>
                <a:latin typeface="Menlo"/>
              </a:rPr>
              <a:t>"a glass of cold tezguino" "tezguino makes you drunk"</a:t>
            </a:r>
          </a:p>
          <a:p>
            <a:pPr marL="0" indent="0" algn="l">
              <a:spcAft>
                <a:spcPts val="200"/>
              </a:spcAft>
              <a:buNone/>
            </a:pPr>
            <a:r>
              <a:rPr sz="1200" b="0">
                <a:solidFill>
                  <a:srgbClr val="86868B"/>
                </a:solidFill>
                <a:latin typeface="Helvetica Neue"/>
              </a:rPr>
              <a:t>it must be a drink</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Firth 1957; the tezguino example is Lin 1998, via SLP3 Ch.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tf gives london the same score as creosote</a:t>
            </a:r>
          </a:p>
        </p:txBody>
      </p:sp>
      <p:graphicFrame>
        <p:nvGraphicFramePr>
          <p:cNvPr id="5" name="Table 4"/>
          <p:cNvGraphicFramePr>
            <a:graphicFrameLocks noGrp="1"/>
          </p:cNvGraphicFramePr>
          <p:nvPr/>
        </p:nvGraphicFramePr>
        <p:xfrm>
          <a:off x="457200" y="1456182"/>
          <a:ext cx="8229600" cy="2834640"/>
        </p:xfrm>
        <a:graphic>
          <a:graphicData uri="http://schemas.openxmlformats.org/drawingml/2006/table">
            <a:tbl>
              <a:tblPr firstRow="1" bandRow="0"/>
              <a:tblGrid>
                <a:gridCol w="2139696"/>
                <a:gridCol w="3044952"/>
                <a:gridCol w="3044952"/>
              </a:tblGrid>
              <a:tr h="566928">
                <a:tc>
                  <a:txBody>
                    <a:bodyPr wrap="none"/>
                    <a:lstStyle/>
                    <a:p>
                      <a:pPr marL="0" indent="0" algn="l">
                        <a:spcAft>
                          <a:spcPts val="0"/>
                        </a:spcAft>
                        <a:buNone/>
                      </a:pPr>
                      <a:r>
                        <a:rPr sz="1100" b="1" spc="50">
                          <a:solidFill>
                            <a:srgbClr val="86868B"/>
                          </a:solidFill>
                          <a:latin typeface="Helvetica Neue"/>
                        </a:rPr>
                        <a:t>CASE FILE</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1100" b="1" spc="50">
                          <a:solidFill>
                            <a:srgbClr val="86868B"/>
                          </a:solidFill>
                          <a:latin typeface="Helvetica Neue"/>
                        </a:rPr>
                        <a:t>OBSERVATIONS</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1100" b="1" spc="50">
                          <a:solidFill>
                            <a:srgbClr val="86868B"/>
                          </a:solidFill>
                          <a:latin typeface="Helvetica Neue"/>
                        </a:rPr>
                        <a:t>TF OF EACH</a:t>
                      </a:r>
                    </a:p>
                  </a:txBody>
                  <a:tcPr marL="54864" marR="54864" anchor="ctr">
                    <a:lnL w="12700" cap="flat" cmpd="sng" algn="ctr">
                      <a:noFill/>
                    </a:lnL>
                    <a:lnR w="12700" cap="flat" cmpd="sng" algn="ctr">
                      <a:noFill/>
                    </a:lnR>
                    <a:lnT w="12700" cap="flat" cmpd="sng" algn="ctr">
                      <a:no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1 riverside warehouse</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creosote boots mud rope london tar</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0.167</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2 pawnbroker's back room</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ledger boots tobacco london gaslight</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0.200</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3 area railings</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boots bruise rain london mud</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0.200</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4 cabman's testimony</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cab boots mud london rain bruise</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0.167</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bl>
          </a:graphicData>
        </a:graphic>
      </p:graphicFrame>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the four-case corpus in today's notebook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idf switches london off by arithmetic</a:t>
            </a:r>
          </a:p>
        </p:txBody>
      </p:sp>
      <p:graphicFrame>
        <p:nvGraphicFramePr>
          <p:cNvPr id="5" name="Table 4"/>
          <p:cNvGraphicFramePr>
            <a:graphicFrameLocks noGrp="1"/>
          </p:cNvGraphicFramePr>
          <p:nvPr/>
        </p:nvGraphicFramePr>
        <p:xfrm>
          <a:off x="457200" y="1172718"/>
          <a:ext cx="8229600" cy="3401568"/>
        </p:xfrm>
        <a:graphic>
          <a:graphicData uri="http://schemas.openxmlformats.org/drawingml/2006/table">
            <a:tbl>
              <a:tblPr firstRow="1" bandRow="0"/>
              <a:tblGrid>
                <a:gridCol w="2139696"/>
                <a:gridCol w="2029968"/>
                <a:gridCol w="2029968"/>
                <a:gridCol w="2029968"/>
              </a:tblGrid>
              <a:tr h="566928">
                <a:tc>
                  <a:txBody>
                    <a:bodyPr wrap="none"/>
                    <a:lstStyle/>
                    <a:p>
                      <a:pPr marL="0" indent="0" algn="l">
                        <a:spcAft>
                          <a:spcPts val="0"/>
                        </a:spcAft>
                        <a:buNone/>
                      </a:pPr>
                      <a:r>
                        <a:rPr sz="1100" b="1" spc="50">
                          <a:solidFill>
                            <a:srgbClr val="86868B"/>
                          </a:solidFill>
                          <a:latin typeface="Helvetica Neue"/>
                        </a:rPr>
                        <a:t>OBSERVATION</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1100" b="1" spc="50">
                          <a:solidFill>
                            <a:srgbClr val="86868B"/>
                          </a:solidFill>
                          <a:latin typeface="Helvetica Neue"/>
                        </a:rPr>
                        <a:t>IN HOW MANY</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1100" b="1" spc="50">
                          <a:solidFill>
                            <a:srgbClr val="86868B"/>
                          </a:solidFill>
                          <a:latin typeface="Helvetica Neue"/>
                        </a:rPr>
                        <a:t>IDF</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1100" b="1" spc="50">
                          <a:solidFill>
                            <a:srgbClr val="86868B"/>
                          </a:solidFill>
                          <a:latin typeface="Helvetica Neue"/>
                        </a:rPr>
                        <a:t>TF-IDF</a:t>
                      </a:r>
                    </a:p>
                  </a:txBody>
                  <a:tcPr marL="54864" marR="54864" anchor="ctr">
                    <a:lnL w="12700" cap="flat" cmpd="sng" algn="ctr">
                      <a:noFill/>
                    </a:lnL>
                    <a:lnR w="12700" cap="flat" cmpd="sng" algn="ctr">
                      <a:noFill/>
                    </a:lnR>
                    <a:lnT w="12700" cap="flat" cmpd="sng" algn="ctr">
                      <a:no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creosote</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1</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1.386</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0.2310</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rope</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1</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1.386</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0.2310</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mud</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3</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0.288</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0.0479</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boots</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4</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0.000</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0.0000</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london</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4</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0.000</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0.0000</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bl>
          </a:graphicData>
        </a:graphic>
      </p:graphicFrame>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the four-case corpus in today's notebook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Cosine: the angle, not the distance</a:t>
            </a:r>
          </a:p>
        </p:txBody>
      </p:sp>
      <p:pic>
        <p:nvPicPr>
          <p:cNvPr id="5" name="Picture 4" descr="Cosine: the angle, not the distance"/>
          <p:cNvPicPr>
            <a:picLocks noChangeAspect="1"/>
          </p:cNvPicPr>
          <p:nvPr/>
        </p:nvPicPr>
        <p:blipFill>
          <a:blip r:embed="rId3"/>
          <a:stretch>
            <a:fillRect/>
          </a:stretch>
        </p:blipFill>
        <p:spPr>
          <a:xfrm>
            <a:off x="836347" y="1078992"/>
            <a:ext cx="747130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SLP3 Ch. 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whole casebook, in one line</a:t>
            </a:r>
          </a:p>
        </p:txBody>
      </p:sp>
      <p:graphicFrame>
        <p:nvGraphicFramePr>
          <p:cNvPr id="5" name="Table 4"/>
          <p:cNvGraphicFramePr>
            <a:graphicFrameLocks noGrp="1"/>
          </p:cNvGraphicFramePr>
          <p:nvPr/>
        </p:nvGraphicFramePr>
        <p:xfrm>
          <a:off x="457200" y="1739646"/>
          <a:ext cx="5102352" cy="2267712"/>
        </p:xfrm>
        <a:graphic>
          <a:graphicData uri="http://schemas.openxmlformats.org/drawingml/2006/table">
            <a:tbl>
              <a:tblPr firstRow="1" bandRow="0"/>
              <a:tblGrid>
                <a:gridCol w="1326611"/>
                <a:gridCol w="3775741"/>
              </a:tblGrid>
              <a:tr h="566928">
                <a:tc>
                  <a:txBody>
                    <a:bodyPr wrap="none"/>
                    <a:lstStyle/>
                    <a:p>
                      <a:pPr marL="0" indent="0" algn="l">
                        <a:spcAft>
                          <a:spcPts val="0"/>
                        </a:spcAft>
                        <a:buNone/>
                      </a:pPr>
                      <a:r>
                        <a:rPr sz="1100" b="1" spc="50">
                          <a:solidFill>
                            <a:srgbClr val="86868B"/>
                          </a:solidFill>
                          <a:latin typeface="Helvetica Neue"/>
                        </a:rPr>
                        <a:t>CASE</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1100" b="1" spc="50">
                          <a:solidFill>
                            <a:srgbClr val="86868B"/>
                          </a:solidFill>
                          <a:latin typeface="Helvetica Neue"/>
                        </a:rPr>
                        <a:t>SCORE</a:t>
                      </a:r>
                    </a:p>
                  </a:txBody>
                  <a:tcPr marL="54864" marR="54864" anchor="ctr">
                    <a:lnL w="12700" cap="flat" cmpd="sng" algn="ctr">
                      <a:noFill/>
                    </a:lnL>
                    <a:lnR w="12700" cap="flat" cmpd="sng" algn="ctr">
                      <a:noFill/>
                    </a:lnR>
                    <a:lnT w="12700" cap="flat" cmpd="sng" algn="ctr">
                      <a:no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The Brixton Road affair</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0.687</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The stolen greatcoat</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0.626</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The cabman's testimony</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0.619</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bl>
          </a:graphicData>
        </a:graphic>
      </p:graphicFrame>
      <p:sp>
        <p:nvSpPr>
          <p:cNvPr id="6" name="TextBox 5"/>
          <p:cNvSpPr txBox="1"/>
          <p:nvPr/>
        </p:nvSpPr>
        <p:spPr>
          <a:xfrm>
            <a:off x="5925312" y="1739646"/>
            <a:ext cx="2761488" cy="2267712"/>
          </a:xfrm>
          <a:prstGeom prst="rect">
            <a:avLst/>
          </a:prstGeom>
          <a:noFill/>
        </p:spPr>
        <p:txBody>
          <a:bodyPr wrap="square" anchor="t" lIns="0" rIns="0" tIns="0" bIns="0">
            <a:spAutoFit/>
          </a:bodyPr>
          <a:lstStyle/>
          <a:p>
            <a:pPr marL="0" indent="0" algn="l">
              <a:spcAft>
                <a:spcPts val="1000"/>
              </a:spcAft>
              <a:buNone/>
            </a:pPr>
            <a:r>
              <a:rPr sz="1100" b="1" spc="70">
                <a:solidFill>
                  <a:srgbClr val="86868B"/>
                </a:solidFill>
                <a:latin typeface="Helvetica Neue"/>
              </a:rPr>
              <a:t>FIVE OF THE SIX</a:t>
            </a:r>
          </a:p>
          <a:p>
            <a:pPr marL="0" indent="0">
              <a:spcAft>
                <a:spcPts val="900"/>
              </a:spcAft>
              <a:buNone/>
            </a:pPr>
            <a:r>
              <a:rPr sz="1300">
                <a:solidFill>
                  <a:srgbClr val="1D1D1F"/>
                </a:solidFill>
                <a:latin typeface="Helvetica Neue"/>
              </a:rPr>
              <a:t>No case file shares all six. This is the closest thing to a match that exists.</a:t>
            </a:r>
          </a:p>
        </p:txBody>
      </p:sp>
      <p:sp>
        <p:nvSpPr>
          <p:cNvPr id="7" name="TextBox 6"/>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the 200-line run in today's notebook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Then the second body."/>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course-standard break figure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second body</a:t>
            </a:r>
          </a:p>
        </p:txBody>
      </p:sp>
      <p:sp>
        <p:nvSpPr>
          <p:cNvPr id="5" name="Rounded Rectangle 4"/>
          <p:cNvSpPr/>
          <p:nvPr/>
        </p:nvSpPr>
        <p:spPr>
          <a:xfrm>
            <a:off x="457200" y="2336514"/>
            <a:ext cx="4041648" cy="1073975"/>
          </a:xfrm>
          <a:prstGeom prst="roundRect">
            <a:avLst>
              <a:gd name="adj" fmla="val 11068"/>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0080" y="2482818"/>
            <a:ext cx="3675888" cy="781367"/>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THREADNEEDLE STREET</a:t>
            </a:r>
          </a:p>
          <a:p>
            <a:pPr marL="0" indent="0">
              <a:spcAft>
                <a:spcPts val="300"/>
              </a:spcAft>
              <a:buNone/>
            </a:pPr>
            <a:r>
              <a:rPr sz="1350" b="0" u="none">
                <a:solidFill>
                  <a:srgbClr val="1D1D1F"/>
                </a:solidFill>
                <a:latin typeface="Menlo"/>
              </a:rPr>
              <a:t>ledger  clerk tobacco  london  ink</a:t>
            </a:r>
          </a:p>
        </p:txBody>
      </p:sp>
      <p:sp>
        <p:nvSpPr>
          <p:cNvPr id="7" name="Rounded Rectangle 6"/>
          <p:cNvSpPr/>
          <p:nvPr/>
        </p:nvSpPr>
        <p:spPr>
          <a:xfrm>
            <a:off x="4645152" y="2336514"/>
            <a:ext cx="4041648" cy="1073975"/>
          </a:xfrm>
          <a:prstGeom prst="roundRect">
            <a:avLst>
              <a:gd name="adj" fmla="val 11068"/>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828032" y="2482818"/>
            <a:ext cx="3675888" cy="781367"/>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WRITE IT YOURSELF</a:t>
            </a:r>
          </a:p>
          <a:p>
            <a:pPr marL="0" indent="0">
              <a:spcAft>
                <a:spcPts val="300"/>
              </a:spcAft>
              <a:buNone/>
            </a:pPr>
            <a:r>
              <a:rPr sz="1350" b="0" u="none">
                <a:solidFill>
                  <a:srgbClr val="1D1D1F"/>
                </a:solidFill>
                <a:latin typeface="Menlo"/>
              </a:rPr>
              <a:t>No template. Seven lines.</a:t>
            </a:r>
          </a:p>
          <a:p>
            <a:pPr marL="0" indent="0" algn="l">
              <a:spcAft>
                <a:spcPts val="200"/>
              </a:spcAft>
              <a:buNone/>
            </a:pPr>
            <a:r>
              <a:rPr sz="1150" b="0">
                <a:solidFill>
                  <a:srgbClr val="86868B"/>
                </a:solidFill>
                <a:latin typeface="Helvetica Neue"/>
              </a:rPr>
              <a:t>Which case is the same hand? Which observation does the least work?</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the casebook in today's notebook</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