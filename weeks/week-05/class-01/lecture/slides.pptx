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Rosetta Stone: one decree, three scripts. Decoding any line meant constantly glancing back at the others. Today we give neural translators that same glance.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Recap seq2seq, find the bottleneck in that single context vector, fix it with attention, read the weights as alignments, see long sentences stop hurting, then code it and plot the weights yourself.</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sentence in, a sentence out. The model must hold the whole meaning before it writes a word.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Problem: all source information passes through the single vector c. On long sentences this loses detail, and the decoder cannot revisit specific source words, exactly what attention fixes.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figure as last class, new reading: EVERYTHING the decoder will ever know about the English sentence must squeeze through the single green box h_n. Long sentence, same-size box.</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Let them feel the absurdity for a second. That is exactly the decoder's job in plain seq2seq: everything the encoder read has been squeezed into one fixed vector. Attention is what lets it look back.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basic encoder-decoder, drawn precisely: the green c = h_n is handed to EVERY decoder step, and it never changes. Attention's move: keep all the h_e states around and rebuild a fresh c_i for each output word.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output word re-weights the whole input. Watch the peak jump backwards when "chat noir" comes out reversed.</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decoding step: every encoder state gets a weight (here .4, .3, .1, .2 from dot products with the previous decoder state), and their weighted sum becomes c_i, an input to the next decoder state. Repeat fresh for every output word.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Dot-product attention, straight from the book, and exactly what you will code after the break. One matrix of dot products, one softmax, one weighted sum. That is all attention is; the Transformer next class just does it in parallel.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score is a tiny MLP, hence "additive.".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Attention = softmax( score(q, keys) ) , values.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Bahdanau et al. saw the largest translation gains on long sentences.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RNNsearch is the attention model, RNNenc the fixed-vector baseline; 30 vs 50 is the training sentence length. Only the attention models hold their BLEU past 30 words: the bottleneck was real, and this plot is the proof.</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learned weights, two examples: rows are French output words, columns the English source, white means high alpha. Left: "zone economique europeenne" reverses "European Economic Area". Right: French says "a dit l'homme" (said the man), and the weights jump backwards to "the man said". Nobody labeled any of this.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Both produce a score per key; softmax turns scores into attention weights.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Attention fixed the bottleneck but not the clock. Step five still cannot start until step four finishes, so nothing parallelises across time, and a GPU sits mostly idle. That single constraint is what the Transformer removes next class.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functions to write: score every key, then softmax and blend. The heatmap is written for you.</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heatmaps on purpose: the untrained scorer is a uniform blur (every weight ~1/3), then a few hundred gradient steps make the diagonal emerge. Attention weights are learned.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things. The plain bottleneck, attention as a fresh weighted blend each step, the same three mechanics every time, and alignments you can actually read. Next class the recurrence goes away entirely.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Next class: the Transformer drops recurrence. HW2 due today; project proposal due next class. Required reading: Attention Is All You Need (Vaswani 2017). Optional, not quizzed: Bahdanau (2014).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Seq2seq &amp; Attention: The Encoder-Decoder &amp; the Attention Mechanism</a:t>
            </a:r>
          </a:p>
        </p:txBody>
      </p:sp>
      <p:sp>
        <p:nvSpPr>
          <p:cNvPr id="3" name="Subtitle 2"/>
          <p:cNvSpPr>
            <a:spLocks noGrp="1"/>
          </p:cNvSpPr>
          <p:nvPr>
            <p:ph type="subTitle" idx="1"/>
          </p:nvPr>
        </p:nvSpPr>
        <p:spPr>
          <a:xfrm>
            <a:off x="493926" y="3549825"/>
            <a:ext cx="6789960" cy="970800"/>
          </a:xfrm>
        </p:spPr>
        <p:txBody>
          <a:bodyPr wrap="square"/>
          <a:lstStyle/>
          <a:p>
            <a:pPr marL="0" indent="0">
              <a:buNone/>
            </a:pPr>
            <a:r>
              <a:t>Natural Language Processing &amp; Large Language Models</a:t>
            </a:r>
          </a:p>
          <a:p>
            <a:pPr marL="0" indent="0">
              <a:buNone/>
            </a:pPr>
            <a:r>
              <a:t>Week 5, Class 1</a:t>
            </a:r>
          </a:p>
        </p:txBody>
      </p:sp>
      <p:pic>
        <p:nvPicPr>
          <p:cNvPr id="5" name="Picture 4" descr="Seq2seq &amp; Attention: The Encoder-Decoder &amp; the Attention Mechanism"/>
          <p:cNvPicPr>
            <a:picLocks noChangeAspect="1"/>
          </p:cNvPicPr>
          <p:nvPr/>
        </p:nvPicPr>
        <p:blipFill>
          <a:blip r:embed="rId3"/>
          <a:stretch>
            <a:fillRect/>
          </a:stretch>
        </p:blipFill>
        <p:spPr>
          <a:xfrm>
            <a:off x="7512486" y="3474720"/>
            <a:ext cx="126575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Hans Hillewaert,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636086" y="1078992"/>
            <a:ext cx="787182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tiles: Unsplash; Jurafsky &amp; Martin SLP3 Figs. 13.18, 13.22; Bahdanau et al. 2014 Figs. 2-3; course exercise output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Translation: read one language, write another</a:t>
            </a:r>
          </a:p>
        </p:txBody>
      </p:sp>
      <p:pic>
        <p:nvPicPr>
          <p:cNvPr id="5" name="Picture 4" descr="Translation: read one language, write another"/>
          <p:cNvPicPr>
            <a:picLocks noChangeAspect="1"/>
          </p:cNvPicPr>
          <p:nvPr/>
        </p:nvPicPr>
        <p:blipFill>
          <a:blip r:embed="rId3"/>
          <a:stretch>
            <a:fillRect/>
          </a:stretch>
        </p:blipFill>
        <p:spPr>
          <a:xfrm>
            <a:off x="2181312" y="1078992"/>
            <a:ext cx="478137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https://images.unsplash.com/photo-1456513080510-7bf3a84b82f8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 seq2seq (Sutskever et al. 2014)</a:t>
            </a:r>
          </a:p>
        </p:txBody>
      </p:sp>
      <p:pic>
        <p:nvPicPr>
          <p:cNvPr id="5" name="Picture 4" descr="Recap: seq2seq (Sutskever et al. 2014)"/>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Sutskever, Vinyals &amp; Le 2014, arXiv:1409.3215;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bottleneck problem</a:t>
            </a:r>
          </a:p>
        </p:txBody>
      </p:sp>
      <p:pic>
        <p:nvPicPr>
          <p:cNvPr id="5" name="Picture 4" descr="The bottleneck problem"/>
          <p:cNvPicPr>
            <a:picLocks noChangeAspect="1"/>
          </p:cNvPicPr>
          <p:nvPr/>
        </p:nvPicPr>
        <p:blipFill>
          <a:blip r:embed="rId3"/>
          <a:stretch>
            <a:fillRect/>
          </a:stretch>
        </p:blipFill>
        <p:spPr>
          <a:xfrm>
            <a:off x="1245944" y="1078992"/>
            <a:ext cx="665211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at is the decoder's problem. Attention lets it shine a spotlight back on the input."/>
          <p:cNvPicPr>
            <a:picLocks noChangeAspect="1"/>
          </p:cNvPicPr>
          <p:nvPr/>
        </p:nvPicPr>
        <p:blipFill>
          <a:blip r:embed="rId3"/>
          <a:stretch>
            <a:fillRect/>
          </a:stretch>
        </p:blipFill>
        <p:spPr>
          <a:xfrm>
            <a:off x="0" y="-857250"/>
            <a:ext cx="9144000" cy="68580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How would you write a long essay from one sticky note?</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That is the decoder's problem. Attention lets it shine a spotlight back on the input.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https://images.unsplash.com/photo-1514525253161-7a46d19cd819</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idea: attention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setup, formally: one frozen context</a:t>
            </a:r>
          </a:p>
        </p:txBody>
      </p:sp>
      <p:pic>
        <p:nvPicPr>
          <p:cNvPr id="5" name="Picture 4" descr="The setup, formally: one frozen context"/>
          <p:cNvPicPr>
            <a:picLocks noChangeAspect="1"/>
          </p:cNvPicPr>
          <p:nvPr/>
        </p:nvPicPr>
        <p:blipFill>
          <a:blip r:embed="rId3"/>
          <a:stretch>
            <a:fillRect/>
          </a:stretch>
        </p:blipFill>
        <p:spPr>
          <a:xfrm>
            <a:off x="1077108" y="1078992"/>
            <a:ext cx="69897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Attention in three steps</a:t>
            </a:r>
          </a:p>
        </p:txBody>
      </p:sp>
      <p:pic>
        <p:nvPicPr>
          <p:cNvPr id="5" name="Picture 4" descr="Attention in three steps"/>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computation, drawn</a:t>
            </a:r>
          </a:p>
        </p:txBody>
      </p:sp>
      <p:pic>
        <p:nvPicPr>
          <p:cNvPr id="5" name="Picture 4" descr="The whole computation, drawn"/>
          <p:cNvPicPr>
            <a:picLocks noChangeAspect="1"/>
          </p:cNvPicPr>
          <p:nvPr/>
        </p:nvPicPr>
        <p:blipFill>
          <a:blip r:embed="rId3"/>
          <a:stretch>
            <a:fillRect/>
          </a:stretch>
        </p:blipFill>
        <p:spPr>
          <a:xfrm>
            <a:off x="1315044" y="1078992"/>
            <a:ext cx="651391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math, in four lines</a:t>
            </a:r>
          </a:p>
        </p:txBody>
      </p:sp>
      <p:pic>
        <p:nvPicPr>
          <p:cNvPr id="5" name="Picture 4" descr="The math, in four lines"/>
          <p:cNvPicPr>
            <a:picLocks noChangeAspect="1"/>
          </p:cNvPicPr>
          <p:nvPr/>
        </p:nvPicPr>
        <p:blipFill>
          <a:blip r:embed="rId3"/>
          <a:stretch>
            <a:fillRect/>
          </a:stretch>
        </p:blipFill>
        <p:spPr>
          <a:xfrm>
            <a:off x="719081" y="1078992"/>
            <a:ext cx="770583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13.34-13.37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Additive (Bahdanau) attention: the math</a:t>
            </a:r>
          </a:p>
        </p:txBody>
      </p:sp>
      <p:pic>
        <p:nvPicPr>
          <p:cNvPr id="5" name="Picture 4" descr="Additive (Bahdanau) attention: the math"/>
          <p:cNvPicPr>
            <a:picLocks noChangeAspect="1"/>
          </p:cNvPicPr>
          <p:nvPr/>
        </p:nvPicPr>
        <p:blipFill>
          <a:blip r:embed="rId3"/>
          <a:stretch>
            <a:fillRect/>
          </a:stretch>
        </p:blipFill>
        <p:spPr>
          <a:xfrm>
            <a:off x="541601" y="1078992"/>
            <a:ext cx="806079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Bahdanau, Cho &amp; Bengio 2014, arXiv:1409.0473;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Query, keys, values</a:t>
            </a:r>
          </a:p>
        </p:txBody>
      </p:sp>
      <p:pic>
        <p:nvPicPr>
          <p:cNvPr id="5" name="Picture 4" descr="Query, keys, values"/>
          <p:cNvPicPr>
            <a:picLocks noChangeAspect="1"/>
          </p:cNvPicPr>
          <p:nvPr/>
        </p:nvPicPr>
        <p:blipFill>
          <a:blip r:embed="rId3"/>
          <a:stretch>
            <a:fillRect/>
          </a:stretch>
        </p:blipFill>
        <p:spPr>
          <a:xfrm>
            <a:off x="274320" y="1442156"/>
            <a:ext cx="8595360" cy="28626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attention buys us</a:t>
            </a:r>
          </a:p>
        </p:txBody>
      </p:sp>
      <p:pic>
        <p:nvPicPr>
          <p:cNvPr id="5" name="Picture 4" descr="What attention buys us"/>
          <p:cNvPicPr>
            <a:picLocks noChangeAspect="1"/>
          </p:cNvPicPr>
          <p:nvPr/>
        </p:nvPicPr>
        <p:blipFill>
          <a:blip r:embed="rId3"/>
          <a:stretch>
            <a:fillRect/>
          </a:stretch>
        </p:blipFill>
        <p:spPr>
          <a:xfrm>
            <a:off x="628756" y="1078992"/>
            <a:ext cx="788648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Bahdanau, Cho &amp; Bengio 2014, arXiv:1409.0473;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payoff: long sentences stop hurting</a:t>
            </a:r>
          </a:p>
        </p:txBody>
      </p:sp>
      <p:pic>
        <p:nvPicPr>
          <p:cNvPr id="5" name="Picture 4" descr="The payoff: long sentences stop hurting"/>
          <p:cNvPicPr>
            <a:picLocks noChangeAspect="1"/>
          </p:cNvPicPr>
          <p:nvPr/>
        </p:nvPicPr>
        <p:blipFill>
          <a:blip r:embed="rId3"/>
          <a:stretch>
            <a:fillRect/>
          </a:stretch>
        </p:blipFill>
        <p:spPr>
          <a:xfrm>
            <a:off x="713635" y="1078992"/>
            <a:ext cx="771672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Bahdanau, Cho &amp; Bengio 2014 (arXiv:1409.0473), Fig. 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attention as alignment</a:t>
            </a:r>
          </a:p>
        </p:txBody>
      </p:sp>
      <p:pic>
        <p:nvPicPr>
          <p:cNvPr id="5" name="Picture 4" descr="Reading attention as alignment"/>
          <p:cNvPicPr>
            <a:picLocks noChangeAspect="1"/>
          </p:cNvPicPr>
          <p:nvPr/>
        </p:nvPicPr>
        <p:blipFill>
          <a:blip r:embed="rId3"/>
          <a:stretch>
            <a:fillRect/>
          </a:stretch>
        </p:blipFill>
        <p:spPr>
          <a:xfrm>
            <a:off x="2004685" y="1078992"/>
            <a:ext cx="513463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Bahdanau, Cho &amp; Bengio 2014 (arXiv:1409.0473), Fig. 3 (a, 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Additive vs. multiplicative scoring</a:t>
            </a:r>
          </a:p>
        </p:txBody>
      </p:sp>
      <p:pic>
        <p:nvPicPr>
          <p:cNvPr id="5" name="Picture 4" descr="Additive vs. multiplicative scoring"/>
          <p:cNvPicPr>
            <a:picLocks noChangeAspect="1"/>
          </p:cNvPicPr>
          <p:nvPr/>
        </p:nvPicPr>
        <p:blipFill>
          <a:blip r:embed="rId3"/>
          <a:stretch>
            <a:fillRect/>
          </a:stretch>
        </p:blipFill>
        <p:spPr>
          <a:xfrm>
            <a:off x="387174" y="1078992"/>
            <a:ext cx="83696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Limitations that motivate the Transformer</a:t>
            </a:r>
          </a:p>
        </p:txBody>
      </p:sp>
      <p:pic>
        <p:nvPicPr>
          <p:cNvPr id="5" name="Picture 4" descr="Limitations that motivate the Transformer"/>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attention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attention</a:t>
            </a:r>
          </a:p>
        </p:txBody>
      </p:sp>
      <p:pic>
        <p:nvPicPr>
          <p:cNvPr id="5" name="Picture 4" descr="Build attention"/>
          <p:cNvPicPr>
            <a:picLocks noChangeAspect="1"/>
          </p:cNvPicPr>
          <p:nvPr/>
        </p:nvPicPr>
        <p:blipFill>
          <a:blip r:embed="rId3"/>
          <a:stretch>
            <a:fillRect/>
          </a:stretch>
        </p:blipFill>
        <p:spPr>
          <a:xfrm>
            <a:off x="2236476" y="1078992"/>
            <a:ext cx="467104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weeks/week-05/class-01/exercise/attention.py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1661984" y="1078992"/>
            <a:ext cx="582003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weeks/week-05/class-01/solutions/attention.py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653398"/>
            <a:ext cx="8595360" cy="24402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Reminders</a:t>
            </a:r>
          </a:p>
        </p:txBody>
      </p:sp>
      <p:pic>
        <p:nvPicPr>
          <p:cNvPr id="5" name="Picture 4" descr="Reminders"/>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