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8"/>
  </p:notesMasterIdLst>
  <p:sldIdLst>
    <p:sldId id="256" r:id="rId2"/>
    <p:sldId id="267" r:id="rId3"/>
    <p:sldId id="268" r:id="rId4"/>
    <p:sldId id="270" r:id="rId5"/>
    <p:sldId id="276" r:id="rId6"/>
    <p:sldId id="269" r:id="rId7"/>
    <p:sldId id="277" r:id="rId8"/>
    <p:sldId id="271" r:id="rId9"/>
    <p:sldId id="278" r:id="rId10"/>
    <p:sldId id="272" r:id="rId11"/>
    <p:sldId id="279" r:id="rId12"/>
    <p:sldId id="273" r:id="rId13"/>
    <p:sldId id="274" r:id="rId14"/>
    <p:sldId id="275" r:id="rId15"/>
    <p:sldId id="265" r:id="rId16"/>
    <p:sldId id="266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Playfair Display" pitchFamily="2" charset="77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Light" panose="020F030202020403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02"/>
    <p:restoredTop sz="94688"/>
  </p:normalViewPr>
  <p:slideViewPr>
    <p:cSldViewPr snapToGrid="0">
      <p:cViewPr varScale="1">
        <p:scale>
          <a:sx n="166" d="100"/>
          <a:sy n="166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1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dirty="0"/>
              <a:t>CSCI 3495</a:t>
            </a:r>
          </a:p>
          <a:p>
            <a:pPr marL="0" indent="0">
              <a:buNone/>
            </a:pPr>
            <a:r>
              <a:rPr lang="en-US" dirty="0"/>
              <a:t>Neural Networks for NLP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5, Class 1  ·  Mon Sep 21, 2026</a:t>
            </a:r>
          </a:p>
        </p:txBody>
      </p:sp>
      <p:pic>
        <p:nvPicPr>
          <p:cNvPr id="5" name="Picture 4" descr="A person sitting at a table in a pool reading a book&#10;&#10;AI-generated content may be incorrect.">
            <a:extLst>
              <a:ext uri="{FF2B5EF4-FFF2-40B4-BE49-F238E27FC236}">
                <a16:creationId xmlns:a16="http://schemas.microsoft.com/office/drawing/2014/main" id="{B40CB368-FFB9-47AC-F19E-2B6BE97BA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549" y="201636"/>
            <a:ext cx="2616381" cy="3058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E58D-DEBB-3347-6496-3EDC546B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50880-2C20-CB67-C4F5-A18F256D10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B541A-CED2-CB0F-074C-D1A5FC14CEF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Rules-Based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C12503-4A66-4327-40BE-2D39FB98A5C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261271" y="1378971"/>
            <a:ext cx="2502300" cy="3263400"/>
          </a:xfrm>
        </p:spPr>
        <p:txBody>
          <a:bodyPr/>
          <a:lstStyle/>
          <a:p>
            <a:r>
              <a:rPr lang="en-US" dirty="0"/>
              <a:t>Statistical N-gram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A271DF-754B-4DA0-9C69-271CD83FCC97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pic>
        <p:nvPicPr>
          <p:cNvPr id="8" name="Picture 7" descr="A diagram of keyword detection&#10;&#10;AI-generated content may be incorrect.">
            <a:extLst>
              <a:ext uri="{FF2B5EF4-FFF2-40B4-BE49-F238E27FC236}">
                <a16:creationId xmlns:a16="http://schemas.microsoft.com/office/drawing/2014/main" id="{20795972-7196-4F56-68FB-02887F258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0" y="2161882"/>
            <a:ext cx="2678187" cy="2018232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6761EB-2677-31F3-F439-50E68C19B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737" y="2286107"/>
            <a:ext cx="2717800" cy="1816100"/>
          </a:xfrm>
          <a:prstGeom prst="rect">
            <a:avLst/>
          </a:prstGeom>
        </p:spPr>
      </p:pic>
      <p:pic>
        <p:nvPicPr>
          <p:cNvPr id="12" name="Picture 11" descr="A diagram of a network&#10;&#10;AI-generated content may be incorrect.">
            <a:extLst>
              <a:ext uri="{FF2B5EF4-FFF2-40B4-BE49-F238E27FC236}">
                <a16:creationId xmlns:a16="http://schemas.microsoft.com/office/drawing/2014/main" id="{C8DAEBD5-5ECD-0EBC-76DC-B7276A840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677" y="2161882"/>
            <a:ext cx="1854546" cy="22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9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FCB1-A498-C086-0864-32E41E7A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Simple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16F8E-DA13-DC6D-255F-B8EA6B3204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080FD0E8-F3D1-5A44-3E49-55E196A66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661" y="1308942"/>
            <a:ext cx="4232044" cy="32766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A8E128-EA6F-92D6-5F5E-4EEC8E398C47}"/>
              </a:ext>
            </a:extLst>
          </p:cNvPr>
          <p:cNvSpPr txBox="1"/>
          <p:nvPr/>
        </p:nvSpPr>
        <p:spPr>
          <a:xfrm>
            <a:off x="509521" y="1401150"/>
            <a:ext cx="35341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Trained a simple </a:t>
            </a:r>
            <a:r>
              <a:rPr lang="en-US" sz="1800" b="1" dirty="0"/>
              <a:t>y = mx + b</a:t>
            </a:r>
            <a:r>
              <a:rPr lang="en-US" sz="1800" dirty="0"/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Performed 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Input: Human-Defined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Output: Scariness Rating (1-10)</a:t>
            </a:r>
          </a:p>
        </p:txBody>
      </p:sp>
    </p:spTree>
    <p:extLst>
      <p:ext uri="{BB962C8B-B14F-4D97-AF65-F5344CB8AC3E}">
        <p14:creationId xmlns:p14="http://schemas.microsoft.com/office/powerpoint/2010/main" val="334843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9CE6-923D-7331-D4C8-EA0E81217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Feature Engineering vs Representation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1671F-8BD5-9285-C3D3-DC6325CB2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diagram of machine learning&#10;&#10;AI-generated content may be incorrect.">
            <a:extLst>
              <a:ext uri="{FF2B5EF4-FFF2-40B4-BE49-F238E27FC236}">
                <a16:creationId xmlns:a16="http://schemas.microsoft.com/office/drawing/2014/main" id="{B4E05467-ADE2-EDCA-2237-987818175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99" y="1225511"/>
            <a:ext cx="6554001" cy="341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16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3AF2C12-48E7-3FA6-152F-9736AB630F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123896-3F42-04AE-137D-091E4C5B34B0}"/>
              </a:ext>
            </a:extLst>
          </p:cNvPr>
          <p:cNvSpPr txBox="1">
            <a:spLocks/>
          </p:cNvSpPr>
          <p:nvPr/>
        </p:nvSpPr>
        <p:spPr>
          <a:xfrm>
            <a:off x="509577" y="543982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dirty="0"/>
              <a:t>Feature Engineering vs Representation Learning</a:t>
            </a:r>
          </a:p>
        </p:txBody>
      </p:sp>
      <p:pic>
        <p:nvPicPr>
          <p:cNvPr id="11" name="Picture 10" descr="A person with a diagram of different objects&#10;&#10;AI-generated content may be incorrect.">
            <a:extLst>
              <a:ext uri="{FF2B5EF4-FFF2-40B4-BE49-F238E27FC236}">
                <a16:creationId xmlns:a16="http://schemas.microsoft.com/office/drawing/2014/main" id="{557C8B9E-0523-A45D-C024-8E67B5DBD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6" y="1348348"/>
            <a:ext cx="4223112" cy="3415753"/>
          </a:xfrm>
          <a:prstGeom prst="rect">
            <a:avLst/>
          </a:prstGeom>
        </p:spPr>
      </p:pic>
      <p:pic>
        <p:nvPicPr>
          <p:cNvPr id="13" name="Picture 12" descr="A diagram of a deep representation&#10;&#10;AI-generated content may be incorrect.">
            <a:extLst>
              <a:ext uri="{FF2B5EF4-FFF2-40B4-BE49-F238E27FC236}">
                <a16:creationId xmlns:a16="http://schemas.microsoft.com/office/drawing/2014/main" id="{AE99384B-4E5D-A3C3-3C98-CF1E2F018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934" y="2043951"/>
            <a:ext cx="4379301" cy="246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54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B070-32D2-0CB9-B6D1-3BE487569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Neural Networks?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E96F7-20CA-6AF4-219E-90E425281A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2AA5CB-C2D7-A0FC-E9D8-D8792CBEF79E}"/>
              </a:ext>
            </a:extLst>
          </p:cNvPr>
          <p:cNvGrpSpPr/>
          <p:nvPr/>
        </p:nvGrpSpPr>
        <p:grpSpPr>
          <a:xfrm>
            <a:off x="757148" y="1401150"/>
            <a:ext cx="2612572" cy="2674044"/>
            <a:chOff x="714615" y="1713539"/>
            <a:chExt cx="2612572" cy="2674044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9C66B5A-DCC7-C8B2-DCB9-8BD1ED3B8448}"/>
                </a:ext>
              </a:extLst>
            </p:cNvPr>
            <p:cNvCxnSpPr/>
            <p:nvPr/>
          </p:nvCxnSpPr>
          <p:spPr>
            <a:xfrm>
              <a:off x="714615" y="1713539"/>
              <a:ext cx="0" cy="26740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2411DB-BB3E-CF3E-CD53-248ABF47E2E3}"/>
                </a:ext>
              </a:extLst>
            </p:cNvPr>
            <p:cNvCxnSpPr/>
            <p:nvPr/>
          </p:nvCxnSpPr>
          <p:spPr>
            <a:xfrm>
              <a:off x="714615" y="4387583"/>
              <a:ext cx="261257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5-Point Star 31">
              <a:extLst>
                <a:ext uri="{FF2B5EF4-FFF2-40B4-BE49-F238E27FC236}">
                  <a16:creationId xmlns:a16="http://schemas.microsoft.com/office/drawing/2014/main" id="{D80F93FA-C921-BC5C-F18B-399D06F89B04}"/>
                </a:ext>
              </a:extLst>
            </p:cNvPr>
            <p:cNvSpPr/>
            <p:nvPr/>
          </p:nvSpPr>
          <p:spPr>
            <a:xfrm>
              <a:off x="1707706" y="1999881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5-Point Star 32">
              <a:extLst>
                <a:ext uri="{FF2B5EF4-FFF2-40B4-BE49-F238E27FC236}">
                  <a16:creationId xmlns:a16="http://schemas.microsoft.com/office/drawing/2014/main" id="{15E6C178-EF07-0898-1FF4-80EA59191D62}"/>
                </a:ext>
              </a:extLst>
            </p:cNvPr>
            <p:cNvSpPr/>
            <p:nvPr/>
          </p:nvSpPr>
          <p:spPr>
            <a:xfrm>
              <a:off x="2319436" y="2054885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5-Point Star 33">
              <a:extLst>
                <a:ext uri="{FF2B5EF4-FFF2-40B4-BE49-F238E27FC236}">
                  <a16:creationId xmlns:a16="http://schemas.microsoft.com/office/drawing/2014/main" id="{601713E2-81A9-7B63-7937-0B91EDF2D096}"/>
                </a:ext>
              </a:extLst>
            </p:cNvPr>
            <p:cNvSpPr/>
            <p:nvPr/>
          </p:nvSpPr>
          <p:spPr>
            <a:xfrm>
              <a:off x="2097741" y="2726826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5-Point Star 34">
              <a:extLst>
                <a:ext uri="{FF2B5EF4-FFF2-40B4-BE49-F238E27FC236}">
                  <a16:creationId xmlns:a16="http://schemas.microsoft.com/office/drawing/2014/main" id="{24326144-89B1-64FE-3D88-BE91DD819F51}"/>
                </a:ext>
              </a:extLst>
            </p:cNvPr>
            <p:cNvSpPr/>
            <p:nvPr/>
          </p:nvSpPr>
          <p:spPr>
            <a:xfrm>
              <a:off x="2579274" y="2479862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5-Point Star 35">
              <a:extLst>
                <a:ext uri="{FF2B5EF4-FFF2-40B4-BE49-F238E27FC236}">
                  <a16:creationId xmlns:a16="http://schemas.microsoft.com/office/drawing/2014/main" id="{7EF3566C-0CED-6F7D-2EDC-DBD8CF9FDAF6}"/>
                </a:ext>
              </a:extLst>
            </p:cNvPr>
            <p:cNvSpPr/>
            <p:nvPr/>
          </p:nvSpPr>
          <p:spPr>
            <a:xfrm>
              <a:off x="2576712" y="3277385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5-Point Star 36">
              <a:extLst>
                <a:ext uri="{FF2B5EF4-FFF2-40B4-BE49-F238E27FC236}">
                  <a16:creationId xmlns:a16="http://schemas.microsoft.com/office/drawing/2014/main" id="{1D01E77A-948D-F44C-ADAD-7723F27B4776}"/>
                </a:ext>
              </a:extLst>
            </p:cNvPr>
            <p:cNvSpPr/>
            <p:nvPr/>
          </p:nvSpPr>
          <p:spPr>
            <a:xfrm>
              <a:off x="2900582" y="2324100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E04CE9B6-7893-E57A-F043-7BD122315EB0}"/>
                </a:ext>
              </a:extLst>
            </p:cNvPr>
            <p:cNvSpPr/>
            <p:nvPr/>
          </p:nvSpPr>
          <p:spPr>
            <a:xfrm>
              <a:off x="2900581" y="3584869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5-Point Star 38">
              <a:extLst>
                <a:ext uri="{FF2B5EF4-FFF2-40B4-BE49-F238E27FC236}">
                  <a16:creationId xmlns:a16="http://schemas.microsoft.com/office/drawing/2014/main" id="{F7FFA9DF-F907-88DE-9FDC-745320C8D5D2}"/>
                </a:ext>
              </a:extLst>
            </p:cNvPr>
            <p:cNvSpPr/>
            <p:nvPr/>
          </p:nvSpPr>
          <p:spPr>
            <a:xfrm>
              <a:off x="3095385" y="2879099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Heart 39">
              <a:extLst>
                <a:ext uri="{FF2B5EF4-FFF2-40B4-BE49-F238E27FC236}">
                  <a16:creationId xmlns:a16="http://schemas.microsoft.com/office/drawing/2014/main" id="{FD0DB272-F5CD-F7D6-3690-97BEC0E28BD4}"/>
                </a:ext>
              </a:extLst>
            </p:cNvPr>
            <p:cNvSpPr/>
            <p:nvPr/>
          </p:nvSpPr>
          <p:spPr>
            <a:xfrm>
              <a:off x="1137237" y="3411176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Heart 40">
              <a:extLst>
                <a:ext uri="{FF2B5EF4-FFF2-40B4-BE49-F238E27FC236}">
                  <a16:creationId xmlns:a16="http://schemas.microsoft.com/office/drawing/2014/main" id="{7819FB44-179F-3E49-8280-37224A5951DE}"/>
                </a:ext>
              </a:extLst>
            </p:cNvPr>
            <p:cNvSpPr/>
            <p:nvPr/>
          </p:nvSpPr>
          <p:spPr>
            <a:xfrm>
              <a:off x="1607814" y="2858280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Heart 41">
              <a:extLst>
                <a:ext uri="{FF2B5EF4-FFF2-40B4-BE49-F238E27FC236}">
                  <a16:creationId xmlns:a16="http://schemas.microsoft.com/office/drawing/2014/main" id="{B7B86A7C-A3CB-43A3-493F-846FA796E036}"/>
                </a:ext>
              </a:extLst>
            </p:cNvPr>
            <p:cNvSpPr/>
            <p:nvPr/>
          </p:nvSpPr>
          <p:spPr>
            <a:xfrm>
              <a:off x="1951745" y="3688604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Heart 42">
              <a:extLst>
                <a:ext uri="{FF2B5EF4-FFF2-40B4-BE49-F238E27FC236}">
                  <a16:creationId xmlns:a16="http://schemas.microsoft.com/office/drawing/2014/main" id="{9EEEF96E-D9BE-3114-ADEE-F68D79FDBE8C}"/>
                </a:ext>
              </a:extLst>
            </p:cNvPr>
            <p:cNvSpPr/>
            <p:nvPr/>
          </p:nvSpPr>
          <p:spPr>
            <a:xfrm>
              <a:off x="1595007" y="3530221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Heart 43">
              <a:extLst>
                <a:ext uri="{FF2B5EF4-FFF2-40B4-BE49-F238E27FC236}">
                  <a16:creationId xmlns:a16="http://schemas.microsoft.com/office/drawing/2014/main" id="{3ED0E389-6628-3C0B-3C00-380CD3518496}"/>
                </a:ext>
              </a:extLst>
            </p:cNvPr>
            <p:cNvSpPr/>
            <p:nvPr/>
          </p:nvSpPr>
          <p:spPr>
            <a:xfrm>
              <a:off x="2373225" y="3996825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Heart 44">
              <a:extLst>
                <a:ext uri="{FF2B5EF4-FFF2-40B4-BE49-F238E27FC236}">
                  <a16:creationId xmlns:a16="http://schemas.microsoft.com/office/drawing/2014/main" id="{BC79BE77-8B53-3893-77E8-FE5C644E1569}"/>
                </a:ext>
              </a:extLst>
            </p:cNvPr>
            <p:cNvSpPr/>
            <p:nvPr/>
          </p:nvSpPr>
          <p:spPr>
            <a:xfrm>
              <a:off x="1111269" y="2726826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Heart 45">
              <a:extLst>
                <a:ext uri="{FF2B5EF4-FFF2-40B4-BE49-F238E27FC236}">
                  <a16:creationId xmlns:a16="http://schemas.microsoft.com/office/drawing/2014/main" id="{58248D0C-DD16-C328-82A4-C4C5F7CC6420}"/>
                </a:ext>
              </a:extLst>
            </p:cNvPr>
            <p:cNvSpPr/>
            <p:nvPr/>
          </p:nvSpPr>
          <p:spPr>
            <a:xfrm>
              <a:off x="1325496" y="4061530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3A4E48-4A12-5E5D-9D05-88AEDEC1869E}"/>
              </a:ext>
            </a:extLst>
          </p:cNvPr>
          <p:cNvGrpSpPr/>
          <p:nvPr/>
        </p:nvGrpSpPr>
        <p:grpSpPr>
          <a:xfrm>
            <a:off x="5433894" y="1438165"/>
            <a:ext cx="2612572" cy="2674044"/>
            <a:chOff x="5212199" y="1771317"/>
            <a:chExt cx="2612572" cy="2674044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5E8EE17-7309-FC49-F99B-4E7DA44B169B}"/>
                </a:ext>
              </a:extLst>
            </p:cNvPr>
            <p:cNvCxnSpPr/>
            <p:nvPr/>
          </p:nvCxnSpPr>
          <p:spPr>
            <a:xfrm>
              <a:off x="5212199" y="1771317"/>
              <a:ext cx="0" cy="26740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E883AE6-BB4A-7932-A903-F2B16ED53D29}"/>
                </a:ext>
              </a:extLst>
            </p:cNvPr>
            <p:cNvCxnSpPr/>
            <p:nvPr/>
          </p:nvCxnSpPr>
          <p:spPr>
            <a:xfrm>
              <a:off x="5212199" y="4445361"/>
              <a:ext cx="261257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5-Point Star 12">
              <a:extLst>
                <a:ext uri="{FF2B5EF4-FFF2-40B4-BE49-F238E27FC236}">
                  <a16:creationId xmlns:a16="http://schemas.microsoft.com/office/drawing/2014/main" id="{E02ACDFB-6980-B35B-2B75-DF0E17FD72B9}"/>
                </a:ext>
              </a:extLst>
            </p:cNvPr>
            <p:cNvSpPr/>
            <p:nvPr/>
          </p:nvSpPr>
          <p:spPr>
            <a:xfrm>
              <a:off x="6205290" y="2057659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5-Point Star 13">
              <a:extLst>
                <a:ext uri="{FF2B5EF4-FFF2-40B4-BE49-F238E27FC236}">
                  <a16:creationId xmlns:a16="http://schemas.microsoft.com/office/drawing/2014/main" id="{15EE46EF-1B7C-6A35-AD0B-6EE3DA95DE20}"/>
                </a:ext>
              </a:extLst>
            </p:cNvPr>
            <p:cNvSpPr/>
            <p:nvPr/>
          </p:nvSpPr>
          <p:spPr>
            <a:xfrm>
              <a:off x="6817020" y="2112663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5-Point Star 14">
              <a:extLst>
                <a:ext uri="{FF2B5EF4-FFF2-40B4-BE49-F238E27FC236}">
                  <a16:creationId xmlns:a16="http://schemas.microsoft.com/office/drawing/2014/main" id="{5A81EDBC-C35D-699A-E42D-0CA3334DA849}"/>
                </a:ext>
              </a:extLst>
            </p:cNvPr>
            <p:cNvSpPr/>
            <p:nvPr/>
          </p:nvSpPr>
          <p:spPr>
            <a:xfrm>
              <a:off x="6607426" y="2460799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5-Point Star 15">
              <a:extLst>
                <a:ext uri="{FF2B5EF4-FFF2-40B4-BE49-F238E27FC236}">
                  <a16:creationId xmlns:a16="http://schemas.microsoft.com/office/drawing/2014/main" id="{855C2867-15F2-0B5B-0490-5A4F4E220C3B}"/>
                </a:ext>
              </a:extLst>
            </p:cNvPr>
            <p:cNvSpPr/>
            <p:nvPr/>
          </p:nvSpPr>
          <p:spPr>
            <a:xfrm>
              <a:off x="7076858" y="2537640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5-Point Star 16">
              <a:extLst>
                <a:ext uri="{FF2B5EF4-FFF2-40B4-BE49-F238E27FC236}">
                  <a16:creationId xmlns:a16="http://schemas.microsoft.com/office/drawing/2014/main" id="{7BB3694B-BEB9-99A2-F150-F4CA16C1294E}"/>
                </a:ext>
              </a:extLst>
            </p:cNvPr>
            <p:cNvSpPr/>
            <p:nvPr/>
          </p:nvSpPr>
          <p:spPr>
            <a:xfrm>
              <a:off x="7074296" y="3335163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5-Point Star 17">
              <a:extLst>
                <a:ext uri="{FF2B5EF4-FFF2-40B4-BE49-F238E27FC236}">
                  <a16:creationId xmlns:a16="http://schemas.microsoft.com/office/drawing/2014/main" id="{05F2F12C-A92D-B821-30B6-35853A2FC679}"/>
                </a:ext>
              </a:extLst>
            </p:cNvPr>
            <p:cNvSpPr/>
            <p:nvPr/>
          </p:nvSpPr>
          <p:spPr>
            <a:xfrm>
              <a:off x="7398166" y="2381878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5-Point Star 18">
              <a:extLst>
                <a:ext uri="{FF2B5EF4-FFF2-40B4-BE49-F238E27FC236}">
                  <a16:creationId xmlns:a16="http://schemas.microsoft.com/office/drawing/2014/main" id="{68B71ACE-82C8-A161-5EF3-87306D73E9F6}"/>
                </a:ext>
              </a:extLst>
            </p:cNvPr>
            <p:cNvSpPr/>
            <p:nvPr/>
          </p:nvSpPr>
          <p:spPr>
            <a:xfrm>
              <a:off x="7398165" y="3642647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5-Point Star 19">
              <a:extLst>
                <a:ext uri="{FF2B5EF4-FFF2-40B4-BE49-F238E27FC236}">
                  <a16:creationId xmlns:a16="http://schemas.microsoft.com/office/drawing/2014/main" id="{3A628D08-16CC-1892-4B29-32215B101809}"/>
                </a:ext>
              </a:extLst>
            </p:cNvPr>
            <p:cNvSpPr/>
            <p:nvPr/>
          </p:nvSpPr>
          <p:spPr>
            <a:xfrm>
              <a:off x="7592969" y="2936877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Heart 20">
              <a:extLst>
                <a:ext uri="{FF2B5EF4-FFF2-40B4-BE49-F238E27FC236}">
                  <a16:creationId xmlns:a16="http://schemas.microsoft.com/office/drawing/2014/main" id="{E1D6BC1B-594F-7179-9A76-3AFB21571D75}"/>
                </a:ext>
              </a:extLst>
            </p:cNvPr>
            <p:cNvSpPr/>
            <p:nvPr/>
          </p:nvSpPr>
          <p:spPr>
            <a:xfrm>
              <a:off x="6255236" y="3116316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Heart 21">
              <a:extLst>
                <a:ext uri="{FF2B5EF4-FFF2-40B4-BE49-F238E27FC236}">
                  <a16:creationId xmlns:a16="http://schemas.microsoft.com/office/drawing/2014/main" id="{92B6E004-89B0-5799-AA4A-C4C2962869C2}"/>
                </a:ext>
              </a:extLst>
            </p:cNvPr>
            <p:cNvSpPr/>
            <p:nvPr/>
          </p:nvSpPr>
          <p:spPr>
            <a:xfrm>
              <a:off x="6449329" y="2931574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Heart 22">
              <a:extLst>
                <a:ext uri="{FF2B5EF4-FFF2-40B4-BE49-F238E27FC236}">
                  <a16:creationId xmlns:a16="http://schemas.microsoft.com/office/drawing/2014/main" id="{CA45919D-2089-D2AD-2227-70153758975C}"/>
                </a:ext>
              </a:extLst>
            </p:cNvPr>
            <p:cNvSpPr/>
            <p:nvPr/>
          </p:nvSpPr>
          <p:spPr>
            <a:xfrm>
              <a:off x="6699060" y="3209632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Heart 23">
              <a:extLst>
                <a:ext uri="{FF2B5EF4-FFF2-40B4-BE49-F238E27FC236}">
                  <a16:creationId xmlns:a16="http://schemas.microsoft.com/office/drawing/2014/main" id="{F0D58EAE-5DF3-611E-CC5C-5E434B51C169}"/>
                </a:ext>
              </a:extLst>
            </p:cNvPr>
            <p:cNvSpPr/>
            <p:nvPr/>
          </p:nvSpPr>
          <p:spPr>
            <a:xfrm>
              <a:off x="6518485" y="3019035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Heart 24">
              <a:extLst>
                <a:ext uri="{FF2B5EF4-FFF2-40B4-BE49-F238E27FC236}">
                  <a16:creationId xmlns:a16="http://schemas.microsoft.com/office/drawing/2014/main" id="{C98EF39A-8469-713C-9206-060276B70E71}"/>
                </a:ext>
              </a:extLst>
            </p:cNvPr>
            <p:cNvSpPr/>
            <p:nvPr/>
          </p:nvSpPr>
          <p:spPr>
            <a:xfrm>
              <a:off x="6495433" y="3235271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Heart 25">
              <a:extLst>
                <a:ext uri="{FF2B5EF4-FFF2-40B4-BE49-F238E27FC236}">
                  <a16:creationId xmlns:a16="http://schemas.microsoft.com/office/drawing/2014/main" id="{28087524-2B09-CAC2-4F57-9C8BF0B7E06A}"/>
                </a:ext>
              </a:extLst>
            </p:cNvPr>
            <p:cNvSpPr/>
            <p:nvPr/>
          </p:nvSpPr>
          <p:spPr>
            <a:xfrm>
              <a:off x="6248126" y="2829280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Heart 26">
              <a:extLst>
                <a:ext uri="{FF2B5EF4-FFF2-40B4-BE49-F238E27FC236}">
                  <a16:creationId xmlns:a16="http://schemas.microsoft.com/office/drawing/2014/main" id="{9CE72A8F-83FF-92DF-DAF7-D88C593CF1C9}"/>
                </a:ext>
              </a:extLst>
            </p:cNvPr>
            <p:cNvSpPr/>
            <p:nvPr/>
          </p:nvSpPr>
          <p:spPr>
            <a:xfrm>
              <a:off x="6843913" y="3019035"/>
              <a:ext cx="99892" cy="99892"/>
            </a:xfrm>
            <a:prstGeom prst="hear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5-Point Star 46">
              <a:extLst>
                <a:ext uri="{FF2B5EF4-FFF2-40B4-BE49-F238E27FC236}">
                  <a16:creationId xmlns:a16="http://schemas.microsoft.com/office/drawing/2014/main" id="{A0BD0C03-8F98-D52C-2EFA-931ED4F217EE}"/>
                </a:ext>
              </a:extLst>
            </p:cNvPr>
            <p:cNvSpPr/>
            <p:nvPr/>
          </p:nvSpPr>
          <p:spPr>
            <a:xfrm>
              <a:off x="6364804" y="3626959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5-Point Star 47">
              <a:extLst>
                <a:ext uri="{FF2B5EF4-FFF2-40B4-BE49-F238E27FC236}">
                  <a16:creationId xmlns:a16="http://schemas.microsoft.com/office/drawing/2014/main" id="{529B8350-1A3F-E8CE-4F1E-0CC9AAA74919}"/>
                </a:ext>
              </a:extLst>
            </p:cNvPr>
            <p:cNvSpPr/>
            <p:nvPr/>
          </p:nvSpPr>
          <p:spPr>
            <a:xfrm>
              <a:off x="6552790" y="3881716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5-Point Star 48">
              <a:extLst>
                <a:ext uri="{FF2B5EF4-FFF2-40B4-BE49-F238E27FC236}">
                  <a16:creationId xmlns:a16="http://schemas.microsoft.com/office/drawing/2014/main" id="{96EFB326-CB18-87DA-C88F-5F03294DBF44}"/>
                </a:ext>
              </a:extLst>
            </p:cNvPr>
            <p:cNvSpPr/>
            <p:nvPr/>
          </p:nvSpPr>
          <p:spPr>
            <a:xfrm>
              <a:off x="6705190" y="4034116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5-Point Star 49">
              <a:extLst>
                <a:ext uri="{FF2B5EF4-FFF2-40B4-BE49-F238E27FC236}">
                  <a16:creationId xmlns:a16="http://schemas.microsoft.com/office/drawing/2014/main" id="{ED96D4D4-FBA8-D577-5B03-DAA556490E12}"/>
                </a:ext>
              </a:extLst>
            </p:cNvPr>
            <p:cNvSpPr/>
            <p:nvPr/>
          </p:nvSpPr>
          <p:spPr>
            <a:xfrm>
              <a:off x="6790124" y="3587849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5-Point Star 50">
              <a:extLst>
                <a:ext uri="{FF2B5EF4-FFF2-40B4-BE49-F238E27FC236}">
                  <a16:creationId xmlns:a16="http://schemas.microsoft.com/office/drawing/2014/main" id="{94C4E05F-9CBC-F1B0-8484-6489E6834C31}"/>
                </a:ext>
              </a:extLst>
            </p:cNvPr>
            <p:cNvSpPr/>
            <p:nvPr/>
          </p:nvSpPr>
          <p:spPr>
            <a:xfrm>
              <a:off x="5860928" y="3732567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5-Point Star 51">
              <a:extLst>
                <a:ext uri="{FF2B5EF4-FFF2-40B4-BE49-F238E27FC236}">
                  <a16:creationId xmlns:a16="http://schemas.microsoft.com/office/drawing/2014/main" id="{6479FF56-B863-9F4B-0FAC-CC1E6D00334C}"/>
                </a:ext>
              </a:extLst>
            </p:cNvPr>
            <p:cNvSpPr/>
            <p:nvPr/>
          </p:nvSpPr>
          <p:spPr>
            <a:xfrm>
              <a:off x="5805654" y="3216208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5-Point Star 52">
              <a:extLst>
                <a:ext uri="{FF2B5EF4-FFF2-40B4-BE49-F238E27FC236}">
                  <a16:creationId xmlns:a16="http://schemas.microsoft.com/office/drawing/2014/main" id="{B270F21D-0838-F288-6B3A-EE5CF6C6D412}"/>
                </a:ext>
              </a:extLst>
            </p:cNvPr>
            <p:cNvSpPr/>
            <p:nvPr/>
          </p:nvSpPr>
          <p:spPr>
            <a:xfrm>
              <a:off x="5832972" y="2661170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5-Point Star 53">
              <a:extLst>
                <a:ext uri="{FF2B5EF4-FFF2-40B4-BE49-F238E27FC236}">
                  <a16:creationId xmlns:a16="http://schemas.microsoft.com/office/drawing/2014/main" id="{10148815-07B4-3BCD-A26A-5EB360403576}"/>
                </a:ext>
              </a:extLst>
            </p:cNvPr>
            <p:cNvSpPr/>
            <p:nvPr/>
          </p:nvSpPr>
          <p:spPr>
            <a:xfrm>
              <a:off x="5970367" y="2315893"/>
              <a:ext cx="153681" cy="153681"/>
            </a:xfrm>
            <a:prstGeom prst="star5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CA4A674F-F8E5-7591-228C-79DDF59CB0B3}"/>
              </a:ext>
            </a:extLst>
          </p:cNvPr>
          <p:cNvSpPr txBox="1"/>
          <p:nvPr/>
        </p:nvSpPr>
        <p:spPr>
          <a:xfrm>
            <a:off x="597406" y="4211471"/>
            <a:ext cx="7830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Neural networks are non-linear systems that are capable of learning complex non-linear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23102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BF31F-B016-7609-6348-1DFA26AE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9BFFF-20A0-51AC-6E1A-2FD29335F2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diagram of a function&#10;&#10;AI-generated content may be incorrect.">
            <a:extLst>
              <a:ext uri="{FF2B5EF4-FFF2-40B4-BE49-F238E27FC236}">
                <a16:creationId xmlns:a16="http://schemas.microsoft.com/office/drawing/2014/main" id="{D8D6009A-088E-B8EA-2137-22F29EA75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09" y="1447796"/>
            <a:ext cx="4624081" cy="2485444"/>
          </a:xfrm>
          <a:prstGeom prst="rect">
            <a:avLst/>
          </a:prstGeom>
        </p:spPr>
      </p:pic>
      <p:pic>
        <p:nvPicPr>
          <p:cNvPr id="12" name="Picture 11" descr="A diagram of a network&#10;&#10;AI-generated content may be incorrect.">
            <a:extLst>
              <a:ext uri="{FF2B5EF4-FFF2-40B4-BE49-F238E27FC236}">
                <a16:creationId xmlns:a16="http://schemas.microsoft.com/office/drawing/2014/main" id="{EB40E6C6-AD58-0069-63B5-1CF18095B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676" y="1744276"/>
            <a:ext cx="3885324" cy="218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27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B1CB1-376B-D0E1-E216-D1738B35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and Back propagation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74C41-8F52-2FF8-B27C-82E35D723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67F7BE-646C-F065-664A-2FC945565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69" y="1412423"/>
            <a:ext cx="7612503" cy="332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03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94C0-CC94-B7A7-5380-BE6947FD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Backpropagation: Chain Rule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F1872-7897-9CD6-C877-B240DD925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256A07C5-391B-BCA9-5785-E1AF49ECA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21" y="1401149"/>
            <a:ext cx="8124958" cy="337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3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486C-73B5-D848-7CC9-81475820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Backpropagation: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EFA70-89C3-1F1A-2309-2D33B516B7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61C9343D-6222-EDFC-3EF8-E4F8B5B5B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29" y="1176564"/>
            <a:ext cx="8451941" cy="35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68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9D28-1A89-9685-2C6D-1C61A145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Backpropagation: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6800A-D951-E7BB-F5CF-08E4F8FCEE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8D42E-B27D-8CD1-F842-310DA7CB419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diagram of a function&#10;&#10;AI-generated content may be incorrect.">
            <a:extLst>
              <a:ext uri="{FF2B5EF4-FFF2-40B4-BE49-F238E27FC236}">
                <a16:creationId xmlns:a16="http://schemas.microsoft.com/office/drawing/2014/main" id="{0A7700F0-698B-EF1C-2A7F-7AC447110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388" y="1204560"/>
            <a:ext cx="6886066" cy="359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8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685A-DE96-3B58-980A-95BB5B5A6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&amp; Gradient Descent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E252A6-9644-2BAD-509A-BF14DB17F5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22B5E2F7-A276-19A9-31C1-0FFC3B243A4E}"/>
                  </a:ext>
                </a:extLst>
              </p:cNvPr>
              <p:cNvSpPr>
                <a:spLocks noGrp="1"/>
              </p:cNvSpPr>
              <p:nvPr>
                <p:ph type="body" idx="4"/>
              </p:nvPr>
            </p:nvSpPr>
            <p:spPr/>
            <p:txBody>
              <a:bodyPr/>
              <a:lstStyle/>
              <a:p>
                <a:pPr marL="5715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5715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22B5E2F7-A276-19A9-31C1-0FFC3B243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showing a graph showing a graph&#10;&#10;AI-generated content may be incorrect.">
            <a:extLst>
              <a:ext uri="{FF2B5EF4-FFF2-40B4-BE49-F238E27FC236}">
                <a16:creationId xmlns:a16="http://schemas.microsoft.com/office/drawing/2014/main" id="{6EC058FF-AED9-5763-A9D8-0F238C2DB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50" y="1369225"/>
            <a:ext cx="5823671" cy="303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67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B184-F870-CDE8-9D59-E08527D3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Sneak peak: Recurrent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032EE-948C-2B20-0344-0285089FB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 descr="A diagram of a network&#10;&#10;AI-generated content may be incorrect.">
            <a:extLst>
              <a:ext uri="{FF2B5EF4-FFF2-40B4-BE49-F238E27FC236}">
                <a16:creationId xmlns:a16="http://schemas.microsoft.com/office/drawing/2014/main" id="{56EF7064-1671-9F80-49DF-421419D8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44" t="7104" r="35718" b="41435"/>
          <a:stretch/>
        </p:blipFill>
        <p:spPr>
          <a:xfrm>
            <a:off x="4572000" y="1401150"/>
            <a:ext cx="4324525" cy="29027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5A1728-AA40-80F2-8347-B2BAF73FF311}"/>
                  </a:ext>
                </a:extLst>
              </p:cNvPr>
              <p:cNvSpPr txBox="1"/>
              <p:nvPr/>
            </p:nvSpPr>
            <p:spPr>
              <a:xfrm>
                <a:off x="509521" y="1617785"/>
                <a:ext cx="4324525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Simple Neural Networks don’t account for the temporal aspect of text.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Instead, we use a recurrent neural network that keeps memory of a sequence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5A1728-AA40-80F2-8347-B2BAF73FF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21" y="1617785"/>
                <a:ext cx="4324525" cy="3139321"/>
              </a:xfrm>
              <a:prstGeom prst="rect">
                <a:avLst/>
              </a:prstGeom>
              <a:blipFill>
                <a:blip r:embed="rId3"/>
                <a:stretch>
                  <a:fillRect l="-4106" t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6505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6979-52AB-B84B-B2A1-CE1E5A95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Code! Create a JNB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0A169-CCD6-71B0-3779-F949728449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E072A-BF49-842D-F5D3-281C9DE19CC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2175" y="1369225"/>
            <a:ext cx="7963146" cy="3263400"/>
          </a:xfrm>
        </p:spPr>
        <p:txBody>
          <a:bodyPr/>
          <a:lstStyle/>
          <a:p>
            <a:r>
              <a:rPr lang="en-US" dirty="0"/>
              <a:t>Create this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lab.ipynb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within the exercise folder of the week-5/class-01</a:t>
            </a:r>
          </a:p>
        </p:txBody>
      </p:sp>
    </p:spTree>
    <p:extLst>
      <p:ext uri="{BB962C8B-B14F-4D97-AF65-F5344CB8AC3E}">
        <p14:creationId xmlns:p14="http://schemas.microsoft.com/office/powerpoint/2010/main" val="788575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Then the second bod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course-standard break figure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rPr lang="en-US" dirty="0"/>
              <a:t>Work on Your Proposal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original; the casebook in today's notebook</a:t>
            </a:r>
          </a:p>
        </p:txBody>
      </p:sp>
      <p:pic>
        <p:nvPicPr>
          <p:cNvPr id="4" name="Picture 3" descr="A group of people putting their hands together&#10;&#10;AI-generated content may be incorrect.">
            <a:extLst>
              <a:ext uri="{FF2B5EF4-FFF2-40B4-BE49-F238E27FC236}">
                <a16:creationId xmlns:a16="http://schemas.microsoft.com/office/drawing/2014/main" id="{7C44B5FC-FC26-925D-5321-ED392794E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078992"/>
            <a:ext cx="7360920" cy="36804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2700</TotalTime>
  <Words>276</Words>
  <Application>Microsoft Macintosh PowerPoint</Application>
  <PresentationFormat>On-screen Show (16:9)</PresentationFormat>
  <Paragraphs>41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Courier New</vt:lpstr>
      <vt:lpstr>Roboto</vt:lpstr>
      <vt:lpstr>Arial</vt:lpstr>
      <vt:lpstr>Roboto Light</vt:lpstr>
      <vt:lpstr>Cambria Math</vt:lpstr>
      <vt:lpstr>Playfair Display</vt:lpstr>
      <vt:lpstr>Office Theme</vt:lpstr>
      <vt:lpstr>CSCI 3495 Neural Networks for NLP</vt:lpstr>
      <vt:lpstr>Recap</vt:lpstr>
      <vt:lpstr>Last Week: Simple Linear Regression</vt:lpstr>
      <vt:lpstr>Feature Engineering vs Representation Learning</vt:lpstr>
      <vt:lpstr>PowerPoint Presentation</vt:lpstr>
      <vt:lpstr>Why Neural Networks?</vt:lpstr>
      <vt:lpstr>Neural Network</vt:lpstr>
      <vt:lpstr>Forward and Back propagation</vt:lpstr>
      <vt:lpstr>Backpropagation: Chain Rule</vt:lpstr>
      <vt:lpstr>Backpropagation: Example</vt:lpstr>
      <vt:lpstr>Backpropagation: Solution</vt:lpstr>
      <vt:lpstr>Loss &amp; Gradient Descent</vt:lpstr>
      <vt:lpstr>Sneak peak: Recurrent Neural Networks</vt:lpstr>
      <vt:lpstr>Let’s Code! Create a JNB File</vt:lpstr>
      <vt:lpstr>Break</vt:lpstr>
      <vt:lpstr>Work on Your Proposal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8</cp:revision>
  <dcterms:modified xsi:type="dcterms:W3CDTF">2026-09-21T20:57:25Z</dcterms:modified>
</cp:coreProperties>
</file>