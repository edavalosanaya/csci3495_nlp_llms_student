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Open with the scene, not the topic. A body in Lauriston Gardens, and six things noted beside it. Baker Street keeps a hundred old cases and somewhere in them is the one that most resembles tonight. Read the six words out and let the room hear how ordinary they are: mud, rain, tobacco, cab, boots, bruise. That is the difficulty, not the drama. We spend five minutes watching the tool they already own fail at it, and by the break they will have written the one that works.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Have them run the first two cells now, before any theory. Every one of the six returns twenty to fifty cases, and nothing returns the scene, because no file has all six. So the honest answer to "search for it" is that there is nothing to search for. What they want is a ranking, counting a rare observation for more than one noted at every crime, and everything today is built to produce it.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One-hot vectors give every word its own dimension, so every pair of distinct words is equally dissimilar. That is plainly wrong, and it is the problem the whole week is about. Note it is the same defect we just saw in Ctrl+F: a word either matches or it does not, and nothing is nearer than anything else.</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You have never seen the word tezguino, and after two sentences you know it is a drink, because you know what surrounds a drink. That is the distributional hypothesis, and it is the single idea the next four weeks are built on: meaning can be estimated from context, and context can be counted.</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Count the observation, divide by how long the case file is, so a long file does not win everything by being long. Then look down the last column: inside any one file every observation scores the same. tf says london matters exactly as much as creosote. Counting alone cannot rank, which is the same complaint we made about Ctrl+F ten minutes ago and the reason idf exists.</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Count how many case files mention the observation at all, and weight by the log of the total over that. Boots and london are in all four, so each divides by itself, the log is zero, and both are switched off. Not filtered by a list of boring words: switched off by the arithmetic. Multiply tf by idf and creosote comes out on top, because it is the only thing here that tells you which case you are reading.</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tiny case files, and we write tf and idf out as loops so nothing is hidden. Twelve observations, so the whole table fits on screen. Two TRY IT cells, one at the end of each part.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nine-observation case file and a three-observation one about the same crime sit far apart by straight-line distance, purely because one has more numbers in it, so distance is the wrong tool. The cosine of the angle throws length away: same direction gives 1, nothing in common gives 0. Dividing by both lengths is what does the throwing away.</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Part 3 compares case files to each other, then scores a scene against them, which is the punchline: a crime scene is just another short case file. Part 4 hands the same job to TfidfVectorizer over the full hundred and answers the question we opened with. Pause on the Brixton Road affair at 0.687: it shares five of the six and no file shares all six.</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Teams of three, twenty-five minutes. The first task is the only real code today. The middle one has two different right answers and that is the point: gaslight makes you surer of the case you already had, creosote hands you a different case entirely, and its score is LOWER because a seventh word lengthens the query and cosine divides by length. A longer query is not a better query. Expect a team to find that and think they have broken something. The third question is boots, noted at forty-seven of the hundred.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Vector Semantics</a:t>
            </a:r>
          </a:p>
        </p:txBody>
      </p:sp>
      <p:sp>
        <p:nvSpPr>
          <p:cNvPr id="3" name="Subtitle 2"/>
          <p:cNvSpPr>
            <a:spLocks noGrp="1"/>
          </p:cNvSpPr>
          <p:nvPr>
            <p:ph type="subTitle" idx="1"/>
          </p:nvPr>
        </p:nvSpPr>
        <p:spPr>
          <a:xfrm>
            <a:off x="493926" y="3549825"/>
            <a:ext cx="5312514" cy="970800"/>
          </a:xfrm>
        </p:spPr>
        <p:txBody>
          <a:bodyPr wrap="square"/>
          <a:lstStyle/>
          <a:p>
            <a:pPr marL="0" indent="0">
              <a:buNone/>
            </a:pPr>
            <a:r>
              <a:t>Natural Language Processing &amp; Large Language Models</a:t>
            </a:r>
          </a:p>
          <a:p>
            <a:pPr marL="0" indent="0">
              <a:buNone/>
            </a:pPr>
            <a:r>
              <a:t>Week 5, Class 1  ·  Mon Sep 21, 2026</a:t>
            </a:r>
          </a:p>
        </p:txBody>
      </p:sp>
      <p:pic>
        <p:nvPicPr>
          <p:cNvPr id="5" name="Picture 4" descr="Vector Semantics"/>
          <p:cNvPicPr>
            <a:picLocks noChangeAspect="1"/>
          </p:cNvPicPr>
          <p:nvPr/>
        </p:nvPicPr>
        <p:blipFill>
          <a:blip r:embed="rId3"/>
          <a:stretch>
            <a:fillRect/>
          </a:stretch>
        </p:blipFill>
        <p:spPr>
          <a:xfrm>
            <a:off x="6035040" y="3816690"/>
            <a:ext cx="2743200" cy="79738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original figure; the casebook in today's notebook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Ctrl+F finds a word, not a ranking</a:t>
            </a:r>
          </a:p>
        </p:txBody>
      </p:sp>
      <p:graphicFrame>
        <p:nvGraphicFramePr>
          <p:cNvPr id="5" name="Table 4"/>
          <p:cNvGraphicFramePr>
            <a:graphicFrameLocks noGrp="1"/>
          </p:cNvGraphicFramePr>
          <p:nvPr/>
        </p:nvGraphicFramePr>
        <p:xfrm>
          <a:off x="457200" y="1078992"/>
          <a:ext cx="5102352" cy="3589019"/>
        </p:xfrm>
        <a:graphic>
          <a:graphicData uri="http://schemas.openxmlformats.org/drawingml/2006/table">
            <a:tbl>
              <a:tblPr firstRow="1" bandRow="0"/>
              <a:tblGrid>
                <a:gridCol w="1326611"/>
                <a:gridCol w="3775741"/>
              </a:tblGrid>
              <a:tr h="512717">
                <a:tc>
                  <a:txBody>
                    <a:bodyPr wrap="none"/>
                    <a:lstStyle/>
                    <a:p>
                      <a:pPr marL="0" indent="0" algn="l">
                        <a:spcAft>
                          <a:spcPts val="0"/>
                        </a:spcAft>
                        <a:buNone/>
                      </a:pPr>
                      <a:r>
                        <a:rPr sz="1100" b="1" spc="50">
                          <a:solidFill>
                            <a:srgbClr val="86868B"/>
                          </a:solidFill>
                          <a:latin typeface="Helvetica Neue"/>
                        </a:rPr>
                        <a:t>OBSERVATION</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CASE FILES</a:t>
                      </a:r>
                    </a:p>
                  </a:txBody>
                  <a:tcPr marL="54864" marR="54864" anchor="ctr">
                    <a:lnL w="12700" cap="flat" cmpd="sng" algn="ctr">
                      <a:noFill/>
                    </a:lnL>
                    <a:lnR w="12700" cap="flat" cmpd="sng" algn="ctr">
                      <a:noFill/>
                    </a:lnR>
                    <a:lnT w="12700" cap="flat" cmpd="sng" algn="ctr">
                      <a:noFill/>
                    </a:lnT>
                    <a:lnB w="12700" cap="flat" cmpd="sng" algn="ctr">
                      <a:noFill/>
                    </a:lnB>
                    <a:noFill/>
                  </a:tcPr>
                </a:tc>
              </a:tr>
              <a:tr h="512717">
                <a:tc>
                  <a:txBody>
                    <a:bodyPr wrap="none"/>
                    <a:lstStyle/>
                    <a:p>
                      <a:pPr marL="0" indent="0" algn="l">
                        <a:spcAft>
                          <a:spcPts val="0"/>
                        </a:spcAft>
                        <a:buNone/>
                      </a:pPr>
                      <a:r>
                        <a:rPr sz="1700" b="1">
                          <a:solidFill>
                            <a:srgbClr val="1D1D1F"/>
                          </a:solidFill>
                          <a:latin typeface="Helvetica Neue"/>
                        </a:rPr>
                        <a:t>mud</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34</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12717">
                <a:tc>
                  <a:txBody>
                    <a:bodyPr wrap="none"/>
                    <a:lstStyle/>
                    <a:p>
                      <a:pPr marL="0" indent="0" algn="l">
                        <a:spcAft>
                          <a:spcPts val="0"/>
                        </a:spcAft>
                        <a:buNone/>
                      </a:pPr>
                      <a:r>
                        <a:rPr sz="1700" b="1">
                          <a:solidFill>
                            <a:srgbClr val="1D1D1F"/>
                          </a:solidFill>
                          <a:latin typeface="Helvetica Neue"/>
                        </a:rPr>
                        <a:t>rain</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24</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12717">
                <a:tc>
                  <a:txBody>
                    <a:bodyPr wrap="none"/>
                    <a:lstStyle/>
                    <a:p>
                      <a:pPr marL="0" indent="0" algn="l">
                        <a:spcAft>
                          <a:spcPts val="0"/>
                        </a:spcAft>
                        <a:buNone/>
                      </a:pPr>
                      <a:r>
                        <a:rPr sz="1700" b="1">
                          <a:solidFill>
                            <a:srgbClr val="1D1D1F"/>
                          </a:solidFill>
                          <a:latin typeface="Helvetica Neue"/>
                        </a:rPr>
                        <a:t>tobacco</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27</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12717">
                <a:tc>
                  <a:txBody>
                    <a:bodyPr wrap="none"/>
                    <a:lstStyle/>
                    <a:p>
                      <a:pPr marL="0" indent="0" algn="l">
                        <a:spcAft>
                          <a:spcPts val="0"/>
                        </a:spcAft>
                        <a:buNone/>
                      </a:pPr>
                      <a:r>
                        <a:rPr sz="1700" b="1">
                          <a:solidFill>
                            <a:srgbClr val="1D1D1F"/>
                          </a:solidFill>
                          <a:latin typeface="Helvetica Neue"/>
                        </a:rPr>
                        <a:t>cab</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22</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12717">
                <a:tc>
                  <a:txBody>
                    <a:bodyPr wrap="none"/>
                    <a:lstStyle/>
                    <a:p>
                      <a:pPr marL="0" indent="0" algn="l">
                        <a:spcAft>
                          <a:spcPts val="0"/>
                        </a:spcAft>
                        <a:buNone/>
                      </a:pPr>
                      <a:r>
                        <a:rPr sz="1700" b="1">
                          <a:solidFill>
                            <a:srgbClr val="1D1D1F"/>
                          </a:solidFill>
                          <a:latin typeface="Helvetica Neue"/>
                        </a:rPr>
                        <a:t>boots</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47</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12717">
                <a:tc>
                  <a:txBody>
                    <a:bodyPr wrap="none"/>
                    <a:lstStyle/>
                    <a:p>
                      <a:pPr marL="0" indent="0" algn="l">
                        <a:spcAft>
                          <a:spcPts val="0"/>
                        </a:spcAft>
                        <a:buNone/>
                      </a:pPr>
                      <a:r>
                        <a:rPr sz="1700" b="1">
                          <a:solidFill>
                            <a:srgbClr val="1D1D1F"/>
                          </a:solidFill>
                          <a:latin typeface="Helvetica Neue"/>
                        </a:rPr>
                        <a:t>bruise</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45</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bl>
          </a:graphicData>
        </a:graphic>
      </p:graphicFrame>
      <p:sp>
        <p:nvSpPr>
          <p:cNvPr id="6" name="TextBox 5"/>
          <p:cNvSpPr txBox="1"/>
          <p:nvPr/>
        </p:nvSpPr>
        <p:spPr>
          <a:xfrm>
            <a:off x="5925312" y="1078992"/>
            <a:ext cx="2761488" cy="3589019"/>
          </a:xfrm>
          <a:prstGeom prst="rect">
            <a:avLst/>
          </a:prstGeom>
          <a:noFill/>
        </p:spPr>
        <p:txBody>
          <a:bodyPr wrap="square" anchor="t" lIns="0" rIns="0" tIns="0" bIns="0">
            <a:spAutoFit/>
          </a:bodyPr>
          <a:lstStyle/>
          <a:p>
            <a:pPr marL="0" indent="0" algn="l">
              <a:spcAft>
                <a:spcPts val="1000"/>
              </a:spcAft>
              <a:buNone/>
            </a:pPr>
            <a:r>
              <a:rPr sz="1100" b="1" spc="70">
                <a:solidFill>
                  <a:srgbClr val="86868B"/>
                </a:solidFill>
                <a:latin typeface="Helvetica Neue"/>
              </a:rPr>
              <a:t>WHAT THAT LEAVES</a:t>
            </a:r>
          </a:p>
          <a:p>
            <a:pPr marL="0" indent="0">
              <a:spcAft>
                <a:spcPts val="900"/>
              </a:spcAft>
              <a:buNone/>
            </a:pPr>
            <a:r>
              <a:rPr sz="1300">
                <a:solidFill>
                  <a:srgbClr val="1D1D1F"/>
                </a:solidFill>
                <a:latin typeface="Helvetica Neue"/>
              </a:rPr>
              <a:t>0 case files note all six, so there is no string to find.</a:t>
            </a:r>
          </a:p>
          <a:p>
            <a:pPr marL="0" indent="0">
              <a:spcAft>
                <a:spcPts val="900"/>
              </a:spcAft>
              <a:buNone/>
            </a:pPr>
            <a:r>
              <a:rPr sz="1300">
                <a:solidFill>
                  <a:srgbClr val="1D1D1F"/>
                </a:solidFill>
                <a:latin typeface="Helvetica Neue"/>
              </a:rPr>
              <a:t>Each word alone returns a pile too big to read.</a:t>
            </a:r>
          </a:p>
          <a:p>
            <a:pPr marL="0" indent="0">
              <a:spcAft>
                <a:spcPts val="900"/>
              </a:spcAft>
              <a:buNone/>
            </a:pPr>
            <a:r>
              <a:rPr sz="1300">
                <a:solidFill>
                  <a:srgbClr val="1D1D1F"/>
                </a:solidFill>
                <a:latin typeface="Helvetica Neue"/>
              </a:rPr>
              <a:t>The question is which case is MOST like the scene.</a:t>
            </a:r>
          </a:p>
        </p:txBody>
      </p:sp>
      <p:sp>
        <p:nvSpPr>
          <p:cNvPr id="7" name="TextBox 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the 100-case casebook in today's notebook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"cat" is as far from "dog" as from "algebra"</a:t>
            </a:r>
          </a:p>
        </p:txBody>
      </p:sp>
      <p:pic>
        <p:nvPicPr>
          <p:cNvPr id="5" name="Picture 4" descr="&quot;cat&quot; is as far from &quot;dog&quot; as from &quot;algebra&quot;"/>
          <p:cNvPicPr>
            <a:picLocks noChangeAspect="1"/>
          </p:cNvPicPr>
          <p:nvPr/>
        </p:nvPicPr>
        <p:blipFill>
          <a:blip r:embed="rId3"/>
          <a:stretch>
            <a:fillRect/>
          </a:stretch>
        </p:blipFill>
        <p:spPr>
          <a:xfrm>
            <a:off x="694319" y="1078992"/>
            <a:ext cx="775536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"You shall know a word by the company it keeps"</a:t>
            </a:r>
          </a:p>
        </p:txBody>
      </p:sp>
      <p:pic>
        <p:nvPicPr>
          <p:cNvPr id="5" name="Picture 4" descr="&quot;You shall know a word by the company it keeps&quot;"/>
          <p:cNvPicPr>
            <a:picLocks noChangeAspect="1"/>
          </p:cNvPicPr>
          <p:nvPr/>
        </p:nvPicPr>
        <p:blipFill>
          <a:blip r:embed="rId3"/>
          <a:stretch>
            <a:fillRect/>
          </a:stretch>
        </p:blipFill>
        <p:spPr>
          <a:xfrm>
            <a:off x="830795" y="1078992"/>
            <a:ext cx="748240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Firth 1957; the tezguino example is from Lin 1998, via SLP3 Ch. 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tf gives london the same score as creosote</a:t>
            </a:r>
          </a:p>
        </p:txBody>
      </p:sp>
      <p:graphicFrame>
        <p:nvGraphicFramePr>
          <p:cNvPr id="5" name="Table 4"/>
          <p:cNvGraphicFramePr>
            <a:graphicFrameLocks noGrp="1"/>
          </p:cNvGraphicFramePr>
          <p:nvPr/>
        </p:nvGraphicFramePr>
        <p:xfrm>
          <a:off x="457200" y="1456182"/>
          <a:ext cx="8229600" cy="2834640"/>
        </p:xfrm>
        <a:graphic>
          <a:graphicData uri="http://schemas.openxmlformats.org/drawingml/2006/table">
            <a:tbl>
              <a:tblPr firstRow="1" bandRow="0"/>
              <a:tblGrid>
                <a:gridCol w="2139696"/>
                <a:gridCol w="3044952"/>
                <a:gridCol w="3044952"/>
              </a:tblGrid>
              <a:tr h="566928">
                <a:tc>
                  <a:txBody>
                    <a:bodyPr wrap="none"/>
                    <a:lstStyle/>
                    <a:p>
                      <a:pPr marL="0" indent="0" algn="l">
                        <a:spcAft>
                          <a:spcPts val="0"/>
                        </a:spcAft>
                        <a:buNone/>
                      </a:pPr>
                      <a:r>
                        <a:rPr sz="1100" b="1" spc="50">
                          <a:solidFill>
                            <a:srgbClr val="86868B"/>
                          </a:solidFill>
                          <a:latin typeface="Helvetica Neue"/>
                        </a:rPr>
                        <a:t>CASE FILE</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OBSERVATIONS</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TF OF EACH</a:t>
                      </a:r>
                    </a:p>
                  </a:txBody>
                  <a:tcPr marL="54864" marR="54864" anchor="ctr">
                    <a:lnL w="12700" cap="flat" cmpd="sng" algn="ctr">
                      <a:noFill/>
                    </a:lnL>
                    <a:lnR w="12700" cap="flat" cmpd="sng" algn="ctr">
                      <a:noFill/>
                    </a:lnR>
                    <a:lnT w="12700" cap="flat" cmpd="sng" algn="ctr">
                      <a:no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1 the riverside warehouse</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creosote boots mud rope london tar</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0.167</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2 the pawnbroker's back room</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ledger boots tobacco london gaslight</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0.200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3 the area railings</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boots bruise rain london mud</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0.200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4 the cabman's testimony</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cab boots mud london rain bruise</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0.167</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bl>
          </a:graphicData>
        </a:graphic>
      </p:graphicFrame>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the four-case corpus in today's notebook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idf switches london off by arithmetic</a:t>
            </a:r>
          </a:p>
        </p:txBody>
      </p:sp>
      <p:graphicFrame>
        <p:nvGraphicFramePr>
          <p:cNvPr id="5" name="Table 4"/>
          <p:cNvGraphicFramePr>
            <a:graphicFrameLocks noGrp="1"/>
          </p:cNvGraphicFramePr>
          <p:nvPr/>
        </p:nvGraphicFramePr>
        <p:xfrm>
          <a:off x="457200" y="1078992"/>
          <a:ext cx="8229600" cy="3589019"/>
        </p:xfrm>
        <a:graphic>
          <a:graphicData uri="http://schemas.openxmlformats.org/drawingml/2006/table">
            <a:tbl>
              <a:tblPr firstRow="1" bandRow="0"/>
              <a:tblGrid>
                <a:gridCol w="2139696"/>
                <a:gridCol w="2029968"/>
                <a:gridCol w="2029968"/>
                <a:gridCol w="2029968"/>
              </a:tblGrid>
              <a:tr h="512717">
                <a:tc>
                  <a:txBody>
                    <a:bodyPr wrap="none"/>
                    <a:lstStyle/>
                    <a:p>
                      <a:pPr marL="0" indent="0" algn="l">
                        <a:spcAft>
                          <a:spcPts val="0"/>
                        </a:spcAft>
                        <a:buNone/>
                      </a:pPr>
                      <a:r>
                        <a:rPr sz="1100" b="1" spc="50">
                          <a:solidFill>
                            <a:srgbClr val="86868B"/>
                          </a:solidFill>
                          <a:latin typeface="Helvetica Neue"/>
                        </a:rPr>
                        <a:t>OBSERVATION</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IN HOW MANY</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IDF</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TF-IDF IN CASE 1</a:t>
                      </a:r>
                    </a:p>
                  </a:txBody>
                  <a:tcPr marL="54864" marR="54864" anchor="ctr">
                    <a:lnL w="12700" cap="flat" cmpd="sng" algn="ctr">
                      <a:noFill/>
                    </a:lnL>
                    <a:lnR w="12700" cap="flat" cmpd="sng" algn="ctr">
                      <a:noFill/>
                    </a:lnR>
                    <a:lnT w="12700" cap="flat" cmpd="sng" algn="ctr">
                      <a:noFill/>
                    </a:lnT>
                    <a:lnB w="12700" cap="flat" cmpd="sng" algn="ctr">
                      <a:noFill/>
                    </a:lnB>
                    <a:noFill/>
                  </a:tcPr>
                </a:tc>
              </a:tr>
              <a:tr h="512717">
                <a:tc>
                  <a:txBody>
                    <a:bodyPr wrap="none"/>
                    <a:lstStyle/>
                    <a:p>
                      <a:pPr marL="0" indent="0" algn="l">
                        <a:spcAft>
                          <a:spcPts val="0"/>
                        </a:spcAft>
                        <a:buNone/>
                      </a:pPr>
                      <a:r>
                        <a:rPr sz="1700" b="1">
                          <a:solidFill>
                            <a:srgbClr val="1D1D1F"/>
                          </a:solidFill>
                          <a:latin typeface="Helvetica Neue"/>
                        </a:rPr>
                        <a:t>creosote</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1</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1.386</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0.2310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12717">
                <a:tc>
                  <a:txBody>
                    <a:bodyPr wrap="none"/>
                    <a:lstStyle/>
                    <a:p>
                      <a:pPr marL="0" indent="0" algn="l">
                        <a:spcAft>
                          <a:spcPts val="0"/>
                        </a:spcAft>
                        <a:buNone/>
                      </a:pPr>
                      <a:r>
                        <a:rPr sz="1700" b="1">
                          <a:solidFill>
                            <a:srgbClr val="1D1D1F"/>
                          </a:solidFill>
                          <a:latin typeface="Helvetica Neue"/>
                        </a:rPr>
                        <a:t>rope</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1</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1.386</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0.2310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12717">
                <a:tc>
                  <a:txBody>
                    <a:bodyPr wrap="none"/>
                    <a:lstStyle/>
                    <a:p>
                      <a:pPr marL="0" indent="0" algn="l">
                        <a:spcAft>
                          <a:spcPts val="0"/>
                        </a:spcAft>
                        <a:buNone/>
                      </a:pPr>
                      <a:r>
                        <a:rPr sz="1700" b="1">
                          <a:solidFill>
                            <a:srgbClr val="1D1D1F"/>
                          </a:solidFill>
                          <a:latin typeface="Helvetica Neue"/>
                        </a:rPr>
                        <a:t>tar</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1</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1.386</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0.2310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12717">
                <a:tc>
                  <a:txBody>
                    <a:bodyPr wrap="none"/>
                    <a:lstStyle/>
                    <a:p>
                      <a:pPr marL="0" indent="0" algn="l">
                        <a:spcAft>
                          <a:spcPts val="0"/>
                        </a:spcAft>
                        <a:buNone/>
                      </a:pPr>
                      <a:r>
                        <a:rPr sz="1700" b="1">
                          <a:solidFill>
                            <a:srgbClr val="1D1D1F"/>
                          </a:solidFill>
                          <a:latin typeface="Helvetica Neue"/>
                        </a:rPr>
                        <a:t>mud</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3</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0.288</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0.0479</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12717">
                <a:tc>
                  <a:txBody>
                    <a:bodyPr wrap="none"/>
                    <a:lstStyle/>
                    <a:p>
                      <a:pPr marL="0" indent="0" algn="l">
                        <a:spcAft>
                          <a:spcPts val="0"/>
                        </a:spcAft>
                        <a:buNone/>
                      </a:pPr>
                      <a:r>
                        <a:rPr sz="1700" b="1">
                          <a:solidFill>
                            <a:srgbClr val="1D1D1F"/>
                          </a:solidFill>
                          <a:latin typeface="Helvetica Neue"/>
                        </a:rPr>
                        <a:t>boots</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4</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0.000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0.0000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12717">
                <a:tc>
                  <a:txBody>
                    <a:bodyPr wrap="none"/>
                    <a:lstStyle/>
                    <a:p>
                      <a:pPr marL="0" indent="0" algn="l">
                        <a:spcAft>
                          <a:spcPts val="0"/>
                        </a:spcAft>
                        <a:buNone/>
                      </a:pPr>
                      <a:r>
                        <a:rPr sz="1700" b="1">
                          <a:solidFill>
                            <a:srgbClr val="1D1D1F"/>
                          </a:solidFill>
                          <a:latin typeface="Helvetica Neue"/>
                        </a:rPr>
                        <a:t>london</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4</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0.000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0.0000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bl>
          </a:graphicData>
        </a:graphic>
      </p:graphicFrame>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the four-case corpus in today's notebook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3400" b="1">
                <a:solidFill>
                  <a:srgbClr val="7C2529"/>
                </a:solidFill>
              </a:rPr>
              <a:t>Let's walk through Parts 1 and 2 in the notebook</a:t>
            </a:r>
          </a:p>
          <a:p>
            <a:pPr algn="ctr" marL="0" indent="0">
              <a:buNone/>
            </a:pPr>
            <a:r>
              <a:rPr sz="2000">
                <a:solidFill>
                  <a:srgbClr val="222222"/>
                </a:solidFill>
              </a:rPr>
              <a:t>Count them, then weight them by how rare they are.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Cosine: the angle, not the distance</a:t>
            </a:r>
          </a:p>
        </p:txBody>
      </p:sp>
      <p:pic>
        <p:nvPicPr>
          <p:cNvPr id="5" name="Picture 4" descr="Cosine: the angle, not the distance"/>
          <p:cNvPicPr>
            <a:picLocks noChangeAspect="1"/>
          </p:cNvPicPr>
          <p:nvPr/>
        </p:nvPicPr>
        <p:blipFill>
          <a:blip r:embed="rId3"/>
          <a:stretch>
            <a:fillRect/>
          </a:stretch>
        </p:blipFill>
        <p:spPr>
          <a:xfrm>
            <a:off x="836347" y="1078992"/>
            <a:ext cx="747130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SLP3 Ch. 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3400" b="1">
                <a:solidFill>
                  <a:srgbClr val="7C2529"/>
                </a:solidFill>
              </a:rPr>
              <a:t>Let's walk through Parts 3 and 4 in the notebook</a:t>
            </a:r>
          </a:p>
          <a:p>
            <a:pPr algn="ctr" marL="0" indent="0">
              <a:buNone/>
            </a:pPr>
            <a:r>
              <a:rPr sz="2000">
                <a:solidFill>
                  <a:srgbClr val="222222"/>
                </a:solidFill>
              </a:rPr>
              <a:t>Then point it at all one hundred case files.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Then the casebook race."/>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course-standard break figure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more observation, and one question each</a:t>
            </a:r>
          </a:p>
        </p:txBody>
      </p:sp>
      <p:sp>
        <p:nvSpPr>
          <p:cNvPr id="5" name="Rounded Rectangle 4"/>
          <p:cNvSpPr/>
          <p:nvPr/>
        </p:nvSpPr>
        <p:spPr>
          <a:xfrm>
            <a:off x="457200" y="1139380"/>
            <a:ext cx="2645664" cy="3468243"/>
          </a:xfrm>
          <a:prstGeom prst="roundRect">
            <a:avLst>
              <a:gd name="adj" fmla="val 4493"/>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1285684"/>
            <a:ext cx="2279904" cy="3175635"/>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FIX THE SEARCH</a:t>
            </a:r>
          </a:p>
          <a:p>
            <a:pPr marL="0" indent="0">
              <a:spcAft>
                <a:spcPts val="300"/>
              </a:spcAft>
              <a:buNone/>
            </a:pPr>
            <a:r>
              <a:rPr sz="1950" b="0" u="none">
                <a:solidFill>
                  <a:srgbClr val="1D1D1F"/>
                </a:solidFill>
                <a:latin typeface="Menlo"/>
              </a:rPr>
              <a:t>It scores one case file. Make it score a hundred.</a:t>
            </a:r>
          </a:p>
        </p:txBody>
      </p:sp>
      <p:sp>
        <p:nvSpPr>
          <p:cNvPr id="7" name="Rounded Rectangle 6"/>
          <p:cNvSpPr/>
          <p:nvPr/>
        </p:nvSpPr>
        <p:spPr>
          <a:xfrm>
            <a:off x="3249168" y="1139380"/>
            <a:ext cx="2645664" cy="3468243"/>
          </a:xfrm>
          <a:prstGeom prst="roundRect">
            <a:avLst>
              <a:gd name="adj" fmla="val 4493"/>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432048" y="1285684"/>
            <a:ext cx="2279904" cy="3175635"/>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SEND WIGGINS BACK</a:t>
            </a:r>
          </a:p>
          <a:p>
            <a:pPr marL="0" indent="0">
              <a:spcAft>
                <a:spcPts val="300"/>
              </a:spcAft>
              <a:buNone/>
            </a:pPr>
            <a:r>
              <a:rPr sz="1950" b="0" u="none">
                <a:solidFill>
                  <a:srgbClr val="1D1D1F"/>
                </a:solidFill>
                <a:latin typeface="Menlo"/>
              </a:rPr>
              <a:t>Which single observation would raise your confidence most, and which would change which case you chase?</a:t>
            </a:r>
          </a:p>
        </p:txBody>
      </p:sp>
      <p:sp>
        <p:nvSpPr>
          <p:cNvPr id="9" name="Rounded Rectangle 8"/>
          <p:cNvSpPr/>
          <p:nvPr/>
        </p:nvSpPr>
        <p:spPr>
          <a:xfrm>
            <a:off x="6041136" y="1139380"/>
            <a:ext cx="2645664" cy="3468243"/>
          </a:xfrm>
          <a:prstGeom prst="roundRect">
            <a:avLst>
              <a:gd name="adj" fmla="val 4493"/>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224016" y="1285684"/>
            <a:ext cx="2279904" cy="3175635"/>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THEN BE HONEST</a:t>
            </a:r>
          </a:p>
          <a:p>
            <a:pPr marL="0" indent="0">
              <a:spcAft>
                <a:spcPts val="300"/>
              </a:spcAft>
              <a:buNone/>
            </a:pPr>
            <a:r>
              <a:rPr sz="1950" b="0" u="none">
                <a:solidFill>
                  <a:srgbClr val="1D1D1F"/>
                </a:solidFill>
                <a:latin typeface="Menlo"/>
              </a:rPr>
              <a:t>Which of your six is doing the least work?</a:t>
            </a:r>
          </a:p>
        </p:txBody>
      </p:sp>
      <p:sp>
        <p:nvSpPr>
          <p:cNvPr id="11" name="TextBox 10"/>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the casebook in today's notebook</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