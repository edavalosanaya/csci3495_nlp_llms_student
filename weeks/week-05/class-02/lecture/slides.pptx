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 day: today you build, piece by piece, the block every modern LLM is made of.</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(2017): what if attention is all you need? Drop recurrence entirely.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language model must not see its own answer: each position attends to itself and everything BEFORE it, never after. Keep this picture; the mask slide shows how it is enforced.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version (no matrix tricks yet): project x into its three roles, score against every earlier token, softmax, blend the values. Reference slide for the lab. Same skeleton as Monday's attention (score, softmax, weighted sum); the news is the three learned projections and the sqrt(d_k) scale.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Cross-attention self-attention: previously the decoder attended to the encoder; now a sequence attends to itself.</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equations, rewritten for all N tokens at once: three multiplies make Q, K, V; one multiply scores every pair; mask, softmax, blend. No loop over positions anywhere. Identical math to the per-token slides, just computed for all N tokens at once as a handful of matrix multiplies. THIS is the parallelism the quiz asks about, and exactly what you implement in the lab.</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row: X times W^Q, W^K, W^V gives every query, key, and value. Bottom row: QK^T scores all pairs, the mask blanks the future, and the weighted sum of V finishes all N positions in one shot. Match each arrow to the equations on the previous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and you have the whole formula. Score every query against every key, scale by the square root of d k so the softmax does not saturate, then blend the values by those weights. Everything else in a Transformer is plumbing around this.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small detail with a big effect, and a favorite exam question.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input, several heads, each learning to listen for something different, and then the parts are blended back together. One head may track syntax, another coreference. Nobody assigns those roles; they fall out of training.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paper's two diagrams. Left is exactly the formula from two slides ago as a circuit, and what you build first in the lab; right runs h copies on lower-dim projections, concats, and projects back.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lines on top of the single-head math: A copies of the projections, A heads, one concat and one mix-down. Reference slide for milestone 2 of the lab. Multi-head = the same attention run A times with different learned glasses on, then blended. Nothing else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Multi-head = several views of the sequence, combined, more expressive than one big head.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use fixed sinusoids at many frequencies instead of learned positions; both work, and the sinusoids need no training.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mental model: each token flows UP its own column (the residual stream), and the attention and feedforward components ADD information to it as it rises. Attention is the only place columns talk to each other.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block on the residual stream: layer norm, multi-head attention (the only part that reads other streams, dashed arrows), add; layer norm, feedforward, add. Stack N of these.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arrow to remember: an attention head copies information from token A's stream into token B's stream. Everything else in the block just processes what has already arrived.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of the stack: the final hidden vector is multiplied by the unembedding matrix to get one logit per vocabulary word, and a softmax turns the logits into next-word probabilities.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token, embeddings plus positions, N stacked blocks, LM head, predicted next token. This is the architecture of GPT-style models, assembled entirely from today's parts.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stack at once: each column rises through the blocks, and the arrows show attention pulling information from PRECEDING columns only. Deep layers can see everything any earlier token computed.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recurrence means the whole sequence runs at once. GPUs love that, and so does scaling.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7-8). Trade-off: comparing all pairs costs O(n ) in sequence length 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5 lecture + Attention Is All You Need (Vaswani 2017). Clear your desk; finish early and your break starts early, need more time and it comes out of the break.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quiz the rest of the period is theirs. They are building the actual core of every model in this course, which is worth saying out loud before they start.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milestones. Stable softmax and scaled dot-product attention, then the causal mask so a token cannot see its own future, then splitting and recombining heads. Each one has its own test, so they always know where they stand.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Verify with the provided pytest suite at each milestone.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tests green. Point at the causal-mask test in particular: it is the one that fails silently in real code, because a model that peeks at the future trains beautifully and is useless.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Self-attention lets every token see every other token, with no recurrence, so the sequence trains in parallel. The square root of d k keeps the softmax out of its saturated corners. Multiple heads read for different things at once.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Project proposal is due today, written only. HW3 on attention and Transformers releases next class. Read the BERT paper for next week; ELMo is optional and will not be quizzed.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jpg"/><Relationship Id="rId4" Type="http://schemas.openxmlformats.org/officeDocument/2006/relationships/hyperlink" Target="https://www.youtube.com/watch?v=H39Z_720T5s" TargetMode="External"/><Relationship Id="rId5"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4.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Transformer: Self-Attention, Multi-Head &amp; Positional Encoding</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2</a:t>
            </a:r>
          </a:p>
        </p:txBody>
      </p:sp>
      <p:pic>
        <p:nvPicPr>
          <p:cNvPr id="5" name="Picture 4" descr="The Transformer: Self-Attention, Multi-Head &amp; Positional Encoding"/>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Self-attention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Only look left: causal self-attention</a:t>
            </a:r>
          </a:p>
        </p:txBody>
      </p:sp>
      <p:pic>
        <p:nvPicPr>
          <p:cNvPr id="5" name="Picture 4" descr="Only look left: causal self-attention"/>
          <p:cNvPicPr>
            <a:picLocks noChangeAspect="1"/>
          </p:cNvPicPr>
          <p:nvPr/>
        </p:nvPicPr>
        <p:blipFill>
          <a:blip r:embed="rId3"/>
          <a:stretch>
            <a:fillRect/>
          </a:stretch>
        </p:blipFill>
        <p:spPr>
          <a:xfrm>
            <a:off x="274320" y="1483727"/>
            <a:ext cx="8595360" cy="2779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head, in equations</a:t>
            </a:r>
          </a:p>
        </p:txBody>
      </p:sp>
      <p:pic>
        <p:nvPicPr>
          <p:cNvPr id="5" name="Picture 4" descr="One head, in equations"/>
          <p:cNvPicPr>
            <a:picLocks noChangeAspect="1"/>
          </p:cNvPicPr>
          <p:nvPr/>
        </p:nvPicPr>
        <p:blipFill>
          <a:blip r:embed="rId3"/>
          <a:stretch>
            <a:fillRect/>
          </a:stretch>
        </p:blipFill>
        <p:spPr>
          <a:xfrm>
            <a:off x="326209" y="1078992"/>
            <a:ext cx="84915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8.10-8.14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 Value from one input</a:t>
            </a:r>
          </a:p>
        </p:txBody>
      </p:sp>
      <p:pic>
        <p:nvPicPr>
          <p:cNvPr id="5" name="Picture 4" descr="Query, Key, Value from one inpu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parallelize: pack the tokens into one matrix X</a:t>
            </a:r>
          </a:p>
        </p:txBody>
      </p:sp>
      <p:pic>
        <p:nvPicPr>
          <p:cNvPr id="5" name="Picture 4" descr="Now parallelize: pack the tokens into one matrix X"/>
          <p:cNvPicPr>
            <a:picLocks noChangeAspect="1"/>
          </p:cNvPicPr>
          <p:nvPr/>
        </p:nvPicPr>
        <p:blipFill>
          <a:blip r:embed="rId3"/>
          <a:stretch>
            <a:fillRect/>
          </a:stretch>
        </p:blipFill>
        <p:spPr>
          <a:xfrm>
            <a:off x="274320" y="1265230"/>
            <a:ext cx="8595360" cy="3216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8.32-8.34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parallel computation, drawn</a:t>
            </a:r>
          </a:p>
        </p:txBody>
      </p:sp>
      <p:pic>
        <p:nvPicPr>
          <p:cNvPr id="5" name="Picture 4" descr="The parallel computation, drawn"/>
          <p:cNvPicPr>
            <a:picLocks noChangeAspect="1"/>
          </p:cNvPicPr>
          <p:nvPr/>
        </p:nvPicPr>
        <p:blipFill>
          <a:blip r:embed="rId3"/>
          <a:stretch>
            <a:fillRect/>
          </a:stretch>
        </p:blipFill>
        <p:spPr>
          <a:xfrm>
            <a:off x="1972434" y="1078992"/>
            <a:ext cx="5199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Scaled dot-product attention</a:t>
            </a:r>
          </a:p>
        </p:txBody>
      </p:sp>
      <p:pic>
        <p:nvPicPr>
          <p:cNvPr id="5" name="Picture 4" descr="Scaled dot-product attention"/>
          <p:cNvPicPr>
            <a:picLocks noChangeAspect="1"/>
          </p:cNvPicPr>
          <p:nvPr/>
        </p:nvPicPr>
        <p:blipFill>
          <a:blip r:embed="rId3"/>
          <a:stretch>
            <a:fillRect/>
          </a:stretch>
        </p:blipFill>
        <p:spPr>
          <a:xfrm>
            <a:off x="535270" y="1078992"/>
            <a:ext cx="80734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Eq. 1;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divide by sqrt(d_k)?</a:t>
            </a:r>
          </a:p>
        </p:txBody>
      </p:sp>
      <p:pic>
        <p:nvPicPr>
          <p:cNvPr id="5" name="Picture 4" descr="Why divide by sqrt(d_k)?"/>
          <p:cNvPicPr>
            <a:picLocks noChangeAspect="1"/>
          </p:cNvPicPr>
          <p:nvPr/>
        </p:nvPicPr>
        <p:blipFill>
          <a:blip r:embed="rId3"/>
          <a:stretch>
            <a:fillRect/>
          </a:stretch>
        </p:blipFill>
        <p:spPr>
          <a:xfrm>
            <a:off x="519881" y="1078992"/>
            <a:ext cx="81042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3.2.1;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Multi-head &amp;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any players read the same score at once, each listening for something different, then blend."/>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Multi-head attention is like a string section</a:t>
            </a:r>
          </a:p>
          <a:p>
            <a:pPr algn="ctr" marL="0" indent="0">
              <a:buNone/>
            </a:pPr>
            <a:r>
              <a:rPr sz="2000">
                <a:solidFill>
                  <a:srgbClr val="FFFFFF"/>
                </a:solidFill>
              </a:rPr>
              <a:t>Many players read the same score at once, each listening for something different, then blend.</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https://images.unsplash.com/photo-1465847899084-d164df4dedc6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attention unit, then h of them in parallel</a:t>
            </a:r>
          </a:p>
        </p:txBody>
      </p:sp>
      <p:pic>
        <p:nvPicPr>
          <p:cNvPr id="5" name="Picture 4" descr="One attention unit, then h of them in parallel"/>
          <p:cNvPicPr>
            <a:picLocks noChangeAspect="1"/>
          </p:cNvPicPr>
          <p:nvPr/>
        </p:nvPicPr>
        <p:blipFill>
          <a:blip r:embed="rId3"/>
          <a:stretch>
            <a:fillRect/>
          </a:stretch>
        </p:blipFill>
        <p:spPr>
          <a:xfrm>
            <a:off x="1338496" y="1078992"/>
            <a:ext cx="6467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in equations</a:t>
            </a:r>
          </a:p>
        </p:txBody>
      </p:sp>
      <p:pic>
        <p:nvPicPr>
          <p:cNvPr id="5" name="Picture 4" descr="Multi-head, in equations"/>
          <p:cNvPicPr>
            <a:picLocks noChangeAspect="1"/>
          </p:cNvPicPr>
          <p:nvPr/>
        </p:nvPicPr>
        <p:blipFill>
          <a:blip r:embed="rId3"/>
          <a:stretch>
            <a:fillRect/>
          </a:stretch>
        </p:blipFill>
        <p:spPr>
          <a:xfrm>
            <a:off x="274320" y="1107424"/>
            <a:ext cx="8595360" cy="35321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8.15-8.19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heads learn (intuition)</a:t>
            </a:r>
          </a:p>
        </p:txBody>
      </p:sp>
      <p:pic>
        <p:nvPicPr>
          <p:cNvPr id="5" name="Picture 4" descr="What heads learn (intuition)"/>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paper's version: sinusoids</a:t>
            </a:r>
          </a:p>
        </p:txBody>
      </p:sp>
      <p:pic>
        <p:nvPicPr>
          <p:cNvPr id="5" name="Picture 4" descr="The paper's version: sinusoids"/>
          <p:cNvPicPr>
            <a:picLocks noChangeAspect="1"/>
          </p:cNvPicPr>
          <p:nvPr/>
        </p:nvPicPr>
        <p:blipFill>
          <a:blip r:embed="rId3"/>
          <a:stretch>
            <a:fillRect/>
          </a:stretch>
        </p:blipFill>
        <p:spPr>
          <a:xfrm>
            <a:off x="976887" y="1078992"/>
            <a:ext cx="71902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3.5;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full block &amp; families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token's journey: the residual stream</a:t>
            </a:r>
          </a:p>
        </p:txBody>
      </p:sp>
      <p:pic>
        <p:nvPicPr>
          <p:cNvPr id="5" name="Picture 4" descr="One token's journey: the residual stream"/>
          <p:cNvPicPr>
            <a:picLocks noChangeAspect="1"/>
          </p:cNvPicPr>
          <p:nvPr/>
        </p:nvPicPr>
        <p:blipFill>
          <a:blip r:embed="rId3"/>
          <a:stretch>
            <a:fillRect/>
          </a:stretch>
        </p:blipFill>
        <p:spPr>
          <a:xfrm>
            <a:off x="2515791" y="1078992"/>
            <a:ext cx="411241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transformer block, precisely</a:t>
            </a:r>
          </a:p>
        </p:txBody>
      </p:sp>
      <p:pic>
        <p:nvPicPr>
          <p:cNvPr id="5" name="Picture 4" descr="The transformer block, precisely"/>
          <p:cNvPicPr>
            <a:picLocks noChangeAspect="1"/>
          </p:cNvPicPr>
          <p:nvPr/>
        </p:nvPicPr>
        <p:blipFill>
          <a:blip r:embed="rId3"/>
          <a:stretch>
            <a:fillRect/>
          </a:stretch>
        </p:blipFill>
        <p:spPr>
          <a:xfrm>
            <a:off x="1774214" y="1078992"/>
            <a:ext cx="559557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is FOR: moving information</a:t>
            </a:r>
          </a:p>
        </p:txBody>
      </p:sp>
      <p:pic>
        <p:nvPicPr>
          <p:cNvPr id="5" name="Picture 4" descr="What attention is FOR: moving information"/>
          <p:cNvPicPr>
            <a:picLocks noChangeAspect="1"/>
          </p:cNvPicPr>
          <p:nvPr/>
        </p:nvPicPr>
        <p:blipFill>
          <a:blip r:embed="rId3"/>
          <a:stretch>
            <a:fillRect/>
          </a:stretch>
        </p:blipFill>
        <p:spPr>
          <a:xfrm>
            <a:off x="656339" y="1078992"/>
            <a:ext cx="7831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last stop: the language modeling head</a:t>
            </a:r>
          </a:p>
        </p:txBody>
      </p:sp>
      <p:pic>
        <p:nvPicPr>
          <p:cNvPr id="5" name="Picture 4" descr="The last stop: the language modeling head"/>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thing: a decoder-only LM</a:t>
            </a:r>
          </a:p>
        </p:txBody>
      </p:sp>
      <p:pic>
        <p:nvPicPr>
          <p:cNvPr id="5" name="Picture 4" descr="The whole thing: a decoder-only LM"/>
          <p:cNvPicPr>
            <a:picLocks noChangeAspect="1"/>
          </p:cNvPicPr>
          <p:nvPr/>
        </p:nvPicPr>
        <p:blipFill>
          <a:blip r:embed="rId3"/>
          <a:stretch>
            <a:fillRect/>
          </a:stretch>
        </p:blipFill>
        <p:spPr>
          <a:xfrm>
            <a:off x="3038136" y="1078992"/>
            <a:ext cx="306772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Information flows up, and only leftward</a:t>
            </a:r>
          </a:p>
        </p:txBody>
      </p:sp>
      <p:pic>
        <p:nvPicPr>
          <p:cNvPr id="5" name="Picture 4" descr="Information flows up, and only leftward"/>
          <p:cNvPicPr>
            <a:picLocks noChangeAspect="1"/>
          </p:cNvPicPr>
          <p:nvPr/>
        </p:nvPicPr>
        <p:blipFill>
          <a:blip r:embed="rId3"/>
          <a:stretch>
            <a:fillRect/>
          </a:stretch>
        </p:blipFill>
        <p:spPr>
          <a:xfrm>
            <a:off x="2210931" y="1078992"/>
            <a:ext cx="47221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Built for parallel hardware</a:t>
            </a:r>
          </a:p>
        </p:txBody>
      </p:sp>
      <p:pic>
        <p:nvPicPr>
          <p:cNvPr id="5" name="Picture 4" descr="Built for parallel hardwar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attention-block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Extended lab: the attention block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fter the recap and the quiz, the rest of class is yours to build the core of every LLM."/>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Today is a full-period coding lab</a:t>
            </a:r>
          </a:p>
          <a:p>
            <a:pPr algn="ctr" marL="0" indent="0">
              <a:buNone/>
            </a:pPr>
            <a:r>
              <a:rPr sz="2000">
                <a:solidFill>
                  <a:srgbClr val="FFFFFF"/>
                </a:solidFill>
              </a:rPr>
              <a:t>After the recap and the quiz, the rest of class is yours to build the core of every LLM.</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https://images.unsplash.com/photo-1515879218367-8466d910aaa4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Lab plan and checkpoint milestones</a:t>
            </a:r>
          </a:p>
        </p:txBody>
      </p:sp>
      <p:pic>
        <p:nvPicPr>
          <p:cNvPr id="5" name="Picture 4" descr="Lab plan and checkpoint milestones"/>
          <p:cNvPicPr>
            <a:picLocks noChangeAspect="1"/>
          </p:cNvPicPr>
          <p:nvPr/>
        </p:nvPicPr>
        <p:blipFill>
          <a:blip r:embed="rId3"/>
          <a:stretch>
            <a:fillRect/>
          </a:stretch>
        </p:blipFill>
        <p:spPr>
          <a:xfrm>
            <a:off x="274320" y="1197407"/>
            <a:ext cx="8595360" cy="335219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Milestone build: scaled dot-product + multi-head</a:t>
            </a:r>
          </a:p>
        </p:txBody>
      </p:sp>
      <p:pic>
        <p:nvPicPr>
          <p:cNvPr id="5" name="Picture 4" descr="Milestone build: scaled dot-product + multi-head"/>
          <p:cNvPicPr>
            <a:picLocks noChangeAspect="1"/>
          </p:cNvPicPr>
          <p:nvPr/>
        </p:nvPicPr>
        <p:blipFill>
          <a:blip r:embed="rId3"/>
          <a:stretch>
            <a:fillRect/>
          </a:stretch>
        </p:blipFill>
        <p:spPr>
          <a:xfrm>
            <a:off x="274320" y="1140104"/>
            <a:ext cx="8595360" cy="3466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weeks/week-05/class-02/exercise/attention_lab.py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182370" y="1078992"/>
            <a:ext cx="67792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weeks/week-05/class-02/solutions/attention_lab.py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946107" y="1078992"/>
            <a:ext cx="72517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526341" y="1078992"/>
            <a:ext cx="80913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Font Awesome Free (CC BY 4.0)</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