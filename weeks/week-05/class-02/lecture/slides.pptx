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8" r:id="rId1"/>
  </p:sldMasterIdLst>
  <p:notesMasterIdLst>
    <p:notesMasterId r:id="rId18"/>
  </p:notesMasterIdLst>
  <p:sldIdLst>
    <p:sldId id="256" r:id="rId2"/>
    <p:sldId id="280" r:id="rId3"/>
    <p:sldId id="281" r:id="rId4"/>
    <p:sldId id="282" r:id="rId5"/>
    <p:sldId id="276" r:id="rId6"/>
    <p:sldId id="277" r:id="rId7"/>
    <p:sldId id="278" r:id="rId8"/>
    <p:sldId id="271" r:id="rId9"/>
    <p:sldId id="272" r:id="rId10"/>
    <p:sldId id="273" r:id="rId11"/>
    <p:sldId id="279" r:id="rId12"/>
    <p:sldId id="274" r:id="rId13"/>
    <p:sldId id="275" r:id="rId14"/>
    <p:sldId id="269" r:id="rId15"/>
    <p:sldId id="270" r:id="rId16"/>
    <p:sldId id="266" r:id="rId17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9"/>
    </p:embeddedFont>
    <p:embeddedFont>
      <p:font typeface="Playfair Display" pitchFamily="2" charset="77"/>
      <p:regular r:id="rId20"/>
      <p:bold r:id="rId21"/>
      <p:italic r:id="rId22"/>
      <p:boldItalic r:id="rId23"/>
    </p:embeddedFont>
    <p:embeddedFont>
      <p:font typeface="Roboto" panose="02000000000000000000" pitchFamily="2" charset="0"/>
      <p:regular r:id="rId24"/>
      <p:bold r:id="rId25"/>
      <p:italic r:id="rId26"/>
      <p:boldItalic r:id="rId27"/>
    </p:embeddedFont>
    <p:embeddedFont>
      <p:font typeface="Roboto Light" panose="020F0302020204030204" pitchFamily="3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 varScale="1">
        <p:scale>
          <a:sx n="160" d="100"/>
          <a:sy n="160" d="100"/>
        </p:scale>
        <p:origin x="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523" y="685800"/>
            <a:ext cx="4571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jp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l="600" t="43847" r="-600" b="13732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2 Columns">
  <p:cSld name="2_Portfolio Thre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body" idx="1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2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3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3 Columns">
  <p:cSld name="1_Slide with Placehol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2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3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4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">
  <p:cSld name="Cover Slid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 with Logo">
  <p:cSld name="Cover Slide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Acknowledgments Slide">
  <p:cSld name="Cover Slide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sz="560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1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only">
  <p:cSld name="Custom Layou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ig Concept Slide">
  <p:cSld name="Slide with Placehol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">
  <p:cSld name="Large Picture with Logo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l="27412" r="6551" b="2009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1">
  <p:cSld name="Large Picture with Logo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2">
  <p:cSld name="Large Picture with Logo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l="27412" r="6551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l="895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l="39028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3">
  <p:cSld name="Large Picture with Logo_1_1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l="24210" r="1252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4">
  <p:cSld name="Large Picture with Logo_1_1_1_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l="34525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">
  <p:cSld name="3_Placeholder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 1">
  <p:cSld name="3_Placeholder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ingle Statistic">
  <p:cSld name="1_Placeholder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subTitle" idx="2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subTitle" idx="3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title" idx="4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Multiple Statistics">
  <p:cSld name="1_Placeholder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ubTitle" idx="2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title" idx="3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subTitle" idx="4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title" idx="5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subTitle" idx="6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Quote">
  <p:cSld name="CUSTOM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 b="1">
                <a:solidFill>
                  <a:srgbClr val="818387"/>
                </a:solidFill>
              </a:rPr>
              <a:t>“</a:t>
            </a:r>
            <a:endParaRPr sz="12000" b="1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>
            <a:spLocks noGrp="1"/>
          </p:cNvSpPr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2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3_Title Slide">
  <p:cSld name="13_Title Slide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>
            <a:spLocks noGrp="1"/>
          </p:cNvSpPr>
          <p:nvPr>
            <p:ph type="pic" idx="2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>
            <a:spLocks noGrp="1"/>
          </p:cNvSpPr>
          <p:nvPr>
            <p:ph type="pic" idx="3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>
            <a:spLocks noGrp="1"/>
          </p:cNvSpPr>
          <p:nvPr>
            <p:ph type="pic" idx="4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>
            <a:spLocks noGrp="1"/>
          </p:cNvSpPr>
          <p:nvPr>
            <p:ph type="pic" idx="5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>
            <a:spLocks noGrp="1"/>
          </p:cNvSpPr>
          <p:nvPr>
            <p:ph type="pic" idx="6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 1">
  <p:cSld name="1_Cover Pag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t="43844" r="-563" b="13732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700" tIns="25700" rIns="25700" bIns="25700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08" name="Google Shape;108;p21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1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sz="22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sz="15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sz="13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sz="11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sz="5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22">
            <a:alphaModFix/>
          </a:blip>
          <a:srcRect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gi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rPr dirty="0"/>
              <a:t>CSCI 3495</a:t>
            </a:r>
          </a:p>
          <a:p>
            <a:pPr marL="0" indent="0">
              <a:buNone/>
            </a:pPr>
            <a:r>
              <a:rPr lang="en-US" dirty="0"/>
              <a:t>LSTM &amp; Language Translation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93792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5, Class 2  ·  Wed Sep 23,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Bubba73 (Jud McCranie), Wikimedia Commons, CC BY-SA 3.0</a:t>
            </a:r>
          </a:p>
        </p:txBody>
      </p:sp>
      <p:pic>
        <p:nvPicPr>
          <p:cNvPr id="7" name="Picture 6" descr="A child with short hair&#10;&#10;AI-generated content may be incorrect.">
            <a:extLst>
              <a:ext uri="{FF2B5EF4-FFF2-40B4-BE49-F238E27FC236}">
                <a16:creationId xmlns:a16="http://schemas.microsoft.com/office/drawing/2014/main" id="{98B136E4-C00A-6227-D50E-2AB8141A5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570" y="2571750"/>
            <a:ext cx="2971800" cy="2260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0CDF439-373B-A6D5-3263-068D13C77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7" y="703910"/>
            <a:ext cx="8005800" cy="3735680"/>
          </a:xfrm>
        </p:spPr>
        <p:txBody>
          <a:bodyPr/>
          <a:lstStyle/>
          <a:p>
            <a:r>
              <a:rPr lang="en-US" sz="8800" dirty="0"/>
              <a:t>Today, we will be building a translator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6C49818-9ADB-1D94-75EC-279C567539A7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185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EB08E2C9-7219-CC69-05EC-86842F53243A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911721-31C4-BA3A-A56E-B347A5E07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43" y="438525"/>
            <a:ext cx="4473056" cy="2520728"/>
          </a:xfrm>
          <a:prstGeom prst="rect">
            <a:avLst/>
          </a:prstGeom>
        </p:spPr>
      </p:pic>
      <p:pic>
        <p:nvPicPr>
          <p:cNvPr id="11" name="Picture 10" descr="A dog wearing a sombrero&#10;&#10;AI-generated content may be incorrect.">
            <a:extLst>
              <a:ext uri="{FF2B5EF4-FFF2-40B4-BE49-F238E27FC236}">
                <a16:creationId xmlns:a16="http://schemas.microsoft.com/office/drawing/2014/main" id="{39D2CD4C-E02E-750F-3B76-EB1716700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587" y="2060559"/>
            <a:ext cx="4123470" cy="2923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B392FB7-4527-40F2-31A3-06CBF24042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577" y="2878371"/>
            <a:ext cx="2455463" cy="163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913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0D48-BF14-1616-1E01-EBE2A6A51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501489-E014-E83A-8625-519E32B21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7" y="703910"/>
            <a:ext cx="8005800" cy="3735680"/>
          </a:xfrm>
        </p:spPr>
        <p:txBody>
          <a:bodyPr/>
          <a:lstStyle/>
          <a:p>
            <a:r>
              <a:rPr lang="en-US" sz="8800" dirty="0"/>
              <a:t>A little background …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0F5BC15-9787-4BEA-D502-3C863D093951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907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0D28020-08A2-CEC0-BBBD-E4A5B7BA7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22C5FE6-FEA8-A480-806D-673162FB397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neuron&#10;&#10;AI-generated content may be incorrect.">
            <a:extLst>
              <a:ext uri="{FF2B5EF4-FFF2-40B4-BE49-F238E27FC236}">
                <a16:creationId xmlns:a16="http://schemas.microsoft.com/office/drawing/2014/main" id="{6B4703BD-3255-BF02-6FC6-4C0113ECDB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34"/>
          <a:stretch/>
        </p:blipFill>
        <p:spPr>
          <a:xfrm>
            <a:off x="4407984" y="510881"/>
            <a:ext cx="4445000" cy="42256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32CD57-02C9-3837-72CF-28DFB5EB4891}"/>
              </a:ext>
            </a:extLst>
          </p:cNvPr>
          <p:cNvSpPr txBox="1"/>
          <p:nvPr/>
        </p:nvSpPr>
        <p:spPr>
          <a:xfrm>
            <a:off x="509521" y="1401150"/>
            <a:ext cx="377345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Playfair Display" pitchFamily="2" charset="77"/>
              </a:rPr>
              <a:t>An artificial neuron simulates analyzing inputs and data transmission</a:t>
            </a:r>
          </a:p>
        </p:txBody>
      </p:sp>
    </p:spTree>
    <p:extLst>
      <p:ext uri="{BB962C8B-B14F-4D97-AF65-F5344CB8AC3E}">
        <p14:creationId xmlns:p14="http://schemas.microsoft.com/office/powerpoint/2010/main" val="142483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E05DAC-B3B0-4C9D-312B-ADCFA74FE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Neuron via Math: Vectorized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9753DB6-4E32-E139-843F-4590DB2A17E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C05D322E-84D4-99D9-1321-A569D42DD6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62" t="7740" r="5213" b="28435"/>
          <a:stretch/>
        </p:blipFill>
        <p:spPr>
          <a:xfrm>
            <a:off x="318053" y="1500284"/>
            <a:ext cx="4675368" cy="1988156"/>
          </a:xfrm>
          <a:prstGeom prst="rect">
            <a:avLst/>
          </a:prstGeom>
        </p:spPr>
      </p:pic>
      <p:pic>
        <p:nvPicPr>
          <p:cNvPr id="9" name="Picture 8" descr="A mathematical equation with a few letters&#10;&#10;AI-generated content may be incorrect.">
            <a:extLst>
              <a:ext uri="{FF2B5EF4-FFF2-40B4-BE49-F238E27FC236}">
                <a16:creationId xmlns:a16="http://schemas.microsoft.com/office/drawing/2014/main" id="{11078A6E-ECFE-4B8C-0E71-EAB4483F1B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90" y="3488440"/>
            <a:ext cx="4019885" cy="12481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FD98FA-9FB1-8624-43AE-0C58E780F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8006" y="1752889"/>
            <a:ext cx="3330497" cy="22316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4CCD6B1-9202-3DF8-D949-D73BD72953D3}"/>
              </a:ext>
            </a:extLst>
          </p:cNvPr>
          <p:cNvSpPr txBox="1"/>
          <p:nvPr/>
        </p:nvSpPr>
        <p:spPr>
          <a:xfrm>
            <a:off x="5979382" y="1394919"/>
            <a:ext cx="2981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Activation Functions</a:t>
            </a:r>
          </a:p>
        </p:txBody>
      </p:sp>
    </p:spTree>
    <p:extLst>
      <p:ext uri="{BB962C8B-B14F-4D97-AF65-F5344CB8AC3E}">
        <p14:creationId xmlns:p14="http://schemas.microsoft.com/office/powerpoint/2010/main" val="2140497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59F3D0-707C-4F43-5E3D-166869B0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Revisiting Gradient Descent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24438DC-D2FB-225F-A8CA-C349319D0116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colorful grid with a black line&#10;&#10;AI-generated content may be incorrect.">
            <a:extLst>
              <a:ext uri="{FF2B5EF4-FFF2-40B4-BE49-F238E27FC236}">
                <a16:creationId xmlns:a16="http://schemas.microsoft.com/office/drawing/2014/main" id="{2D9EA1AB-9B3E-FD67-1461-DE799093B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828" y="1401150"/>
            <a:ext cx="3919186" cy="3177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08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6046CB-B249-65BD-41BE-29C83D6F3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Earlier This Week: Many In, One Out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BDB54EB-58E4-BE0B-C103-75F746DE0979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sequence modeling&#10;&#10;AI-generated content may be incorrect.">
            <a:extLst>
              <a:ext uri="{FF2B5EF4-FFF2-40B4-BE49-F238E27FC236}">
                <a16:creationId xmlns:a16="http://schemas.microsoft.com/office/drawing/2014/main" id="{86D8EC1E-95CB-1CE2-FE7E-E81E85C8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798" t="4619" r="7022" b="70608"/>
          <a:stretch/>
        </p:blipFill>
        <p:spPr>
          <a:xfrm>
            <a:off x="4197777" y="1588875"/>
            <a:ext cx="4846217" cy="22253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B10BD6-1D7A-4C2E-6190-3A936C682E53}"/>
              </a:ext>
            </a:extLst>
          </p:cNvPr>
          <p:cNvSpPr txBox="1"/>
          <p:nvPr/>
        </p:nvSpPr>
        <p:spPr>
          <a:xfrm>
            <a:off x="509521" y="1401150"/>
            <a:ext cx="377345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Playfair Display" pitchFamily="2" charset="77"/>
              </a:rPr>
              <a:t>We trained an RNN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latin typeface="Playfair Display" pitchFamily="2" charset="77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Playfair Display" pitchFamily="2" charset="77"/>
              </a:rPr>
              <a:t>Given a sequence of text, we predicted a scalar value</a:t>
            </a:r>
          </a:p>
          <a:p>
            <a:endParaRPr lang="en-US" sz="2800" dirty="0">
              <a:latin typeface="Playfair Display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15168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9338D1C-C3EC-BD5F-9236-C818D45B1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RNN: Gradient Vanishing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C886DC5-9687-53B7-B777-A79C0C3C18D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BFCB035E-C5B0-9D7A-5919-02CE25A29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03" y="1401151"/>
            <a:ext cx="5616659" cy="29109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B3B498-7681-86E6-4049-03C372AA3139}"/>
              </a:ext>
            </a:extLst>
          </p:cNvPr>
          <p:cNvSpPr txBox="1"/>
          <p:nvPr/>
        </p:nvSpPr>
        <p:spPr>
          <a:xfrm>
            <a:off x="410430" y="1636175"/>
            <a:ext cx="323126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Playfair Display" pitchFamily="2" charset="77"/>
              </a:rPr>
              <a:t>As sequences get longer, the </a:t>
            </a:r>
            <a:r>
              <a:rPr lang="en-US" sz="2800" b="1" dirty="0">
                <a:latin typeface="Playfair Display" pitchFamily="2" charset="77"/>
              </a:rPr>
              <a:t>gradient gets weaker </a:t>
            </a:r>
            <a:r>
              <a:rPr lang="en-US" sz="2800" dirty="0">
                <a:latin typeface="Playfair Display" pitchFamily="2" charset="77"/>
              </a:rPr>
              <a:t>and the </a:t>
            </a:r>
            <a:r>
              <a:rPr lang="en-US" sz="2800" b="1" dirty="0">
                <a:latin typeface="Playfair Display" pitchFamily="2" charset="77"/>
              </a:rPr>
              <a:t>model doesn’t learn</a:t>
            </a:r>
            <a:r>
              <a:rPr lang="en-US" sz="2800" dirty="0">
                <a:latin typeface="Playfair Display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7537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942C09-C261-10A4-D204-B27AF91FD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Long-Short Term Memory (LSTM)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E83C6B0-9A72-0F7A-7E3B-E3ED90592030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DC25F32E-32E0-9862-8543-9376010D7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051" y="1401150"/>
            <a:ext cx="5739081" cy="3186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142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B0DC3-C475-1A8B-C4A6-903963EEF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CA3D84E-93D3-64F9-6FBA-2408294B9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Long-Short Term Memory (LSTM)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7F943A3-BA83-7362-200A-F9AA9F218D2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FA58D9-DB99-5697-0DFE-2827A22518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279" t="10059" r="12338" b="9369"/>
          <a:stretch/>
        </p:blipFill>
        <p:spPr>
          <a:xfrm>
            <a:off x="1321116" y="1263792"/>
            <a:ext cx="5923722" cy="347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59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D431BC-A5AE-AC3D-9860-B512B4075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In, Many Out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F9BD923-2A0D-9521-1E79-51A9F6622598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diagram of a sequence modeling&#10;&#10;AI-generated content may be incorrect.">
            <a:extLst>
              <a:ext uri="{FF2B5EF4-FFF2-40B4-BE49-F238E27FC236}">
                <a16:creationId xmlns:a16="http://schemas.microsoft.com/office/drawing/2014/main" id="{6D5B324A-4501-EEE1-9E00-00D40C9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824" t="39412" r="2665" b="26311"/>
          <a:stretch/>
        </p:blipFill>
        <p:spPr>
          <a:xfrm>
            <a:off x="4365266" y="1666896"/>
            <a:ext cx="4605639" cy="23855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AE5962-8DFD-FE5B-751F-E9D15AD1D755}"/>
              </a:ext>
            </a:extLst>
          </p:cNvPr>
          <p:cNvSpPr txBox="1"/>
          <p:nvPr/>
        </p:nvSpPr>
        <p:spPr>
          <a:xfrm>
            <a:off x="410429" y="1636175"/>
            <a:ext cx="395483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Playfair Display" pitchFamily="2" charset="77"/>
              </a:rPr>
              <a:t>Input = sequence</a:t>
            </a:r>
          </a:p>
          <a:p>
            <a:endParaRPr lang="en-US" sz="2800" dirty="0">
              <a:latin typeface="Playfair Display" pitchFamily="2" charset="77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Playfair Display" pitchFamily="2" charset="77"/>
              </a:rPr>
              <a:t>Output = sequence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latin typeface="Playfair Display" pitchFamily="2" charset="77"/>
            </a:endParaRPr>
          </a:p>
          <a:p>
            <a:r>
              <a:rPr lang="en-US" sz="2800" dirty="0">
                <a:latin typeface="Playfair Display" pitchFamily="2" charset="77"/>
              </a:rPr>
              <a:t>When do you think this would be used?</a:t>
            </a:r>
          </a:p>
        </p:txBody>
      </p:sp>
    </p:spTree>
    <p:extLst>
      <p:ext uri="{BB962C8B-B14F-4D97-AF65-F5344CB8AC3E}">
        <p14:creationId xmlns:p14="http://schemas.microsoft.com/office/powerpoint/2010/main" val="2909388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88FF58C-0953-CBB7-D84A-DAD3A98D6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vs. Classification?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A9D0B074-7433-0065-5A0A-4C98BD0508D3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comparison of a diagram&#10;&#10;AI-generated content may be incorrect.">
            <a:extLst>
              <a:ext uri="{FF2B5EF4-FFF2-40B4-BE49-F238E27FC236}">
                <a16:creationId xmlns:a16="http://schemas.microsoft.com/office/drawing/2014/main" id="{19087B85-D7AF-D5F4-57A3-1300E0CF3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21" t="10874"/>
          <a:stretch/>
        </p:blipFill>
        <p:spPr>
          <a:xfrm>
            <a:off x="6463766" y="1246824"/>
            <a:ext cx="1430597" cy="12730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B3A29F-93B3-5851-EA2B-7DF631AAC44A}"/>
              </a:ext>
            </a:extLst>
          </p:cNvPr>
          <p:cNvSpPr txBox="1"/>
          <p:nvPr/>
        </p:nvSpPr>
        <p:spPr>
          <a:xfrm>
            <a:off x="430119" y="1456807"/>
            <a:ext cx="22097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Visualization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0E361D7-6DFC-C746-D3FB-8A70925F905B}"/>
              </a:ext>
            </a:extLst>
          </p:cNvPr>
          <p:cNvCxnSpPr/>
          <p:nvPr/>
        </p:nvCxnSpPr>
        <p:spPr>
          <a:xfrm>
            <a:off x="430119" y="2571750"/>
            <a:ext cx="79982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E1FB19A-3A5D-1BB7-20B8-2380C1EE7562}"/>
              </a:ext>
            </a:extLst>
          </p:cNvPr>
          <p:cNvSpPr txBox="1"/>
          <p:nvPr/>
        </p:nvSpPr>
        <p:spPr>
          <a:xfrm>
            <a:off x="430119" y="2736699"/>
            <a:ext cx="22097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Output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FF3EF6-90CA-C329-2CCC-E998152B6374}"/>
              </a:ext>
            </a:extLst>
          </p:cNvPr>
          <p:cNvCxnSpPr/>
          <p:nvPr/>
        </p:nvCxnSpPr>
        <p:spPr>
          <a:xfrm>
            <a:off x="430119" y="3638550"/>
            <a:ext cx="79982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A9BB33-EE0B-D56C-40EE-438081518990}"/>
                  </a:ext>
                </a:extLst>
              </p:cNvPr>
              <p:cNvSpPr txBox="1"/>
              <p:nvPr/>
            </p:nvSpPr>
            <p:spPr>
              <a:xfrm>
                <a:off x="3339966" y="2889707"/>
                <a:ext cx="9975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A9BB33-EE0B-D56C-40EE-4380815189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966" y="2889707"/>
                <a:ext cx="997581" cy="430887"/>
              </a:xfrm>
              <a:prstGeom prst="rect">
                <a:avLst/>
              </a:prstGeom>
              <a:blipFill>
                <a:blip r:embed="rId3"/>
                <a:stretch>
                  <a:fillRect l="-7595" r="-7595" b="-2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FEAC82-372C-48D2-B8FF-AA2341FF85C2}"/>
                  </a:ext>
                </a:extLst>
              </p:cNvPr>
              <p:cNvSpPr txBox="1"/>
              <p:nvPr/>
            </p:nvSpPr>
            <p:spPr>
              <a:xfrm>
                <a:off x="6305440" y="2841525"/>
                <a:ext cx="145123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∈[0,1]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FEAC82-372C-48D2-B8FF-AA2341FF8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440" y="2841525"/>
                <a:ext cx="1451231" cy="430887"/>
              </a:xfrm>
              <a:prstGeom prst="rect">
                <a:avLst/>
              </a:prstGeom>
              <a:blipFill>
                <a:blip r:embed="rId4"/>
                <a:stretch>
                  <a:fillRect l="-4348" r="-7826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BDF86462-CC08-64EC-6C6B-8A4072B161B0}"/>
              </a:ext>
            </a:extLst>
          </p:cNvPr>
          <p:cNvSpPr txBox="1"/>
          <p:nvPr/>
        </p:nvSpPr>
        <p:spPr>
          <a:xfrm>
            <a:off x="430119" y="3822784"/>
            <a:ext cx="22097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Error/Loss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48EDF0-0436-EE6C-0A16-3B61BFE3E7B2}"/>
                  </a:ext>
                </a:extLst>
              </p:cNvPr>
              <p:cNvSpPr txBox="1"/>
              <p:nvPr/>
            </p:nvSpPr>
            <p:spPr>
              <a:xfrm>
                <a:off x="5929750" y="3956566"/>
                <a:ext cx="2498633" cy="4544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48EDF0-0436-EE6C-0A16-3B61BFE3E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9750" y="3956566"/>
                <a:ext cx="2498633" cy="454420"/>
              </a:xfrm>
              <a:prstGeom prst="rect">
                <a:avLst/>
              </a:prstGeom>
              <a:blipFill>
                <a:blip r:embed="rId5"/>
                <a:stretch>
                  <a:fillRect l="-3046" t="-10811" r="-508"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54E8F4-7369-2AEF-983D-94711C2FFF0C}"/>
                  </a:ext>
                </a:extLst>
              </p:cNvPr>
              <p:cNvSpPr txBox="1"/>
              <p:nvPr/>
            </p:nvSpPr>
            <p:spPr>
              <a:xfrm>
                <a:off x="2639833" y="3945538"/>
                <a:ext cx="2867580" cy="4654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log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acc>
                        <m:accPr>
                          <m:chr m:val="̂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54E8F4-7369-2AEF-983D-94711C2FF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9833" y="3945538"/>
                <a:ext cx="2867580" cy="465448"/>
              </a:xfrm>
              <a:prstGeom prst="rect">
                <a:avLst/>
              </a:prstGeom>
              <a:blipFill>
                <a:blip r:embed="rId6"/>
                <a:stretch>
                  <a:fillRect l="-1762" t="-7895" r="-4405" b="-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9B6D214-DB92-B0FA-CA44-B74DA5ED3352}"/>
              </a:ext>
            </a:extLst>
          </p:cNvPr>
          <p:cNvSpPr txBox="1"/>
          <p:nvPr/>
        </p:nvSpPr>
        <p:spPr>
          <a:xfrm>
            <a:off x="3339966" y="4410986"/>
            <a:ext cx="13358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Cross-Entropy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3E079B-D9D6-49B9-85CD-3DF6BE908A5D}"/>
              </a:ext>
            </a:extLst>
          </p:cNvPr>
          <p:cNvSpPr txBox="1"/>
          <p:nvPr/>
        </p:nvSpPr>
        <p:spPr>
          <a:xfrm>
            <a:off x="6269692" y="4397573"/>
            <a:ext cx="18187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Mean-Square Error</a:t>
            </a:r>
          </a:p>
        </p:txBody>
      </p:sp>
      <p:pic>
        <p:nvPicPr>
          <p:cNvPr id="22" name="Picture 21" descr="A cat looking at a computer network&#10;&#10;AI-generated content may be incorrect.">
            <a:extLst>
              <a:ext uri="{FF2B5EF4-FFF2-40B4-BE49-F238E27FC236}">
                <a16:creationId xmlns:a16="http://schemas.microsoft.com/office/drawing/2014/main" id="{E41A543D-1933-3EE1-475F-2957EA7FE28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8006"/>
          <a:stretch/>
        </p:blipFill>
        <p:spPr>
          <a:xfrm>
            <a:off x="3031993" y="1333109"/>
            <a:ext cx="2501968" cy="107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11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rPr dirty="0"/>
              <a:t>Quiz 3 (paper)</a:t>
            </a:r>
          </a:p>
        </p:txBody>
      </p:sp>
      <p:pic>
        <p:nvPicPr>
          <p:cNvPr id="5" name="Picture 4" descr="Quiz 3 (paper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quizzes/quiz-03.md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Then you get ten points to spen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rPr lang="en-US" dirty="0"/>
              <a:t>Work on Your Proposal</a:t>
            </a:r>
            <a:endParaRPr dirty="0"/>
          </a:p>
        </p:txBody>
      </p:sp>
      <p:pic>
        <p:nvPicPr>
          <p:cNvPr id="4" name="Picture 3" descr="A group of people putting their hands together&#10;&#10;AI-generated content may be incorrect.">
            <a:extLst>
              <a:ext uri="{FF2B5EF4-FFF2-40B4-BE49-F238E27FC236}">
                <a16:creationId xmlns:a16="http://schemas.microsoft.com/office/drawing/2014/main" id="{7C44B5FC-FC26-925D-5321-ED392794E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1078992"/>
            <a:ext cx="7360920" cy="36804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1658</TotalTime>
  <Words>202</Words>
  <Application>Microsoft Macintosh PowerPoint</Application>
  <PresentationFormat>On-screen Show (16:9)</PresentationFormat>
  <Paragraphs>41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Roboto</vt:lpstr>
      <vt:lpstr>Arial</vt:lpstr>
      <vt:lpstr>Roboto Light</vt:lpstr>
      <vt:lpstr>Playfair Display</vt:lpstr>
      <vt:lpstr>Cambria Math</vt:lpstr>
      <vt:lpstr>Office Theme</vt:lpstr>
      <vt:lpstr>CSCI 3495 LSTM &amp; Language Translation</vt:lpstr>
      <vt:lpstr>Today, we will be building a translator</vt:lpstr>
      <vt:lpstr>PowerPoint Presentation</vt:lpstr>
      <vt:lpstr>A little background …</vt:lpstr>
      <vt:lpstr>Neural?</vt:lpstr>
      <vt:lpstr>A Neuron via Math: Vectorized</vt:lpstr>
      <vt:lpstr>Revisiting Gradient Descent</vt:lpstr>
      <vt:lpstr>Earlier This Week: Many In, One Out</vt:lpstr>
      <vt:lpstr>RNN: Gradient Vanishing</vt:lpstr>
      <vt:lpstr>Long-Short Term Memory (LSTM)</vt:lpstr>
      <vt:lpstr>Long-Short Term Memory (LSTM)</vt:lpstr>
      <vt:lpstr>Many In, Many Out</vt:lpstr>
      <vt:lpstr>Regression vs. Classification?</vt:lpstr>
      <vt:lpstr>Quiz 3 (paper)</vt:lpstr>
      <vt:lpstr>Break</vt:lpstr>
      <vt:lpstr>Work on Your Proposal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Davalos Anaya, Eduardo</cp:lastModifiedBy>
  <cp:revision>6</cp:revision>
  <dcterms:modified xsi:type="dcterms:W3CDTF">2026-09-23T01:24:32Z</dcterms:modified>
</cp:coreProperties>
</file>