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21"/>
    <p:sldId id="257" r:id="rId22"/>
    <p:sldId id="258" r:id="rId20"/>
    <p:sldId id="259" r:id="rId19"/>
    <p:sldId id="260" r:id="rId18"/>
    <p:sldId id="261" r:id="rId17"/>
    <p:sldId id="262" r:id="rId16"/>
    <p:sldId id="263" r:id="rId15"/>
    <p:sldId id="264" r:id="rId14"/>
    <p:sldId id="265" r:id="rId13"/>
    <p:sldId id="266" r:id="rId12"/>
    <p:sldId id="267" r:id="rId11"/>
    <p:sldId id="268" r:id="rId10"/>
    <p:sldId id="269" r:id="rId9"/>
    <p:sldId id="270" r:id="rId8"/>
    <p:sldId id="271" r:id="rId7"/>
    <p:sldId id="272" r:id="rId6"/>
  </p:sldIdLst>
  <p:sldSz cy="5143500" cx="9144000"/>
  <p:notesSz cx="6858000" cy="9144000"/>
  <p:embeddedFontLs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Roboto Mono Light"/>
      <p:regular r:id="rId31"/>
      <p:bold r:id="rId32"/>
      <p:italic r:id="rId33"/>
      <p:boldItalic r:id="rId34"/>
    </p:embeddedFont>
    <p:embeddedFont>
      <p:font typeface="Roboto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6" Type="http://schemas.openxmlformats.org/officeDocument/2006/relationships/slide" Target="slides/slide17.xml"/><Relationship Id="rId7" Type="http://schemas.openxmlformats.org/officeDocument/2006/relationships/slide" Target="slides/slide16.xml"/><Relationship Id="rId8" Type="http://schemas.openxmlformats.org/officeDocument/2006/relationships/slide" Target="slides/slide15.xml"/><Relationship Id="rId9" Type="http://schemas.openxmlformats.org/officeDocument/2006/relationships/slide" Target="slides/slide14.xml"/><Relationship Id="rId10" Type="http://schemas.openxmlformats.org/officeDocument/2006/relationships/slide" Target="slides/slide13.xml"/><Relationship Id="rId11" Type="http://schemas.openxmlformats.org/officeDocument/2006/relationships/slide" Target="slides/slide12.xml"/><Relationship Id="rId12" Type="http://schemas.openxmlformats.org/officeDocument/2006/relationships/slide" Target="slides/slide11.xml"/><Relationship Id="rId13" Type="http://schemas.openxmlformats.org/officeDocument/2006/relationships/slide" Target="slides/slide10.xml"/><Relationship Id="rId14" Type="http://schemas.openxmlformats.org/officeDocument/2006/relationships/slide" Target="slides/slide9.xml"/><Relationship Id="rId15" Type="http://schemas.openxmlformats.org/officeDocument/2006/relationships/slide" Target="slides/slide8.xml"/><Relationship Id="rId16" Type="http://schemas.openxmlformats.org/officeDocument/2006/relationships/slide" Target="slides/slide7.xml"/><Relationship Id="rId17" Type="http://schemas.openxmlformats.org/officeDocument/2006/relationships/slide" Target="slides/slide6.xml"/><Relationship Id="rId18" Type="http://schemas.openxmlformats.org/officeDocument/2006/relationships/slide" Target="slides/slide5.xml"/><Relationship Id="rId19" Type="http://schemas.openxmlformats.org/officeDocument/2006/relationships/slide" Target="slides/slide4.xml"/><Relationship Id="rId20" Type="http://schemas.openxmlformats.org/officeDocument/2006/relationships/slide" Target="slides/slide3.xml"/><Relationship Id="rId21" Type="http://schemas.openxmlformats.org/officeDocument/2006/relationships/slide" Target="slides/slide1.xml"/><Relationship Id="rId22" Type="http://schemas.openxmlformats.org/officeDocument/2006/relationships/slide" Target="slides/slide2.xml"/><Relationship Id="rId23" Type="http://schemas.openxmlformats.org/officeDocument/2006/relationships/font" Target="fonts/Roboto-regular.fntdata"/><Relationship Id="rId24" Type="http://schemas.openxmlformats.org/officeDocument/2006/relationships/font" Target="fonts/Roboto-bold.fntdata"/><Relationship Id="rId25" Type="http://schemas.openxmlformats.org/officeDocument/2006/relationships/font" Target="fonts/Roboto-italic.fntdata"/><Relationship Id="rId26" Type="http://schemas.openxmlformats.org/officeDocument/2006/relationships/font" Target="fonts/Roboto-boldItalic.fntdata"/><Relationship Id="rId27" Type="http://schemas.openxmlformats.org/officeDocument/2006/relationships/font" Target="fonts/PlayfairDisplay-regular.fntdata"/><Relationship Id="rId28" Type="http://schemas.openxmlformats.org/officeDocument/2006/relationships/font" Target="fonts/PlayfairDisplay-bold.fntdata"/><Relationship Id="rId29" Type="http://schemas.openxmlformats.org/officeDocument/2006/relationships/font" Target="fonts/PlayfairDisplay-italic.fntdata"/><Relationship Id="rId30" Type="http://schemas.openxmlformats.org/officeDocument/2006/relationships/font" Target="fonts/PlayfairDisplay-boldItalic.fntdata"/><Relationship Id="rId31" Type="http://schemas.openxmlformats.org/officeDocument/2006/relationships/font" Target="fonts/RobotoMonoLight-regular.fntdata"/><Relationship Id="rId32" Type="http://schemas.openxmlformats.org/officeDocument/2006/relationships/font" Target="fonts/RobotoMonoLight-bold.fntdata"/><Relationship Id="rId33" Type="http://schemas.openxmlformats.org/officeDocument/2006/relationships/font" Target="fonts/RobotoMonoLight-italic.fntdata"/><Relationship Id="rId34" Type="http://schemas.openxmlformats.org/officeDocument/2006/relationships/font" Target="fonts/RobotoMonoLight-boldItalic.fntdata"/><Relationship Id="rId35" Type="http://schemas.openxmlformats.org/officeDocument/2006/relationships/font" Target="fonts/RobotoLight-regular.fntdata"/><Relationship Id="rId36" Type="http://schemas.openxmlformats.org/officeDocument/2006/relationships/font" Target="fonts/RobotoLight-bold.fntdata"/><Relationship Id="rId37" Type="http://schemas.openxmlformats.org/officeDocument/2006/relationships/font" Target="fonts/RobotoLight-italic.fntdata"/><Relationship Id="rId38" Type="http://schemas.openxmlformats.org/officeDocument/2006/relationships/font" Target="fonts/Roboto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523" y="685800"/>
            <a:ext cx="4571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King minus man plus woman equals queen. Today they do that arithmetic themselves, on real vectors, and then they run the same line with doctor in it and see what comes back. The second half of the class is what to do about it, on a budget.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dot is a word, and nearness is meaning. Nothing here was hand labelled: the positions came out of reading text. Ask them what would sit near coffee, then near Tuesday.</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a sparse representation a word is a 50,000-long mostly-zero vector, and good and great share no dimension at all, so they are exactly as unrelated as good and asparagus. Today the vector is about 300 numbers, every one of them used, and it is learned rather than counted. That is the whole move.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Everyone into today's lab.ipynb. Twenty thousand real GloVe words, fifty numbers each, and none of the numbers were chosen by a person. Part 1 opens one vector, Part 2 finds a word's neighbours with cosine similarity. Pause on october: its five nearest words are the other months, all above 0.99, because months are used in near-identical sentences. Nobody told it what a month is.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Instead of counting neighbors, train a yes/no classifier on a fake task. The quiz is a means to an end. We never actually use this classifier. We train it, throw it away, and keep its learned weights: those are the embeddings.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window of running text hands us 4 positive pairs; k random noise words per real pair supply the negatives. This is skip-gram with negative sampling (SGNS). K = 2 noise words per real pair , no human labeled anything.</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What we just built is skip-gram (right): the center word predicts each neighbor. CBOW (left) flips the arrows. The trained projection weights ARE the word vectors.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Walk this left to right with CBOW, which is the easier direction: the context predicts the missing middle word. Three context words come in as one-hot vectors over a five-word vocabulary, so each is a column of zeros with a single one. Multiplying a one-hot by W does not compute anything, it selects a row, so this step is a lookup. CBOW then averages the three rows, and that average is h, the latent vector, the actual numbers on the slide. Then W-prime and a softmax turn h into a probability over the vocabulary, and apricot wins with 0.62. Two things to say out loud. First, there are no biases anywhere in this network and no activation function on the hidden layer, which is unusual for a neural net and is a large part of why it trains on billions of words so cheaply. Second, and this is the punchline: we do not want the prediction. We train the whole thing, throw away W-prime and the softmax, and keep W. Every row of W is one word's embedding. Skip-gram is the same picture with the arrows reversed, and the sigmoid version from three slides ago is skip-gram with negative sampling, which replaces this softmax over the whole vocabulary with k plus one yes-or-no decisions.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offset between man and woman is the same vector that joins king to queen. A 2D schematic.</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They write the analogy line themselves: target equals vector b minus vector a plus vector c. King minus man plus woman gives queen at 0.861, clear of daughter at 0.768. Then run the three that do not work, because that is the half nobody shows: brother minus man plus woman gives daughter, and washington minus usa plus france gives Chirac. The famous example is real and it is also cherry-picked.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beats, and the slide only shows the shape, so this is the talking. Before 2013, a word was an index into a vocabulary. Everything a model knew about language came from tf-idf over tens of thousands of sparse dimensions plus feature templates a person wrote by hand and rebuilt for every new task, and good and great shared no dimension at all, so they were as unrelated as good and asparagus. Then word2vec in 2013 and GloVe in 2014 made it practical to learn meaning once from raw unlabeled text and hand it to any model as geometry, something you can add, subtract and measure. That is the shift from counting to representation, and it is why the field pivoted to neural networks between roughly 2013 and 2015. Be fair about the history if anyone asks: the idea was not new, Bengio's neural language model in 2003 and Collobert and Weston in 2008 both learned word vectors. What changed was the cost, from a research project to a free download you could train over a weekend. Ubiquity, not novelty. And it never went away. Every LLM in this course still begins with an embedding matrix, just over subword tokens rather than whole words, and it is the same row-of-a-matrix lookup we drew seven slides ago. Week 8 makes those vectors depend on context, Week 13 uses them for retrieval.</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 not answer this one yet. The vectors are about to say something uncomfortable, and it is better if they see it in the numbers first.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Nothing changes except the words going in. Doctor minus man plus woman returns nurse at 0.842. Then they measure it properly against the she minus he direction and get a table: nurse plus 0.381 at the top, captain minus 0.316 at the bottom. Make them read the bottom of that table, because secretary lands at minus 0.216, the male end, and that is the opposite of the stereotype. These vectors are news text, and in news a secretary is a Secretary of State. The corpus decided, which is exactly the question they get next.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Covers Weeks 3 to 5: NumPy and pandas, probability, PyTorch and the training loop, TF-IDF and cosine, and word2vec, plus the word2vec paper (Mikolov 2013). This is the first quiz since Week 2, so it reaches back further than the others. Clear your desk. Finish early and your break starts early; need more time and it comes out of the break.</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Teams of four, nine minutes to decide, then we compare. You are the team that has to ship the next version of these vectors. Every option is real and every one is something a lab has actually done. You cannot afford them all, so the budget is the point: say what you bought, and say what you gave up to buy it. Two rules, one sentence per choice on what it buys, and no team may spend more than ten.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Round the room, one person per team, thirty seconds each. Budget on the board, then the sentence. Do not grade the answers; the useful move is to ask the next team whether they bought the same thing for a different reason. If a team bought the projection, ask what it changes and what it only hides. If a team never bought measurement, ask how they would know their other points worked.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2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type="blank">
  <p:cSld name="BLANK">
    <p:spTree>
      <p:nvGrpSpPr>
        <p:cNvPr id="9" name="Shape 9"/>
        <p:cNvGrpSpPr/>
        <p:nvPr/>
      </p:nvGrpSpPr>
      <p:grpSpPr>
        <a:xfrm>
          <a:off x="0" y="0"/>
          <a:ext cx="0" cy="0"/>
          <a:chOff x="0" y="0"/>
          <a:chExt cx="0" cy="0"/>
        </a:xfrm>
      </p:grpSpPr>
      <p:sp>
        <p:nvSpPr>
          <p:cNvPr id="10" name="Google Shape;10;p2"/>
          <p:cNvSpPr/>
          <p:nvPr/>
        </p:nvSpPr>
        <p:spPr>
          <a:xfrm>
            <a:off x="0" y="3390300"/>
            <a:ext cx="91440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id="11" name="Google Shape;11;p2"/>
          <p:cNvPicPr preferRelativeResize="0"/>
          <p:nvPr/>
        </p:nvPicPr>
        <p:blipFill rotWithShape="1">
          <a:blip r:embed="rId2">
            <a:alphaModFix/>
          </a:blip>
          <a:srcRect b="13732" l="600" r="-600" t="43847"/>
          <a:stretch/>
        </p:blipFill>
        <p:spPr>
          <a:xfrm>
            <a:off x="0" y="-70472"/>
            <a:ext cx="9198797" cy="3460774"/>
          </a:xfrm>
          <a:prstGeom prst="rect">
            <a:avLst/>
          </a:prstGeom>
          <a:noFill/>
          <a:ln>
            <a:noFill/>
          </a:ln>
        </p:spPr>
      </p:pic>
      <p:sp>
        <p:nvSpPr>
          <p:cNvPr id="12" name="Google Shape;12;p2"/>
          <p:cNvSpPr txBox="1"/>
          <p:nvPr>
            <p:ph type="title"/>
          </p:nvPr>
        </p:nvSpPr>
        <p:spPr>
          <a:xfrm>
            <a:off x="493923" y="976378"/>
            <a:ext cx="8005800" cy="18243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rgbClr val="FFFFFF"/>
              </a:buClr>
              <a:buSzPts val="36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3" name="Google Shape;13;p2"/>
          <p:cNvSpPr txBox="1"/>
          <p:nvPr>
            <p:ph idx="1" type="subTitle"/>
          </p:nvPr>
        </p:nvSpPr>
        <p:spPr>
          <a:xfrm>
            <a:off x="493926" y="3549825"/>
            <a:ext cx="7661100" cy="970800"/>
          </a:xfrm>
          <a:prstGeom prst="rect">
            <a:avLst/>
          </a:prstGeom>
        </p:spPr>
        <p:txBody>
          <a:bodyPr anchorCtr="0" anchor="t" bIns="34275" lIns="34275" spcFirstLastPara="1" rIns="34275" wrap="square" tIns="34275">
            <a:noAutofit/>
          </a:bodyPr>
          <a:lstStyle>
            <a:lvl1pPr lvl="0">
              <a:spcBef>
                <a:spcPts val="700"/>
              </a:spcBef>
              <a:spcAft>
                <a:spcPts val="0"/>
              </a:spcAft>
              <a:buNone/>
              <a:defRPr>
                <a:solidFill>
                  <a:schemeClr val="dk1"/>
                </a:solidFill>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4" name="Google Shape;14;p2"/>
          <p:cNvSpPr txBox="1"/>
          <p:nvPr>
            <p:ph idx="2" type="subTitle"/>
          </p:nvPr>
        </p:nvSpPr>
        <p:spPr>
          <a:xfrm>
            <a:off x="493923" y="4079316"/>
            <a:ext cx="7327800" cy="29871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2 Columns">
  <p:cSld name="2_Portfolio Three">
    <p:spTree>
      <p:nvGrpSpPr>
        <p:cNvPr id="15" name="Shape 15"/>
        <p:cNvGrpSpPr/>
        <p:nvPr/>
      </p:nvGrpSpPr>
      <p:grpSpPr>
        <a:xfrm>
          <a:off x="0" y="0"/>
          <a:ext cx="0" cy="0"/>
          <a:chOff x="0" y="0"/>
          <a:chExt cx="0" cy="0"/>
        </a:xfrm>
      </p:grpSpPr>
      <p:sp>
        <p:nvSpPr>
          <p:cNvPr id="16" name="Google Shape;16;p3"/>
          <p:cNvSpPr txBox="1"/>
          <p:nvPr>
            <p:ph idx="1" type="body"/>
          </p:nvPr>
        </p:nvSpPr>
        <p:spPr>
          <a:xfrm>
            <a:off x="50957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17" name="Google Shape;17;p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8" name="Google Shape;18;p3"/>
          <p:cNvSpPr txBox="1"/>
          <p:nvPr>
            <p:ph idx="2"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9" name="Google Shape;19;p3"/>
          <p:cNvSpPr txBox="1"/>
          <p:nvPr>
            <p:ph idx="3" type="body"/>
          </p:nvPr>
        </p:nvSpPr>
        <p:spPr>
          <a:xfrm>
            <a:off x="482712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3 Columns">
  <p:cSld name="1_Slide with Placeholder">
    <p:spTree>
      <p:nvGrpSpPr>
        <p:cNvPr id="20" name="Shape 20"/>
        <p:cNvGrpSpPr/>
        <p:nvPr/>
      </p:nvGrpSpPr>
      <p:grpSpPr>
        <a:xfrm>
          <a:off x="0" y="0"/>
          <a:ext cx="0" cy="0"/>
          <a:chOff x="0" y="0"/>
          <a:chExt cx="0" cy="0"/>
        </a:xfrm>
      </p:grpSpPr>
      <p:sp>
        <p:nvSpPr>
          <p:cNvPr id="21" name="Google Shape;21;p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22" name="Google Shape;22;p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23" name="Google Shape;23;p4"/>
          <p:cNvSpPr txBox="1"/>
          <p:nvPr>
            <p:ph idx="2" type="body"/>
          </p:nvPr>
        </p:nvSpPr>
        <p:spPr>
          <a:xfrm>
            <a:off x="5521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4" name="Google Shape;24;p4"/>
          <p:cNvSpPr txBox="1"/>
          <p:nvPr>
            <p:ph idx="3" type="body"/>
          </p:nvPr>
        </p:nvSpPr>
        <p:spPr>
          <a:xfrm>
            <a:off x="33374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5" name="Google Shape;25;p4"/>
          <p:cNvSpPr txBox="1"/>
          <p:nvPr>
            <p:ph idx="4" type="body"/>
          </p:nvPr>
        </p:nvSpPr>
        <p:spPr>
          <a:xfrm>
            <a:off x="6160800"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p:cSld name="Cover Slide">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0" l="0" r="0" t="0"/>
          <a:stretch/>
        </p:blipFill>
        <p:spPr>
          <a:xfrm>
            <a:off x="595" y="0"/>
            <a:ext cx="9142810" cy="514283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with Logo">
  <p:cSld name="Cover Slide_2">
    <p:spTree>
      <p:nvGrpSpPr>
        <p:cNvPr id="28" name="Shape 28"/>
        <p:cNvGrpSpPr/>
        <p:nvPr/>
      </p:nvGrpSpPr>
      <p:grpSpPr>
        <a:xfrm>
          <a:off x="0" y="0"/>
          <a:ext cx="0" cy="0"/>
          <a:chOff x="0" y="0"/>
          <a:chExt cx="0" cy="0"/>
        </a:xfrm>
      </p:grpSpPr>
      <p:pic>
        <p:nvPicPr>
          <p:cNvPr id="29" name="Google Shape;29;p6"/>
          <p:cNvPicPr preferRelativeResize="0"/>
          <p:nvPr/>
        </p:nvPicPr>
        <p:blipFill rotWithShape="1">
          <a:blip r:embed="rId2">
            <a:alphaModFix/>
          </a:blip>
          <a:srcRect b="0" l="0" r="0" t="0"/>
          <a:stretch/>
        </p:blipFill>
        <p:spPr>
          <a:xfrm>
            <a:off x="595" y="0"/>
            <a:ext cx="9142810" cy="5142831"/>
          </a:xfrm>
          <a:prstGeom prst="rect">
            <a:avLst/>
          </a:prstGeom>
          <a:noFill/>
          <a:ln>
            <a:noFill/>
          </a:ln>
        </p:spPr>
      </p:pic>
      <p:pic>
        <p:nvPicPr>
          <p:cNvPr id="30" name="Google Shape;30;p6"/>
          <p:cNvPicPr preferRelativeResize="0"/>
          <p:nvPr/>
        </p:nvPicPr>
        <p:blipFill>
          <a:blip r:embed="rId3">
            <a:alphaModFix/>
          </a:blip>
          <a:stretch>
            <a:fillRect/>
          </a:stretch>
        </p:blipFill>
        <p:spPr>
          <a:xfrm>
            <a:off x="2103514" y="628706"/>
            <a:ext cx="4936973" cy="38855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Acknowledgments Slide">
  <p:cSld name="Cover Slide_1">
    <p:spTree>
      <p:nvGrpSpPr>
        <p:cNvPr id="31" name="Shape 31"/>
        <p:cNvGrpSpPr/>
        <p:nvPr/>
      </p:nvGrpSpPr>
      <p:grpSpPr>
        <a:xfrm>
          <a:off x="0" y="0"/>
          <a:ext cx="0" cy="0"/>
          <a:chOff x="0" y="0"/>
          <a:chExt cx="0" cy="0"/>
        </a:xfrm>
      </p:grpSpPr>
      <p:pic>
        <p:nvPicPr>
          <p:cNvPr id="32" name="Google Shape;32;p7"/>
          <p:cNvPicPr preferRelativeResize="0"/>
          <p:nvPr/>
        </p:nvPicPr>
        <p:blipFill rotWithShape="1">
          <a:blip r:embed="rId2">
            <a:alphaModFix/>
          </a:blip>
          <a:srcRect b="0" l="0" r="0" t="0"/>
          <a:stretch/>
        </p:blipFill>
        <p:spPr>
          <a:xfrm>
            <a:off x="595" y="0"/>
            <a:ext cx="9142810" cy="5142831"/>
          </a:xfrm>
          <a:prstGeom prst="rect">
            <a:avLst/>
          </a:prstGeom>
          <a:noFill/>
          <a:ln>
            <a:noFill/>
          </a:ln>
        </p:spPr>
      </p:pic>
      <p:sp>
        <p:nvSpPr>
          <p:cNvPr id="33" name="Google Shape;33;p7"/>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lt1"/>
              </a:buClr>
              <a:buSzPts val="5600"/>
              <a:buFont typeface="Playfair Display"/>
              <a:buNone/>
              <a:defRPr i="0" sz="5600" u="none" cap="none" strike="noStrike">
                <a:solidFill>
                  <a:schemeClr val="lt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4" name="Google Shape;34;p7"/>
          <p:cNvSpPr txBox="1"/>
          <p:nvPr>
            <p:ph idx="1" type="subTitle"/>
          </p:nvPr>
        </p:nvSpPr>
        <p:spPr>
          <a:xfrm>
            <a:off x="509521" y="1401113"/>
            <a:ext cx="5120100" cy="1558200"/>
          </a:xfrm>
          <a:prstGeom prst="rect">
            <a:avLst/>
          </a:prstGeom>
        </p:spPr>
        <p:txBody>
          <a:bodyPr anchorCtr="0" anchor="t" bIns="34275" lIns="34275" spcFirstLastPara="1" rIns="34275" wrap="square" tIns="34275">
            <a:noAutofit/>
          </a:bodyPr>
          <a:lstStyle>
            <a:lvl1pPr lvl="0">
              <a:spcBef>
                <a:spcPts val="700"/>
              </a:spcBef>
              <a:spcAft>
                <a:spcPts val="0"/>
              </a:spcAft>
              <a:buNone/>
              <a:defRPr sz="2700">
                <a:solidFill>
                  <a:schemeClr val="lt1"/>
                </a:solidFill>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Custom Layout">
    <p:spTree>
      <p:nvGrpSpPr>
        <p:cNvPr id="35" name="Shape 35"/>
        <p:cNvGrpSpPr/>
        <p:nvPr/>
      </p:nvGrpSpPr>
      <p:grpSpPr>
        <a:xfrm>
          <a:off x="0" y="0"/>
          <a:ext cx="0" cy="0"/>
          <a:chOff x="0" y="0"/>
          <a:chExt cx="0" cy="0"/>
        </a:xfrm>
      </p:grpSpPr>
      <p:sp>
        <p:nvSpPr>
          <p:cNvPr id="36" name="Google Shape;36;p8"/>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7" name="Google Shape;37;p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ig Concept Slide">
  <p:cSld name="Slide with Placeholder">
    <p:spTree>
      <p:nvGrpSpPr>
        <p:cNvPr id="38" name="Shape 38"/>
        <p:cNvGrpSpPr/>
        <p:nvPr/>
      </p:nvGrpSpPr>
      <p:grpSpPr>
        <a:xfrm>
          <a:off x="0" y="0"/>
          <a:ext cx="0" cy="0"/>
          <a:chOff x="0" y="0"/>
          <a:chExt cx="0" cy="0"/>
        </a:xfrm>
      </p:grpSpPr>
      <p:sp>
        <p:nvSpPr>
          <p:cNvPr id="39" name="Google Shape;39;p9"/>
          <p:cNvSpPr txBox="1"/>
          <p:nvPr>
            <p:ph type="title"/>
          </p:nvPr>
        </p:nvSpPr>
        <p:spPr>
          <a:xfrm>
            <a:off x="509577" y="2245519"/>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0" name="Google Shape;40;p9"/>
          <p:cNvSpPr txBox="1"/>
          <p:nvPr>
            <p:ph idx="1" type="subTitle"/>
          </p:nvPr>
        </p:nvSpPr>
        <p:spPr>
          <a:xfrm>
            <a:off x="509577" y="3154509"/>
            <a:ext cx="6737700" cy="9531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p:cSld name="Large Picture with Logo">
    <p:spTree>
      <p:nvGrpSpPr>
        <p:cNvPr id="41" name="Shape 41"/>
        <p:cNvGrpSpPr/>
        <p:nvPr/>
      </p:nvGrpSpPr>
      <p:grpSpPr>
        <a:xfrm>
          <a:off x="0" y="0"/>
          <a:ext cx="0" cy="0"/>
          <a:chOff x="0" y="0"/>
          <a:chExt cx="0" cy="0"/>
        </a:xfrm>
      </p:grpSpPr>
      <p:sp>
        <p:nvSpPr>
          <p:cNvPr id="42" name="Google Shape;42;p10"/>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3" name="Google Shape;43;p10"/>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44" name="Google Shape;44;p10"/>
          <p:cNvPicPr preferRelativeResize="0"/>
          <p:nvPr/>
        </p:nvPicPr>
        <p:blipFill rotWithShape="1">
          <a:blip r:embed="rId2">
            <a:alphaModFix/>
          </a:blip>
          <a:srcRect b="2009" l="27412" r="6551" t="0"/>
          <a:stretch/>
        </p:blipFill>
        <p:spPr>
          <a:xfrm>
            <a:off x="7006675" y="-56025"/>
            <a:ext cx="2176574" cy="4846049"/>
          </a:xfrm>
          <a:prstGeom prst="rect">
            <a:avLst/>
          </a:prstGeom>
          <a:noFill/>
          <a:ln>
            <a:noFill/>
          </a:ln>
        </p:spPr>
      </p:pic>
      <p:sp>
        <p:nvSpPr>
          <p:cNvPr id="45" name="Google Shape;45;p10"/>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1">
  <p:cSld name="Large Picture with Logo_1">
    <p:spTree>
      <p:nvGrpSpPr>
        <p:cNvPr id="46" name="Shape 46"/>
        <p:cNvGrpSpPr/>
        <p:nvPr/>
      </p:nvGrpSpPr>
      <p:grpSpPr>
        <a:xfrm>
          <a:off x="0" y="0"/>
          <a:ext cx="0" cy="0"/>
          <a:chOff x="0" y="0"/>
          <a:chExt cx="0" cy="0"/>
        </a:xfrm>
      </p:grpSpPr>
      <p:sp>
        <p:nvSpPr>
          <p:cNvPr id="47" name="Google Shape;47;p1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8" name="Google Shape;48;p11"/>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49" name="Google Shape;49;p11"/>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2">
  <p:cSld name="Large Picture with Logo_1_1">
    <p:spTree>
      <p:nvGrpSpPr>
        <p:cNvPr id="50" name="Shape 50"/>
        <p:cNvGrpSpPr/>
        <p:nvPr/>
      </p:nvGrpSpPr>
      <p:grpSpPr>
        <a:xfrm>
          <a:off x="0" y="0"/>
          <a:ext cx="0" cy="0"/>
          <a:chOff x="0" y="0"/>
          <a:chExt cx="0" cy="0"/>
        </a:xfrm>
      </p:grpSpPr>
      <p:sp>
        <p:nvSpPr>
          <p:cNvPr id="51" name="Google Shape;51;p12"/>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2" name="Google Shape;52;p12"/>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53" name="Google Shape;53;p12"/>
          <p:cNvPicPr preferRelativeResize="0"/>
          <p:nvPr/>
        </p:nvPicPr>
        <p:blipFill rotWithShape="1">
          <a:blip r:embed="rId2">
            <a:alphaModFix/>
          </a:blip>
          <a:srcRect b="0" l="27412" r="6551" t="0"/>
          <a:stretch/>
        </p:blipFill>
        <p:spPr>
          <a:xfrm>
            <a:off x="7006675" y="-57150"/>
            <a:ext cx="2137324" cy="4856125"/>
          </a:xfrm>
          <a:prstGeom prst="rect">
            <a:avLst/>
          </a:prstGeom>
          <a:noFill/>
          <a:ln>
            <a:noFill/>
          </a:ln>
        </p:spPr>
      </p:pic>
      <p:pic>
        <p:nvPicPr>
          <p:cNvPr id="54" name="Google Shape;54;p12"/>
          <p:cNvPicPr preferRelativeResize="0"/>
          <p:nvPr/>
        </p:nvPicPr>
        <p:blipFill rotWithShape="1">
          <a:blip r:embed="rId3">
            <a:alphaModFix/>
          </a:blip>
          <a:srcRect b="0" l="8950" r="0" t="0"/>
          <a:stretch/>
        </p:blipFill>
        <p:spPr>
          <a:xfrm>
            <a:off x="7006665" y="-57150"/>
            <a:ext cx="6633784" cy="4856124"/>
          </a:xfrm>
          <a:prstGeom prst="rect">
            <a:avLst/>
          </a:prstGeom>
          <a:noFill/>
          <a:ln>
            <a:noFill/>
          </a:ln>
        </p:spPr>
      </p:pic>
      <p:pic>
        <p:nvPicPr>
          <p:cNvPr id="55" name="Google Shape;55;p12"/>
          <p:cNvPicPr preferRelativeResize="0"/>
          <p:nvPr/>
        </p:nvPicPr>
        <p:blipFill rotWithShape="1">
          <a:blip r:embed="rId4">
            <a:alphaModFix/>
          </a:blip>
          <a:srcRect b="0" l="39028" r="0" t="0"/>
          <a:stretch/>
        </p:blipFill>
        <p:spPr>
          <a:xfrm>
            <a:off x="7006676" y="-57150"/>
            <a:ext cx="4442373" cy="4856124"/>
          </a:xfrm>
          <a:prstGeom prst="rect">
            <a:avLst/>
          </a:prstGeom>
          <a:noFill/>
          <a:ln>
            <a:noFill/>
          </a:ln>
        </p:spPr>
      </p:pic>
      <p:sp>
        <p:nvSpPr>
          <p:cNvPr id="56" name="Google Shape;56;p12"/>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3">
  <p:cSld name="Large Picture with Logo_1_1_1">
    <p:spTree>
      <p:nvGrpSpPr>
        <p:cNvPr id="57" name="Shape 57"/>
        <p:cNvGrpSpPr/>
        <p:nvPr/>
      </p:nvGrpSpPr>
      <p:grpSpPr>
        <a:xfrm>
          <a:off x="0" y="0"/>
          <a:ext cx="0" cy="0"/>
          <a:chOff x="0" y="0"/>
          <a:chExt cx="0" cy="0"/>
        </a:xfrm>
      </p:grpSpPr>
      <p:sp>
        <p:nvSpPr>
          <p:cNvPr id="58" name="Google Shape;58;p1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9" name="Google Shape;59;p13"/>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0" name="Google Shape;60;p13"/>
          <p:cNvPicPr preferRelativeResize="0"/>
          <p:nvPr/>
        </p:nvPicPr>
        <p:blipFill rotWithShape="1">
          <a:blip r:embed="rId2">
            <a:alphaModFix/>
          </a:blip>
          <a:srcRect b="0" l="24210" r="1252" t="0"/>
          <a:stretch/>
        </p:blipFill>
        <p:spPr>
          <a:xfrm>
            <a:off x="7006675" y="-57150"/>
            <a:ext cx="5430948" cy="4856124"/>
          </a:xfrm>
          <a:prstGeom prst="rect">
            <a:avLst/>
          </a:prstGeom>
          <a:noFill/>
          <a:ln>
            <a:noFill/>
          </a:ln>
        </p:spPr>
      </p:pic>
      <p:sp>
        <p:nvSpPr>
          <p:cNvPr id="61" name="Google Shape;61;p13"/>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4">
  <p:cSld name="Large Picture with Logo_1_1_1_1">
    <p:spTree>
      <p:nvGrpSpPr>
        <p:cNvPr id="62" name="Shape 62"/>
        <p:cNvGrpSpPr/>
        <p:nvPr/>
      </p:nvGrpSpPr>
      <p:grpSpPr>
        <a:xfrm>
          <a:off x="0" y="0"/>
          <a:ext cx="0" cy="0"/>
          <a:chOff x="0" y="0"/>
          <a:chExt cx="0" cy="0"/>
        </a:xfrm>
      </p:grpSpPr>
      <p:sp>
        <p:nvSpPr>
          <p:cNvPr id="63" name="Google Shape;63;p1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4" name="Google Shape;64;p1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5" name="Google Shape;65;p14"/>
          <p:cNvPicPr preferRelativeResize="0"/>
          <p:nvPr/>
        </p:nvPicPr>
        <p:blipFill rotWithShape="1">
          <a:blip r:embed="rId2">
            <a:alphaModFix/>
          </a:blip>
          <a:srcRect b="0" l="34525" r="0" t="0"/>
          <a:stretch/>
        </p:blipFill>
        <p:spPr>
          <a:xfrm>
            <a:off x="7010075" y="-57150"/>
            <a:ext cx="2543048" cy="4856125"/>
          </a:xfrm>
          <a:prstGeom prst="rect">
            <a:avLst/>
          </a:prstGeom>
          <a:noFill/>
          <a:ln>
            <a:noFill/>
          </a:ln>
        </p:spPr>
      </p:pic>
      <p:sp>
        <p:nvSpPr>
          <p:cNvPr id="66" name="Google Shape;66;p14"/>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p:cSld name="3_Placeholder">
    <p:spTree>
      <p:nvGrpSpPr>
        <p:cNvPr id="67" name="Shape 67"/>
        <p:cNvGrpSpPr/>
        <p:nvPr/>
      </p:nvGrpSpPr>
      <p:grpSpPr>
        <a:xfrm>
          <a:off x="0" y="0"/>
          <a:ext cx="0" cy="0"/>
          <a:chOff x="0" y="0"/>
          <a:chExt cx="0" cy="0"/>
        </a:xfrm>
      </p:grpSpPr>
      <p:sp>
        <p:nvSpPr>
          <p:cNvPr id="68" name="Google Shape;68;p15"/>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9" name="Google Shape;69;p15"/>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0" name="Google Shape;70;p15"/>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1">
  <p:cSld name="3_Placeholder_1">
    <p:spTree>
      <p:nvGrpSpPr>
        <p:cNvPr id="71" name="Shape 71"/>
        <p:cNvGrpSpPr/>
        <p:nvPr/>
      </p:nvGrpSpPr>
      <p:grpSpPr>
        <a:xfrm>
          <a:off x="0" y="0"/>
          <a:ext cx="0" cy="0"/>
          <a:chOff x="0" y="0"/>
          <a:chExt cx="0" cy="0"/>
        </a:xfrm>
      </p:grpSpPr>
      <p:sp>
        <p:nvSpPr>
          <p:cNvPr id="72" name="Google Shape;72;p16"/>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3" name="Google Shape;73;p16"/>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4" name="Google Shape;74;p16"/>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ingle Statistic">
  <p:cSld name="1_Placeholder">
    <p:spTree>
      <p:nvGrpSpPr>
        <p:cNvPr id="75" name="Shape 75"/>
        <p:cNvGrpSpPr/>
        <p:nvPr/>
      </p:nvGrpSpPr>
      <p:grpSpPr>
        <a:xfrm>
          <a:off x="0" y="0"/>
          <a:ext cx="0" cy="0"/>
          <a:chOff x="0" y="0"/>
          <a:chExt cx="0" cy="0"/>
        </a:xfrm>
      </p:grpSpPr>
      <p:sp>
        <p:nvSpPr>
          <p:cNvPr id="76" name="Google Shape;76;p17"/>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7" name="Google Shape;77;p17"/>
          <p:cNvSpPr txBox="1"/>
          <p:nvPr>
            <p:ph type="title"/>
          </p:nvPr>
        </p:nvSpPr>
        <p:spPr>
          <a:xfrm>
            <a:off x="454066" y="182433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94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17"/>
          <p:cNvSpPr txBox="1"/>
          <p:nvPr>
            <p:ph idx="2" type="subTitle"/>
          </p:nvPr>
        </p:nvSpPr>
        <p:spPr>
          <a:xfrm>
            <a:off x="454066" y="3127509"/>
            <a:ext cx="8353200" cy="7152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9" name="Google Shape;79;p17"/>
          <p:cNvSpPr txBox="1"/>
          <p:nvPr>
            <p:ph idx="3" type="subTitle"/>
          </p:nvPr>
        </p:nvSpPr>
        <p:spPr>
          <a:xfrm>
            <a:off x="4838166" y="1824350"/>
            <a:ext cx="38664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0" name="Google Shape;80;p17"/>
          <p:cNvSpPr txBox="1"/>
          <p:nvPr>
            <p:ph idx="4" type="title"/>
          </p:nvPr>
        </p:nvSpPr>
        <p:spPr>
          <a:xfrm>
            <a:off x="509577" y="837514"/>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ultiple Statistics">
  <p:cSld name="1_Placeholder_1">
    <p:spTree>
      <p:nvGrpSpPr>
        <p:cNvPr id="81" name="Shape 81"/>
        <p:cNvGrpSpPr/>
        <p:nvPr/>
      </p:nvGrpSpPr>
      <p:grpSpPr>
        <a:xfrm>
          <a:off x="0" y="0"/>
          <a:ext cx="0" cy="0"/>
          <a:chOff x="0" y="0"/>
          <a:chExt cx="0" cy="0"/>
        </a:xfrm>
      </p:grpSpPr>
      <p:sp>
        <p:nvSpPr>
          <p:cNvPr id="82" name="Google Shape;82;p1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3" name="Google Shape;83;p18"/>
          <p:cNvSpPr txBox="1"/>
          <p:nvPr>
            <p:ph type="title"/>
          </p:nvPr>
        </p:nvSpPr>
        <p:spPr>
          <a:xfrm>
            <a:off x="454066" y="75948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4" name="Google Shape;84;p18"/>
          <p:cNvSpPr txBox="1"/>
          <p:nvPr>
            <p:ph idx="2" type="subTitle"/>
          </p:nvPr>
        </p:nvSpPr>
        <p:spPr>
          <a:xfrm>
            <a:off x="4759893" y="759488"/>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5" name="Google Shape;85;p18"/>
          <p:cNvSpPr txBox="1"/>
          <p:nvPr>
            <p:ph idx="3" type="title"/>
          </p:nvPr>
        </p:nvSpPr>
        <p:spPr>
          <a:xfrm>
            <a:off x="454066" y="2037533"/>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5"/>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6" name="Google Shape;86;p18"/>
          <p:cNvSpPr txBox="1"/>
          <p:nvPr>
            <p:ph idx="4" type="subTitle"/>
          </p:nvPr>
        </p:nvSpPr>
        <p:spPr>
          <a:xfrm>
            <a:off x="4759893" y="2037533"/>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7" name="Google Shape;87;p18"/>
          <p:cNvSpPr txBox="1"/>
          <p:nvPr>
            <p:ph idx="5" type="title"/>
          </p:nvPr>
        </p:nvSpPr>
        <p:spPr>
          <a:xfrm>
            <a:off x="454066" y="343770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6"/>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8" name="Google Shape;88;p18"/>
          <p:cNvSpPr txBox="1"/>
          <p:nvPr>
            <p:ph idx="6" type="subTitle"/>
          </p:nvPr>
        </p:nvSpPr>
        <p:spPr>
          <a:xfrm>
            <a:off x="4759893" y="3437709"/>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Quote">
  <p:cSld name="CUSTOM">
    <p:spTree>
      <p:nvGrpSpPr>
        <p:cNvPr id="89" name="Shape 89"/>
        <p:cNvGrpSpPr/>
        <p:nvPr/>
      </p:nvGrpSpPr>
      <p:grpSpPr>
        <a:xfrm>
          <a:off x="0" y="0"/>
          <a:ext cx="0" cy="0"/>
          <a:chOff x="0" y="0"/>
          <a:chExt cx="0" cy="0"/>
        </a:xfrm>
      </p:grpSpPr>
      <p:sp>
        <p:nvSpPr>
          <p:cNvPr id="90" name="Google Shape;90;p19"/>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91" name="Google Shape;91;p19"/>
          <p:cNvSpPr/>
          <p:nvPr/>
        </p:nvSpPr>
        <p:spPr>
          <a:xfrm>
            <a:off x="5748887" y="1561152"/>
            <a:ext cx="1718100" cy="219300"/>
          </a:xfrm>
          <a:prstGeom prst="rect">
            <a:avLst/>
          </a:prstGeom>
          <a:solidFill>
            <a:srgbClr val="738D3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2" name="Google Shape;92;p19"/>
          <p:cNvSpPr/>
          <p:nvPr/>
        </p:nvSpPr>
        <p:spPr>
          <a:xfrm>
            <a:off x="7467434" y="1561152"/>
            <a:ext cx="1718100" cy="219300"/>
          </a:xfrm>
          <a:prstGeom prst="rect">
            <a:avLst/>
          </a:prstGeom>
          <a:solidFill>
            <a:srgbClr val="625578"/>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3" name="Google Shape;93;p19"/>
          <p:cNvSpPr/>
          <p:nvPr/>
        </p:nvSpPr>
        <p:spPr>
          <a:xfrm>
            <a:off x="0" y="1561152"/>
            <a:ext cx="1718100" cy="219300"/>
          </a:xfrm>
          <a:prstGeom prst="rect">
            <a:avLst/>
          </a:prstGeom>
          <a:solidFill>
            <a:srgbClr val="FFB6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4" name="Google Shape;94;p19"/>
          <p:cNvSpPr/>
          <p:nvPr/>
        </p:nvSpPr>
        <p:spPr>
          <a:xfrm>
            <a:off x="1718076" y="1561152"/>
            <a:ext cx="1718100" cy="219300"/>
          </a:xfrm>
          <a:prstGeom prst="rect">
            <a:avLst/>
          </a:prstGeom>
          <a:solidFill>
            <a:srgbClr val="498DA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5" name="Google Shape;95;p19"/>
          <p:cNvSpPr txBox="1"/>
          <p:nvPr/>
        </p:nvSpPr>
        <p:spPr>
          <a:xfrm>
            <a:off x="3589051" y="975950"/>
            <a:ext cx="1965900" cy="875400"/>
          </a:xfrm>
          <a:prstGeom prst="rect">
            <a:avLst/>
          </a:prstGeom>
          <a:noFill/>
          <a:ln>
            <a:noFill/>
          </a:ln>
        </p:spPr>
        <p:txBody>
          <a:bodyPr anchorCtr="0" anchor="t" bIns="34275" lIns="34275" spcFirstLastPara="1" rIns="34275" wrap="square" tIns="34275">
            <a:noAutofit/>
          </a:bodyPr>
          <a:lstStyle/>
          <a:p>
            <a:pPr indent="0" lvl="0" marL="0" rtl="0" algn="ctr">
              <a:spcBef>
                <a:spcPts val="0"/>
              </a:spcBef>
              <a:spcAft>
                <a:spcPts val="0"/>
              </a:spcAft>
              <a:buNone/>
            </a:pPr>
            <a:r>
              <a:rPr b="1" lang="en" sz="12000">
                <a:solidFill>
                  <a:srgbClr val="818387"/>
                </a:solidFill>
              </a:rPr>
              <a:t>“</a:t>
            </a:r>
            <a:endParaRPr b="1" sz="12000">
              <a:solidFill>
                <a:srgbClr val="818387"/>
              </a:solidFill>
            </a:endParaRPr>
          </a:p>
        </p:txBody>
      </p:sp>
      <p:sp>
        <p:nvSpPr>
          <p:cNvPr id="96" name="Google Shape;96;p19"/>
          <p:cNvSpPr txBox="1"/>
          <p:nvPr>
            <p:ph type="title"/>
          </p:nvPr>
        </p:nvSpPr>
        <p:spPr>
          <a:xfrm>
            <a:off x="1682308" y="2130769"/>
            <a:ext cx="5779500" cy="1962600"/>
          </a:xfrm>
          <a:prstGeom prst="rect">
            <a:avLst/>
          </a:prstGeom>
        </p:spPr>
        <p:txBody>
          <a:bodyPr anchorCtr="0" anchor="t" bIns="34275" lIns="34275" spcFirstLastPara="1" rIns="34275" wrap="square" tIns="34275">
            <a:noAutofit/>
          </a:bodyPr>
          <a:lstStyle>
            <a:lvl1pPr lvl="0" algn="ctr">
              <a:spcBef>
                <a:spcPts val="0"/>
              </a:spcBef>
              <a:spcAft>
                <a:spcPts val="0"/>
              </a:spcAft>
              <a:buNone/>
              <a:defRPr sz="4500"/>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7" name="Google Shape;97;p19"/>
          <p:cNvSpPr txBox="1"/>
          <p:nvPr>
            <p:ph idx="2" type="subTitle"/>
          </p:nvPr>
        </p:nvSpPr>
        <p:spPr>
          <a:xfrm>
            <a:off x="3300470" y="3999056"/>
            <a:ext cx="2543100" cy="384600"/>
          </a:xfrm>
          <a:prstGeom prst="rect">
            <a:avLst/>
          </a:prstGeom>
        </p:spPr>
        <p:txBody>
          <a:bodyPr anchorCtr="0" anchor="t" bIns="34275" lIns="34275" spcFirstLastPara="1" rIns="34275" wrap="square" tIns="34275">
            <a:noAutofit/>
          </a:bodyPr>
          <a:lstStyle>
            <a:lvl1pPr lvl="0" algn="ctr">
              <a:spcBef>
                <a:spcPts val="700"/>
              </a:spcBef>
              <a:spcAft>
                <a:spcPts val="0"/>
              </a:spcAft>
              <a:buNone/>
              <a:defRPr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showMasterSp="0">
  <p:cSld name="13_Title Slide">
    <p:spTree>
      <p:nvGrpSpPr>
        <p:cNvPr id="98" name="Shape 98"/>
        <p:cNvGrpSpPr/>
        <p:nvPr/>
      </p:nvGrpSpPr>
      <p:grpSpPr>
        <a:xfrm>
          <a:off x="0" y="0"/>
          <a:ext cx="0" cy="0"/>
          <a:chOff x="0" y="0"/>
          <a:chExt cx="0" cy="0"/>
        </a:xfrm>
      </p:grpSpPr>
      <p:sp>
        <p:nvSpPr>
          <p:cNvPr id="99" name="Google Shape;99;p20"/>
          <p:cNvSpPr/>
          <p:nvPr>
            <p:ph idx="2" type="pic"/>
          </p:nvPr>
        </p:nvSpPr>
        <p:spPr>
          <a:xfrm>
            <a:off x="192505" y="514350"/>
            <a:ext cx="1600200" cy="4629300"/>
          </a:xfrm>
          <a:prstGeom prst="rect">
            <a:avLst/>
          </a:prstGeom>
          <a:noFill/>
          <a:ln>
            <a:noFill/>
          </a:ln>
        </p:spPr>
      </p:sp>
      <p:sp>
        <p:nvSpPr>
          <p:cNvPr id="100" name="Google Shape;100;p20"/>
          <p:cNvSpPr/>
          <p:nvPr>
            <p:ph idx="3" type="pic"/>
          </p:nvPr>
        </p:nvSpPr>
        <p:spPr>
          <a:xfrm>
            <a:off x="1997242" y="0"/>
            <a:ext cx="1600200" cy="4629300"/>
          </a:xfrm>
          <a:prstGeom prst="rect">
            <a:avLst/>
          </a:prstGeom>
          <a:noFill/>
          <a:ln>
            <a:noFill/>
          </a:ln>
        </p:spPr>
      </p:sp>
      <p:sp>
        <p:nvSpPr>
          <p:cNvPr id="101" name="Google Shape;101;p20"/>
          <p:cNvSpPr/>
          <p:nvPr>
            <p:ph idx="4" type="pic"/>
          </p:nvPr>
        </p:nvSpPr>
        <p:spPr>
          <a:xfrm>
            <a:off x="3801980" y="514350"/>
            <a:ext cx="1600200" cy="4629300"/>
          </a:xfrm>
          <a:prstGeom prst="rect">
            <a:avLst/>
          </a:prstGeom>
          <a:noFill/>
          <a:ln>
            <a:noFill/>
          </a:ln>
        </p:spPr>
      </p:sp>
      <p:sp>
        <p:nvSpPr>
          <p:cNvPr id="102" name="Google Shape;102;p20"/>
          <p:cNvSpPr/>
          <p:nvPr>
            <p:ph idx="5" type="pic"/>
          </p:nvPr>
        </p:nvSpPr>
        <p:spPr>
          <a:xfrm>
            <a:off x="5606716" y="0"/>
            <a:ext cx="1600200" cy="4629300"/>
          </a:xfrm>
          <a:prstGeom prst="rect">
            <a:avLst/>
          </a:prstGeom>
          <a:noFill/>
          <a:ln>
            <a:noFill/>
          </a:ln>
        </p:spPr>
      </p:sp>
      <p:sp>
        <p:nvSpPr>
          <p:cNvPr id="103" name="Google Shape;103;p20"/>
          <p:cNvSpPr/>
          <p:nvPr>
            <p:ph idx="6" type="pic"/>
          </p:nvPr>
        </p:nvSpPr>
        <p:spPr>
          <a:xfrm>
            <a:off x="7411453" y="514350"/>
            <a:ext cx="1600200" cy="46293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1">
  <p:cSld name="1_Cover Page">
    <p:spTree>
      <p:nvGrpSpPr>
        <p:cNvPr id="104" name="Shape 104"/>
        <p:cNvGrpSpPr/>
        <p:nvPr/>
      </p:nvGrpSpPr>
      <p:grpSpPr>
        <a:xfrm>
          <a:off x="0" y="0"/>
          <a:ext cx="0" cy="0"/>
          <a:chOff x="0" y="0"/>
          <a:chExt cx="0" cy="0"/>
        </a:xfrm>
      </p:grpSpPr>
      <p:sp>
        <p:nvSpPr>
          <p:cNvPr id="105" name="Google Shape;105;p21"/>
          <p:cNvSpPr/>
          <p:nvPr/>
        </p:nvSpPr>
        <p:spPr>
          <a:xfrm>
            <a:off x="-53437" y="3390300"/>
            <a:ext cx="91974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p21"/>
          <p:cNvPicPr preferRelativeResize="0"/>
          <p:nvPr/>
        </p:nvPicPr>
        <p:blipFill rotWithShape="1">
          <a:blip r:embed="rId2">
            <a:alphaModFix/>
          </a:blip>
          <a:srcRect b="13732" l="0" r="-563" t="43844"/>
          <a:stretch/>
        </p:blipFill>
        <p:spPr>
          <a:xfrm>
            <a:off x="-53437" y="-70462"/>
            <a:ext cx="9250875" cy="3460759"/>
          </a:xfrm>
          <a:prstGeom prst="rect">
            <a:avLst/>
          </a:prstGeom>
          <a:noFill/>
          <a:ln>
            <a:noFill/>
          </a:ln>
        </p:spPr>
      </p:pic>
      <p:sp>
        <p:nvSpPr>
          <p:cNvPr id="107" name="Google Shape;107;p21"/>
          <p:cNvSpPr txBox="1"/>
          <p:nvPr>
            <p:ph type="title"/>
          </p:nvPr>
        </p:nvSpPr>
        <p:spPr>
          <a:xfrm>
            <a:off x="493923" y="976378"/>
            <a:ext cx="8005800" cy="1824300"/>
          </a:xfrm>
          <a:prstGeom prst="rect">
            <a:avLst/>
          </a:prstGeom>
          <a:noFill/>
          <a:ln>
            <a:noFill/>
          </a:ln>
        </p:spPr>
        <p:txBody>
          <a:bodyPr anchorCtr="0" anchor="ctr" bIns="25700" lIns="25700" spcFirstLastPara="1" rIns="25700" wrap="square" tIns="25700">
            <a:normAutofit/>
          </a:bodyPr>
          <a:lstStyle>
            <a:lvl1pPr lvl="0" marR="0" algn="l">
              <a:lnSpc>
                <a:spcPct val="90000"/>
              </a:lnSpc>
              <a:spcBef>
                <a:spcPts val="0"/>
              </a:spcBef>
              <a:spcAft>
                <a:spcPts val="0"/>
              </a:spcAft>
              <a:buClr>
                <a:srgbClr val="FFFFFF"/>
              </a:buClr>
              <a:buSzPts val="27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lgn="l">
              <a:lnSpc>
                <a:spcPct val="100000"/>
              </a:lnSpc>
              <a:spcBef>
                <a:spcPts val="0"/>
              </a:spcBef>
              <a:spcAft>
                <a:spcPts val="0"/>
              </a:spcAft>
              <a:buSzPts val="500"/>
              <a:buFont typeface="Arial"/>
              <a:buNone/>
              <a:defRPr sz="700"/>
            </a:lvl2pPr>
            <a:lvl3pPr lvl="2" algn="l">
              <a:lnSpc>
                <a:spcPct val="100000"/>
              </a:lnSpc>
              <a:spcBef>
                <a:spcPts val="0"/>
              </a:spcBef>
              <a:spcAft>
                <a:spcPts val="0"/>
              </a:spcAft>
              <a:buSzPts val="500"/>
              <a:buFont typeface="Arial"/>
              <a:buNone/>
              <a:defRPr sz="700"/>
            </a:lvl3pPr>
            <a:lvl4pPr lvl="3" algn="l">
              <a:lnSpc>
                <a:spcPct val="100000"/>
              </a:lnSpc>
              <a:spcBef>
                <a:spcPts val="0"/>
              </a:spcBef>
              <a:spcAft>
                <a:spcPts val="0"/>
              </a:spcAft>
              <a:buSzPts val="500"/>
              <a:buFont typeface="Arial"/>
              <a:buNone/>
              <a:defRPr sz="700"/>
            </a:lvl4pPr>
            <a:lvl5pPr lvl="4" algn="l">
              <a:lnSpc>
                <a:spcPct val="100000"/>
              </a:lnSpc>
              <a:spcBef>
                <a:spcPts val="0"/>
              </a:spcBef>
              <a:spcAft>
                <a:spcPts val="0"/>
              </a:spcAft>
              <a:buSzPts val="500"/>
              <a:buFont typeface="Arial"/>
              <a:buNone/>
              <a:defRPr sz="700"/>
            </a:lvl5pPr>
            <a:lvl6pPr lvl="5" algn="l">
              <a:lnSpc>
                <a:spcPct val="100000"/>
              </a:lnSpc>
              <a:spcBef>
                <a:spcPts val="0"/>
              </a:spcBef>
              <a:spcAft>
                <a:spcPts val="0"/>
              </a:spcAft>
              <a:buSzPts val="500"/>
              <a:buFont typeface="Arial"/>
              <a:buNone/>
              <a:defRPr sz="700"/>
            </a:lvl6pPr>
            <a:lvl7pPr lvl="6" algn="l">
              <a:lnSpc>
                <a:spcPct val="100000"/>
              </a:lnSpc>
              <a:spcBef>
                <a:spcPts val="0"/>
              </a:spcBef>
              <a:spcAft>
                <a:spcPts val="0"/>
              </a:spcAft>
              <a:buSzPts val="500"/>
              <a:buFont typeface="Arial"/>
              <a:buNone/>
              <a:defRPr sz="700"/>
            </a:lvl7pPr>
            <a:lvl8pPr lvl="7" algn="l">
              <a:lnSpc>
                <a:spcPct val="100000"/>
              </a:lnSpc>
              <a:spcBef>
                <a:spcPts val="0"/>
              </a:spcBef>
              <a:spcAft>
                <a:spcPts val="0"/>
              </a:spcAft>
              <a:buSzPts val="500"/>
              <a:buFont typeface="Arial"/>
              <a:buNone/>
              <a:defRPr sz="700"/>
            </a:lvl8pPr>
            <a:lvl9pPr lvl="8" algn="l">
              <a:lnSpc>
                <a:spcPct val="100000"/>
              </a:lnSpc>
              <a:spcBef>
                <a:spcPts val="0"/>
              </a:spcBef>
              <a:spcAft>
                <a:spcPts val="0"/>
              </a:spcAft>
              <a:buSzPts val="500"/>
              <a:buFont typeface="Arial"/>
              <a:buNone/>
              <a:defRPr sz="700"/>
            </a:lvl9pPr>
          </a:lstStyle>
          <a:p/>
        </p:txBody>
      </p:sp>
      <p:sp>
        <p:nvSpPr>
          <p:cNvPr id="108" name="Google Shape;108;p21"/>
          <p:cNvSpPr txBox="1"/>
          <p:nvPr>
            <p:ph idx="1" type="subTitle"/>
          </p:nvPr>
        </p:nvSpPr>
        <p:spPr>
          <a:xfrm>
            <a:off x="493926" y="3549825"/>
            <a:ext cx="7661100" cy="9708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
        <p:nvSpPr>
          <p:cNvPr id="109" name="Google Shape;109;p21"/>
          <p:cNvSpPr txBox="1"/>
          <p:nvPr>
            <p:ph idx="2" type="subTitle"/>
          </p:nvPr>
        </p:nvSpPr>
        <p:spPr>
          <a:xfrm>
            <a:off x="493923" y="4079316"/>
            <a:ext cx="7327800" cy="29871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sz="1800"/>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 name="Google Shape;7;p1"/>
          <p:cNvSpPr txBox="1"/>
          <p:nvPr>
            <p:ph idx="1" type="body"/>
          </p:nvPr>
        </p:nvSpPr>
        <p:spPr>
          <a:xfrm>
            <a:off x="509577" y="1401113"/>
            <a:ext cx="80058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Clr>
                <a:schemeClr val="dk2"/>
              </a:buClr>
              <a:buSzPts val="2200"/>
              <a:buFont typeface="Roboto"/>
              <a:buNone/>
              <a:defRPr i="0" sz="2200" u="none" cap="none" strike="noStrike">
                <a:solidFill>
                  <a:schemeClr val="dk2"/>
                </a:solidFill>
                <a:latin typeface="Roboto"/>
                <a:ea typeface="Roboto"/>
                <a:cs typeface="Roboto"/>
                <a:sym typeface="Roboto"/>
              </a:defRPr>
            </a:lvl1pPr>
            <a:lvl2pPr indent="-228600" lvl="1" marL="914400" marR="0" algn="l">
              <a:lnSpc>
                <a:spcPct val="90000"/>
              </a:lnSpc>
              <a:spcBef>
                <a:spcPts val="400"/>
              </a:spcBef>
              <a:spcAft>
                <a:spcPts val="0"/>
              </a:spcAft>
              <a:buClr>
                <a:schemeClr val="dk2"/>
              </a:buClr>
              <a:buSzPts val="1800"/>
              <a:buFont typeface="Roboto"/>
              <a:buNone/>
              <a:defRPr i="0" sz="1800" u="none" cap="none" strike="noStrike">
                <a:solidFill>
                  <a:schemeClr val="dk2"/>
                </a:solidFill>
                <a:latin typeface="Roboto"/>
                <a:ea typeface="Roboto"/>
                <a:cs typeface="Roboto"/>
                <a:sym typeface="Roboto"/>
              </a:defRPr>
            </a:lvl2pPr>
            <a:lvl3pPr indent="-228600" lvl="2" marL="1371600" marR="0" algn="l">
              <a:lnSpc>
                <a:spcPct val="90000"/>
              </a:lnSpc>
              <a:spcBef>
                <a:spcPts val="400"/>
              </a:spcBef>
              <a:spcAft>
                <a:spcPts val="0"/>
              </a:spcAft>
              <a:buClr>
                <a:schemeClr val="dk2"/>
              </a:buClr>
              <a:buSzPts val="1500"/>
              <a:buFont typeface="Roboto"/>
              <a:buNone/>
              <a:defRPr i="0" sz="1500" u="none" cap="none" strike="noStrike">
                <a:solidFill>
                  <a:schemeClr val="dk2"/>
                </a:solidFill>
                <a:latin typeface="Roboto"/>
                <a:ea typeface="Roboto"/>
                <a:cs typeface="Roboto"/>
                <a:sym typeface="Roboto"/>
              </a:defRPr>
            </a:lvl3pPr>
            <a:lvl4pPr indent="-228600" lvl="3" marL="1828800" marR="0" algn="l">
              <a:lnSpc>
                <a:spcPct val="90000"/>
              </a:lnSpc>
              <a:spcBef>
                <a:spcPts val="400"/>
              </a:spcBef>
              <a:spcAft>
                <a:spcPts val="0"/>
              </a:spcAft>
              <a:buClr>
                <a:schemeClr val="dk2"/>
              </a:buClr>
              <a:buSzPts val="1300"/>
              <a:buFont typeface="Roboto"/>
              <a:buNone/>
              <a:defRPr i="0" sz="1300" u="none" cap="none" strike="noStrike">
                <a:solidFill>
                  <a:schemeClr val="dk2"/>
                </a:solidFill>
                <a:latin typeface="Roboto"/>
                <a:ea typeface="Roboto"/>
                <a:cs typeface="Roboto"/>
                <a:sym typeface="Roboto"/>
              </a:defRPr>
            </a:lvl4pPr>
            <a:lvl5pPr indent="-228600" lvl="4" marL="2286000" marR="0" algn="l">
              <a:lnSpc>
                <a:spcPct val="90000"/>
              </a:lnSpc>
              <a:spcBef>
                <a:spcPts val="400"/>
              </a:spcBef>
              <a:spcAft>
                <a:spcPts val="0"/>
              </a:spcAft>
              <a:buClr>
                <a:schemeClr val="dk2"/>
              </a:buClr>
              <a:buSzPts val="1100"/>
              <a:buFont typeface="Roboto"/>
              <a:buNone/>
              <a:defRPr i="0" sz="1100" u="none" cap="none" strike="noStrike">
                <a:solidFill>
                  <a:schemeClr val="dk2"/>
                </a:solidFill>
                <a:latin typeface="Roboto"/>
                <a:ea typeface="Roboto"/>
                <a:cs typeface="Roboto"/>
                <a:sym typeface="Roboto"/>
              </a:defRPr>
            </a:lvl5pPr>
            <a:lvl6pPr indent="-285750" lvl="5" marL="2743200" marR="0" algn="l">
              <a:lnSpc>
                <a:spcPct val="90000"/>
              </a:lnSpc>
              <a:spcBef>
                <a:spcPts val="400"/>
              </a:spcBef>
              <a:spcAft>
                <a:spcPts val="0"/>
              </a:spcAft>
              <a:buClr>
                <a:schemeClr val="dk1"/>
              </a:buClr>
              <a:buSzPts val="900"/>
              <a:buFont typeface="Roboto"/>
              <a:buChar char="•"/>
              <a:defRPr i="0" sz="900" u="none" cap="none" strike="noStrike">
                <a:solidFill>
                  <a:schemeClr val="dk1"/>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sz="50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pic>
        <p:nvPicPr>
          <p:cNvPr id="8" name="Google Shape;8;p1"/>
          <p:cNvPicPr preferRelativeResize="0"/>
          <p:nvPr/>
        </p:nvPicPr>
        <p:blipFill rotWithShape="1">
          <a:blip r:embed="rId1">
            <a:alphaModFix/>
          </a:blip>
          <a:srcRect b="0" l="0" r="0" t="35296"/>
          <a:stretch/>
        </p:blipFill>
        <p:spPr>
          <a:xfrm>
            <a:off x="0" y="4794384"/>
            <a:ext cx="9144000" cy="3491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5.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marL="0" indent="0">
              <a:buNone/>
            </a:pPr>
            <a:r>
              <a:t>CSCI 3495</a:t>
            </a:r>
          </a:p>
          <a:p>
            <a:pPr marL="0" indent="0">
              <a:buNone/>
            </a:pPr>
            <a:r>
              <a:t>Word Embeddings</a:t>
            </a:r>
          </a:p>
        </p:txBody>
      </p:sp>
      <p:sp>
        <p:nvSpPr>
          <p:cNvPr id="3" name="Subtitle 2"/>
          <p:cNvSpPr>
            <a:spLocks noGrp="1"/>
          </p:cNvSpPr>
          <p:nvPr>
            <p:ph type="subTitle" idx="1"/>
          </p:nvPr>
        </p:nvSpPr>
        <p:spPr>
          <a:xfrm>
            <a:off x="493926" y="3549825"/>
            <a:ext cx="5937922" cy="970800"/>
          </a:xfrm>
        </p:spPr>
        <p:txBody>
          <a:bodyPr wrap="square"/>
          <a:lstStyle/>
          <a:p>
            <a:pPr marL="0" indent="0">
              <a:buNone/>
            </a:pPr>
            <a:r>
              <a:t>Natural Language Processing &amp; Large Language Models</a:t>
            </a:r>
          </a:p>
          <a:p>
            <a:pPr marL="0" indent="0">
              <a:buNone/>
            </a:pPr>
            <a:r>
              <a:t>Week 5, Class 2  ·  Wed Sep 23, 2026</a:t>
            </a:r>
          </a:p>
        </p:txBody>
      </p:sp>
      <p:pic>
        <p:nvPicPr>
          <p:cNvPr id="5" name="Picture 4" descr="Word Embeddings"/>
          <p:cNvPicPr>
            <a:picLocks noChangeAspect="1"/>
          </p:cNvPicPr>
          <p:nvPr/>
        </p:nvPicPr>
        <p:blipFill>
          <a:blip r:embed="rId3"/>
          <a:stretch>
            <a:fillRect/>
          </a:stretch>
        </p:blipFill>
        <p:spPr>
          <a:xfrm>
            <a:off x="6660448" y="3474720"/>
            <a:ext cx="2117792" cy="1481328"/>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777777"/>
                </a:solidFill>
              </a:defRPr>
            </a:pPr>
            <a:r>
              <a:t>Source: Bubba73 (Jud McCranie), Wikimedia Commons, CC BY-SA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Embeddings scatter words like stars; nearby points share meaning."/>
          <p:cNvPicPr>
            <a:picLocks noChangeAspect="1"/>
          </p:cNvPicPr>
          <p:nvPr/>
        </p:nvPicPr>
        <p:blipFill>
          <a:blip r:embed="rId3"/>
          <a:stretch>
            <a:fillRect/>
          </a:stretch>
        </p:blipFill>
        <p:spPr>
          <a:xfrm>
            <a:off x="0" y="-334328"/>
            <a:ext cx="9144000" cy="5812155"/>
          </a:xfrm>
          <a:prstGeom prst="rect">
            <a:avLst/>
          </a:prstGeom>
        </p:spPr>
      </p:pic>
      <p:sp>
        <p:nvSpPr>
          <p:cNvPr id="6" name="Rectangle 5"/>
          <p:cNvSpPr/>
          <p:nvPr/>
        </p:nvSpPr>
        <p:spPr>
          <a:xfrm>
            <a:off x="0" y="1143000"/>
            <a:ext cx="9144000" cy="2834640"/>
          </a:xfrm>
          <a:prstGeom prst="rect">
            <a:avLst/>
          </a:prstGeom>
          <a:solidFill>
            <a:srgbClr val="10101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7863840" cy="2651760"/>
          </a:xfrm>
          <a:prstGeom prst="rect">
            <a:avLst/>
          </a:prstGeom>
          <a:noFill/>
        </p:spPr>
        <p:txBody>
          <a:bodyPr wrap="square" anchor="ctr">
            <a:spAutoFit/>
          </a:bodyPr>
          <a:lstStyle/>
          <a:p>
            <a:pPr algn="ctr" marL="0" indent="0">
              <a:buNone/>
            </a:pPr>
            <a:r>
              <a:rPr sz="4000" b="1">
                <a:solidFill>
                  <a:srgbClr val="FFFFFF"/>
                </a:solidFill>
              </a:rPr>
              <a:t>Every word gets a place in one shared space</a:t>
            </a:r>
          </a:p>
          <a:p>
            <a:pPr algn="ctr" marL="0" indent="0">
              <a:buNone/>
            </a:pPr>
            <a:r>
              <a:rPr sz="2000">
                <a:solidFill>
                  <a:srgbClr val="FFFFFF"/>
                </a:solidFill>
              </a:rPr>
              <a:t>Embeddings scatter words like stars; nearby points share meaning.</a:t>
            </a:r>
          </a:p>
        </p:txBody>
      </p:sp>
      <p:sp>
        <p:nvSpPr>
          <p:cNvPr id="8" name="TextBox 7"/>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Unsplash License, https://unsplash.com/photos/Y20JJ_ddy9M (Vincentiu Solomon)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From sparse counts to dense vectors</a:t>
            </a:r>
          </a:p>
        </p:txBody>
      </p:sp>
      <p:sp>
        <p:nvSpPr>
          <p:cNvPr id="5" name="Rounded Rectangle 4"/>
          <p:cNvSpPr/>
          <p:nvPr/>
        </p:nvSpPr>
        <p:spPr>
          <a:xfrm>
            <a:off x="457200" y="2166652"/>
            <a:ext cx="4041648" cy="1413700"/>
          </a:xfrm>
          <a:prstGeom prst="roundRect">
            <a:avLst>
              <a:gd name="adj" fmla="val 840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312956"/>
            <a:ext cx="3675888" cy="112109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COUNT VECTOR</a:t>
            </a:r>
          </a:p>
          <a:p>
            <a:pPr marL="0" indent="0">
              <a:spcAft>
                <a:spcPts val="300"/>
              </a:spcAft>
              <a:buNone/>
            </a:pPr>
            <a:r>
              <a:rPr sz="1850" b="0" u="none">
                <a:solidFill>
                  <a:srgbClr val="1D1D1F"/>
                </a:solidFill>
                <a:latin typeface="Menlo"/>
              </a:rPr>
              <a:t>50,000 dims, mostly zeros</a:t>
            </a:r>
          </a:p>
          <a:p>
            <a:pPr marL="0" indent="0" algn="l">
              <a:spcAft>
                <a:spcPts val="200"/>
              </a:spcAft>
              <a:buNone/>
            </a:pPr>
            <a:r>
              <a:rPr sz="1200" b="0">
                <a:solidFill>
                  <a:srgbClr val="86868B"/>
                </a:solidFill>
                <a:latin typeface="Helvetica Neue"/>
              </a:rPr>
              <a:t>good and great share no dimension, so they stay exactly as unrelated as good and asparagus.</a:t>
            </a:r>
          </a:p>
        </p:txBody>
      </p:sp>
      <p:sp>
        <p:nvSpPr>
          <p:cNvPr id="7" name="Rounded Rectangle 6"/>
          <p:cNvSpPr/>
          <p:nvPr/>
        </p:nvSpPr>
        <p:spPr>
          <a:xfrm>
            <a:off x="4645152" y="2166652"/>
            <a:ext cx="4041648" cy="1413700"/>
          </a:xfrm>
          <a:prstGeom prst="roundRect">
            <a:avLst>
              <a:gd name="adj" fmla="val 840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312956"/>
            <a:ext cx="3675888" cy="112109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WORD EMBEDDING</a:t>
            </a:r>
          </a:p>
          <a:p>
            <a:pPr marL="0" indent="0">
              <a:spcAft>
                <a:spcPts val="300"/>
              </a:spcAft>
              <a:buNone/>
            </a:pPr>
            <a:r>
              <a:rPr sz="1850" b="0" u="none">
                <a:solidFill>
                  <a:srgbClr val="1D1D1F"/>
                </a:solidFill>
                <a:latin typeface="Menlo"/>
              </a:rPr>
              <a:t>~300 dims, every one used</a:t>
            </a:r>
          </a:p>
          <a:p>
            <a:pPr marL="0" indent="0" algn="l">
              <a:spcAft>
                <a:spcPts val="200"/>
              </a:spcAft>
              <a:buNone/>
            </a:pPr>
            <a:r>
              <a:rPr sz="1200" b="0">
                <a:solidFill>
                  <a:srgbClr val="86868B"/>
                </a:solidFill>
                <a:latin typeface="Helvetica Neue"/>
              </a:rPr>
              <a:t>0.31  -1.2  0.07  0.88  -0.4</a:t>
            </a:r>
          </a:p>
          <a:p>
            <a:pPr marL="0" indent="0" algn="l">
              <a:spcAft>
                <a:spcPts val="200"/>
              </a:spcAft>
              <a:buNone/>
            </a:pPr>
            <a:r>
              <a:rPr sz="1200" b="0">
                <a:solidFill>
                  <a:srgbClr val="86868B"/>
                </a:solidFill>
                <a:latin typeface="Helvetica Neue"/>
              </a:rPr>
              <a:t>Learned so that similar words end up close.</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640080" y="1234440"/>
            <a:ext cx="7863840" cy="2651760"/>
          </a:xfrm>
          <a:prstGeom prst="rect">
            <a:avLst/>
          </a:prstGeom>
          <a:noFill/>
        </p:spPr>
        <p:txBody>
          <a:bodyPr wrap="square" anchor="ctr">
            <a:spAutoFit/>
          </a:bodyPr>
          <a:lstStyle/>
          <a:p>
            <a:pPr algn="ctr" marL="0" indent="0">
              <a:buNone/>
            </a:pPr>
            <a:r>
              <a:rPr sz="3400" b="1">
                <a:solidFill>
                  <a:srgbClr val="7C2529"/>
                </a:solidFill>
              </a:rPr>
              <a:t>Let's walk through Parts 1 and 2 in the notebook</a:t>
            </a:r>
          </a:p>
          <a:p>
            <a:pPr algn="ctr" marL="0" indent="0">
              <a:buNone/>
            </a:pPr>
            <a:r>
              <a:rPr sz="2000">
                <a:solidFill>
                  <a:srgbClr val="222222"/>
                </a:solidFill>
              </a:rPr>
              <a:t>Open a real embedding and look inside.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word2vec's trick: turn counting into a quiz</a:t>
            </a:r>
          </a:p>
        </p:txBody>
      </p:sp>
      <p:sp>
        <p:nvSpPr>
          <p:cNvPr id="5" name="TextBox 4"/>
          <p:cNvSpPr txBox="1"/>
          <p:nvPr/>
        </p:nvSpPr>
        <p:spPr>
          <a:xfrm>
            <a:off x="457200" y="2051875"/>
            <a:ext cx="8229600" cy="679450"/>
          </a:xfrm>
          <a:prstGeom prst="rect">
            <a:avLst/>
          </a:prstGeom>
          <a:noFill/>
        </p:spPr>
        <p:txBody>
          <a:bodyPr wrap="square" anchor="t" lIns="0" rIns="0" tIns="0" bIns="0">
            <a:spAutoFit/>
          </a:bodyPr>
          <a:lstStyle/>
          <a:p>
            <a:pPr marL="0" indent="0">
              <a:lnSpc>
                <a:spcPts val="3190"/>
              </a:lnSpc>
              <a:buNone/>
            </a:pPr>
            <a:r>
              <a:rPr sz="2200" b="0" u="none">
                <a:solidFill>
                  <a:srgbClr val="1D1D1F"/>
                </a:solidFill>
                <a:latin typeface="Helvetica Neue"/>
              </a:rPr>
              <a:t>"... lemon, a tablespoon of </a:t>
            </a:r>
            <a:r>
              <a:rPr sz="2200" b="1" u="sng">
                <a:solidFill>
                  <a:srgbClr val="1D1D1F"/>
                </a:solidFill>
                <a:latin typeface="Helvetica Neue"/>
              </a:rPr>
              <a:t>apricot</a:t>
            </a:r>
            <a:r>
              <a:rPr sz="2200" b="0" u="none">
                <a:solidFill>
                  <a:srgbClr val="1D1D1F"/>
                </a:solidFill>
                <a:latin typeface="Helvetica Neue"/>
              </a:rPr>
              <a:t> jam, a pinch ..."</a:t>
            </a:r>
          </a:p>
        </p:txBody>
      </p:sp>
      <p:sp>
        <p:nvSpPr>
          <p:cNvPr id="6" name="Rounded Rectangle 5"/>
          <p:cNvSpPr/>
          <p:nvPr/>
        </p:nvSpPr>
        <p:spPr>
          <a:xfrm>
            <a:off x="457200" y="2731325"/>
            <a:ext cx="4041648" cy="963803"/>
          </a:xfrm>
          <a:prstGeom prst="roundRect">
            <a:avLst>
              <a:gd name="adj" fmla="val 1233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2877629"/>
            <a:ext cx="3675888" cy="671195"/>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YES</a:t>
            </a:r>
          </a:p>
          <a:p>
            <a:pPr marL="0" indent="0">
              <a:spcAft>
                <a:spcPts val="300"/>
              </a:spcAft>
              <a:buNone/>
            </a:pPr>
            <a:r>
              <a:rPr sz="2000" b="0" u="none">
                <a:solidFill>
                  <a:srgbClr val="1D1D1F"/>
                </a:solidFill>
                <a:latin typeface="Menlo"/>
              </a:rPr>
              <a:t>a real neighbour</a:t>
            </a:r>
          </a:p>
        </p:txBody>
      </p:sp>
      <p:sp>
        <p:nvSpPr>
          <p:cNvPr id="8" name="Rounded Rectangle 7"/>
          <p:cNvSpPr/>
          <p:nvPr/>
        </p:nvSpPr>
        <p:spPr>
          <a:xfrm>
            <a:off x="4645152" y="2731325"/>
            <a:ext cx="4041648" cy="963803"/>
          </a:xfrm>
          <a:prstGeom prst="roundRect">
            <a:avLst>
              <a:gd name="adj" fmla="val 1233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828032" y="2877629"/>
            <a:ext cx="3675888" cy="671195"/>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NO</a:t>
            </a:r>
          </a:p>
          <a:p>
            <a:pPr marL="0" indent="0">
              <a:spcAft>
                <a:spcPts val="300"/>
              </a:spcAft>
              <a:buNone/>
            </a:pPr>
            <a:r>
              <a:rPr sz="2000" b="0" u="none">
                <a:solidFill>
                  <a:srgbClr val="1D1D1F"/>
                </a:solidFill>
                <a:latin typeface="Menlo"/>
              </a:rPr>
              <a:t>a random word</a:t>
            </a:r>
          </a:p>
        </p:txBody>
      </p:sp>
      <p:sp>
        <p:nvSpPr>
          <p:cNvPr id="10" name="TextBox 9"/>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Jurafsky &amp; Martin, SLP3 (Jan 2026 draft), Ch. 5.5 running example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labels are free: self-supervision</a:t>
            </a:r>
          </a:p>
        </p:txBody>
      </p:sp>
      <p:sp>
        <p:nvSpPr>
          <p:cNvPr id="5" name="TextBox 4"/>
          <p:cNvSpPr txBox="1"/>
          <p:nvPr/>
        </p:nvSpPr>
        <p:spPr>
          <a:xfrm>
            <a:off x="457200" y="1442276"/>
            <a:ext cx="8229600" cy="679450"/>
          </a:xfrm>
          <a:prstGeom prst="rect">
            <a:avLst/>
          </a:prstGeom>
          <a:noFill/>
        </p:spPr>
        <p:txBody>
          <a:bodyPr wrap="square" anchor="t" lIns="0" rIns="0" tIns="0" bIns="0">
            <a:spAutoFit/>
          </a:bodyPr>
          <a:lstStyle/>
          <a:p>
            <a:pPr marL="0" indent="0">
              <a:lnSpc>
                <a:spcPts val="3190"/>
              </a:lnSpc>
              <a:buNone/>
            </a:pPr>
            <a:r>
              <a:rPr sz="2200" b="0" u="none">
                <a:solidFill>
                  <a:srgbClr val="1D1D1F"/>
                </a:solidFill>
                <a:latin typeface="Helvetica Neue"/>
              </a:rPr>
              <a:t>"... lemon, a tablespoon of </a:t>
            </a:r>
            <a:r>
              <a:rPr sz="2200" b="1" u="sng">
                <a:solidFill>
                  <a:srgbClr val="1D1D1F"/>
                </a:solidFill>
                <a:latin typeface="Helvetica Neue"/>
              </a:rPr>
              <a:t>apricot</a:t>
            </a:r>
            <a:r>
              <a:rPr sz="2200" b="0" u="none">
                <a:solidFill>
                  <a:srgbClr val="1D1D1F"/>
                </a:solidFill>
                <a:latin typeface="Helvetica Neue"/>
              </a:rPr>
              <a:t> jam, a pinch ..."</a:t>
            </a:r>
          </a:p>
        </p:txBody>
      </p:sp>
      <p:sp>
        <p:nvSpPr>
          <p:cNvPr id="6" name="Rounded Rectangle 5"/>
          <p:cNvSpPr/>
          <p:nvPr/>
        </p:nvSpPr>
        <p:spPr>
          <a:xfrm>
            <a:off x="457200" y="2121726"/>
            <a:ext cx="4041648" cy="2183002"/>
          </a:xfrm>
          <a:prstGeom prst="roundRect">
            <a:avLst>
              <a:gd name="adj" fmla="val 5445"/>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2268030"/>
            <a:ext cx="3675888" cy="1890394"/>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POSITIVE, STRAIGHT OFF THE TEXT</a:t>
            </a:r>
          </a:p>
          <a:p>
            <a:pPr marL="0" indent="0">
              <a:spcAft>
                <a:spcPts val="300"/>
              </a:spcAft>
              <a:buNone/>
            </a:pPr>
            <a:r>
              <a:rPr sz="2000" b="0" u="none">
                <a:solidFill>
                  <a:srgbClr val="1D1D1F"/>
                </a:solidFill>
                <a:latin typeface="Menlo"/>
              </a:rPr>
              <a:t>apricot tablespoon</a:t>
            </a:r>
          </a:p>
          <a:p>
            <a:pPr marL="0" indent="0">
              <a:spcAft>
                <a:spcPts val="300"/>
              </a:spcAft>
              <a:buNone/>
            </a:pPr>
            <a:r>
              <a:rPr sz="2000" b="0" u="none">
                <a:solidFill>
                  <a:srgbClr val="1D1D1F"/>
                </a:solidFill>
                <a:latin typeface="Menlo"/>
              </a:rPr>
              <a:t>apricot of</a:t>
            </a:r>
          </a:p>
          <a:p>
            <a:pPr marL="0" indent="0">
              <a:spcAft>
                <a:spcPts val="300"/>
              </a:spcAft>
              <a:buNone/>
            </a:pPr>
            <a:r>
              <a:rPr sz="2000" b="0" u="none">
                <a:solidFill>
                  <a:srgbClr val="1D1D1F"/>
                </a:solidFill>
                <a:latin typeface="Menlo"/>
              </a:rPr>
              <a:t>apricot jam</a:t>
            </a:r>
          </a:p>
          <a:p>
            <a:pPr marL="0" indent="0">
              <a:spcAft>
                <a:spcPts val="300"/>
              </a:spcAft>
              <a:buNone/>
            </a:pPr>
            <a:r>
              <a:rPr sz="2000" b="0" u="none">
                <a:solidFill>
                  <a:srgbClr val="1D1D1F"/>
                </a:solidFill>
                <a:latin typeface="Menlo"/>
              </a:rPr>
              <a:t>apricot a</a:t>
            </a:r>
          </a:p>
        </p:txBody>
      </p:sp>
      <p:sp>
        <p:nvSpPr>
          <p:cNvPr id="8" name="Rounded Rectangle 7"/>
          <p:cNvSpPr/>
          <p:nvPr/>
        </p:nvSpPr>
        <p:spPr>
          <a:xfrm>
            <a:off x="4645152" y="2121726"/>
            <a:ext cx="4041648" cy="2183002"/>
          </a:xfrm>
          <a:prstGeom prst="roundRect">
            <a:avLst>
              <a:gd name="adj" fmla="val 5445"/>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828032" y="2268030"/>
            <a:ext cx="3675888" cy="1890394"/>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NEGATIVE, DRAWN AT RANDOM</a:t>
            </a:r>
          </a:p>
          <a:p>
            <a:pPr marL="0" indent="0">
              <a:spcAft>
                <a:spcPts val="300"/>
              </a:spcAft>
              <a:buNone/>
            </a:pPr>
            <a:r>
              <a:rPr sz="2000" b="0" u="none">
                <a:solidFill>
                  <a:srgbClr val="1D1D1F"/>
                </a:solidFill>
                <a:latin typeface="Menlo"/>
              </a:rPr>
              <a:t>apricot aardvark</a:t>
            </a:r>
          </a:p>
          <a:p>
            <a:pPr marL="0" indent="0">
              <a:spcAft>
                <a:spcPts val="300"/>
              </a:spcAft>
              <a:buNone/>
            </a:pPr>
            <a:r>
              <a:rPr sz="2000" b="0" u="none">
                <a:solidFill>
                  <a:srgbClr val="1D1D1F"/>
                </a:solidFill>
                <a:latin typeface="Menlo"/>
              </a:rPr>
              <a:t>apricot seven</a:t>
            </a:r>
          </a:p>
          <a:p>
            <a:pPr marL="0" indent="0">
              <a:spcAft>
                <a:spcPts val="300"/>
              </a:spcAft>
              <a:buNone/>
            </a:pPr>
            <a:r>
              <a:rPr sz="2000" b="0" u="none">
                <a:solidFill>
                  <a:srgbClr val="1D1D1F"/>
                </a:solidFill>
                <a:latin typeface="Menlo"/>
              </a:rPr>
              <a:t>apricot my</a:t>
            </a:r>
          </a:p>
        </p:txBody>
      </p:sp>
      <p:sp>
        <p:nvSpPr>
          <p:cNvPr id="10" name="TextBox 9"/>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Jurafsky &amp; Martin, SLP3 (Jan 2026 draft), Ch. 5.5.2 training example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word2vec family: skip-gram and CBOW</a:t>
            </a:r>
          </a:p>
        </p:txBody>
      </p:sp>
      <p:pic>
        <p:nvPicPr>
          <p:cNvPr id="5" name="Picture 4" descr="The word2vec family: skip-gram and CBOW"/>
          <p:cNvPicPr>
            <a:picLocks noChangeAspect="1"/>
          </p:cNvPicPr>
          <p:nvPr/>
        </p:nvPicPr>
        <p:blipFill>
          <a:blip r:embed="rId3"/>
          <a:stretch>
            <a:fillRect/>
          </a:stretch>
        </p:blipFill>
        <p:spPr>
          <a:xfrm>
            <a:off x="2189024" y="1078992"/>
            <a:ext cx="4765952"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Mikolov et al. 2013 (arXiv:1301.3781), Fig.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Train a network, then keep only its first layer</a:t>
            </a:r>
          </a:p>
        </p:txBody>
      </p:sp>
      <p:graphicFrame>
        <p:nvGraphicFramePr>
          <p:cNvPr id="5" name="Table 4"/>
          <p:cNvGraphicFramePr>
            <a:graphicFrameLocks noGrp="1"/>
          </p:cNvGraphicFramePr>
          <p:nvPr/>
        </p:nvGraphicFramePr>
        <p:xfrm>
          <a:off x="457200" y="1739646"/>
          <a:ext cx="5102351" cy="2267712"/>
        </p:xfrm>
        <a:graphic>
          <a:graphicData uri="http://schemas.openxmlformats.org/drawingml/2006/table">
            <a:tbl>
              <a:tblPr firstRow="1" bandRow="0"/>
              <a:tblGrid>
                <a:gridCol w="1326611"/>
                <a:gridCol w="755148"/>
                <a:gridCol w="755148"/>
                <a:gridCol w="755148"/>
                <a:gridCol w="755148"/>
                <a:gridCol w="755148"/>
              </a:tblGrid>
              <a:tr h="566928">
                <a:tc>
                  <a:txBody>
                    <a:bodyPr wrap="none"/>
                    <a:lstStyle/>
                    <a:p>
                      <a:pPr marL="0" indent="0" algn="l">
                        <a:spcAft>
                          <a:spcPts val="0"/>
                        </a:spcAft>
                        <a:buNone/>
                      </a:pPr>
                      <a:r>
                        <a:rPr sz="750" b="1" spc="50">
                          <a:solidFill>
                            <a:srgbClr val="86868B"/>
                          </a:solidFill>
                          <a:latin typeface="Helvetica Neue"/>
                        </a:rPr>
                        <a:t>CONTEXT WORD</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750" b="1" spc="50">
                          <a:solidFill>
                            <a:srgbClr val="86868B"/>
                          </a:solidFill>
                          <a:latin typeface="Helvetica Neue"/>
                        </a:rPr>
                        <a:t>APRICOT</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750" b="1" spc="50">
                          <a:solidFill>
                            <a:srgbClr val="86868B"/>
                          </a:solidFill>
                          <a:latin typeface="Helvetica Neue"/>
                        </a:rPr>
                        <a:t>JAM</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750" b="1" spc="50">
                          <a:solidFill>
                            <a:srgbClr val="86868B"/>
                          </a:solidFill>
                          <a:latin typeface="Helvetica Neue"/>
                        </a:rPr>
                        <a:t>OF</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750" b="1" spc="50">
                          <a:solidFill>
                            <a:srgbClr val="86868B"/>
                          </a:solidFill>
                          <a:latin typeface="Helvetica Neue"/>
                        </a:rPr>
                        <a:t>TABLESPOON</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750" b="1" spc="50">
                          <a:solidFill>
                            <a:srgbClr val="86868B"/>
                          </a:solidFill>
                          <a:latin typeface="Helvetica Neue"/>
                        </a:rPr>
                        <a:t>DIGITAL</a:t>
                      </a:r>
                    </a:p>
                  </a:txBody>
                  <a:tcPr marL="54864" marR="54864" anchor="ctr">
                    <a:lnL w="12700" cap="flat" cmpd="sng" algn="ctr">
                      <a:noFill/>
                    </a:lnL>
                    <a:lnR w="12700" cap="flat" cmpd="sng" algn="ctr">
                      <a:noFill/>
                    </a:lnR>
                    <a:lnT w="12700" cap="flat" cmpd="sng" algn="ctr">
                      <a:no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jam</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1</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of</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1</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tablespoon</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1</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bl>
          </a:graphicData>
        </a:graphic>
      </p:graphicFrame>
      <p:sp>
        <p:nvSpPr>
          <p:cNvPr id="6" name="TextBox 5"/>
          <p:cNvSpPr txBox="1"/>
          <p:nvPr/>
        </p:nvSpPr>
        <p:spPr>
          <a:xfrm>
            <a:off x="5925312" y="1739646"/>
            <a:ext cx="2761488" cy="2267712"/>
          </a:xfrm>
          <a:prstGeom prst="rect">
            <a:avLst/>
          </a:prstGeom>
          <a:noFill/>
        </p:spPr>
        <p:txBody>
          <a:bodyPr wrap="square" anchor="t" lIns="0" rIns="0" tIns="0" bIns="0">
            <a:spAutoFit/>
          </a:bodyPr>
          <a:lstStyle/>
          <a:p>
            <a:pPr marL="0" indent="0" algn="l">
              <a:spcAft>
                <a:spcPts val="1000"/>
              </a:spcAft>
              <a:buNone/>
            </a:pPr>
            <a:r>
              <a:rPr sz="1100" b="1" spc="70">
                <a:solidFill>
                  <a:srgbClr val="86868B"/>
                </a:solidFill>
                <a:latin typeface="Helvetica Neue"/>
              </a:rPr>
              <a:t>WHAT THE MATRIX DOES</a:t>
            </a:r>
          </a:p>
          <a:p>
            <a:pPr marL="0" indent="0">
              <a:spcAft>
                <a:spcPts val="900"/>
              </a:spcAft>
              <a:buNone/>
            </a:pPr>
            <a:r>
              <a:rPr sz="1300">
                <a:solidFill>
                  <a:srgbClr val="1D1D1F"/>
                </a:solidFill>
                <a:latin typeface="Helvetica Neue"/>
              </a:rPr>
              <a:t>A one-hot times W does not compute anything. It selects a row.</a:t>
            </a:r>
          </a:p>
          <a:p>
            <a:pPr marL="0" indent="0">
              <a:spcAft>
                <a:spcPts val="900"/>
              </a:spcAft>
              <a:buNone/>
            </a:pPr>
            <a:r>
              <a:rPr sz="1300">
                <a:solidFill>
                  <a:srgbClr val="1D1D1F"/>
                </a:solidFill>
                <a:latin typeface="Helvetica Neue"/>
              </a:rPr>
              <a:t>Train the whole net, throw away the output layer, keep W.</a:t>
            </a:r>
          </a:p>
        </p:txBody>
      </p:sp>
      <p:sp>
        <p:nvSpPr>
          <p:cNvPr id="7" name="TextBox 6"/>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Mikolov et al. 2013 (arXiv:1301.3781), CBOW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famous result: analogies</a:t>
            </a:r>
          </a:p>
        </p:txBody>
      </p:sp>
      <p:pic>
        <p:nvPicPr>
          <p:cNvPr id="5" name="Picture 4" descr="The famous result: analogies"/>
          <p:cNvPicPr>
            <a:picLocks noChangeAspect="1"/>
          </p:cNvPicPr>
          <p:nvPr/>
        </p:nvPicPr>
        <p:blipFill>
          <a:blip r:embed="rId3"/>
          <a:stretch>
            <a:fillRect/>
          </a:stretch>
        </p:blipFill>
        <p:spPr>
          <a:xfrm>
            <a:off x="726621" y="1078992"/>
            <a:ext cx="7690757"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animation; Mikolov et al., 2013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640080" y="1234440"/>
            <a:ext cx="7863840" cy="2651760"/>
          </a:xfrm>
          <a:prstGeom prst="rect">
            <a:avLst/>
          </a:prstGeom>
          <a:noFill/>
        </p:spPr>
        <p:txBody>
          <a:bodyPr wrap="square" anchor="ctr">
            <a:spAutoFit/>
          </a:bodyPr>
          <a:lstStyle/>
          <a:p>
            <a:pPr algn="ctr" marL="0" indent="0">
              <a:buNone/>
            </a:pPr>
            <a:r>
              <a:rPr sz="4000" b="1">
                <a:solidFill>
                  <a:srgbClr val="7C2529"/>
                </a:solidFill>
              </a:rPr>
              <a:t>Let's walk through Part 3 in the notebook</a:t>
            </a:r>
          </a:p>
          <a:p>
            <a:pPr algn="ctr" marL="0" indent="0">
              <a:buNone/>
            </a:pPr>
            <a:r>
              <a:rPr sz="2000">
                <a:solidFill>
                  <a:srgbClr val="222222"/>
                </a:solidFill>
              </a:rPr>
              <a:t>One line of arithmetic, and then the ones that fail.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turn that made modern NLP possible</a:t>
            </a:r>
          </a:p>
        </p:txBody>
      </p:sp>
      <p:sp>
        <p:nvSpPr>
          <p:cNvPr id="5" name="Rounded Rectangle 4"/>
          <p:cNvSpPr/>
          <p:nvPr/>
        </p:nvSpPr>
        <p:spPr>
          <a:xfrm>
            <a:off x="457200" y="1760906"/>
            <a:ext cx="2365248" cy="2225192"/>
          </a:xfrm>
          <a:prstGeom prst="roundRect">
            <a:avLst>
              <a:gd name="adj" fmla="val 49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2024253"/>
            <a:ext cx="2036064" cy="1896008"/>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UNTIL 2013</a:t>
            </a:r>
          </a:p>
          <a:p>
            <a:pPr marL="0" indent="0" algn="l">
              <a:lnSpc>
                <a:spcPts val="3000"/>
              </a:lnSpc>
              <a:spcAft>
                <a:spcPts val="0"/>
              </a:spcAft>
              <a:buNone/>
            </a:pPr>
            <a:r>
              <a:rPr sz="2000" b="0">
                <a:solidFill>
                  <a:srgbClr val="1D1D1F"/>
                </a:solidFill>
                <a:latin typeface="Menlo"/>
              </a:rPr>
              <a:t>words were symbols</a:t>
            </a:r>
          </a:p>
        </p:txBody>
      </p:sp>
      <p:sp>
        <p:nvSpPr>
          <p:cNvPr id="7" name="Right Arrow 6"/>
          <p:cNvSpPr/>
          <p:nvPr/>
        </p:nvSpPr>
        <p:spPr>
          <a:xfrm>
            <a:off x="2913156" y="2718054"/>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389376" y="1760906"/>
            <a:ext cx="2365248" cy="2225192"/>
          </a:xfrm>
          <a:prstGeom prst="roundRect">
            <a:avLst>
              <a:gd name="adj" fmla="val 49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53968" y="2024253"/>
            <a:ext cx="2036064" cy="1896008"/>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2013 TO 2015</a:t>
            </a:r>
          </a:p>
          <a:p>
            <a:pPr marL="0" indent="0" algn="l">
              <a:lnSpc>
                <a:spcPts val="3000"/>
              </a:lnSpc>
              <a:spcAft>
                <a:spcPts val="0"/>
              </a:spcAft>
              <a:buNone/>
            </a:pPr>
            <a:r>
              <a:rPr sz="2000" b="0">
                <a:solidFill>
                  <a:srgbClr val="1D1D1F"/>
                </a:solidFill>
                <a:latin typeface="Menlo"/>
              </a:rPr>
              <a:t>words became vectors</a:t>
            </a:r>
          </a:p>
        </p:txBody>
      </p:sp>
      <p:sp>
        <p:nvSpPr>
          <p:cNvPr id="10" name="Right Arrow 9"/>
          <p:cNvSpPr/>
          <p:nvPr/>
        </p:nvSpPr>
        <p:spPr>
          <a:xfrm>
            <a:off x="5845332" y="2718054"/>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321552" y="1760906"/>
            <a:ext cx="2365248" cy="2225192"/>
          </a:xfrm>
          <a:prstGeom prst="roundRect">
            <a:avLst>
              <a:gd name="adj" fmla="val 49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86144" y="2024253"/>
            <a:ext cx="2036064" cy="1896008"/>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STILL TODAY</a:t>
            </a:r>
          </a:p>
          <a:p>
            <a:pPr marL="0" indent="0" algn="l">
              <a:lnSpc>
                <a:spcPts val="3000"/>
              </a:lnSpc>
              <a:spcAft>
                <a:spcPts val="0"/>
              </a:spcAft>
              <a:buNone/>
            </a:pPr>
            <a:r>
              <a:rPr sz="2000" b="0">
                <a:solidFill>
                  <a:srgbClr val="1D1D1F"/>
                </a:solidFill>
                <a:latin typeface="Menlo"/>
              </a:rPr>
              <a:t>every LLM starts here</a:t>
            </a:r>
          </a:p>
        </p:txBody>
      </p:sp>
      <p:sp>
        <p:nvSpPr>
          <p:cNvPr id="13" name="TextBox 12"/>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Embeddings learn whatever the text assumes, including who belongs where."/>
          <p:cNvPicPr>
            <a:picLocks noChangeAspect="1"/>
          </p:cNvPicPr>
          <p:nvPr/>
        </p:nvPicPr>
        <p:blipFill>
          <a:blip r:embed="rId3"/>
          <a:stretch>
            <a:fillRect/>
          </a:stretch>
        </p:blipFill>
        <p:spPr>
          <a:xfrm>
            <a:off x="0" y="0"/>
            <a:ext cx="9144000" cy="5143500"/>
          </a:xfrm>
          <a:prstGeom prst="rect">
            <a:avLst/>
          </a:prstGeom>
        </p:spPr>
      </p:pic>
      <p:sp>
        <p:nvSpPr>
          <p:cNvPr id="6" name="Rectangle 5"/>
          <p:cNvSpPr/>
          <p:nvPr/>
        </p:nvSpPr>
        <p:spPr>
          <a:xfrm>
            <a:off x="0" y="1143000"/>
            <a:ext cx="9144000" cy="2834640"/>
          </a:xfrm>
          <a:prstGeom prst="rect">
            <a:avLst/>
          </a:prstGeom>
          <a:solidFill>
            <a:srgbClr val="10101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7863840" cy="1874519"/>
          </a:xfrm>
          <a:prstGeom prst="rect">
            <a:avLst/>
          </a:prstGeom>
          <a:noFill/>
        </p:spPr>
        <p:txBody>
          <a:bodyPr wrap="square" anchor="ctr">
            <a:spAutoFit/>
          </a:bodyPr>
          <a:lstStyle/>
          <a:p>
            <a:pPr algn="ctr" marL="0" indent="0">
              <a:buNone/>
            </a:pPr>
            <a:r>
              <a:rPr sz="3400" b="1">
                <a:solidFill>
                  <a:srgbClr val="FFFFFF"/>
                </a:solidFill>
              </a:rPr>
              <a:t>Should a machine learn that "programmer" means a man?</a:t>
            </a:r>
          </a:p>
        </p:txBody>
      </p:sp>
      <p:sp>
        <p:nvSpPr>
          <p:cNvPr id="8" name="TextBox 7"/>
          <p:cNvSpPr txBox="1"/>
          <p:nvPr/>
        </p:nvSpPr>
        <p:spPr>
          <a:xfrm>
            <a:off x="640080" y="3108959"/>
            <a:ext cx="7863840" cy="777240"/>
          </a:xfrm>
          <a:prstGeom prst="rect">
            <a:avLst/>
          </a:prstGeom>
          <a:noFill/>
        </p:spPr>
        <p:txBody>
          <a:bodyPr wrap="square" anchor="t">
            <a:spAutoFit/>
          </a:bodyPr>
          <a:lstStyle/>
          <a:p>
            <a:pPr algn="ctr" marL="0" indent="0">
              <a:buNone/>
            </a:pPr>
            <a:r>
              <a:rPr sz="2000">
                <a:solidFill>
                  <a:srgbClr val="FFFFFF"/>
                </a:solidFill>
              </a:rPr>
              <a:t>Embeddings learn whatever the text assumes, including who belongs where.</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Unsplash License, https://unsplash.com/photos/iFgRcqHznqg (Helena Lopes)</a:t>
            </a:r>
          </a:p>
        </p:txBody>
      </p:sp>
    </p:spTree>
  </p:cSld>
  <p:clrMapOvr>
    <a:masterClrMapping/>
  </p:clrMapOvr>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640080" y="1234440"/>
            <a:ext cx="7863840" cy="2651760"/>
          </a:xfrm>
          <a:prstGeom prst="rect">
            <a:avLst/>
          </a:prstGeom>
          <a:noFill/>
        </p:spPr>
        <p:txBody>
          <a:bodyPr wrap="square" anchor="ctr">
            <a:spAutoFit/>
          </a:bodyPr>
          <a:lstStyle/>
          <a:p>
            <a:pPr algn="ctr" marL="0" indent="0">
              <a:buNone/>
            </a:pPr>
            <a:r>
              <a:rPr sz="4000" b="1">
                <a:solidFill>
                  <a:srgbClr val="7C2529"/>
                </a:solidFill>
              </a:rPr>
              <a:t>Let's walk through Part 4 in the notebook</a:t>
            </a:r>
          </a:p>
          <a:p>
            <a:pPr algn="ctr" marL="0" indent="0">
              <a:buNone/>
            </a:pPr>
            <a:r>
              <a:rPr sz="2000">
                <a:solidFill>
                  <a:srgbClr val="222222"/>
                </a:solidFill>
              </a:rPr>
              <a:t>The same line, with doctor in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Quiz 3 (paper)</a:t>
            </a:r>
          </a:p>
        </p:txBody>
      </p:sp>
      <p:pic>
        <p:nvPicPr>
          <p:cNvPr id="5" name="Picture 4" descr="Quiz 3 (paper)"/>
          <p:cNvPicPr>
            <a:picLocks noChangeAspect="1"/>
          </p:cNvPicPr>
          <p:nvPr/>
        </p:nvPicPr>
        <p:blipFill>
          <a:blip r:embed="rId3"/>
          <a:stretch>
            <a:fillRect/>
          </a:stretch>
        </p:blipFill>
        <p:spPr>
          <a:xfrm>
            <a:off x="1282065" y="1078992"/>
            <a:ext cx="6579870"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quizzes/quiz-03.md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Break</a:t>
            </a:r>
          </a:p>
        </p:txBody>
      </p:sp>
      <p:pic>
        <p:nvPicPr>
          <p:cNvPr id="5" name="Picture 4" descr="Then you get ten points to spend."/>
          <p:cNvPicPr>
            <a:picLocks noChangeAspect="1"/>
          </p:cNvPicPr>
          <p:nvPr/>
        </p:nvPicPr>
        <p:blipFill>
          <a:blip r:embed="rId2"/>
          <a:stretch>
            <a:fillRect/>
          </a:stretch>
        </p:blipFill>
        <p:spPr>
          <a:xfrm>
            <a:off x="274320" y="1280312"/>
            <a:ext cx="8595360" cy="318638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Ten points to spend</a:t>
            </a:r>
          </a:p>
        </p:txBody>
      </p:sp>
      <p:sp>
        <p:nvSpPr>
          <p:cNvPr id="5" name="Rounded Rectangle 4"/>
          <p:cNvSpPr/>
          <p:nvPr/>
        </p:nvSpPr>
        <p:spPr>
          <a:xfrm>
            <a:off x="457200" y="1078992"/>
            <a:ext cx="8229600" cy="368617"/>
          </a:xfrm>
          <a:prstGeom prst="roundRect">
            <a:avLst>
              <a:gd name="adj" fmla="val 2728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475488" cy="368617"/>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1</a:t>
            </a:r>
          </a:p>
        </p:txBody>
      </p:sp>
      <p:sp>
        <p:nvSpPr>
          <p:cNvPr id="7" name="TextBox 6"/>
          <p:cNvSpPr txBox="1"/>
          <p:nvPr/>
        </p:nvSpPr>
        <p:spPr>
          <a:xfrm>
            <a:off x="1170432" y="1078992"/>
            <a:ext cx="7278624" cy="368617"/>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Regex blocklist over the crawl ....................... 1</a:t>
            </a:r>
          </a:p>
        </p:txBody>
      </p:sp>
      <p:sp>
        <p:nvSpPr>
          <p:cNvPr id="8" name="Rounded Rectangle 7"/>
          <p:cNvSpPr/>
          <p:nvPr/>
        </p:nvSpPr>
        <p:spPr>
          <a:xfrm>
            <a:off x="457200" y="1539049"/>
            <a:ext cx="8229600" cy="368617"/>
          </a:xfrm>
          <a:prstGeom prst="roundRect">
            <a:avLst>
              <a:gd name="adj" fmla="val 2728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1539049"/>
            <a:ext cx="475488" cy="368617"/>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2</a:t>
            </a:r>
          </a:p>
        </p:txBody>
      </p:sp>
      <p:sp>
        <p:nvSpPr>
          <p:cNvPr id="10" name="TextBox 9"/>
          <p:cNvSpPr txBox="1"/>
          <p:nvPr/>
        </p:nvSpPr>
        <p:spPr>
          <a:xfrm>
            <a:off x="1170432" y="1539049"/>
            <a:ext cx="7278624" cy="368617"/>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Gender-swap the data, he and she .................. 2</a:t>
            </a:r>
          </a:p>
        </p:txBody>
      </p:sp>
      <p:sp>
        <p:nvSpPr>
          <p:cNvPr id="11" name="Rounded Rectangle 10"/>
          <p:cNvSpPr/>
          <p:nvPr/>
        </p:nvSpPr>
        <p:spPr>
          <a:xfrm>
            <a:off x="457200" y="1999107"/>
            <a:ext cx="8229600" cy="368617"/>
          </a:xfrm>
          <a:prstGeom prst="roundRect">
            <a:avLst>
              <a:gd name="adj" fmla="val 2728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1999107"/>
            <a:ext cx="475488" cy="368617"/>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3</a:t>
            </a:r>
          </a:p>
        </p:txBody>
      </p:sp>
      <p:sp>
        <p:nvSpPr>
          <p:cNvPr id="13" name="TextBox 12"/>
          <p:cNvSpPr txBox="1"/>
          <p:nvPr/>
        </p:nvSpPr>
        <p:spPr>
          <a:xfrm>
            <a:off x="1170432" y="1999107"/>
            <a:ext cx="7278624" cy="368617"/>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Swap the crawl for books and textbooks ....... 3</a:t>
            </a:r>
          </a:p>
        </p:txBody>
      </p:sp>
      <p:sp>
        <p:nvSpPr>
          <p:cNvPr id="14" name="Rounded Rectangle 13"/>
          <p:cNvSpPr/>
          <p:nvPr/>
        </p:nvSpPr>
        <p:spPr>
          <a:xfrm>
            <a:off x="457200" y="2459164"/>
            <a:ext cx="8229600" cy="368617"/>
          </a:xfrm>
          <a:prstGeom prst="roundRect">
            <a:avLst>
              <a:gd name="adj" fmla="val 2728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2459164"/>
            <a:ext cx="475488" cy="368617"/>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4</a:t>
            </a:r>
          </a:p>
        </p:txBody>
      </p:sp>
      <p:sp>
        <p:nvSpPr>
          <p:cNvPr id="16" name="TextBox 15"/>
          <p:cNvSpPr txBox="1"/>
          <p:nvPr/>
        </p:nvSpPr>
        <p:spPr>
          <a:xfrm>
            <a:off x="1170432" y="2459164"/>
            <a:ext cx="7278624" cy="368617"/>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Project out the she minus he direction .......... 2</a:t>
            </a:r>
          </a:p>
        </p:txBody>
      </p:sp>
      <p:sp>
        <p:nvSpPr>
          <p:cNvPr id="17" name="Rounded Rectangle 16"/>
          <p:cNvSpPr/>
          <p:nvPr/>
        </p:nvSpPr>
        <p:spPr>
          <a:xfrm>
            <a:off x="457200" y="2919222"/>
            <a:ext cx="8229600" cy="368617"/>
          </a:xfrm>
          <a:prstGeom prst="roundRect">
            <a:avLst>
              <a:gd name="adj" fmla="val 2728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2919222"/>
            <a:ext cx="475488" cy="368617"/>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5</a:t>
            </a:r>
          </a:p>
        </p:txBody>
      </p:sp>
      <p:sp>
        <p:nvSpPr>
          <p:cNvPr id="19" name="TextBox 18"/>
          <p:cNvSpPr txBox="1"/>
          <p:nvPr/>
        </p:nvSpPr>
        <p:spPr>
          <a:xfrm>
            <a:off x="1170432" y="2919222"/>
            <a:ext cx="7278624" cy="368617"/>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Human annotation, 10,000 documents .......... 5</a:t>
            </a:r>
          </a:p>
        </p:txBody>
      </p:sp>
      <p:sp>
        <p:nvSpPr>
          <p:cNvPr id="20" name="Rounded Rectangle 19"/>
          <p:cNvSpPr/>
          <p:nvPr/>
        </p:nvSpPr>
        <p:spPr>
          <a:xfrm>
            <a:off x="457200" y="3379279"/>
            <a:ext cx="8229600" cy="368617"/>
          </a:xfrm>
          <a:prstGeom prst="roundRect">
            <a:avLst>
              <a:gd name="adj" fmla="val 2728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4944" y="3379279"/>
            <a:ext cx="475488" cy="368617"/>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6</a:t>
            </a:r>
          </a:p>
        </p:txBody>
      </p:sp>
      <p:sp>
        <p:nvSpPr>
          <p:cNvPr id="22" name="TextBox 21"/>
          <p:cNvSpPr txBox="1"/>
          <p:nvPr/>
        </p:nvSpPr>
        <p:spPr>
          <a:xfrm>
            <a:off x="1170432" y="3379279"/>
            <a:ext cx="7278624" cy="368617"/>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Rebalance the corpus by source and region ... 3</a:t>
            </a:r>
          </a:p>
        </p:txBody>
      </p:sp>
      <p:sp>
        <p:nvSpPr>
          <p:cNvPr id="23" name="Rounded Rectangle 22"/>
          <p:cNvSpPr/>
          <p:nvPr/>
        </p:nvSpPr>
        <p:spPr>
          <a:xfrm>
            <a:off x="457200" y="3839337"/>
            <a:ext cx="8229600" cy="368617"/>
          </a:xfrm>
          <a:prstGeom prst="roundRect">
            <a:avLst>
              <a:gd name="adj" fmla="val 2728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94944" y="3839337"/>
            <a:ext cx="475488" cy="368617"/>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7</a:t>
            </a:r>
          </a:p>
        </p:txBody>
      </p:sp>
      <p:sp>
        <p:nvSpPr>
          <p:cNvPr id="25" name="TextBox 24"/>
          <p:cNvSpPr txBox="1"/>
          <p:nvPr/>
        </p:nvSpPr>
        <p:spPr>
          <a:xfrm>
            <a:off x="1170432" y="3839337"/>
            <a:ext cx="7278624" cy="368617"/>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Build an evaluation set and measure ............. 2</a:t>
            </a:r>
          </a:p>
        </p:txBody>
      </p:sp>
      <p:sp>
        <p:nvSpPr>
          <p:cNvPr id="26" name="Rounded Rectangle 25"/>
          <p:cNvSpPr/>
          <p:nvPr/>
        </p:nvSpPr>
        <p:spPr>
          <a:xfrm>
            <a:off x="457200" y="4299394"/>
            <a:ext cx="8229600" cy="368617"/>
          </a:xfrm>
          <a:prstGeom prst="roundRect">
            <a:avLst>
              <a:gd name="adj" fmla="val 2728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94944" y="4299394"/>
            <a:ext cx="475488" cy="368617"/>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8</a:t>
            </a:r>
          </a:p>
        </p:txBody>
      </p:sp>
      <p:sp>
        <p:nvSpPr>
          <p:cNvPr id="28" name="TextBox 27"/>
          <p:cNvSpPr txBox="1"/>
          <p:nvPr/>
        </p:nvSpPr>
        <p:spPr>
          <a:xfrm>
            <a:off x="1170432" y="4299394"/>
            <a:ext cx="7278624" cy="368617"/>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Ship it, and document the limits ..................... 1</a:t>
            </a:r>
          </a:p>
        </p:txBody>
      </p:sp>
      <p:sp>
        <p:nvSpPr>
          <p:cNvPr id="29" name="TextBox 2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640080" y="1234440"/>
            <a:ext cx="7863840" cy="2651760"/>
          </a:xfrm>
          <a:prstGeom prst="rect">
            <a:avLst/>
          </a:prstGeom>
          <a:noFill/>
        </p:spPr>
        <p:txBody>
          <a:bodyPr wrap="square" anchor="ctr">
            <a:spAutoFit/>
          </a:bodyPr>
          <a:lstStyle/>
          <a:p>
            <a:pPr algn="ctr" marL="0" indent="0">
              <a:buNone/>
            </a:pPr>
            <a:r>
              <a:rPr sz="4000" b="1">
                <a:solidFill>
                  <a:srgbClr val="7C2529"/>
                </a:solidFill>
              </a:rPr>
              <a:t>One volunteer per team</a:t>
            </a:r>
          </a:p>
          <a:p>
            <a:pPr algn="ctr" marL="0" indent="0">
              <a:buNone/>
            </a:pPr>
            <a:r>
              <a:rPr sz="2000">
                <a:solidFill>
                  <a:srgbClr val="222222"/>
                </a:solidFill>
              </a:rPr>
              <a:t>What did you buy, and what did you give up?</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434343"/>
      </a:dk1>
      <a:lt1>
        <a:srgbClr val="FFFFFF"/>
      </a:lt1>
      <a:dk2>
        <a:srgbClr val="818387"/>
      </a:dk2>
      <a:lt2>
        <a:srgbClr val="F6F7FA"/>
      </a:lt2>
      <a:accent1>
        <a:srgbClr val="723130"/>
      </a:accent1>
      <a:accent2>
        <a:srgbClr val="818387"/>
      </a:accent2>
      <a:accent3>
        <a:srgbClr val="FFB600"/>
      </a:accent3>
      <a:accent4>
        <a:srgbClr val="738D33"/>
      </a:accent4>
      <a:accent5>
        <a:srgbClr val="625578"/>
      </a:accent5>
      <a:accent6>
        <a:srgbClr val="498DA0"/>
      </a:accent6>
      <a:hlink>
        <a:srgbClr val="B1B4B5"/>
      </a:hlink>
      <a:folHlink>
        <a:srgbClr val="B0B1B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