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 id="273" r:id="rId5"/>
    <p:sldId id="274" r:id="rId39"/>
    <p:sldId id="275" r:id="rId40"/>
    <p:sldId id="276" r:id="rId41"/>
    <p:sldId id="277" r:id="rId42"/>
    <p:sldId id="278" r:id="rId43"/>
    <p:sldId id="279" r:id="rId44"/>
    <p:sldId id="280" r:id="rId45"/>
    <p:sldId id="281" r:id="rId46"/>
    <p:sldId id="282" r:id="rId47"/>
    <p:sldId id="283" r:id="rId48"/>
    <p:sldId id="284" r:id="rId49"/>
    <p:sldId id="285" r:id="rId50"/>
    <p:sldId id="286" r:id="rId51"/>
    <p:sldId id="287" r:id="rId52"/>
    <p:sldId id="288" r:id="rId53"/>
    <p:sldId id="289" r:id="rId54"/>
    <p:sldId id="290" r:id="rId55"/>
    <p:sldId id="291" r:id="rId56"/>
    <p:sldId id="292" r:id="rId57"/>
    <p:sldId id="293" r:id="rId58"/>
    <p:sldId id="294" r:id="rId59"/>
    <p:sldId id="295" r:id="rId60"/>
    <p:sldId id="296" r:id="rId61"/>
    <p:sldId id="297" r:id="rId62"/>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8.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 Id="rId39" Type="http://schemas.openxmlformats.org/officeDocument/2006/relationships/slide" Target="slides/slide19.xml"/><Relationship Id="rId40" Type="http://schemas.openxmlformats.org/officeDocument/2006/relationships/slide" Target="slides/slide20.xml"/><Relationship Id="rId41" Type="http://schemas.openxmlformats.org/officeDocument/2006/relationships/slide" Target="slides/slide21.xml"/><Relationship Id="rId42" Type="http://schemas.openxmlformats.org/officeDocument/2006/relationships/slide" Target="slides/slide22.xml"/><Relationship Id="rId43" Type="http://schemas.openxmlformats.org/officeDocument/2006/relationships/slide" Target="slides/slide23.xml"/><Relationship Id="rId44" Type="http://schemas.openxmlformats.org/officeDocument/2006/relationships/slide" Target="slides/slide24.xml"/><Relationship Id="rId45" Type="http://schemas.openxmlformats.org/officeDocument/2006/relationships/slide" Target="slides/slide25.xml"/><Relationship Id="rId46" Type="http://schemas.openxmlformats.org/officeDocument/2006/relationships/slide" Target="slides/slide26.xml"/><Relationship Id="rId47" Type="http://schemas.openxmlformats.org/officeDocument/2006/relationships/slide" Target="slides/slide27.xml"/><Relationship Id="rId48" Type="http://schemas.openxmlformats.org/officeDocument/2006/relationships/slide" Target="slides/slide28.xml"/><Relationship Id="rId49" Type="http://schemas.openxmlformats.org/officeDocument/2006/relationships/slide" Target="slides/slide29.xml"/><Relationship Id="rId50" Type="http://schemas.openxmlformats.org/officeDocument/2006/relationships/slide" Target="slides/slide30.xml"/><Relationship Id="rId51" Type="http://schemas.openxmlformats.org/officeDocument/2006/relationships/slide" Target="slides/slide31.xml"/><Relationship Id="rId52" Type="http://schemas.openxmlformats.org/officeDocument/2006/relationships/slide" Target="slides/slide32.xml"/><Relationship Id="rId53" Type="http://schemas.openxmlformats.org/officeDocument/2006/relationships/slide" Target="slides/slide33.xml"/><Relationship Id="rId54" Type="http://schemas.openxmlformats.org/officeDocument/2006/relationships/slide" Target="slides/slide34.xml"/><Relationship Id="rId55" Type="http://schemas.openxmlformats.org/officeDocument/2006/relationships/slide" Target="slides/slide35.xml"/><Relationship Id="rId56" Type="http://schemas.openxmlformats.org/officeDocument/2006/relationships/slide" Target="slides/slide36.xml"/><Relationship Id="rId57" Type="http://schemas.openxmlformats.org/officeDocument/2006/relationships/slide" Target="slides/slide37.xml"/><Relationship Id="rId58" Type="http://schemas.openxmlformats.org/officeDocument/2006/relationships/slide" Target="slides/slide38.xml"/><Relationship Id="rId59" Type="http://schemas.openxmlformats.org/officeDocument/2006/relationships/slide" Target="slides/slide39.xml"/><Relationship Id="rId60" Type="http://schemas.openxmlformats.org/officeDocument/2006/relationships/slide" Target="slides/slide40.xml"/><Relationship Id="rId61" Type="http://schemas.openxmlformats.org/officeDocument/2006/relationships/slide" Target="slides/slide41.xml"/><Relationship Id="rId62"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6.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2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2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2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3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3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3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3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34.jpg"/><Relationship Id="rId3" Type="http://schemas.openxmlformats.org/officeDocument/2006/relationships/hyperlink" Target="https://www.youtube.com/watch?v=H39Z_720T5s" TargetMode="External"/><Relationship Id="rId4" Type="http://schemas.openxmlformats.org/officeDocument/2006/relationships/image" Target="../media/image3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3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37.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3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3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40.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4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4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4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44.jp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4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4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4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4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49.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The Transformer: Self-Attention, Multi-Head &amp; Positional Encoding</a:t>
            </a:r>
          </a:p>
        </p:txBody>
      </p:sp>
      <p:sp>
        <p:nvSpPr>
          <p:cNvPr id="3" name="Subtitle 2"/>
          <p:cNvSpPr>
            <a:spLocks noGrp="1"/>
          </p:cNvSpPr>
          <p:nvPr>
            <p:ph type="subTitle" idx="1"/>
          </p:nvPr>
        </p:nvSpPr>
        <p:spPr>
          <a:xfrm>
            <a:off x="493926" y="3549825"/>
            <a:ext cx="5828502" cy="970800"/>
          </a:xfrm>
        </p:spPr>
        <p:txBody>
          <a:bodyPr wrap="square"/>
          <a:lstStyle/>
          <a:p>
            <a:pPr marL="0" indent="0">
              <a:buNone/>
            </a:pPr>
            <a:r>
              <a:t>Natural Language Processing &amp; Large Language Models</a:t>
            </a:r>
          </a:p>
          <a:p>
            <a:pPr marL="0" indent="0">
              <a:buNone/>
            </a:pPr>
            <a:r>
              <a:t>Week 5, Class 2</a:t>
            </a:r>
          </a:p>
        </p:txBody>
      </p:sp>
      <p:pic>
        <p:nvPicPr>
          <p:cNvPr id="5" name="Picture 4" descr="Lab day: today you build, piece by piece, the block every modern LLM is made of."/>
          <p:cNvPicPr>
            <a:picLocks noChangeAspect="1"/>
          </p:cNvPicPr>
          <p:nvPr/>
        </p:nvPicPr>
        <p:blipFill>
          <a:blip r:embed="rId2"/>
          <a:stretch>
            <a:fillRect/>
          </a:stretch>
        </p:blipFill>
        <p:spPr>
          <a:xfrm>
            <a:off x="6551028" y="3474720"/>
            <a:ext cx="2227212"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Nenad Stojkovic, Wikimedia Commons, CC BY 2.0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Where we left off</a:t>
            </a:r>
          </a:p>
        </p:txBody>
      </p:sp>
      <p:pic>
        <p:nvPicPr>
          <p:cNvPr id="5" name="Picture 4" descr="Where we left off"/>
          <p:cNvPicPr>
            <a:picLocks noChangeAspect="1"/>
          </p:cNvPicPr>
          <p:nvPr/>
        </p:nvPicPr>
        <p:blipFill>
          <a:blip r:embed="rId2"/>
          <a:stretch>
            <a:fillRect/>
          </a:stretch>
        </p:blipFill>
        <p:spPr>
          <a:xfrm>
            <a:off x="274320" y="1321967"/>
            <a:ext cx="8595360" cy="310307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Self-attention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Self-attention: the core move</a:t>
            </a:r>
          </a:p>
        </p:txBody>
      </p:sp>
      <p:pic>
        <p:nvPicPr>
          <p:cNvPr id="5" name="Picture 4" descr="The book's example: building the representation of &quot;it&quot;, the model attends hard to &quot;chicken&quot; and &quot;road&quot;, the two things &quot;it&quot; could refer to. Every token does this over the whole context, at every layer."/>
          <p:cNvPicPr>
            <a:picLocks noChangeAspect="1"/>
          </p:cNvPicPr>
          <p:nvPr/>
        </p:nvPicPr>
        <p:blipFill>
          <a:blip r:embed="rId2"/>
          <a:stretch>
            <a:fillRect/>
          </a:stretch>
        </p:blipFill>
        <p:spPr>
          <a:xfrm>
            <a:off x="2148538" y="1078992"/>
            <a:ext cx="484692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8.3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Only look left: causal self-attention</a:t>
            </a:r>
          </a:p>
        </p:txBody>
      </p:sp>
      <p:pic>
        <p:nvPicPr>
          <p:cNvPr id="5" name="Picture 4" descr="A language model must not see its own answer: each position attends to itself and everything BEFORE it, never after. Keep this picture; the mask slide shows how it is enforced."/>
          <p:cNvPicPr>
            <a:picLocks noChangeAspect="1"/>
          </p:cNvPicPr>
          <p:nvPr/>
        </p:nvPicPr>
        <p:blipFill>
          <a:blip r:embed="rId2"/>
          <a:stretch>
            <a:fillRect/>
          </a:stretch>
        </p:blipFill>
        <p:spPr>
          <a:xfrm>
            <a:off x="274320" y="1483727"/>
            <a:ext cx="8595360" cy="277954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8.4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One head, in equations</a:t>
            </a:r>
          </a:p>
        </p:txBody>
      </p:sp>
      <p:pic>
        <p:nvPicPr>
          <p:cNvPr id="5" name="Picture 4" descr="The per-token version (no matrix tricks yet): project x into its three roles, score against every earlier token, softmax, blend the values. Reference slide for the lab."/>
          <p:cNvPicPr>
            <a:picLocks noChangeAspect="1"/>
          </p:cNvPicPr>
          <p:nvPr/>
        </p:nvPicPr>
        <p:blipFill>
          <a:blip r:embed="rId2"/>
          <a:stretch>
            <a:fillRect/>
          </a:stretch>
        </p:blipFill>
        <p:spPr>
          <a:xfrm>
            <a:off x="274320" y="1113241"/>
            <a:ext cx="8595360" cy="3520522"/>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Eqs. 8.10-8.14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Query, Key, Value from one input</a:t>
            </a:r>
          </a:p>
        </p:txBody>
      </p:sp>
      <p:pic>
        <p:nvPicPr>
          <p:cNvPr id="5" name="Picture 4" descr="Query, Key, Value from one input"/>
          <p:cNvPicPr>
            <a:picLocks noChangeAspect="1"/>
          </p:cNvPicPr>
          <p:nvPr/>
        </p:nvPicPr>
        <p:blipFill>
          <a:blip r:embed="rId2"/>
          <a:stretch>
            <a:fillRect/>
          </a:stretch>
        </p:blipFill>
        <p:spPr>
          <a:xfrm>
            <a:off x="274320" y="1086826"/>
            <a:ext cx="8595360" cy="3573351"/>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Vaswani et al. 2017, arXiv:1706.03762; original figure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same computation, drawn</a:t>
            </a:r>
          </a:p>
        </p:txBody>
      </p:sp>
      <p:pic>
        <p:nvPicPr>
          <p:cNvPr id="5" name="Picture 4" descr="Computing a_3, step by numbered step: generate k, q, v; compare q_3 to the keys; scale by sqrt(d_k); softmax; weigh the values; sum; reshape with W^O. Match each arrow to an equation on the previous slide."/>
          <p:cNvPicPr>
            <a:picLocks noChangeAspect="1"/>
          </p:cNvPicPr>
          <p:nvPr/>
        </p:nvPicPr>
        <p:blipFill>
          <a:blip r:embed="rId2"/>
          <a:stretch>
            <a:fillRect/>
          </a:stretch>
        </p:blipFill>
        <p:spPr>
          <a:xfrm>
            <a:off x="2449626" y="1078992"/>
            <a:ext cx="424474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8.5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Now parallelize: pack the tokens into one matrix X</a:t>
            </a:r>
          </a:p>
        </p:txBody>
      </p:sp>
      <p:pic>
        <p:nvPicPr>
          <p:cNvPr id="5" name="Picture 4" descr="The per-token equations, rewritten for all N tokens at once: three multiplies make Q, K, V; one multiply scores every pair; mask, softmax, blend. No loop over positions anywhere."/>
          <p:cNvPicPr>
            <a:picLocks noChangeAspect="1"/>
          </p:cNvPicPr>
          <p:nvPr/>
        </p:nvPicPr>
        <p:blipFill>
          <a:blip r:embed="rId2"/>
          <a:stretch>
            <a:fillRect/>
          </a:stretch>
        </p:blipFill>
        <p:spPr>
          <a:xfrm>
            <a:off x="274320" y="1503616"/>
            <a:ext cx="8595360" cy="2739771"/>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Eqs. 8.32-8.34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All pairs at once, and the causal mask</a:t>
            </a:r>
          </a:p>
        </p:txBody>
      </p:sp>
      <p:pic>
        <p:nvPicPr>
          <p:cNvPr id="5" name="Picture 4" descr="In practice one matrix multiply QK^T scores every pair at once (top), but the upper triangle is the FUTURE. The mask sets those cells to -infinity, so after softmax they get exactly zero weight (bottom): no information leaks backwards from tokens the model has not generated yet."/>
          <p:cNvPicPr>
            <a:picLocks noChangeAspect="1"/>
          </p:cNvPicPr>
          <p:nvPr/>
        </p:nvPicPr>
        <p:blipFill>
          <a:blip r:embed="rId2"/>
          <a:stretch>
            <a:fillRect/>
          </a:stretch>
        </p:blipFill>
        <p:spPr>
          <a:xfrm>
            <a:off x="2114150" y="1078992"/>
            <a:ext cx="491570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Figs. 8.9-8.10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parallel computation, drawn</a:t>
            </a:r>
          </a:p>
        </p:txBody>
      </p:sp>
      <p:pic>
        <p:nvPicPr>
          <p:cNvPr id="5" name="Picture 4" descr="Top row: X times W^Q, W^K, W^V gives every query, key, and value. Bottom row: QK^T scores all pairs, the mask blanks the future, and the weighted sum of V finishes all N positions in one shot. Match each arrow to the equations on the previous slide."/>
          <p:cNvPicPr>
            <a:picLocks noChangeAspect="1"/>
          </p:cNvPicPr>
          <p:nvPr/>
        </p:nvPicPr>
        <p:blipFill>
          <a:blip r:embed="rId2"/>
          <a:stretch>
            <a:fillRect/>
          </a:stretch>
        </p:blipFill>
        <p:spPr>
          <a:xfrm>
            <a:off x="1972434" y="1078992"/>
            <a:ext cx="5199131"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8.11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Scaled dot-product attention</a:t>
            </a:r>
          </a:p>
        </p:txBody>
      </p:sp>
      <p:pic>
        <p:nvPicPr>
          <p:cNvPr id="5" name="Picture 4" descr="Scaled dot-product attention"/>
          <p:cNvPicPr>
            <a:picLocks noChangeAspect="1"/>
          </p:cNvPicPr>
          <p:nvPr/>
        </p:nvPicPr>
        <p:blipFill>
          <a:blip r:embed="rId2"/>
          <a:stretch>
            <a:fillRect/>
          </a:stretch>
        </p:blipFill>
        <p:spPr>
          <a:xfrm>
            <a:off x="274320" y="1396663"/>
            <a:ext cx="8595360" cy="295367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Vaswani et al. 2017, arXiv:1706.03762, Eq. 1; original figure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divide by sqrt(d_k)?</a:t>
            </a:r>
          </a:p>
        </p:txBody>
      </p:sp>
      <p:pic>
        <p:nvPicPr>
          <p:cNvPr id="5" name="Picture 4" descr="Why divide by sqrt(d_k)?"/>
          <p:cNvPicPr>
            <a:picLocks noChangeAspect="1"/>
          </p:cNvPicPr>
          <p:nvPr/>
        </p:nvPicPr>
        <p:blipFill>
          <a:blip r:embed="rId2"/>
          <a:stretch>
            <a:fillRect/>
          </a:stretch>
        </p:blipFill>
        <p:spPr>
          <a:xfrm>
            <a:off x="295721" y="1078992"/>
            <a:ext cx="855255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Vaswani et al. 2017, arXiv:1706.03762, sec. 3.2.1; original figure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Multi-head &amp; position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Many players read the same score at once, each listening for something different, then blend."/>
          <p:cNvPicPr>
            <a:picLocks noChangeAspect="1"/>
          </p:cNvPicPr>
          <p:nvPr/>
        </p:nvPicPr>
        <p:blipFill>
          <a:blip r:embed="rId2"/>
          <a:stretch>
            <a:fillRect/>
          </a:stretch>
        </p:blipFill>
        <p:spPr>
          <a:xfrm>
            <a:off x="0" y="-480060"/>
            <a:ext cx="9144000" cy="6103620"/>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FFFFFF"/>
                </a:solidFill>
              </a:rPr>
              <a:t>Multi-head attention is like a string section</a:t>
            </a:r>
          </a:p>
          <a:p>
            <a:pPr algn="ctr" marL="0" indent="0">
              <a:buNone/>
            </a:pPr>
            <a:r>
              <a:rPr sz="2000">
                <a:solidFill>
                  <a:srgbClr val="FFFFFF"/>
                </a:solidFill>
              </a:rPr>
              <a:t>Many players read the same score at once, each listening for something different, then blend.</a:t>
            </a:r>
          </a:p>
        </p:txBody>
      </p:sp>
      <p:sp>
        <p:nvSpPr>
          <p:cNvPr id="8" name="TextBox 7"/>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https://images.unsplash.com/photo-1465847899084-d164df4dedc6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One attention unit, then h of them in parallel</a:t>
            </a:r>
          </a:p>
        </p:txBody>
      </p:sp>
      <p:pic>
        <p:nvPicPr>
          <p:cNvPr id="5" name="Picture 4" descr="The paper's two diagrams. Left is exactly the formula from two slides ago as a circuit, and what you build first in the lab; right runs h copies on lower-dim projections, concats, and projects back."/>
          <p:cNvPicPr>
            <a:picLocks noChangeAspect="1"/>
          </p:cNvPicPr>
          <p:nvPr/>
        </p:nvPicPr>
        <p:blipFill>
          <a:blip r:embed="rId2"/>
          <a:stretch>
            <a:fillRect/>
          </a:stretch>
        </p:blipFill>
        <p:spPr>
          <a:xfrm>
            <a:off x="1338496" y="1078992"/>
            <a:ext cx="646700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Vaswani et al. 2017 (arXiv:1706.03762), Fig. 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Multi-head, concretely</a:t>
            </a:r>
          </a:p>
        </p:txBody>
      </p:sp>
      <p:pic>
        <p:nvPicPr>
          <p:cNvPr id="5" name="Picture 4" descr="The book's version with A = 4 heads: each head has its own W^Q, W^K, W^V, their outputs are concatenated and W^O projects back to model size. Same picture as the paper's, with the shapes written on every wire."/>
          <p:cNvPicPr>
            <a:picLocks noChangeAspect="1"/>
          </p:cNvPicPr>
          <p:nvPr/>
        </p:nvPicPr>
        <p:blipFill>
          <a:blip r:embed="rId2"/>
          <a:stretch>
            <a:fillRect/>
          </a:stretch>
        </p:blipFill>
        <p:spPr>
          <a:xfrm>
            <a:off x="2060555" y="1078992"/>
            <a:ext cx="5022889"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8.6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Multi-head, in equations</a:t>
            </a:r>
          </a:p>
        </p:txBody>
      </p:sp>
      <p:pic>
        <p:nvPicPr>
          <p:cNvPr id="5" name="Picture 4" descr="Three lines on top of the single-head math: A copies of the projections, A heads, one concat and one mix-down. Reference slide for milestone 2 of the lab."/>
          <p:cNvPicPr>
            <a:picLocks noChangeAspect="1"/>
          </p:cNvPicPr>
          <p:nvPr/>
        </p:nvPicPr>
        <p:blipFill>
          <a:blip r:embed="rId2"/>
          <a:stretch>
            <a:fillRect/>
          </a:stretch>
        </p:blipFill>
        <p:spPr>
          <a:xfrm>
            <a:off x="274320" y="1621602"/>
            <a:ext cx="8595360" cy="250379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Eqs. 8.15-8.19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heads learn (intuition)</a:t>
            </a:r>
          </a:p>
        </p:txBody>
      </p:sp>
      <p:pic>
        <p:nvPicPr>
          <p:cNvPr id="5" name="Picture 4" descr="What heads learn (intuition)"/>
          <p:cNvPicPr>
            <a:picLocks noChangeAspect="1"/>
          </p:cNvPicPr>
          <p:nvPr/>
        </p:nvPicPr>
        <p:blipFill>
          <a:blip r:embed="rId2"/>
          <a:stretch>
            <a:fillRect/>
          </a:stretch>
        </p:blipFill>
        <p:spPr>
          <a:xfrm>
            <a:off x="274320" y="1388500"/>
            <a:ext cx="8595360" cy="2970003"/>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But attention has no sense of order</a:t>
            </a:r>
          </a:p>
        </p:txBody>
      </p:sp>
      <p:pic>
        <p:nvPicPr>
          <p:cNvPr id="5" name="Picture 4" descr="But attention has no sense of order"/>
          <p:cNvPicPr>
            <a:picLocks noChangeAspect="1"/>
          </p:cNvPicPr>
          <p:nvPr/>
        </p:nvPicPr>
        <p:blipFill>
          <a:blip r:embed="rId2"/>
          <a:stretch>
            <a:fillRect/>
          </a:stretch>
        </p:blipFill>
        <p:spPr>
          <a:xfrm>
            <a:off x="274320" y="2033725"/>
            <a:ext cx="8595360" cy="1679553"/>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simple fix: add position embeddings</a:t>
            </a:r>
          </a:p>
        </p:txBody>
      </p:sp>
      <p:pic>
        <p:nvPicPr>
          <p:cNvPr id="5" name="Picture 4" descr="Give every position its own embedding and just ADD it to the token embedding; now &quot;bites&quot; at position 2 and &quot;bites&quot; at position 4 enter the stack as different vectors."/>
          <p:cNvPicPr>
            <a:picLocks noChangeAspect="1"/>
          </p:cNvPicPr>
          <p:nvPr/>
        </p:nvPicPr>
        <p:blipFill>
          <a:blip r:embed="rId2"/>
          <a:stretch>
            <a:fillRect/>
          </a:stretch>
        </p:blipFill>
        <p:spPr>
          <a:xfrm>
            <a:off x="919025" y="1078992"/>
            <a:ext cx="730595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8.14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paper's version: sinusoids</a:t>
            </a:r>
          </a:p>
        </p:txBody>
      </p:sp>
      <p:pic>
        <p:nvPicPr>
          <p:cNvPr id="5" name="Picture 4" descr="Vaswani et al. use fixed sinusoids at many frequencies instead of learned positions; both work, and the sinusoids need no training."/>
          <p:cNvPicPr>
            <a:picLocks noChangeAspect="1"/>
          </p:cNvPicPr>
          <p:nvPr/>
        </p:nvPicPr>
        <p:blipFill>
          <a:blip r:embed="rId2"/>
          <a:stretch>
            <a:fillRect/>
          </a:stretch>
        </p:blipFill>
        <p:spPr>
          <a:xfrm>
            <a:off x="964637" y="1078992"/>
            <a:ext cx="721472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Vaswani et al. 2017, arXiv:1706.03762, sec. 3.5; original figure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The full block &amp; families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One token's journey: the residual stream</a:t>
            </a:r>
          </a:p>
        </p:txBody>
      </p:sp>
      <p:pic>
        <p:nvPicPr>
          <p:cNvPr id="5" name="Picture 4" descr="The book's mental model: each token flows UP its own column (the residual stream), and the attention and feedforward components ADD information to it as it rises. Attention is the only place columns talk to each other."/>
          <p:cNvPicPr>
            <a:picLocks noChangeAspect="1"/>
          </p:cNvPicPr>
          <p:nvPr/>
        </p:nvPicPr>
        <p:blipFill>
          <a:blip r:embed="rId2"/>
          <a:stretch>
            <a:fillRect/>
          </a:stretch>
        </p:blipFill>
        <p:spPr>
          <a:xfrm>
            <a:off x="2515791" y="1078992"/>
            <a:ext cx="411241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8.1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transformer block, precisely</a:t>
            </a:r>
          </a:p>
        </p:txBody>
      </p:sp>
      <p:pic>
        <p:nvPicPr>
          <p:cNvPr id="5" name="Picture 4" descr="The block on the residual stream: layer norm, multi-head attention (the only part that reads other streams, dashed arrows), add; layer norm, feedforward, add. Stack N of these."/>
          <p:cNvPicPr>
            <a:picLocks noChangeAspect="1"/>
          </p:cNvPicPr>
          <p:nvPr/>
        </p:nvPicPr>
        <p:blipFill>
          <a:blip r:embed="rId2"/>
          <a:stretch>
            <a:fillRect/>
          </a:stretch>
        </p:blipFill>
        <p:spPr>
          <a:xfrm>
            <a:off x="1774214" y="1078992"/>
            <a:ext cx="559557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8.7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attention is FOR: moving information</a:t>
            </a:r>
          </a:p>
        </p:txBody>
      </p:sp>
      <p:pic>
        <p:nvPicPr>
          <p:cNvPr id="5" name="Picture 4" descr="One arrow to remember: an attention head copies information from token A's stream into token B's stream. Everything else in the block just processes what has already arrived."/>
          <p:cNvPicPr>
            <a:picLocks noChangeAspect="1"/>
          </p:cNvPicPr>
          <p:nvPr/>
        </p:nvPicPr>
        <p:blipFill>
          <a:blip r:embed="rId2"/>
          <a:stretch>
            <a:fillRect/>
          </a:stretch>
        </p:blipFill>
        <p:spPr>
          <a:xfrm>
            <a:off x="656339" y="1078992"/>
            <a:ext cx="783132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8.8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6537960" cy="822960"/>
          </a:xfrm>
        </p:spPr>
        <p:txBody>
          <a:bodyPr wrap="square"/>
          <a:lstStyle/>
          <a:p>
            <a:pPr marL="0" indent="0">
              <a:buNone/>
            </a:pPr>
            <a:r>
              <a:t>The full Transformer, assembled</a:t>
            </a:r>
          </a:p>
        </p:txBody>
      </p:sp>
      <p:pic>
        <p:nvPicPr>
          <p:cNvPr id="5" name="Picture 4" descr="Video: The Transformer (HF). Opens https://www.youtube.com/watch?v=H39Z_720T5s">
            <a:hlinkClick r:id="rId3"/>
          </p:cNvPr>
          <p:cNvPicPr>
            <a:picLocks noChangeAspect="1"/>
          </p:cNvPicPr>
          <p:nvPr/>
        </p:nvPicPr>
        <p:blipFill>
          <a:blip r:embed="rId2"/>
          <a:stretch>
            <a:fillRect/>
          </a:stretch>
        </p:blipFill>
        <p:spPr>
          <a:xfrm>
            <a:off x="7132320" y="109728"/>
            <a:ext cx="1554480" cy="874166"/>
          </a:xfrm>
          <a:prstGeom prst="rect">
            <a:avLst/>
          </a:prstGeom>
        </p:spPr>
      </p:pic>
      <p:sp>
        <p:nvSpPr>
          <p:cNvPr id="6" name="TextBox 5"/>
          <p:cNvSpPr txBox="1"/>
          <p:nvPr/>
        </p:nvSpPr>
        <p:spPr>
          <a:xfrm>
            <a:off x="6931152" y="993038"/>
            <a:ext cx="1956816" cy="173736"/>
          </a:xfrm>
          <a:prstGeom prst="rect">
            <a:avLst/>
          </a:prstGeom>
          <a:noFill/>
        </p:spPr>
        <p:txBody>
          <a:bodyPr wrap="none">
            <a:spAutoFit/>
          </a:bodyPr>
          <a:lstStyle/>
          <a:p>
            <a:pPr algn="ctr" marL="0" indent="0">
              <a:buNone/>
            </a:pPr>
            <a:r>
              <a:rPr sz="850" b="1">
                <a:solidFill>
                  <a:srgbClr val="7C2529"/>
                </a:solidFill>
              </a:rPr>
              <a:t>The Transformer (HF)</a:t>
            </a:r>
          </a:p>
        </p:txBody>
      </p:sp>
      <p:pic>
        <p:nvPicPr>
          <p:cNvPr id="7" name="Picture 6" descr="The most reproduced figure in modern NLP. Every piece you have met is here: embeddings plus positional encoding, multi-head attention, feed-forward, residual Add &amp; Norm, stacked N=6 times per side. The decoder adds masked self-attention and cross-attention into the encoder."/>
          <p:cNvPicPr>
            <a:picLocks noChangeAspect="1"/>
          </p:cNvPicPr>
          <p:nvPr/>
        </p:nvPicPr>
        <p:blipFill>
          <a:blip r:embed="rId4"/>
          <a:stretch>
            <a:fillRect/>
          </a:stretch>
        </p:blipFill>
        <p:spPr>
          <a:xfrm>
            <a:off x="3437984" y="1207008"/>
            <a:ext cx="2268032" cy="3461004"/>
          </a:xfrm>
          <a:prstGeom prst="rect">
            <a:avLst/>
          </a:prstGeom>
        </p:spPr>
      </p:pic>
      <p:sp>
        <p:nvSpPr>
          <p:cNvPr id="8" name="TextBox 7"/>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Vaswani et al. 2017 (arXiv:1706.03762), Fig. 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last stop: the language modeling head</a:t>
            </a:r>
          </a:p>
        </p:txBody>
      </p:sp>
      <p:pic>
        <p:nvPicPr>
          <p:cNvPr id="5" name="Picture 4" descr="Top of the stack: the final hidden vector is multiplied by the unembedding matrix to get one logit per vocabulary word, and a softmax turns the logits into next-word probabilities."/>
          <p:cNvPicPr>
            <a:picLocks noChangeAspect="1"/>
          </p:cNvPicPr>
          <p:nvPr/>
        </p:nvPicPr>
        <p:blipFill>
          <a:blip r:embed="rId2"/>
          <a:stretch>
            <a:fillRect/>
          </a:stretch>
        </p:blipFill>
        <p:spPr>
          <a:xfrm>
            <a:off x="1245944" y="1078992"/>
            <a:ext cx="6652112" cy="358901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8.15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whole thing: a decoder-only LM</a:t>
            </a:r>
          </a:p>
        </p:txBody>
      </p:sp>
      <p:pic>
        <p:nvPicPr>
          <p:cNvPr id="5" name="Picture 4" descr="Input token, embeddings plus positions, N stacked blocks, LM head, predicted next token. This is the architecture of GPT-style models, assembled entirely from today's parts."/>
          <p:cNvPicPr>
            <a:picLocks noChangeAspect="1"/>
          </p:cNvPicPr>
          <p:nvPr/>
        </p:nvPicPr>
        <p:blipFill>
          <a:blip r:embed="rId2"/>
          <a:stretch>
            <a:fillRect/>
          </a:stretch>
        </p:blipFill>
        <p:spPr>
          <a:xfrm>
            <a:off x="3038136" y="1078992"/>
            <a:ext cx="306772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8.16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Information flows up, and only leftward</a:t>
            </a:r>
          </a:p>
        </p:txBody>
      </p:sp>
      <p:pic>
        <p:nvPicPr>
          <p:cNvPr id="5" name="Picture 4" descr="The whole stack at once: each column rises through the blocks, and the arrows show attention pulling information from PRECEDING columns only. Deep layers can see everything any earlier token computed."/>
          <p:cNvPicPr>
            <a:picLocks noChangeAspect="1"/>
          </p:cNvPicPr>
          <p:nvPr/>
        </p:nvPicPr>
        <p:blipFill>
          <a:blip r:embed="rId2"/>
          <a:stretch>
            <a:fillRect/>
          </a:stretch>
        </p:blipFill>
        <p:spPr>
          <a:xfrm>
            <a:off x="2210931" y="1078992"/>
            <a:ext cx="472213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8.2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Encoder, decoder, or both?</a:t>
            </a:r>
          </a:p>
        </p:txBody>
      </p:sp>
      <p:pic>
        <p:nvPicPr>
          <p:cNvPr id="5" name="Picture 4" descr="Encoder, decoder, or both?"/>
          <p:cNvPicPr>
            <a:picLocks noChangeAspect="1"/>
          </p:cNvPicPr>
          <p:nvPr/>
        </p:nvPicPr>
        <p:blipFill>
          <a:blip r:embed="rId2"/>
          <a:stretch>
            <a:fillRect/>
          </a:stretch>
        </p:blipFill>
        <p:spPr>
          <a:xfrm>
            <a:off x="274320" y="1611058"/>
            <a:ext cx="8595360" cy="2524887"/>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Built for parallel hardware</a:t>
            </a:r>
          </a:p>
        </p:txBody>
      </p:sp>
      <p:pic>
        <p:nvPicPr>
          <p:cNvPr id="5" name="Picture 4" descr="No recurrence means the whole sequence runs at once. GPUs love that, and so does scaling."/>
          <p:cNvPicPr>
            <a:picLocks noChangeAspect="1"/>
          </p:cNvPicPr>
          <p:nvPr/>
        </p:nvPicPr>
        <p:blipFill>
          <a:blip r:embed="rId2"/>
          <a:stretch>
            <a:fillRect/>
          </a:stretch>
        </p:blipFill>
        <p:spPr>
          <a:xfrm>
            <a:off x="1881076" y="1078992"/>
            <a:ext cx="538184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https://images.unsplash.com/photo-1518770660439-4636190af475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the Transformer won</a:t>
            </a:r>
          </a:p>
        </p:txBody>
      </p:sp>
      <p:pic>
        <p:nvPicPr>
          <p:cNvPr id="5" name="Picture 4" descr="The result: the backbone of every modern LLM, from BERT and GPT onward."/>
          <p:cNvPicPr>
            <a:picLocks noChangeAspect="1"/>
          </p:cNvPicPr>
          <p:nvPr/>
        </p:nvPicPr>
        <p:blipFill>
          <a:blip r:embed="rId2"/>
          <a:stretch>
            <a:fillRect/>
          </a:stretch>
        </p:blipFill>
        <p:spPr>
          <a:xfrm>
            <a:off x="274320" y="1343819"/>
            <a:ext cx="8595360" cy="305936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Quiz 5 (paper)</a:t>
            </a:r>
          </a:p>
        </p:txBody>
      </p:sp>
      <p:pic>
        <p:nvPicPr>
          <p:cNvPr id="5" name="Picture 4" descr="Covers Week 5 lecture + Attention Is All You Need (Vaswani 2017). Clear your desk; finish early and your break starts early, need more time and it comes out of the break."/>
          <p:cNvPicPr>
            <a:picLocks noChangeAspect="1"/>
          </p:cNvPicPr>
          <p:nvPr/>
        </p:nvPicPr>
        <p:blipFill>
          <a:blip r:embed="rId2"/>
          <a:stretch>
            <a:fillRect/>
          </a:stretch>
        </p:blipFill>
        <p:spPr>
          <a:xfrm>
            <a:off x="1282065" y="1078992"/>
            <a:ext cx="657987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the extended attention-block lab."/>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Extended lab: the attention block</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After the recap and the quiz, the rest of class is yours to build the core of every LLM."/>
          <p:cNvPicPr>
            <a:picLocks noChangeAspect="1"/>
          </p:cNvPicPr>
          <p:nvPr/>
        </p:nvPicPr>
        <p:blipFill>
          <a:blip r:embed="rId2"/>
          <a:stretch>
            <a:fillRect/>
          </a:stretch>
        </p:blipFill>
        <p:spPr>
          <a:xfrm>
            <a:off x="0" y="-480060"/>
            <a:ext cx="9144000" cy="6103620"/>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FFFFFF"/>
                </a:solidFill>
              </a:rPr>
              <a:t>Today is a full-period coding lab</a:t>
            </a:r>
          </a:p>
          <a:p>
            <a:pPr algn="ctr" marL="0" indent="0">
              <a:buNone/>
            </a:pPr>
            <a:r>
              <a:rPr sz="2000">
                <a:solidFill>
                  <a:srgbClr val="FFFFFF"/>
                </a:solidFill>
              </a:rPr>
              <a:t>After the recap and the quiz, the rest of class is yours to build the core of every LLM.</a:t>
            </a:r>
          </a:p>
        </p:txBody>
      </p:sp>
      <p:sp>
        <p:nvSpPr>
          <p:cNvPr id="8" name="TextBox 7"/>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https://images.unsplash.com/photo-1515879218367-8466d910aaa4</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Lab plan and checkpoint milestones</a:t>
            </a:r>
          </a:p>
        </p:txBody>
      </p:sp>
      <p:pic>
        <p:nvPicPr>
          <p:cNvPr id="5" name="Picture 4" descr="Lab plan and checkpoint milestones"/>
          <p:cNvPicPr>
            <a:picLocks noChangeAspect="1"/>
          </p:cNvPicPr>
          <p:nvPr/>
        </p:nvPicPr>
        <p:blipFill>
          <a:blip r:embed="rId2"/>
          <a:stretch>
            <a:fillRect/>
          </a:stretch>
        </p:blipFill>
        <p:spPr>
          <a:xfrm>
            <a:off x="274320" y="1318523"/>
            <a:ext cx="8595360" cy="3109957"/>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Milestone build: scaled dot-product + multi-head</a:t>
            </a:r>
          </a:p>
        </p:txBody>
      </p:sp>
      <p:sp>
        <p:nvSpPr>
          <p:cNvPr id="5" name="TextBox 4"/>
          <p:cNvSpPr txBox="1"/>
          <p:nvPr/>
        </p:nvSpPr>
        <p:spPr>
          <a:xfrm>
            <a:off x="457200" y="4357116"/>
            <a:ext cx="8229600" cy="310896"/>
          </a:xfrm>
          <a:prstGeom prst="rect">
            <a:avLst/>
          </a:prstGeom>
          <a:noFill/>
        </p:spPr>
        <p:txBody>
          <a:bodyPr wrap="square">
            <a:spAutoFit/>
          </a:bodyPr>
          <a:lstStyle/>
          <a:p>
            <a:pPr algn="ctr" marL="0" indent="0">
              <a:buNone/>
            </a:pPr>
            <a:r>
              <a:rPr sz="1400">
                <a:solidFill>
                  <a:srgbClr val="222222"/>
                </a:solidFill>
              </a:rPr>
              <a:t>Verify with the provided pytest suite at each milestone</a:t>
            </a:r>
          </a:p>
        </p:txBody>
      </p:sp>
      <p:pic>
        <p:nvPicPr>
          <p:cNvPr id="6" name="Picture 5" descr="Milestone build: scaled dot-product + multi-head"/>
          <p:cNvPicPr>
            <a:picLocks noChangeAspect="1"/>
          </p:cNvPicPr>
          <p:nvPr/>
        </p:nvPicPr>
        <p:blipFill>
          <a:blip r:embed="rId2"/>
          <a:stretch>
            <a:fillRect/>
          </a:stretch>
        </p:blipFill>
        <p:spPr>
          <a:xfrm>
            <a:off x="403373" y="1078992"/>
            <a:ext cx="8337254" cy="3186684"/>
          </a:xfrm>
          <a:prstGeom prst="rect">
            <a:avLst/>
          </a:prstGeom>
        </p:spPr>
      </p:pic>
      <p:sp>
        <p:nvSpPr>
          <p:cNvPr id="7" name="TextBox 6"/>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weeks/week-05/class-02/exercise/attention_lab.py</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you should see</a:t>
            </a:r>
          </a:p>
        </p:txBody>
      </p:sp>
      <p:pic>
        <p:nvPicPr>
          <p:cNvPr id="5" name="Picture 4" descr="What you should see"/>
          <p:cNvPicPr>
            <a:picLocks noChangeAspect="1"/>
          </p:cNvPicPr>
          <p:nvPr/>
        </p:nvPicPr>
        <p:blipFill>
          <a:blip r:embed="rId2"/>
          <a:stretch>
            <a:fillRect/>
          </a:stretch>
        </p:blipFill>
        <p:spPr>
          <a:xfrm>
            <a:off x="1182370" y="1078992"/>
            <a:ext cx="677926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example run, weeks/week-05/class-02/solutions/attention_lab.py</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Recap</a:t>
            </a:r>
          </a:p>
        </p:txBody>
      </p:sp>
      <p:pic>
        <p:nvPicPr>
          <p:cNvPr id="5" name="Picture 4" descr="Recap"/>
          <p:cNvPicPr>
            <a:picLocks noChangeAspect="1"/>
          </p:cNvPicPr>
          <p:nvPr/>
        </p:nvPicPr>
        <p:blipFill>
          <a:blip r:embed="rId2"/>
          <a:stretch>
            <a:fillRect/>
          </a:stretch>
        </p:blipFill>
        <p:spPr>
          <a:xfrm>
            <a:off x="274320" y="1686177"/>
            <a:ext cx="8595360" cy="237465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Reminders</a:t>
            </a:r>
          </a:p>
        </p:txBody>
      </p:sp>
      <p:pic>
        <p:nvPicPr>
          <p:cNvPr id="5" name="Picture 4" descr="Reminders"/>
          <p:cNvPicPr>
            <a:picLocks noChangeAspect="1"/>
          </p:cNvPicPr>
          <p:nvPr/>
        </p:nvPicPr>
        <p:blipFill>
          <a:blip r:embed="rId2"/>
          <a:stretch>
            <a:fillRect/>
          </a:stretch>
        </p:blipFill>
        <p:spPr>
          <a:xfrm>
            <a:off x="274320" y="1741638"/>
            <a:ext cx="8595360" cy="22637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Font Awesome Free (CC BY 4.0)</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