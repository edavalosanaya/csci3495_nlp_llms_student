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Agility judges never score the prettiest jump; they count obstacles cleared on a fixed course. How should we score an agent?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trace, one success. That is genuinely all we knew. Today we go from a demo that worked once to a suite that says how often it works.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 the one with the better-written reasoning. The one that solves more tasks on a fixed suite. This is the whole lecture in one question.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agent is not an answer, it is a trajectory: many steps, tool calls and branches. It can be right for the wrong reason and wrong for a reason that only shows up on task forty.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rule is the closing discussion of today's activity.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pipeline you build in today's exercise, one function per box.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of the five tasks in the exercise suite; your team adds a sixth.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number decides pass or fail: success rate. Everything else, steps, tool calls, cost, explains how it got there and is worthless on its own.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pass@1 is solved on the first try, pass@k is solved within k attempts, and the gap between them is exactly what reflection and retry bought you. That gap is the number worth reporting. In this lab's own run, wrapping CoT in Reflexion recovered 4 GSM8K problems and broke none (45% to 65%). Wrapping the weaker ReAct recovered 2 and broke 1. The lift is real, and it is bounded by the base you put underneath it. recovered 2 GSM8K problems that ReAct missed and lost none, at 4.1 model calls per task against 2.5. A real lift, and an expensive one.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Trial 0 is pass@1; every retry adds one reflection. The dashed baselines retry without reflecting and stay flat: the lift comes from the lesson, not the extra attempts.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agent is stochastic; the evaluation must not be. Seed the RNG, temperature zero, a fixed task suite and tool corpus, and report over the whole suite rather than one lucky run. Our harness uses a mock LLM with scripted policies, so every run gives the same leaderboard. Real evals average several seeds.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of these will cost points on the team leaderboard today.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real run of this lab: four strategies, 20 GSM8K problems, qwen2.5:1.5b. The cheapest one won, and the two that call tools came third and second. Both lifts are real, and they are not the same size. On CoT the retry recovered 4 problems and broke none, for half a model call. On ReAct it netted one problem and cost 3.6 more calls each. Same technique, same evaluator: what changed is how good the thing underneath it was.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Week 9 scored one answer at a time. Today the unit is a whole trajectory with a checkable goal. Same discipline, bigger unit. Same idea everywhere: fixed tasks, automatic scoring, success rate.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Reflexion (Shinn 2023) is required; Generative Agents (Park 2023) is optional, never quizzed.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Covers Week 13 lecture + Reflexion (Shinn 2023). Clear your desk: finish early and your break starts early; need more time and it comes out of the break.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Teams of two or three, about twenty-six minutes plus discussion. Build the harness, then each team adds one task with its own success function, and the tasks other teams wrote are the interesting ones.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success check runs outside the agent; never pass it in.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Your harness should print exactly this table before you add new tasks.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Have them find two traces: one fluent and wrong, one terse and right. Once they have seen both, the argument makes itself.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Evaluate the outcome over a fixed suite, not the reasoning prose. Success rate first, then steps, cost and robustness. Keep it deterministic, and watch for leakage and cherry-picking.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Reasoning Agents &amp; Agent 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42368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13, Class 2</a:t>
            </a:r>
          </a:p>
        </p:txBody>
      </p:sp>
      <p:pic>
        <p:nvPicPr>
          <p:cNvPr id="5" name="Picture 4" descr="Reasoning Agents &amp; Agent Evalu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894" y="3474720"/>
            <a:ext cx="2213346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Ron Armstrong, Wikimedia Commons, CC BY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Last class</a:t>
            </a:r>
          </a:p>
        </p:txBody>
      </p:sp>
      <p:pic>
        <p:nvPicPr>
          <p:cNvPr id="5" name="Picture 4" descr="Last clas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68" y="1078992"/>
            <a:ext cx="840286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weeks/week-13/class-01/solutions/run_demo.py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How do we know it works?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Not the smoother talker. The one that solves more tasks on a fixed suite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If two agents disagree, which one do you trust?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Not the smoother talker. The one that solves more tasks on a fixed suite.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https://images.unsplash.com/photo-1551288049-bebda4e38f71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evaluating agents is hard</a:t>
            </a:r>
          </a:p>
        </p:txBody>
      </p:sp>
      <p:pic>
        <p:nvPicPr>
          <p:cNvPr id="5" name="Picture 4" descr="Why evaluating agents is har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60367"/>
            <a:ext cx="8595360" cy="28262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golden rule</a:t>
            </a:r>
          </a:p>
        </p:txBody>
      </p:sp>
      <p:pic>
        <p:nvPicPr>
          <p:cNvPr id="5" name="Picture 4" descr="The golden ru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36535"/>
            <a:ext cx="8595360" cy="30739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Anatomy of an agent eval</a:t>
            </a:r>
          </a:p>
        </p:txBody>
      </p:sp>
      <p:pic>
        <p:nvPicPr>
          <p:cNvPr id="5" name="Picture 4" descr="Anatomy of an agent ev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34556"/>
            <a:ext cx="8595360" cy="32778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Building a task suite</a:t>
            </a:r>
          </a:p>
        </p:txBody>
      </p:sp>
      <p:pic>
        <p:nvPicPr>
          <p:cNvPr id="5" name="Picture 4" descr="Building a task sui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164" y="1078992"/>
            <a:ext cx="794567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weeks/week-13/class-02/exercise/tasks.py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to measure</a:t>
            </a:r>
          </a:p>
        </p:txBody>
      </p:sp>
      <p:pic>
        <p:nvPicPr>
          <p:cNvPr id="5" name="Picture 4" descr="What to meas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888" y="1078992"/>
            <a:ext cx="838622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pass@1, pass@k, and Reflexion lift</a:t>
            </a:r>
          </a:p>
        </p:txBody>
      </p:sp>
      <p:pic>
        <p:nvPicPr>
          <p:cNvPr id="5" name="Picture 4" descr="pass@1, pass@k, and Reflexion lif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13019"/>
            <a:ext cx="8595360" cy="29209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Reflexion (Shinn et al., 2023)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lift, measured</a:t>
            </a:r>
          </a:p>
        </p:txBody>
      </p:sp>
      <p:pic>
        <p:nvPicPr>
          <p:cNvPr id="5" name="Picture 4" descr="The lift, measur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3360" y="1078992"/>
            <a:ext cx="421727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Reflexion (Shinn et al., 2023), arXiv:2303.11366, Fig. 4a (HotPotQA)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Determinism: reproducible scores</a:t>
            </a:r>
          </a:p>
        </p:txBody>
      </p:sp>
      <p:pic>
        <p:nvPicPr>
          <p:cNvPr id="5" name="Picture 4" descr="Determinism: reproducible scor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35187"/>
            <a:ext cx="8595360" cy="24766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Evaluation pitfalls</a:t>
            </a:r>
          </a:p>
        </p:txBody>
      </p:sp>
      <p:pic>
        <p:nvPicPr>
          <p:cNvPr id="5" name="Picture 4" descr="Evaluation pitfall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16346"/>
            <a:ext cx="8595360" cy="3314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Reading the leaderboard</a:t>
            </a:r>
          </a:p>
        </p:txBody>
      </p:sp>
      <p:pic>
        <p:nvPicPr>
          <p:cNvPr id="5" name="Picture 4" descr="Reading the leaderboar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928" y="1078992"/>
            <a:ext cx="808214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weeks/week-13/class-02/solutions/run_bench.py; GSM8K (Cobbe et al. 2021, MIT)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From benchmark slices to agents</a:t>
            </a:r>
          </a:p>
        </p:txBody>
      </p:sp>
      <p:pic>
        <p:nvPicPr>
          <p:cNvPr id="5" name="Picture 4" descr="From benchmark slices to agen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79925"/>
            <a:ext cx="8595360" cy="33871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Assigned reading (recap for the quiz)</a:t>
            </a:r>
          </a:p>
        </p:txBody>
      </p:sp>
      <p:pic>
        <p:nvPicPr>
          <p:cNvPr id="5" name="Picture 4" descr="Assigned reading (recap for the quiz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756" y="1078992"/>
            <a:ext cx="788648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weeks/week-13/class-01/readings.md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13 (paper)</a:t>
            </a:r>
          </a:p>
        </p:txBody>
      </p:sp>
      <p:pic>
        <p:nvPicPr>
          <p:cNvPr id="5" name="Picture 4" descr="Quiz 13 (paper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065" y="1078992"/>
            <a:ext cx="65798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quizzes/quiz-13.md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class-wide leaderboard showdow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Class-wide leaderboard showdown</a:t>
            </a:r>
          </a:p>
        </p:txBody>
      </p:sp>
      <p:pic>
        <p:nvPicPr>
          <p:cNvPr id="5" name="Picture 4" descr="Class-wide leaderboard showdow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948" y="1078992"/>
            <a:ext cx="771410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weeks/week-13/class-02/exercise/README.md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Build the eval harness</a:t>
            </a:r>
          </a:p>
        </p:txBody>
      </p:sp>
      <p:pic>
        <p:nvPicPr>
          <p:cNvPr id="5" name="Picture 4" descr="Build the eval harnes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15" y="1078992"/>
            <a:ext cx="827156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weeks/week-13/class-02/exercise/eval_suite.py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pic>
        <p:nvPicPr>
          <p:cNvPr id="5" name="Picture 4" descr="What you should se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522282"/>
            <a:ext cx="8595360" cy="2702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weeks/week-13/class-02/solutions/eval_suite.py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Find a fluent-but-wrong trace and a terse-but-right one. A pretty rationale is not a passing grade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Discuss: why grade the outcome, not the prose?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Find a fluent-but-wrong trace and a terse-but-right one. A pretty rationale is not a passing grade.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https://images.unsplash.com/photo-1551288049-bebda4e38f71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551419"/>
            <a:ext cx="8595360" cy="26441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