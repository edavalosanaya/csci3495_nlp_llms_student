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Reasoning Agents &amp; Agent 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42368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13, Class 2</a:t>
            </a:r>
          </a:p>
        </p:txBody>
      </p:sp>
      <p:pic>
        <p:nvPicPr>
          <p:cNvPr id="5" name="Picture 4" descr="Agility judges never score the prettiest jump; they count obstacles cleared on a fixed course. How should we score an agent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894" y="3474720"/>
            <a:ext cx="2213346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Ron Armstrong, Wikimedia Commons, CC BY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Last class</a:t>
            </a:r>
          </a:p>
        </p:txBody>
      </p:sp>
      <p:pic>
        <p:nvPicPr>
          <p:cNvPr id="5" name="Picture 4" descr="Last clas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38830"/>
            <a:ext cx="8595360" cy="2469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weeks/week-13/class-01/solutions/run_demo.py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How do we know it works?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Not the smoother talker. The one that solves more tasks on a fixed suit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two agents disagree, which one do you trust?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Not the smoother talker. The one that solves more tasks on a fixed suite.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https://images.unsplash.com/photo-1551288049-bebda4e38f71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evaluating agents is hard</a:t>
            </a:r>
          </a:p>
        </p:txBody>
      </p:sp>
      <p:pic>
        <p:nvPicPr>
          <p:cNvPr id="5" name="Picture 4" descr="Why evaluating agents is h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78577"/>
            <a:ext cx="8595360" cy="2789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golden rule</a:t>
            </a:r>
          </a:p>
        </p:txBody>
      </p:sp>
      <p:pic>
        <p:nvPicPr>
          <p:cNvPr id="5" name="Picture 4" descr="This rule is the closing discussion of today's activit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47777"/>
            <a:ext cx="8595360" cy="2651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Anatomy of an agent eval</a:t>
            </a:r>
          </a:p>
        </p:txBody>
      </p:sp>
      <p:pic>
        <p:nvPicPr>
          <p:cNvPr id="5" name="Picture 4" descr="The pipeline you build in today's exercise, one function per box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068598"/>
            <a:ext cx="8595360" cy="160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Building a task suite</a:t>
            </a:r>
          </a:p>
        </p:txBody>
      </p:sp>
      <p:pic>
        <p:nvPicPr>
          <p:cNvPr id="5" name="Picture 4" descr="Three of the five tasks in the exercise suite; your team adds a sixth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62345"/>
            <a:ext cx="8595360" cy="26223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weeks/week-13/class-02/exercise/tasks.py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to measure</a:t>
            </a:r>
          </a:p>
        </p:txBody>
      </p:sp>
      <p:pic>
        <p:nvPicPr>
          <p:cNvPr id="5" name="Picture 4" descr="What to measu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88156"/>
            <a:ext cx="8595360" cy="21706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pass@1, pass@k, and Reflexion lift</a:t>
            </a:r>
          </a:p>
        </p:txBody>
      </p:sp>
      <p:pic>
        <p:nvPicPr>
          <p:cNvPr id="5" name="Picture 4" descr="pass@1, pass@k, and Reflexion lif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3567"/>
            <a:ext cx="8595360" cy="33798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Reflexion (Shinn et al., 2023)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lift, measured</a:t>
            </a:r>
          </a:p>
        </p:txBody>
      </p:sp>
      <p:pic>
        <p:nvPicPr>
          <p:cNvPr id="5" name="Picture 4" descr="Trial 0 is pass@1; every retry adds one reflection. The dashed baselines retry without reflecting and stay flat: the lift comes from the lesson, not the extra attempt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3360" y="1078992"/>
            <a:ext cx="421727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Reflexion (Shinn et al., 2023), arXiv:2303.11366, Fig. 4a (HotPotQA)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Determinism: reproducible scores</a:t>
            </a:r>
          </a:p>
        </p:txBody>
      </p:sp>
      <p:pic>
        <p:nvPicPr>
          <p:cNvPr id="5" name="Picture 4" descr="Determinism: reproducible scor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83882"/>
            <a:ext cx="8595360" cy="2979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Evaluation pitfalls</a:t>
            </a:r>
          </a:p>
        </p:txBody>
      </p:sp>
      <p:pic>
        <p:nvPicPr>
          <p:cNvPr id="5" name="Picture 4" descr="Each of these will cost points on the team leaderboard toda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89503"/>
            <a:ext cx="8595360" cy="2767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Reading the leaderboard</a:t>
            </a:r>
          </a:p>
        </p:txBody>
      </p:sp>
      <p:pic>
        <p:nvPicPr>
          <p:cNvPr id="5" name="Picture 4" descr="A real run of this lab: four strategies, 20 GSM8K problems, qwen2.5:1.5b. The cheapest one won, and the two that call tools came third and secon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6156"/>
            <a:ext cx="8595360" cy="3554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weeks/week-13/class-02/solutions/run_bench.py; GSM8K (Cobbe et al. 2021, MIT)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From benchmark slices to agents</a:t>
            </a:r>
          </a:p>
        </p:txBody>
      </p:sp>
      <p:pic>
        <p:nvPicPr>
          <p:cNvPr id="5" name="Picture 4" descr="From benchmark slices to agen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5061"/>
            <a:ext cx="8595360" cy="26368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Assigned reading (recap for the quiz)</a:t>
            </a:r>
          </a:p>
        </p:txBody>
      </p:sp>
      <p:pic>
        <p:nvPicPr>
          <p:cNvPr id="5" name="Picture 4" descr="Reflexion (Shinn 2023) is required; Generative Agents (Park 2023) is optional, never quizz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86177"/>
            <a:ext cx="8595360" cy="2374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weeks/week-13/class-01/readings.md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13 (paper)</a:t>
            </a:r>
          </a:p>
        </p:txBody>
      </p:sp>
      <p:pic>
        <p:nvPicPr>
          <p:cNvPr id="5" name="Picture 4" descr="Covers Week 13 lecture + Reflexion (Shinn 2023). Clear your desk: finish early and your break starts early; need more time and it comes out of the brea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quizzes/quiz-13.md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class-wide leaderboard showdow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class-wide leaderboard showdown</a:t>
            </a:r>
          </a:p>
        </p:txBody>
      </p:sp>
      <p:pic>
        <p:nvPicPr>
          <p:cNvPr id="5" name="Picture 4" descr="Activity: class-wide leaderboard showdow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0914"/>
            <a:ext cx="8595360" cy="32851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weeks/week-13/class-02/exercise/README.md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build the eval harness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The success check runs outside the agent; never pass it in</a:t>
            </a:r>
          </a:p>
        </p:txBody>
      </p:sp>
      <p:pic>
        <p:nvPicPr>
          <p:cNvPr id="6" name="Picture 5" descr="Exercise: build the eval harnes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845" y="1078992"/>
            <a:ext cx="7344310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weeks/week-13/class-02/exercise/eval_suite.py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Your harness should print exactly this table before you add new task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22282"/>
            <a:ext cx="8595360" cy="2702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weeks/week-13/class-02/solutions/eval_suite.py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Find a fluent-but-wrong trace and a terse-but-right one. A pretty rationale is not a passing grad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Discuss: why grade the outcome, not the prose?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Find a fluent-but-wrong trace and a terse-but-right one. A pretty rationale is not a passing grade.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https://images.unsplash.com/photo-1551288049-bebda4e38f71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73587"/>
            <a:ext cx="8595360" cy="21998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