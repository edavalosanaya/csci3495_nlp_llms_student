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 id="273" r:id="rId5"/>
    <p:sldId id="274" r:id="rId39"/>
    <p:sldId id="275" r:id="rId40"/>
    <p:sldId id="276" r:id="rId41"/>
    <p:sldId id="277" r:id="rId42"/>
    <p:sldId id="278" r:id="rId43"/>
    <p:sldId id="279" r:id="rId44"/>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8.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 Id="rId39" Type="http://schemas.openxmlformats.org/officeDocument/2006/relationships/slide" Target="slides/slide19.xml"/><Relationship Id="rId40" Type="http://schemas.openxmlformats.org/officeDocument/2006/relationships/slide" Target="slides/slide20.xml"/><Relationship Id="rId41" Type="http://schemas.openxmlformats.org/officeDocument/2006/relationships/slide" Target="slides/slide21.xml"/><Relationship Id="rId42" Type="http://schemas.openxmlformats.org/officeDocument/2006/relationships/slide" Target="slides/slide22.xml"/><Relationship Id="rId43" Type="http://schemas.openxmlformats.org/officeDocument/2006/relationships/slide" Target="slides/slide23.xml"/><Relationship Id="rId44"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Closed book or open book: which exam would you rather take? Today we let the model look things up before it answers.</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Nothing here retrains the model. The knowledge lives in the index, so fixing a fact means editing a document.</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chunk in the index, edited by anyone with write access to a shared folder. The model never sees a distinction between your instructions and that chunk: it is all just context. Whoever can write to your documents can write to your prompt.</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Three gaps that no amount of clever prompting can fix. Fine-tuning for every fact update is expensive and slow. There is a better way.</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whole idea of RAG in one line. Do not try to bake every fact into the weights, attach a retriever and fetch the passage at answer time. Facts change, weights do not.</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Two separable stages: an off-the-shelf retriever plus an off-the-shelf LLM, joined by nothing more than a prompt. This is exactly the pipeline you build in today's lab.</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quiz paper's version goes further: retriever and generator are fine-tuned end to end, marginalizing over the top-K retrieved documents. The index is swappable memory, so knowledge updates without retraining.</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Done once, offline. Re-run only when the documents change.</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An index turns a pile of text into something you can search in milliseconds.</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Question to vector to top-k passages to a grounded answer. Scores are real cosine similarities.</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Meaning vs exact terms; both feed the same retrieve-then-generate pipeline. Both plug into the same RAG pipeline. Today's exercise supports either, we default to TF-IDF so it runs with no model download.</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Answer from the retrieved evidence and cite the source chunk numbers. Why it matters The model now answers from evidence and can cite [1], [2], so users can verify.</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Fresh knowledge, less hallucination, verifiable citations, and lower cost than retraining. The most common way to put an LLM on top of your data.</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If the retriever misses the passage, the generator cannot recover. Evaluate it separately. Evaluate the retriever separately, did it fetch the right chunk?</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Missed retrieval, distractors, ungrounded answers, lost-in-the-middle, and their fixes.</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Retrieved documents enter the prompt as untrusted text; a planted doc becomes an indirect injection.</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Say it the way you would say it about form input from the web, because it is the same class of problem. Everything they build from here should treat retrieved text as data, never as instructions.</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Same defense-in-depth playbook as the last class, applied to the retrieval pipeline. Grounding is only as trustworthy as the documents you ground in.</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Score retrieval (recall@k) and generation (faithfulness, citations) independently. In the exercise you will check both, including whether citations are real.</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Re-ranking, query rewriting, Self-RAG, and agentic retrieval as a tool.</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Covers the Week 13 lectures + RAG (Lewis et al. 2020). Clear your desk. Finish early and your break starts early; need more time and it comes out of the break.</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Two pieces: the retrieve step that scores chunks against the query, and build_prompt that assembles them into a grounded prompt with citations. Chunking, citation verification and the generator are given.</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grounded answer with a verified citation back to the source chunk.</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7.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2.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3.gif"/></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 Id="rId3" Type="http://schemas.openxmlformats.org/officeDocument/2006/relationships/image" Target="../media/image1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image" Target="../media/image1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image" Target="../media/image1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image" Target="../media/image2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image" Target="../media/image2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 Id="rId3" Type="http://schemas.openxmlformats.org/officeDocument/2006/relationships/image" Target="../media/image2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image" Target="../media/image3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3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2.xml"/><Relationship Id="rId3" Type="http://schemas.openxmlformats.org/officeDocument/2006/relationships/image" Target="../media/image3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3.xml"/><Relationship Id="rId3" Type="http://schemas.openxmlformats.org/officeDocument/2006/relationships/image" Target="../media/image3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Retrieval-Augmented Generation (RAG)</a:t>
            </a:r>
          </a:p>
        </p:txBody>
      </p:sp>
      <p:sp>
        <p:nvSpPr>
          <p:cNvPr id="3" name="Subtitle 2"/>
          <p:cNvSpPr>
            <a:spLocks noGrp="1"/>
          </p:cNvSpPr>
          <p:nvPr>
            <p:ph type="subTitle" idx="1"/>
          </p:nvPr>
        </p:nvSpPr>
        <p:spPr>
          <a:xfrm>
            <a:off x="493926" y="3549825"/>
            <a:ext cx="5526618" cy="970800"/>
          </a:xfrm>
        </p:spPr>
        <p:txBody>
          <a:bodyPr wrap="square"/>
          <a:lstStyle/>
          <a:p>
            <a:pPr marL="0" indent="0">
              <a:buNone/>
            </a:pPr>
            <a:r>
              <a:t>Natural Language Processing &amp; Large Language Models</a:t>
            </a:r>
          </a:p>
          <a:p>
            <a:pPr marL="0" indent="0">
              <a:buNone/>
            </a:pPr>
            <a:r>
              <a:t>Week 13, Class 2  ·  Wed Nov 18, 2026</a:t>
            </a:r>
          </a:p>
        </p:txBody>
      </p:sp>
      <p:pic>
        <p:nvPicPr>
          <p:cNvPr id="5" name="Picture 4" descr="Retrieval-Augmented Generation (RAG)"/>
          <p:cNvPicPr>
            <a:picLocks noChangeAspect="1"/>
          </p:cNvPicPr>
          <p:nvPr/>
        </p:nvPicPr>
        <p:blipFill>
          <a:blip r:embed="rId3"/>
          <a:stretch>
            <a:fillRect/>
          </a:stretch>
        </p:blipFill>
        <p:spPr>
          <a:xfrm>
            <a:off x="6249144" y="3474720"/>
            <a:ext cx="2529096"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Unsplash License, https://images.unsplash.com/photo-1456513080510-7bf3a84b82f8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the five moves actually do</a:t>
            </a:r>
          </a:p>
        </p:txBody>
      </p:sp>
      <p:pic>
        <p:nvPicPr>
          <p:cNvPr id="5" name="Picture 4" descr="What the five moves actually do"/>
          <p:cNvPicPr>
            <a:picLocks noChangeAspect="1"/>
          </p:cNvPicPr>
          <p:nvPr/>
        </p:nvPicPr>
        <p:blipFill>
          <a:blip r:embed="rId3"/>
          <a:stretch>
            <a:fillRect/>
          </a:stretch>
        </p:blipFill>
        <p:spPr>
          <a:xfrm>
            <a:off x="1089234" y="1078992"/>
            <a:ext cx="696553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syllabus/SYLLABUS.md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is poisoning, here?</a:t>
            </a:r>
          </a:p>
        </p:txBody>
      </p:sp>
      <p:pic>
        <p:nvPicPr>
          <p:cNvPr id="5" name="Picture 4" descr="What is poisoning, here?"/>
          <p:cNvPicPr>
            <a:picLocks noChangeAspect="1"/>
          </p:cNvPicPr>
          <p:nvPr/>
        </p:nvPicPr>
        <p:blipFill>
          <a:blip r:embed="rId3"/>
          <a:stretch>
            <a:fillRect/>
          </a:stretch>
        </p:blipFill>
        <p:spPr>
          <a:xfrm>
            <a:off x="721960" y="1078992"/>
            <a:ext cx="7700079" cy="358901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Greshake et al. 2023 (arXiv:2302.12173)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Models don't know your facts</a:t>
            </a:r>
          </a:p>
        </p:txBody>
      </p:sp>
      <p:pic>
        <p:nvPicPr>
          <p:cNvPr id="5" name="Picture 4" descr="Models don't know your facts"/>
          <p:cNvPicPr>
            <a:picLocks noChangeAspect="1"/>
          </p:cNvPicPr>
          <p:nvPr/>
        </p:nvPicPr>
        <p:blipFill>
          <a:blip r:embed="rId3"/>
          <a:stretch>
            <a:fillRect/>
          </a:stretch>
        </p:blipFill>
        <p:spPr>
          <a:xfrm>
            <a:off x="274320" y="1759019"/>
            <a:ext cx="8595360" cy="2228966"/>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RAG attaches a retriever to the LLM: fetch the right passage, then answer from it."/>
          <p:cNvPicPr>
            <a:picLocks noChangeAspect="1"/>
          </p:cNvPicPr>
          <p:nvPr/>
        </p:nvPicPr>
        <p:blipFill>
          <a:blip r:embed="rId3"/>
          <a:stretch>
            <a:fillRect/>
          </a:stretch>
        </p:blipFill>
        <p:spPr>
          <a:xfrm>
            <a:off x="0" y="-477203"/>
            <a:ext cx="9144000" cy="609790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2651760"/>
          </a:xfrm>
          <a:prstGeom prst="rect">
            <a:avLst/>
          </a:prstGeom>
          <a:noFill/>
        </p:spPr>
        <p:txBody>
          <a:bodyPr wrap="square" anchor="ctr">
            <a:spAutoFit/>
          </a:bodyPr>
          <a:lstStyle/>
          <a:p>
            <a:pPr algn="ctr" marL="0" indent="0">
              <a:buNone/>
            </a:pPr>
            <a:r>
              <a:rPr sz="3400" b="1">
                <a:solidFill>
                  <a:srgbClr val="FFFFFF"/>
                </a:solidFill>
              </a:rPr>
              <a:t>Don't memorize the library. Learn to look things up.</a:t>
            </a:r>
          </a:p>
          <a:p>
            <a:pPr algn="ctr" marL="0" indent="0">
              <a:buNone/>
            </a:pPr>
            <a:r>
              <a:rPr sz="2000">
                <a:solidFill>
                  <a:srgbClr val="FFFFFF"/>
                </a:solidFill>
              </a:rPr>
              <a:t>RAG attaches a retriever to the LLM: fetch the right passage, then answer from it.</a:t>
            </a:r>
          </a:p>
        </p:txBody>
      </p:sp>
      <p:sp>
        <p:nvSpPr>
          <p:cNvPr id="8" name="TextBox 7"/>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https://images.unsplash.com/photo-1521587760476-6c12a4b040da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idea: retrieve, then generate</a:t>
            </a:r>
          </a:p>
        </p:txBody>
      </p:sp>
      <p:pic>
        <p:nvPicPr>
          <p:cNvPr id="5" name="Picture 4" descr="The idea: retrieve, then generate"/>
          <p:cNvPicPr>
            <a:picLocks noChangeAspect="1"/>
          </p:cNvPicPr>
          <p:nvPr/>
        </p:nvPicPr>
        <p:blipFill>
          <a:blip r:embed="rId3"/>
          <a:stretch>
            <a:fillRect/>
          </a:stretch>
        </p:blipFill>
        <p:spPr>
          <a:xfrm>
            <a:off x="789068" y="1078992"/>
            <a:ext cx="756586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11.13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original RAG architecture</a:t>
            </a:r>
          </a:p>
        </p:txBody>
      </p:sp>
      <p:pic>
        <p:nvPicPr>
          <p:cNvPr id="5" name="Picture 4" descr="The original RAG architecture"/>
          <p:cNvPicPr>
            <a:picLocks noChangeAspect="1"/>
          </p:cNvPicPr>
          <p:nvPr/>
        </p:nvPicPr>
        <p:blipFill>
          <a:blip r:embed="rId3"/>
          <a:stretch>
            <a:fillRect/>
          </a:stretch>
        </p:blipFill>
        <p:spPr>
          <a:xfrm>
            <a:off x="458983" y="1078992"/>
            <a:ext cx="8226033"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Lewis et al. 2020 (arXiv:2005.11401), Fig. 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Step 1: Index your documents</a:t>
            </a:r>
          </a:p>
        </p:txBody>
      </p:sp>
      <p:pic>
        <p:nvPicPr>
          <p:cNvPr id="5" name="Picture 4" descr="Step 1: Index your documents"/>
          <p:cNvPicPr>
            <a:picLocks noChangeAspect="1"/>
          </p:cNvPicPr>
          <p:nvPr/>
        </p:nvPicPr>
        <p:blipFill>
          <a:blip r:embed="rId3"/>
          <a:stretch>
            <a:fillRect/>
          </a:stretch>
        </p:blipFill>
        <p:spPr>
          <a:xfrm>
            <a:off x="274320" y="1563321"/>
            <a:ext cx="8595360" cy="2620361"/>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Like a card catalog for your documents</a:t>
            </a:r>
          </a:p>
        </p:txBody>
      </p:sp>
      <p:pic>
        <p:nvPicPr>
          <p:cNvPr id="5" name="Picture 4" descr="Like a card catalog for your documents"/>
          <p:cNvPicPr>
            <a:picLocks noChangeAspect="1"/>
          </p:cNvPicPr>
          <p:nvPr/>
        </p:nvPicPr>
        <p:blipFill>
          <a:blip r:embed="rId3"/>
          <a:stretch>
            <a:fillRect/>
          </a:stretch>
        </p:blipFill>
        <p:spPr>
          <a:xfrm>
            <a:off x="1883596" y="1078992"/>
            <a:ext cx="537680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https://images.unsplash.com/photo-1524995997946-a1c2e315a42f</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Watch one question go through</a:t>
            </a:r>
          </a:p>
        </p:txBody>
      </p:sp>
      <p:pic>
        <p:nvPicPr>
          <p:cNvPr id="5" name="Picture 4" descr="Watch one question go through"/>
          <p:cNvPicPr>
            <a:picLocks noChangeAspect="1"/>
          </p:cNvPicPr>
          <p:nvPr/>
        </p:nvPicPr>
        <p:blipFill>
          <a:blip r:embed="rId3"/>
          <a:stretch>
            <a:fillRect/>
          </a:stretch>
        </p:blipFill>
        <p:spPr>
          <a:xfrm>
            <a:off x="1478017" y="1078992"/>
            <a:ext cx="618796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animation; original figure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Dense vs. TF-IDF retrieval</a:t>
            </a:r>
          </a:p>
        </p:txBody>
      </p:sp>
      <p:pic>
        <p:nvPicPr>
          <p:cNvPr id="5" name="Picture 4" descr="Dense vs. TF-IDF retrieval"/>
          <p:cNvPicPr>
            <a:picLocks noChangeAspect="1"/>
          </p:cNvPicPr>
          <p:nvPr/>
        </p:nvPicPr>
        <p:blipFill>
          <a:blip r:embed="rId3"/>
          <a:stretch>
            <a:fillRect/>
          </a:stretch>
        </p:blipFill>
        <p:spPr>
          <a:xfrm>
            <a:off x="274320" y="1190851"/>
            <a:ext cx="8595360" cy="3365301"/>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Step 3: Generate (grounded)</a:t>
            </a:r>
          </a:p>
        </p:txBody>
      </p:sp>
      <p:pic>
        <p:nvPicPr>
          <p:cNvPr id="5" name="Picture 4" descr="Step 3: Generate (grounded)"/>
          <p:cNvPicPr>
            <a:picLocks noChangeAspect="1"/>
          </p:cNvPicPr>
          <p:nvPr/>
        </p:nvPicPr>
        <p:blipFill>
          <a:blip r:embed="rId3"/>
          <a:stretch>
            <a:fillRect/>
          </a:stretch>
        </p:blipFill>
        <p:spPr>
          <a:xfrm>
            <a:off x="670891" y="1078992"/>
            <a:ext cx="780221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RAG helps</a:t>
            </a:r>
          </a:p>
        </p:txBody>
      </p:sp>
      <p:pic>
        <p:nvPicPr>
          <p:cNvPr id="5" name="Picture 4" descr="Why RAG helps"/>
          <p:cNvPicPr>
            <a:picLocks noChangeAspect="1"/>
          </p:cNvPicPr>
          <p:nvPr/>
        </p:nvPicPr>
        <p:blipFill>
          <a:blip r:embed="rId3"/>
          <a:stretch>
            <a:fillRect/>
          </a:stretch>
        </p:blipFill>
        <p:spPr>
          <a:xfrm>
            <a:off x="735910" y="1078992"/>
            <a:ext cx="767218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Retrieval quality caps everything</a:t>
            </a:r>
          </a:p>
        </p:txBody>
      </p:sp>
      <p:pic>
        <p:nvPicPr>
          <p:cNvPr id="5" name="Picture 4" descr="Retrieval quality caps everything"/>
          <p:cNvPicPr>
            <a:picLocks noChangeAspect="1"/>
          </p:cNvPicPr>
          <p:nvPr/>
        </p:nvPicPr>
        <p:blipFill>
          <a:blip r:embed="rId3"/>
          <a:stretch>
            <a:fillRect/>
          </a:stretch>
        </p:blipFill>
        <p:spPr>
          <a:xfrm>
            <a:off x="274320" y="1422021"/>
            <a:ext cx="8595360" cy="2902961"/>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Failure modes &amp; mitigations</a:t>
            </a:r>
          </a:p>
        </p:txBody>
      </p:sp>
      <p:pic>
        <p:nvPicPr>
          <p:cNvPr id="5" name="Picture 4" descr="Failure modes &amp; mitigations"/>
          <p:cNvPicPr>
            <a:picLocks noChangeAspect="1"/>
          </p:cNvPicPr>
          <p:nvPr/>
        </p:nvPicPr>
        <p:blipFill>
          <a:blip r:embed="rId3"/>
          <a:stretch>
            <a:fillRect/>
          </a:stretch>
        </p:blipFill>
        <p:spPr>
          <a:xfrm>
            <a:off x="274320" y="1592597"/>
            <a:ext cx="8595360" cy="256180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RAG context poisoning</a:t>
            </a:r>
          </a:p>
        </p:txBody>
      </p:sp>
      <p:pic>
        <p:nvPicPr>
          <p:cNvPr id="5" name="Picture 4" descr="RAG context poisoning"/>
          <p:cNvPicPr>
            <a:picLocks noChangeAspect="1"/>
          </p:cNvPicPr>
          <p:nvPr/>
        </p:nvPicPr>
        <p:blipFill>
          <a:blip r:embed="rId3"/>
          <a:stretch>
            <a:fillRect/>
          </a:stretch>
        </p:blipFill>
        <p:spPr>
          <a:xfrm>
            <a:off x="274320" y="1501604"/>
            <a:ext cx="8595360" cy="274379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Greshake et al. 2023, arXiv:2302.12173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2651760"/>
          </a:xfrm>
          <a:prstGeom prst="rect">
            <a:avLst/>
          </a:prstGeom>
          <a:noFill/>
        </p:spPr>
        <p:txBody>
          <a:bodyPr wrap="square" anchor="ctr">
            <a:spAutoFit/>
          </a:bodyPr>
          <a:lstStyle/>
          <a:p>
            <a:pPr algn="ctr" marL="0" indent="0">
              <a:buNone/>
            </a:pPr>
            <a:r>
              <a:rPr sz="3400" b="1">
                <a:solidFill>
                  <a:srgbClr val="7C2529"/>
                </a:solidFill>
              </a:rPr>
              <a:t>The documents in your context are untrusted input.</a:t>
            </a:r>
          </a:p>
          <a:p>
            <a:pPr algn="ctr" marL="0" indent="0">
              <a:buNone/>
            </a:pPr>
            <a:r>
              <a:rPr sz="2000">
                <a:solidFill>
                  <a:srgbClr val="222222"/>
                </a:solidFill>
              </a:rPr>
              <a:t>Anyone who can write to your corpus can write to your prompt.</a:t>
            </a:r>
          </a:p>
        </p:txBody>
      </p:sp>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Greshake et al. 2023, arXiv:2302.12173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Defending RAG against poisoning</a:t>
            </a:r>
          </a:p>
        </p:txBody>
      </p:sp>
      <p:pic>
        <p:nvPicPr>
          <p:cNvPr id="5" name="Picture 4" descr="Defending RAG against poisoning"/>
          <p:cNvPicPr>
            <a:picLocks noChangeAspect="1"/>
          </p:cNvPicPr>
          <p:nvPr/>
        </p:nvPicPr>
        <p:blipFill>
          <a:blip r:embed="rId3"/>
          <a:stretch>
            <a:fillRect/>
          </a:stretch>
        </p:blipFill>
        <p:spPr>
          <a:xfrm>
            <a:off x="553932" y="1078992"/>
            <a:ext cx="803613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OWASP Top 10 for LLM Apps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Evaluating RAG</a:t>
            </a:r>
          </a:p>
        </p:txBody>
      </p:sp>
      <p:pic>
        <p:nvPicPr>
          <p:cNvPr id="5" name="Picture 4" descr="Evaluating RAG"/>
          <p:cNvPicPr>
            <a:picLocks noChangeAspect="1"/>
          </p:cNvPicPr>
          <p:nvPr/>
        </p:nvPicPr>
        <p:blipFill>
          <a:blip r:embed="rId3"/>
          <a:stretch>
            <a:fillRect/>
          </a:stretch>
        </p:blipFill>
        <p:spPr>
          <a:xfrm>
            <a:off x="396854" y="1078992"/>
            <a:ext cx="835029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Beyond basic RAG</a:t>
            </a:r>
          </a:p>
        </p:txBody>
      </p:sp>
      <p:pic>
        <p:nvPicPr>
          <p:cNvPr id="5" name="Picture 4" descr="Beyond basic RAG"/>
          <p:cNvPicPr>
            <a:picLocks noChangeAspect="1"/>
          </p:cNvPicPr>
          <p:nvPr/>
        </p:nvPicPr>
        <p:blipFill>
          <a:blip r:embed="rId3"/>
          <a:stretch>
            <a:fillRect/>
          </a:stretch>
        </p:blipFill>
        <p:spPr>
          <a:xfrm>
            <a:off x="274320" y="1250360"/>
            <a:ext cx="8595360" cy="3246283"/>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Self-RAG: Asai et al. 2023, arXiv:2310.11511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Quiz 11 (paper)</a:t>
            </a:r>
          </a:p>
        </p:txBody>
      </p:sp>
      <p:pic>
        <p:nvPicPr>
          <p:cNvPr id="5" name="Picture 4" descr="Quiz 11 (paper)"/>
          <p:cNvPicPr>
            <a:picLocks noChangeAspect="1"/>
          </p:cNvPicPr>
          <p:nvPr/>
        </p:nvPicPr>
        <p:blipFill>
          <a:blip r:embed="rId3"/>
          <a:stretch>
            <a:fillRect/>
          </a:stretch>
        </p:blipFill>
        <p:spPr>
          <a:xfrm>
            <a:off x="1282065" y="1078992"/>
            <a:ext cx="657987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the extended lab: build RAG end to end."/>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Extended lab: build RAG end to end</a:t>
            </a:r>
          </a:p>
        </p:txBody>
      </p:sp>
      <p:pic>
        <p:nvPicPr>
          <p:cNvPr id="5" name="Picture 4" descr="Extended lab: build RAG end to end"/>
          <p:cNvPicPr>
            <a:picLocks noChangeAspect="1"/>
          </p:cNvPicPr>
          <p:nvPr/>
        </p:nvPicPr>
        <p:blipFill>
          <a:blip r:embed="rId3"/>
          <a:stretch>
            <a:fillRect/>
          </a:stretch>
        </p:blipFill>
        <p:spPr>
          <a:xfrm>
            <a:off x="274320" y="1857356"/>
            <a:ext cx="8595360" cy="2032292"/>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weeks/week-13/class-02/exercise/rag.py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you should see</a:t>
            </a:r>
          </a:p>
        </p:txBody>
      </p:sp>
      <p:pic>
        <p:nvPicPr>
          <p:cNvPr id="5" name="Picture 4" descr="What you should see"/>
          <p:cNvPicPr>
            <a:picLocks noChangeAspect="1"/>
          </p:cNvPicPr>
          <p:nvPr/>
        </p:nvPicPr>
        <p:blipFill>
          <a:blip r:embed="rId3"/>
          <a:stretch>
            <a:fillRect/>
          </a:stretch>
        </p:blipFill>
        <p:spPr>
          <a:xfrm>
            <a:off x="485124" y="1078992"/>
            <a:ext cx="8173751"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example run, TF-IDF retriever + offline stub generator</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