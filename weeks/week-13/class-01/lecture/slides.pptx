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Midterm Exam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080610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13, Class 1  ·  Mon Nov 16, 2026</a:t>
            </a:r>
          </a:p>
        </p:txBody>
      </p:sp>
      <p:pic>
        <p:nvPicPr>
          <p:cNvPr id="5" name="Picture 4" descr="Midterm Ex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3474720"/>
            <a:ext cx="1975104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Tony Webster, Wikimedia Commons, CC BY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HW5 due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PART A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prompt experiments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PART B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a RAG pipeline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Homework 5 is due at the start of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midterm: 100 points, about 70 minutes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56182"/>
          <a:ext cx="5102352" cy="2834640"/>
        </p:xfrm>
        <a:graphic>
          <a:graphicData uri="http://schemas.openxmlformats.org/drawingml/2006/table">
            <a:tbl>
              <a:tblPr firstRow="1" bandRow="0"/>
              <a:tblGrid>
                <a:gridCol w="1550543"/>
                <a:gridCol w="3551809"/>
              </a:tblGrid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points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100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time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about 70 minutes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covers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weeks 1 to 11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note sheet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one 8.5x11, handwritten, both sides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25312" y="1456182"/>
            <a:ext cx="276148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ON THE DESK</a:t>
            </a:r>
          </a:p>
          <a:p>
            <a:pPr marL="0" indent="0">
              <a:spcAft>
                <a:spcPts val="900"/>
              </a:spcAft>
              <a:buNone/>
            </a:pPr>
            <a:r>
              <a:rPr sz="1300">
                <a:solidFill>
                  <a:srgbClr val="1D1D1F"/>
                </a:solidFill>
                <a:latin typeface="Helvetica Neue"/>
              </a:rPr>
              <a:t>The note sheet, and nothing else. It is handed in with the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1135380"/>
          </a:xfrm>
          <a:prstGeom prst="roundRect">
            <a:avLst>
              <a:gd name="adj" fmla="val 885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11353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1135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Paper, plus your one handwritten note sheet. Nothing else on the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05812"/>
            <a:ext cx="8229600" cy="1135380"/>
          </a:xfrm>
          <a:prstGeom prst="roundRect">
            <a:avLst>
              <a:gd name="adj" fmla="val 885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2305812"/>
            <a:ext cx="475488" cy="11353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305812"/>
            <a:ext cx="7278624" cy="1135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True or false needs a written justification. A bare T or F earns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32632"/>
            <a:ext cx="8229600" cy="1135380"/>
          </a:xfrm>
          <a:prstGeom prst="roundRect">
            <a:avLst>
              <a:gd name="adj" fmla="val 885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3532632"/>
            <a:ext cx="475488" cy="11353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532632"/>
            <a:ext cx="7278624" cy="1135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Show your reasoning on short answer. A right number alone is not 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When you finish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63660"/>
            <a:ext cx="2645664" cy="1019683"/>
          </a:xfrm>
          <a:prstGeom prst="roundRect">
            <a:avLst>
              <a:gd name="adj" fmla="val 1165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509964"/>
            <a:ext cx="2279904" cy="727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WHEN YOU FINISH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00" b="0" u="none">
                <a:solidFill>
                  <a:srgbClr val="1D1D1F"/>
                </a:solidFill>
                <a:latin typeface="Menlo"/>
              </a:rPr>
              <a:t>turn it in at the front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000" b="0">
                <a:solidFill>
                  <a:srgbClr val="86868B"/>
                </a:solidFill>
                <a:latin typeface="Helvetica Neue"/>
              </a:rPr>
              <a:t>Name on every sheet, then leave quietly.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9168" y="2363660"/>
            <a:ext cx="2645664" cy="1019683"/>
          </a:xfrm>
          <a:prstGeom prst="roundRect">
            <a:avLst>
              <a:gd name="adj" fmla="val 1165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32048" y="2509964"/>
            <a:ext cx="2279904" cy="727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OPTIONAL, TAKE-HOME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00" b="0" u="none">
                <a:solidFill>
                  <a:srgbClr val="1D1D1F"/>
                </a:solidFill>
                <a:latin typeface="Menlo"/>
              </a:rPr>
              <a:t>the injection CTF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000" b="0">
                <a:solidFill>
                  <a:srgbClr val="86868B"/>
                </a:solidFill>
                <a:latin typeface="Helvetica Neue"/>
              </a:rPr>
              <a:t>Attack, then defend, a gullible assistant. Offline and ungraded.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41136" y="2363660"/>
            <a:ext cx="2645664" cy="1019683"/>
          </a:xfrm>
          <a:prstGeom prst="roundRect">
            <a:avLst>
              <a:gd name="adj" fmla="val 1165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4016" y="2509964"/>
            <a:ext cx="2279904" cy="727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NEXT CLASS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00" b="0" u="none">
                <a:solidFill>
                  <a:srgbClr val="1D1D1F"/>
                </a:solidFill>
                <a:latin typeface="Menlo"/>
              </a:rPr>
              <a:t>RAG, and the lab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000" b="0">
                <a:solidFill>
                  <a:srgbClr val="86868B"/>
                </a:solidFill>
                <a:latin typeface="Helvetica Neue"/>
              </a:rPr>
              <a:t>Retrieval-augmented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weeks/week-13/class-01/exercise/ctf.py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7C2529"/>
                </a:solidFill>
              </a:rPr>
              <a:t>Next class: RAG, we give the model an open book.</a:t>
            </a:r>
          </a:p>
          <a:p>
            <a:pPr algn="ctr" marL="0" indent="0">
              <a:buNone/>
            </a:pPr>
            <a:r>
              <a:rPr sz="2000">
                <a:solidFill>
                  <a:srgbClr val="222222"/>
                </a:solidFill>
              </a:rPr>
              <a:t>Required reading: Lewis et al. 2020 (RAG, arXiv:2005.11401) plus J&amp;M SLP3 Ch. 11. Quiz 7 runs right before the break, then the RAG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arXiv:2005.11401; web.stanford.edu/~jurafsky/slp3/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