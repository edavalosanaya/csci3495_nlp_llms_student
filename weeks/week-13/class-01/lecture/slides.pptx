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elephant never forgets. Your W12 agent forgets everything the instant its loop ends; today we fix that.</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From a bare ReAct loop to a memory + planning + reflection agent, then we build it.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Same loop you built in W12. Today we wrap it with three upgrades.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Get an actual answer from the room. Whatever they say, it is a short verbal lesson, not a gradient. That is exactly what Reflexion stores.</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controller (the ReAct loop) wrapped with planning, memory, and reflection. The loop: Planner sets sub-goals controller reasons and calls tools memory carries state across steps on failure, reflection adds a lesson and the agent tries again.</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same demo task, seen by each kind of memory.</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Long-term memory holds reflections, short notes that feed into the next prompt.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plan made before the loop turns one hard problem into a few easy steps. One hard problem becomes three easy ones, each solvable by a single tool call.</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steps. Write a short self-critique of what went wrong, save it in long-term memory, and retry with that lesson in the context. No weights change anywhere in this. Verbal reinforcement: the agent improves without any weight updates.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Map it to today's lab: Actor = your react_attempt, Evaluator = the success() check, and the reflective text is what memory.add() stores.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sparse failure signal, just wrong, becomes a specific actionable lesson. And because the lesson is text, it slots straight into the next prompt with no training step. That is the whole trick. Shinn et al., 2023, arXiv:2303.11366. Gains are absolute percentage points over the paper's own baseline agent.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flowchart is exactly the function you implement in today's exercise.</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exact trace you will reproduce in today's exercise. Same agent, same tools. Memory plus reflection made the difference.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Optional reading, not quizzed: 25 characters in Smallville run on the same recipe you build today, a memory stream, reflection, and a daily plan each.</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dials you set before shipping an agent; the exercise picks defaults for each.</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Required: Reflexion (Shinn 2023). Optional, not quizzed: Generative Agents (Park 2023).</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Measured on this lab's own ten problems: carrying reflections across problems takes first-attempt success from 0/10 to 5/10. P1 always fails: there is nothing in memory yet. The lesson it writes there ("call calc for every arithmetic step") is what P2 onwards get for free.</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target task for everyone, a menu of tools, and an external evaluator that tells the agent what it got wrong.</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functions to write: the planner and the reflection step.</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If your run matches this, your Reflexion loop works.</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bare ReAct loop has no memory, no plan and one shot at the task. Memory splits into the running trace and lessons that persist. Planning decomposes before acting. And Reflexion turns a failure into a lesson you can retry with.</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3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Memory, Planning &amp; Reflection</a:t>
            </a:r>
          </a:p>
        </p:txBody>
      </p:sp>
      <p:sp>
        <p:nvSpPr>
          <p:cNvPr id="3" name="Subtitle 2"/>
          <p:cNvSpPr>
            <a:spLocks noGrp="1"/>
          </p:cNvSpPr>
          <p:nvPr>
            <p:ph type="subTitle" idx="1"/>
          </p:nvPr>
        </p:nvSpPr>
        <p:spPr>
          <a:xfrm>
            <a:off x="493926" y="3549825"/>
            <a:ext cx="5833722" cy="970800"/>
          </a:xfrm>
        </p:spPr>
        <p:txBody>
          <a:bodyPr wrap="square"/>
          <a:lstStyle/>
          <a:p>
            <a:pPr marL="0" indent="0">
              <a:buNone/>
            </a:pPr>
            <a:r>
              <a:t>Natural Language Processing &amp; Large Language Models</a:t>
            </a:r>
          </a:p>
          <a:p>
            <a:pPr marL="0" indent="0">
              <a:buNone/>
            </a:pPr>
            <a:r>
              <a:t>Week 13, Class 1  ·  Wed Nov 18, 2026</a:t>
            </a:r>
          </a:p>
        </p:txBody>
      </p:sp>
      <p:pic>
        <p:nvPicPr>
          <p:cNvPr id="5" name="Picture 4" descr="Memory, Planning &amp; Reflection"/>
          <p:cNvPicPr>
            <a:picLocks noChangeAspect="1"/>
          </p:cNvPicPr>
          <p:nvPr/>
        </p:nvPicPr>
        <p:blipFill>
          <a:blip r:embed="rId3"/>
          <a:stretch>
            <a:fillRect/>
          </a:stretch>
        </p:blipFill>
        <p:spPr>
          <a:xfrm>
            <a:off x="6556248" y="3474720"/>
            <a:ext cx="2221992"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Giles Laurent, Wikimedia Commons, CC BY-SA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a:t>
            </a:r>
          </a:p>
        </p:txBody>
      </p:sp>
      <p:pic>
        <p:nvPicPr>
          <p:cNvPr id="5" name="Picture 4" descr="Today"/>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deck figures; Reflexion (Shinn et al., 2023), arXiv:2303.11366, Fig. 2a; Unsplash License photo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 the ReAct agent (W12)</a:t>
            </a:r>
          </a:p>
        </p:txBody>
      </p:sp>
      <p:pic>
        <p:nvPicPr>
          <p:cNvPr id="5" name="Picture 4" descr="Recap: the ReAct agent (W12)"/>
          <p:cNvPicPr>
            <a:picLocks noChangeAspect="1"/>
          </p:cNvPicPr>
          <p:nvPr/>
        </p:nvPicPr>
        <p:blipFill>
          <a:blip r:embed="rId3"/>
          <a:stretch>
            <a:fillRect/>
          </a:stretch>
        </p:blipFill>
        <p:spPr>
          <a:xfrm>
            <a:off x="419996" y="1078992"/>
            <a:ext cx="830400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ReAct (Yao et al., 2022)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Smarter scaffolding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That note is exactly what an agent stores as a reflection."/>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What would you write down to do better next time?</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That note is exactly what an agent stores as a reflection.</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https://images.unsplash.com/photo-1517842645767-c639042777db</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agent architecture</a:t>
            </a:r>
          </a:p>
        </p:txBody>
      </p:sp>
      <p:pic>
        <p:nvPicPr>
          <p:cNvPr id="5" name="Picture 4" descr="The agent architecture"/>
          <p:cNvPicPr>
            <a:picLocks noChangeAspect="1"/>
          </p:cNvPicPr>
          <p:nvPr/>
        </p:nvPicPr>
        <p:blipFill>
          <a:blip r:embed="rId3"/>
          <a:stretch>
            <a:fillRect/>
          </a:stretch>
        </p:blipFill>
        <p:spPr>
          <a:xfrm>
            <a:off x="274320" y="1165629"/>
            <a:ext cx="8595360" cy="341574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Memory: two kinds</a:t>
            </a:r>
          </a:p>
        </p:txBody>
      </p:sp>
      <p:pic>
        <p:nvPicPr>
          <p:cNvPr id="5" name="Picture 4" descr="Memory: two kinds"/>
          <p:cNvPicPr>
            <a:picLocks noChangeAspect="1"/>
          </p:cNvPicPr>
          <p:nvPr/>
        </p:nvPicPr>
        <p:blipFill>
          <a:blip r:embed="rId3"/>
          <a:stretch>
            <a:fillRect/>
          </a:stretch>
        </p:blipFill>
        <p:spPr>
          <a:xfrm>
            <a:off x="714948" y="1078992"/>
            <a:ext cx="7714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weeks/week-13/class-01/solutions/run_demo.py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memory matters</a:t>
            </a:r>
          </a:p>
        </p:txBody>
      </p:sp>
      <p:pic>
        <p:nvPicPr>
          <p:cNvPr id="5" name="Picture 4" descr="Why memory matters"/>
          <p:cNvPicPr>
            <a:picLocks noChangeAspect="1"/>
          </p:cNvPicPr>
          <p:nvPr/>
        </p:nvPicPr>
        <p:blipFill>
          <a:blip r:embed="rId3"/>
          <a:stretch>
            <a:fillRect/>
          </a:stretch>
        </p:blipFill>
        <p:spPr>
          <a:xfrm>
            <a:off x="274320" y="1715314"/>
            <a:ext cx="8595360" cy="231637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Planning: decompose before acting</a:t>
            </a:r>
          </a:p>
        </p:txBody>
      </p:sp>
      <p:pic>
        <p:nvPicPr>
          <p:cNvPr id="5" name="Picture 4" descr="Planning: decompose before acting"/>
          <p:cNvPicPr>
            <a:picLocks noChangeAspect="1"/>
          </p:cNvPicPr>
          <p:nvPr/>
        </p:nvPicPr>
        <p:blipFill>
          <a:blip r:embed="rId3"/>
          <a:stretch>
            <a:fillRect/>
          </a:stretch>
        </p:blipFill>
        <p:spPr>
          <a:xfrm>
            <a:off x="274320" y="1179925"/>
            <a:ext cx="8595360" cy="338715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Reflection: the Reflexion idea</a:t>
            </a:r>
          </a:p>
        </p:txBody>
      </p:sp>
      <p:pic>
        <p:nvPicPr>
          <p:cNvPr id="5" name="Picture 4" descr="Reflection: the Reflexion idea"/>
          <p:cNvPicPr>
            <a:picLocks noChangeAspect="1"/>
          </p:cNvPicPr>
          <p:nvPr/>
        </p:nvPicPr>
        <p:blipFill>
          <a:blip r:embed="rId3"/>
          <a:stretch>
            <a:fillRect/>
          </a:stretch>
        </p:blipFill>
        <p:spPr>
          <a:xfrm>
            <a:off x="274320" y="1533209"/>
            <a:ext cx="8595360" cy="268058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Reflexion (Shinn et al., 2023), arXiv:2303.11366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Reflexion, as the paper draws it</a:t>
            </a:r>
          </a:p>
        </p:txBody>
      </p:sp>
      <p:pic>
        <p:nvPicPr>
          <p:cNvPr id="5" name="Picture 4" descr="Reflexion, as the paper draws it"/>
          <p:cNvPicPr>
            <a:picLocks noChangeAspect="1"/>
          </p:cNvPicPr>
          <p:nvPr/>
        </p:nvPicPr>
        <p:blipFill>
          <a:blip r:embed="rId3"/>
          <a:stretch>
            <a:fillRect/>
          </a:stretch>
        </p:blipFill>
        <p:spPr>
          <a:xfrm>
            <a:off x="2695715" y="1078992"/>
            <a:ext cx="37525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Reflexion (Shinn et al., 2023), arXiv:2303.11366, Fig. 2a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Reflexion: why it works</a:t>
            </a:r>
          </a:p>
        </p:txBody>
      </p:sp>
      <p:pic>
        <p:nvPicPr>
          <p:cNvPr id="5" name="Picture 4" descr="Reflexion: why it works"/>
          <p:cNvPicPr>
            <a:picLocks noChangeAspect="1"/>
          </p:cNvPicPr>
          <p:nvPr/>
        </p:nvPicPr>
        <p:blipFill>
          <a:blip r:embed="rId3"/>
          <a:stretch>
            <a:fillRect/>
          </a:stretch>
        </p:blipFill>
        <p:spPr>
          <a:xfrm>
            <a:off x="274320" y="1500430"/>
            <a:ext cx="8595360" cy="274614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Reflexion (Shinn et al., 2023), arXiv:2303.11366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Reflexion loop</a:t>
            </a:r>
          </a:p>
        </p:txBody>
      </p:sp>
      <p:pic>
        <p:nvPicPr>
          <p:cNvPr id="5" name="Picture 4" descr="The Reflexion loop"/>
          <p:cNvPicPr>
            <a:picLocks noChangeAspect="1"/>
          </p:cNvPicPr>
          <p:nvPr/>
        </p:nvPicPr>
        <p:blipFill>
          <a:blip r:embed="rId3"/>
          <a:stretch>
            <a:fillRect/>
          </a:stretch>
        </p:blipFill>
        <p:spPr>
          <a:xfrm>
            <a:off x="707909" y="1078992"/>
            <a:ext cx="772818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Reflexion (Shinn et al., 2023)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concrete trace</a:t>
            </a:r>
          </a:p>
        </p:txBody>
      </p:sp>
      <p:pic>
        <p:nvPicPr>
          <p:cNvPr id="5" name="Picture 4" descr="A concrete trace"/>
          <p:cNvPicPr>
            <a:picLocks noChangeAspect="1"/>
          </p:cNvPicPr>
          <p:nvPr/>
        </p:nvPicPr>
        <p:blipFill>
          <a:blip r:embed="rId3"/>
          <a:stretch>
            <a:fillRect/>
          </a:stretch>
        </p:blipFill>
        <p:spPr>
          <a:xfrm>
            <a:off x="274320" y="1154430"/>
            <a:ext cx="8595360" cy="343814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weeks/week-13/class-01/solutions/run_demo.py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Related: Generative Agents</a:t>
            </a:r>
          </a:p>
        </p:txBody>
      </p:sp>
      <p:pic>
        <p:nvPicPr>
          <p:cNvPr id="5" name="Picture 4" descr="Related: Generative Agents"/>
          <p:cNvPicPr>
            <a:picLocks noChangeAspect="1"/>
          </p:cNvPicPr>
          <p:nvPr/>
        </p:nvPicPr>
        <p:blipFill>
          <a:blip r:embed="rId3"/>
          <a:stretch>
            <a:fillRect/>
          </a:stretch>
        </p:blipFill>
        <p:spPr>
          <a:xfrm>
            <a:off x="1717367" y="1078992"/>
            <a:ext cx="570926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Generative Agents (Park et al., 2023), arXiv:2304.03442, Fig. 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Design choices &amp; trade-offs</a:t>
            </a:r>
          </a:p>
        </p:txBody>
      </p:sp>
      <p:pic>
        <p:nvPicPr>
          <p:cNvPr id="5" name="Picture 4" descr="Design choices &amp; trade-offs"/>
          <p:cNvPicPr>
            <a:picLocks noChangeAspect="1"/>
          </p:cNvPicPr>
          <p:nvPr/>
        </p:nvPicPr>
        <p:blipFill>
          <a:blip r:embed="rId3"/>
          <a:stretch>
            <a:fillRect/>
          </a:stretch>
        </p:blipFill>
        <p:spPr>
          <a:xfrm>
            <a:off x="721960" y="1078992"/>
            <a:ext cx="7700079"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Assigned reading this week</a:t>
            </a:r>
          </a:p>
        </p:txBody>
      </p:sp>
      <p:pic>
        <p:nvPicPr>
          <p:cNvPr id="5" name="Picture 4" descr="Assigned reading this week"/>
          <p:cNvPicPr>
            <a:picLocks noChangeAspect="1"/>
          </p:cNvPicPr>
          <p:nvPr/>
        </p:nvPicPr>
        <p:blipFill>
          <a:blip r:embed="rId3"/>
          <a:stretch>
            <a:fillRect/>
          </a:stretch>
        </p:blipFill>
        <p:spPr>
          <a:xfrm>
            <a:off x="700845" y="1078992"/>
            <a:ext cx="774231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weeks/week-13/class-01/readings.md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Does the memory actually pay off?</a:t>
            </a:r>
          </a:p>
        </p:txBody>
      </p:sp>
      <p:pic>
        <p:nvPicPr>
          <p:cNvPr id="5" name="Picture 4" descr="Does the memory actually pay off?"/>
          <p:cNvPicPr>
            <a:picLocks noChangeAspect="1"/>
          </p:cNvPicPr>
          <p:nvPr/>
        </p:nvPicPr>
        <p:blipFill>
          <a:blip r:embed="rId3"/>
          <a:stretch>
            <a:fillRect/>
          </a:stretch>
        </p:blipFill>
        <p:spPr>
          <a:xfrm>
            <a:off x="735910" y="1078992"/>
            <a:ext cx="7672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weeks/week-13/class-01/solutions/run_suite.py, qwen2.5:1.5b</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Phase 1: design your agent on paper."/>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Design it, then build it</a:t>
            </a:r>
          </a:p>
        </p:txBody>
      </p:sp>
      <p:pic>
        <p:nvPicPr>
          <p:cNvPr id="5" name="Picture 4" descr="Design it, then build it"/>
          <p:cNvPicPr>
            <a:picLocks noChangeAspect="1"/>
          </p:cNvPicPr>
          <p:nvPr/>
        </p:nvPicPr>
        <p:blipFill>
          <a:blip r:embed="rId3"/>
          <a:stretch>
            <a:fillRect/>
          </a:stretch>
        </p:blipFill>
        <p:spPr>
          <a:xfrm>
            <a:off x="735910" y="1078992"/>
            <a:ext cx="7672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weeks/week-13/class-01/exercise/README.md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Build the Reflexion loop</a:t>
            </a:r>
          </a:p>
        </p:txBody>
      </p:sp>
      <p:pic>
        <p:nvPicPr>
          <p:cNvPr id="5" name="Picture 4" descr="Build the Reflexion loop"/>
          <p:cNvPicPr>
            <a:picLocks noChangeAspect="1"/>
          </p:cNvPicPr>
          <p:nvPr/>
        </p:nvPicPr>
        <p:blipFill>
          <a:blip r:embed="rId3"/>
          <a:stretch>
            <a:fillRect/>
          </a:stretch>
        </p:blipFill>
        <p:spPr>
          <a:xfrm>
            <a:off x="952305" y="1078992"/>
            <a:ext cx="723939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weeks/week-13/class-01/exercise/agent.py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650663" y="1078992"/>
            <a:ext cx="784267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weeks/week-13/class-01/solutions/run_demo.py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274320" y="1511356"/>
            <a:ext cx="8595360" cy="272429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