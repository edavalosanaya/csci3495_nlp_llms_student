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13's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7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1  ·  Mon Nov 16, 2026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PART A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prompt experiments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PART B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a RAG pipeline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Homework 5 is due at the start of class.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midterm: 100 points, about 70 minutes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2" cy="2834640"/>
        </p:xfrm>
        <a:graphic>
          <a:graphicData uri="http://schemas.openxmlformats.org/drawingml/2006/table">
            <a:tbl>
              <a:tblPr firstRow="1" bandRow="0"/>
              <a:tblGrid>
                <a:gridCol w="1550543"/>
                <a:gridCol w="3551809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points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100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time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about 70 minutes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covers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weeks 1 to 11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note sheet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one 8.5x11, handwritten, both sides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 THE DESK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The note sheet, and nothing else. It is handed in with the exam.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Paper, plus your one handwritten note sheet. Nothing else on the desk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True or false needs a written justification. A bare T or F earns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Show your reasoning on short answer. A right number alone is not the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63660"/>
            <a:ext cx="2645664" cy="1019683"/>
          </a:xfrm>
          <a:prstGeom prst="roundRect">
            <a:avLst>
              <a:gd name="adj" fmla="val 1165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9964"/>
            <a:ext cx="2279904" cy="727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WHEN YOU FINISH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00" b="0" u="none">
                <a:solidFill>
                  <a:srgbClr val="1D1D1F"/>
                </a:solidFill>
                <a:latin typeface="Menlo"/>
              </a:rPr>
              <a:t>turn it in at the front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00" b="0">
                <a:solidFill>
                  <a:srgbClr val="86868B"/>
                </a:solidFill>
                <a:latin typeface="Helvetica Neue"/>
              </a:rPr>
              <a:t>Name on every sheet, then leave quietly.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63660"/>
            <a:ext cx="2645664" cy="1019683"/>
          </a:xfrm>
          <a:prstGeom prst="roundRect">
            <a:avLst>
              <a:gd name="adj" fmla="val 1165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09964"/>
            <a:ext cx="2279904" cy="727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OPTIONAL, TAKE-HOME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00" b="0" u="none">
                <a:solidFill>
                  <a:srgbClr val="1D1D1F"/>
                </a:solidFill>
                <a:latin typeface="Menlo"/>
              </a:rPr>
              <a:t>the injection CTF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00" b="0">
                <a:solidFill>
                  <a:srgbClr val="86868B"/>
                </a:solidFill>
                <a:latin typeface="Helvetica Neue"/>
              </a:rPr>
              <a:t>Attack, then defend, a gullible assistant. Offline and ungraded.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63660"/>
            <a:ext cx="2645664" cy="1019683"/>
          </a:xfrm>
          <a:prstGeom prst="roundRect">
            <a:avLst>
              <a:gd name="adj" fmla="val 1165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09964"/>
            <a:ext cx="2279904" cy="727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NEXT CLASS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00" b="0" u="none">
                <a:solidFill>
                  <a:srgbClr val="1D1D1F"/>
                </a:solidFill>
                <a:latin typeface="Menlo"/>
              </a:rPr>
              <a:t>RAG, and the lab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00" b="0">
                <a:solidFill>
                  <a:srgbClr val="86868B"/>
                </a:solidFill>
                <a:latin typeface="Helvetica Neue"/>
              </a:rPr>
              <a:t>Retrieval-augmented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7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