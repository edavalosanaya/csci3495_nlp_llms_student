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21"/>
    <p:sldId id="257" r:id="rId22"/>
    <p:sldId id="258" r:id="rId20"/>
    <p:sldId id="259" r:id="rId19"/>
    <p:sldId id="260" r:id="rId18"/>
    <p:sldId id="261" r:id="rId17"/>
    <p:sldId id="262" r:id="rId16"/>
    <p:sldId id="263" r:id="rId15"/>
    <p:sldId id="264" r:id="rId14"/>
    <p:sldId id="265" r:id="rId13"/>
    <p:sldId id="266" r:id="rId12"/>
    <p:sldId id="267" r:id="rId11"/>
    <p:sldId id="268" r:id="rId10"/>
    <p:sldId id="269" r:id="rId9"/>
    <p:sldId id="270" r:id="rId8"/>
    <p:sldId id="271" r:id="rId7"/>
    <p:sldId id="272" r:id="rId6"/>
    <p:sldId id="273" r:id="rId5"/>
    <p:sldId id="274" r:id="rId39"/>
    <p:sldId id="275" r:id="rId40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Playfair Display"/>
      <p:regular r:id="rId27"/>
      <p:bold r:id="rId28"/>
      <p:italic r:id="rId29"/>
      <p:boldItalic r:id="rId30"/>
    </p:embeddedFont>
    <p:embeddedFont>
      <p:font typeface="Roboto Mono Light"/>
      <p:regular r:id="rId31"/>
      <p:bold r:id="rId32"/>
      <p:italic r:id="rId33"/>
      <p:boldItalic r:id="rId34"/>
    </p:embeddedFont>
    <p:embeddedFont>
      <p:font typeface="Roboto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8.xml"/><Relationship Id="rId6" Type="http://schemas.openxmlformats.org/officeDocument/2006/relationships/slide" Target="slides/slide17.xml"/><Relationship Id="rId7" Type="http://schemas.openxmlformats.org/officeDocument/2006/relationships/slide" Target="slides/slide16.xml"/><Relationship Id="rId8" Type="http://schemas.openxmlformats.org/officeDocument/2006/relationships/slide" Target="slides/slide15.xml"/><Relationship Id="rId9" Type="http://schemas.openxmlformats.org/officeDocument/2006/relationships/slide" Target="slides/slide14.xml"/><Relationship Id="rId10" Type="http://schemas.openxmlformats.org/officeDocument/2006/relationships/slide" Target="slides/slide13.xml"/><Relationship Id="rId11" Type="http://schemas.openxmlformats.org/officeDocument/2006/relationships/slide" Target="slides/slide12.xml"/><Relationship Id="rId12" Type="http://schemas.openxmlformats.org/officeDocument/2006/relationships/slide" Target="slides/slide11.xml"/><Relationship Id="rId13" Type="http://schemas.openxmlformats.org/officeDocument/2006/relationships/slide" Target="slides/slide10.xml"/><Relationship Id="rId14" Type="http://schemas.openxmlformats.org/officeDocument/2006/relationships/slide" Target="slides/slide9.xml"/><Relationship Id="rId15" Type="http://schemas.openxmlformats.org/officeDocument/2006/relationships/slide" Target="slides/slide8.xml"/><Relationship Id="rId16" Type="http://schemas.openxmlformats.org/officeDocument/2006/relationships/slide" Target="slides/slide7.xml"/><Relationship Id="rId17" Type="http://schemas.openxmlformats.org/officeDocument/2006/relationships/slide" Target="slides/slide6.xml"/><Relationship Id="rId18" Type="http://schemas.openxmlformats.org/officeDocument/2006/relationships/slide" Target="slides/slide5.xml"/><Relationship Id="rId19" Type="http://schemas.openxmlformats.org/officeDocument/2006/relationships/slide" Target="slides/slide4.xml"/><Relationship Id="rId20" Type="http://schemas.openxmlformats.org/officeDocument/2006/relationships/slide" Target="slides/slide3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font" Target="fonts/Roboto-regular.fntdata"/><Relationship Id="rId24" Type="http://schemas.openxmlformats.org/officeDocument/2006/relationships/font" Target="fonts/Roboto-bold.fntdata"/><Relationship Id="rId25" Type="http://schemas.openxmlformats.org/officeDocument/2006/relationships/font" Target="fonts/Roboto-italic.fntdata"/><Relationship Id="rId26" Type="http://schemas.openxmlformats.org/officeDocument/2006/relationships/font" Target="fonts/Roboto-boldItalic.fntdata"/><Relationship Id="rId27" Type="http://schemas.openxmlformats.org/officeDocument/2006/relationships/font" Target="fonts/PlayfairDisplay-regular.fntdata"/><Relationship Id="rId28" Type="http://schemas.openxmlformats.org/officeDocument/2006/relationships/font" Target="fonts/PlayfairDisplay-bold.fntdata"/><Relationship Id="rId29" Type="http://schemas.openxmlformats.org/officeDocument/2006/relationships/font" Target="fonts/PlayfairDisplay-italic.fntdata"/><Relationship Id="rId30" Type="http://schemas.openxmlformats.org/officeDocument/2006/relationships/font" Target="fonts/PlayfairDisplay-boldItalic.fntdata"/><Relationship Id="rId31" Type="http://schemas.openxmlformats.org/officeDocument/2006/relationships/font" Target="fonts/RobotoMonoLight-regular.fntdata"/><Relationship Id="rId32" Type="http://schemas.openxmlformats.org/officeDocument/2006/relationships/font" Target="fonts/RobotoMonoLight-bold.fntdata"/><Relationship Id="rId33" Type="http://schemas.openxmlformats.org/officeDocument/2006/relationships/font" Target="fonts/RobotoMonoLight-italic.fntdata"/><Relationship Id="rId34" Type="http://schemas.openxmlformats.org/officeDocument/2006/relationships/font" Target="fonts/RobotoMonoLight-boldItalic.fntdata"/><Relationship Id="rId35" Type="http://schemas.openxmlformats.org/officeDocument/2006/relationships/font" Target="fonts/RobotoLight-regular.fntdata"/><Relationship Id="rId36" Type="http://schemas.openxmlformats.org/officeDocument/2006/relationships/font" Target="fonts/RobotoLight-bold.fntdata"/><Relationship Id="rId37" Type="http://schemas.openxmlformats.org/officeDocument/2006/relationships/font" Target="fonts/RobotoLight-italic.fntdata"/><Relationship Id="rId38" Type="http://schemas.openxmlformats.org/officeDocument/2006/relationships/font" Target="fonts/RobotoLight-boldItalic.fntdata"/><Relationship Id="rId39" Type="http://schemas.openxmlformats.org/officeDocument/2006/relationships/slide" Target="slides/slide19.xml"/><Relationship Id="rId40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523" y="685800"/>
            <a:ext cx="4571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13732" l="600" r="-600" t="43847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2 Columns">
  <p:cSld name="2_Portfolio Thre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body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3 Columns">
  <p:cSld name="1_Slide with Placehol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3" type="body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4" type="body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">
  <p:cSld name="Cover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 with Logo">
  <p:cSld name="Cover Slide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Acknowledgments Slide">
  <p:cSld name="Cover Slide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i="0" sz="5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Custom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ig Concept Slide">
  <p:cSld name="Slide with Placehol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">
  <p:cSld name="Large Picture with Log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b="2009" l="27412" r="6551" t="0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1">
  <p:cSld name="Large Picture with Logo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2">
  <p:cSld name="Large Picture with Logo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b="0" l="27412" r="6551" t="0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b="0" l="8950" r="0" t="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b="0" l="39028" r="0" t="0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3">
  <p:cSld name="Large Picture with Logo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b="0" l="24210" r="1252" t="0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4">
  <p:cSld name="Large Picture with Logo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b="0" l="34525" r="0" t="0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">
  <p:cSld name="3_Placehol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 1">
  <p:cSld name="3_Placeholder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ingle Statistic">
  <p:cSld name="1_Placehol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2" type="subTitle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3" type="subTitle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4" type="title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Multiple Statistics">
  <p:cSld name="1_Placeholder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2" type="subTitle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title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subTitle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5" type="title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subTitle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Quote">
  <p:cSld name="CUSTOM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818387"/>
                </a:solidFill>
              </a:rPr>
              <a:t>“</a:t>
            </a:r>
            <a:endParaRPr b="1" sz="12000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2" type="subTitle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 showMasterSp="0">
  <p:cSld name="13_Title Slid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>
            <p:ph idx="2" type="pic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/>
          <p:nvPr>
            <p:ph idx="3" type="pic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/>
          <p:nvPr>
            <p:ph idx="4" type="pic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5" type="pic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/>
          <p:nvPr>
            <p:ph idx="6" type="pic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 1">
  <p:cSld name="1_Cover Pag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b="13732" l="0" r="-563" t="43844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25700" spcFirstLastPara="1" rIns="25700" wrap="square" tIns="2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/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i="0" sz="2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sz="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5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marL="0" indent="0">
              <a:buNone/>
            </a:pPr>
            <a:r>
              <a:t>CSCI 3495</a:t>
            </a:r>
          </a:p>
          <a:p>
            <a:pPr marL="0" indent="0">
              <a:buNone/>
            </a:pPr>
            <a:r>
              <a:t>Text Processing: Tokenization, Regex &amp; Edit Distance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5649496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1, Class 2  ·  Wed Aug 26, 2026</a:t>
            </a:r>
          </a:p>
        </p:txBody>
      </p:sp>
      <p:pic>
        <p:nvPicPr>
          <p:cNvPr id="5" name="Picture 4" descr="To a computer, raw text is alphabet soup: a pile of characters. Where do the words begin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022" y="3474720"/>
            <a:ext cx="2406218" cy="148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Source: Thriving Vegetarian, CC BY 2.0, via Wikimedia Commons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It all starts with raw text</a:t>
            </a:r>
          </a:p>
        </p:txBody>
      </p:sp>
      <p:pic>
        <p:nvPicPr>
          <p:cNvPr id="5" name="Picture 4" descr="Every model begins with messy human text: handwriting, tweets, code, transcript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312" y="1078992"/>
            <a:ext cx="4781375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Unsplash License, https://images.unsplash.com/photo-1455390582262-044cdead277a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Why text processing?</a:t>
            </a:r>
          </a:p>
        </p:txBody>
      </p:sp>
      <p:pic>
        <p:nvPicPr>
          <p:cNvPr id="5" name="Picture 4" descr="Before any model, raw text must become discrete units a computer can count and embed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9188"/>
            <a:ext cx="8595360" cy="3168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s &quot;don't&quot; one token or two? What about &quot;New York&quot; or a hashtag? Hold that though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7203"/>
            <a:ext cx="9144000" cy="60979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43000"/>
            <a:ext cx="9144000" cy="2834640"/>
          </a:xfrm>
          <a:prstGeom prst="rect">
            <a:avLst/>
          </a:prstGeom>
          <a:solidFill>
            <a:srgbClr val="101012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4000" b="1">
                <a:solidFill>
                  <a:srgbClr val="FFFFFF"/>
                </a:solidFill>
              </a:rPr>
              <a:t>How would YOU split a sentence into "words"?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59"/>
            <a:ext cx="7863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marL="0" indent="0">
              <a:buNone/>
            </a:pPr>
            <a:r>
              <a:rPr sz="2000">
                <a:solidFill>
                  <a:srgbClr val="FFFFFF"/>
                </a:solidFill>
              </a:rPr>
              <a:t>Is "don't" one token or two? What about "New York" or a hashtag? Hold that thought.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Unsplash License, https://images.unsplash.com/photo-1457369804613-52c61a468e7d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One word, three tokenizations</a:t>
            </a:r>
          </a:p>
        </p:txBody>
      </p:sp>
      <p:pic>
        <p:nvPicPr>
          <p:cNvPr id="5" name="Picture 4" descr="Characters, subwords, or words. Each granularity is a different trade-off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2956"/>
            <a:ext cx="8595360" cy="3001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Normalization</a:t>
            </a:r>
          </a:p>
        </p:txBody>
      </p:sp>
      <p:pic>
        <p:nvPicPr>
          <p:cNvPr id="5" name="Picture 4" descr="Reducing variants to a canonical form is useful, but lossy. Pick the level that fits the task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8956"/>
            <a:ext cx="8595360" cy="2309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Regular expressions</a:t>
            </a:r>
          </a:p>
        </p:txBody>
      </p:sp>
      <p:pic>
        <p:nvPicPr>
          <p:cNvPr id="5" name="Picture 4" descr="A compact language for pattern matching: metacharacters plus quantifiers, tested on real strings. We extract emails, URLs, and @mentions in the exercis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7714"/>
            <a:ext cx="8595360" cy="2731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Did you mean...?</a:t>
            </a:r>
          </a:p>
        </p:txBody>
      </p:sp>
      <p:pic>
        <p:nvPicPr>
          <p:cNvPr id="5" name="Picture 4" descr="Spell-checkers, fuzzy search, and DNA alignment all ask: how far apart are two strings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597" y="1078992"/>
            <a:ext cx="4780806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Unsplash License, https://images.unsplash.com/photo-1456513080510-7bf3a84b82f8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Minimum edit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571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Uses: spell-check, fuzzy matching, word-error-rate, diffing</a:t>
            </a:r>
          </a:p>
        </p:txBody>
      </p:sp>
      <p:pic>
        <p:nvPicPr>
          <p:cNvPr id="6" name="Picture 5" descr="Fewest insert, delete, or substitute edits, filled in by dynamic programming. Each edit costs 1 here (Levenshtein), so the answer is 5; J&amp;M charge 2 per substitution and get 8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253" y="1078992"/>
            <a:ext cx="6459494" cy="31866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animation (Levenshtein; J&amp;M SLP3 Ch. 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Edit distance: the recurrence</a:t>
            </a:r>
          </a:p>
        </p:txBody>
      </p:sp>
      <p:pic>
        <p:nvPicPr>
          <p:cNvPr id="5" name="Picture 4" descr="Each cell is the minimum of three neighbors (deletion, insertion, substitution). O(mn) time and spac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49440"/>
            <a:ext cx="8595360" cy="28481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A peek ahead: Byte-Pair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2924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We build our own BPE tokenizer in Week 9</a:t>
            </a:r>
          </a:p>
        </p:txBody>
      </p:sp>
      <p:pic>
        <p:nvPicPr>
          <p:cNvPr id="6" name="Picture 5" descr="Modern LLMs use learned subwords: start from characters, then merge the most frequent adjacent pai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6861"/>
            <a:ext cx="8595360" cy="23309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 (BPE: Sennrich et al., 2016)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Watch BPE merge, step by step</a:t>
            </a:r>
          </a:p>
        </p:txBody>
      </p:sp>
      <p:pic>
        <p:nvPicPr>
          <p:cNvPr id="5" name="Picture 4" descr="The token sequence shrinks as the most frequent pair is merged, one step at a tim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6661"/>
            <a:ext cx="8595360" cy="2913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animation (BPE: Sennrich et al., 2016)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Quiz 1 (paper)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46219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Covers Week 1 lecture and J&amp;M Ch. 1 to 2</a:t>
            </a:r>
          </a:p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Closed book; finish early and your break starts early, need more time and it comes out of the break</a:t>
            </a:r>
          </a:p>
        </p:txBody>
      </p:sp>
      <p:pic>
        <p:nvPicPr>
          <p:cNvPr id="6" name="Picture 5" descr="Covers Week 1 lecture plus the reading (J&amp;M Ch. 1 and 2). Clear your desk; about 10 minutes, right before the break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861" y="1078992"/>
            <a:ext cx="5272277" cy="28757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Break</a:t>
            </a:r>
          </a:p>
        </p:txBody>
      </p:sp>
      <p:pic>
        <p:nvPicPr>
          <p:cNvPr id="5" name="Picture 4" descr="Five minutes: stretch, refill water, compare notes. Then the coding lab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312"/>
            <a:ext cx="8595360" cy="3186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How every lab in this course works</a:t>
            </a:r>
          </a:p>
        </p:txBody>
      </p:sp>
      <p:pic>
        <p:nvPicPr>
          <p:cNvPr id="5" name="Picture 4" descr="Read one step, write one function, run one test. Repea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79208"/>
            <a:ext cx="8595360" cy="1988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Enough Python for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4413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The starter gives you the signature and the docstring; you write the body</a:t>
            </a:r>
          </a:p>
        </p:txBody>
      </p:sp>
      <p:pic>
        <p:nvPicPr>
          <p:cNvPr id="6" name="Picture 5" descr="Enough Python for tod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91977"/>
            <a:ext cx="8595360" cy="27607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weeks/week-01/class-02/exercise/text_tools.py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What is a test?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18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Code that calls your function and checks the answer the step promised</a:t>
            </a:r>
          </a:p>
        </p:txBody>
      </p:sp>
      <p:pic>
        <p:nvPicPr>
          <p:cNvPr id="9" name="Picture 8" descr="A test calls your function and compares the answer to the one the step promised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17788"/>
            <a:ext cx="8595360" cy="2309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weeks/week-01/class-02/exercise/test_text_tools.py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Green is not the goal, the message is</a:t>
            </a:r>
          </a:p>
        </p:txBody>
      </p:sp>
      <p:pic>
        <p:nvPicPr>
          <p:cNvPr id="5" name="Picture 4" descr="A failure tells you what you returned and what was wanted. That is a hint, not a gra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6156"/>
            <a:ext cx="8595360" cy="3554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pytest output, week 1 class 2 starter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Exercise: build the text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4622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Two functions to write: tokenize and edit_distance</a:t>
            </a:r>
          </a:p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normalize and extract are written for you, to read and copy the pattern</a:t>
            </a:r>
          </a:p>
        </p:txBody>
      </p:sp>
      <p:pic>
        <p:nvPicPr>
          <p:cNvPr id="6" name="Picture 5" descr="Exercise: build the text too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564" y="1078992"/>
            <a:ext cx="3712871" cy="28757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weeks/week-01/class-02/exercise/text_tools.py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What you should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9403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All 10 tests green when your four functions are correct</a:t>
            </a:r>
          </a:p>
        </p:txBody>
      </p:sp>
      <p:pic>
        <p:nvPicPr>
          <p:cNvPr id="6" name="Picture 5" descr="What you should se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16705"/>
            <a:ext cx="8595360" cy="17112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weeks/week-01/class-02/exercise/test_text_tools.py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