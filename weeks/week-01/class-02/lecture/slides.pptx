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68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embeddedFontLst>
    <p:embeddedFont>
      <p:font typeface="Playfair Display" pitchFamily="2" charset="77"/>
      <p:regular r:id="rId26"/>
      <p:bold r:id="rId27"/>
      <p:italic r:id="rId28"/>
      <p:boldItalic r:id="rId29"/>
    </p:embeddedFont>
    <p:embeddedFont>
      <p:font typeface="Roboto" panose="02000000000000000000" pitchFamily="2" charset="0"/>
      <p:regular r:id="rId30"/>
      <p:bold r:id="rId31"/>
      <p:italic r:id="rId32"/>
      <p:boldItalic r:id="rId33"/>
    </p:embeddedFont>
    <p:embeddedFont>
      <p:font typeface="Roboto Light" panose="020F0302020204030204" pitchFamily="34" charset="0"/>
      <p:regular r:id="rId34"/>
      <p:bold r:id="rId35"/>
      <p:italic r:id="rId36"/>
      <p:boldItalic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60" d="100"/>
          <a:sy n="160" d="100"/>
        </p:scale>
        <p:origin x="2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9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37" Type="http://schemas.openxmlformats.org/officeDocument/2006/relationships/font" Target="fonts/font12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font" Target="fonts/font10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523" y="685800"/>
            <a:ext cx="4571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jpg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over Page" type="blank">
  <p:cSld name="BLANK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l="600" t="43847" r="-600" b="13732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sz="3600" i="0" u="none" strike="noStrike" cap="non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2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+ 2 Columns">
  <p:cSld name="2_Portfolio Thre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body" idx="1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ubTitle" idx="2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body" idx="3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+ 3 Columns">
  <p:cSld name="1_Slide with Placehol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2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3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4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Cover Slide">
  <p:cSld name="Cover Slid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Cover Slide with Logo">
  <p:cSld name="Cover Slide_2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Acknowledgments Slide">
  <p:cSld name="Cover Slide_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sz="5600" i="0" u="none" strike="noStrike" cap="non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ubTitle" idx="1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only">
  <p:cSld name="Custom Layou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ig Concept Slide">
  <p:cSld name="Slide with Placeholder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">
  <p:cSld name="Large Picture with Logo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l="27412" r="6551" b="2009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 1">
  <p:cSld name="Large Picture with Logo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48" name="Google Shape;48;p11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 2">
  <p:cSld name="Large Picture with Logo_1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52" name="Google Shape;52;p12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l="27412" r="6551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l="895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l="39028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 3">
  <p:cSld name="Large Picture with Logo_1_1_1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l="24210" r="1252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 4">
  <p:cSld name="Large Picture with Logo_1_1_1_1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l="34525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with Large Photo">
  <p:cSld name="3_Placeholder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sz="27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body" idx="2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with Large Photo 1">
  <p:cSld name="3_Placeholder_1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sz="27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2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Single Statistic">
  <p:cSld name="1_Placeholder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8" name="Google Shape;78;p17"/>
          <p:cNvSpPr txBox="1">
            <a:spLocks noGrp="1"/>
          </p:cNvSpPr>
          <p:nvPr>
            <p:ph type="subTitle" idx="2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7"/>
          <p:cNvSpPr txBox="1">
            <a:spLocks noGrp="1"/>
          </p:cNvSpPr>
          <p:nvPr>
            <p:ph type="subTitle" idx="3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title" idx="4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Multiple Statistics">
  <p:cSld name="1_Placeholder_1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subTitle" idx="2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8"/>
          <p:cNvSpPr txBox="1">
            <a:spLocks noGrp="1"/>
          </p:cNvSpPr>
          <p:nvPr>
            <p:ph type="title" idx="3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6" name="Google Shape;86;p18"/>
          <p:cNvSpPr txBox="1">
            <a:spLocks noGrp="1"/>
          </p:cNvSpPr>
          <p:nvPr>
            <p:ph type="subTitle" idx="4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8"/>
          <p:cNvSpPr txBox="1">
            <a:spLocks noGrp="1"/>
          </p:cNvSpPr>
          <p:nvPr>
            <p:ph type="title" idx="5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8" name="Google Shape;88;p18"/>
          <p:cNvSpPr txBox="1">
            <a:spLocks noGrp="1"/>
          </p:cNvSpPr>
          <p:nvPr>
            <p:ph type="subTitle" idx="6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Quote">
  <p:cSld name="CUSTOM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0" b="1">
                <a:solidFill>
                  <a:srgbClr val="818387"/>
                </a:solidFill>
              </a:rPr>
              <a:t>“</a:t>
            </a:r>
            <a:endParaRPr sz="12000" b="1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>
            <a:spLocks noGrp="1"/>
          </p:cNvSpPr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ubTitle" idx="2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3_Title Slide">
  <p:cSld name="13_Title Slide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>
            <a:spLocks noGrp="1"/>
          </p:cNvSpPr>
          <p:nvPr>
            <p:ph type="pic" idx="2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>
            <a:spLocks noGrp="1"/>
          </p:cNvSpPr>
          <p:nvPr>
            <p:ph type="pic" idx="3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>
            <a:spLocks noGrp="1"/>
          </p:cNvSpPr>
          <p:nvPr>
            <p:ph type="pic" idx="4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>
            <a:spLocks noGrp="1"/>
          </p:cNvSpPr>
          <p:nvPr>
            <p:ph type="pic" idx="5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>
            <a:spLocks noGrp="1"/>
          </p:cNvSpPr>
          <p:nvPr>
            <p:ph type="pic" idx="6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over Page 1">
  <p:cSld name="1_Cover Page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t="43844" r="-563" b="13732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>
            <a:spLocks noGrp="1"/>
          </p:cNvSpPr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700" tIns="25700" rIns="25700" bIns="25700" anchor="ctr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sz="3600" i="0" u="none" strike="noStrike" cap="non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108" name="Google Shape;108;p21"/>
          <p:cNvSpPr txBox="1">
            <a:spLocks noGrp="1"/>
          </p:cNvSpPr>
          <p:nvPr>
            <p:ph type="subTitle" idx="1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1"/>
          <p:cNvSpPr txBox="1">
            <a:spLocks noGrp="1"/>
          </p:cNvSpPr>
          <p:nvPr>
            <p:ph type="subTitle" idx="2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sz="22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sz="18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sz="15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sz="13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sz="11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sz="5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22">
            <a:alphaModFix/>
          </a:blip>
          <a:srcRect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gif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gif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Text Processing: Tokenization, Regex &amp; Edit Distance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649496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1, Class 2</a:t>
            </a:r>
          </a:p>
        </p:txBody>
      </p:sp>
      <p:pic>
        <p:nvPicPr>
          <p:cNvPr id="5" name="Picture 4" descr="To a computer, raw text is alphabet soup: a pile of characters. Where do the words begin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022" y="3474720"/>
            <a:ext cx="2406218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Thriving Vegetarian, CC BY 2.0, via Wikimedia Commons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It all starts with raw text</a:t>
            </a:r>
          </a:p>
        </p:txBody>
      </p:sp>
      <p:pic>
        <p:nvPicPr>
          <p:cNvPr id="5" name="Picture 4" descr="Every model begins with messy human text: handwriting, tweets, code, transcript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312" y="1078992"/>
            <a:ext cx="478137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https://images.unsplash.com/photo-1455390582262-044cdead277a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text processing?</a:t>
            </a:r>
          </a:p>
        </p:txBody>
      </p:sp>
      <p:pic>
        <p:nvPicPr>
          <p:cNvPr id="5" name="Picture 4" descr="Before any model, raw text must become discrete units a computer can count and emb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9188"/>
            <a:ext cx="8595360" cy="3168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Is &quot;don't&quot; one token or two? What about &quot;New York&quot; or a hashtag? Hold that though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r>
              <a:rPr sz="4000" b="1">
                <a:solidFill>
                  <a:srgbClr val="FFFFFF"/>
                </a:solidFill>
              </a:rPr>
              <a:t>How would YOU split a sentence into "words"?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2000">
                <a:solidFill>
                  <a:srgbClr val="FFFFFF"/>
                </a:solidFill>
              </a:rPr>
              <a:t>Is "don't" one token or two? What about "New York" or a hashtag? Hold that thought.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https://images.unsplash.com/photo-1457369804613-52c61a468e7d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Tokenization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word, three tokenizations</a:t>
            </a:r>
          </a:p>
        </p:txBody>
      </p:sp>
      <p:pic>
        <p:nvPicPr>
          <p:cNvPr id="5" name="Picture 4" descr="Characters, subwords, or words. Each granularity is a different trade-off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2956"/>
            <a:ext cx="8595360" cy="30010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Normalization</a:t>
            </a:r>
          </a:p>
        </p:txBody>
      </p:sp>
      <p:pic>
        <p:nvPicPr>
          <p:cNvPr id="5" name="Picture 4" descr="Reducing variants to a canonical form is useful, but lossy. Pick the level that fits the tas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18956"/>
            <a:ext cx="8595360" cy="2309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Regular Expressions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Regular expressions</a:t>
            </a:r>
          </a:p>
        </p:txBody>
      </p:sp>
      <p:pic>
        <p:nvPicPr>
          <p:cNvPr id="5" name="Picture 4" descr="A compact language for pattern matching: metacharacters plus quantifiers, tested on real strings. We extract emails, URLs, and @mentions in the exercis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7714"/>
            <a:ext cx="8595360" cy="27315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Write the regex</a:t>
            </a:r>
          </a:p>
        </p:txBody>
      </p:sp>
      <p:pic>
        <p:nvPicPr>
          <p:cNvPr id="5" name="Picture 4" descr="Think, then pair (5 min). Sketch a pattern for each target, then test it in the coding exercis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95124"/>
            <a:ext cx="8595360" cy="25567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Minimum Edit Distance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Did you mean...?</a:t>
            </a:r>
          </a:p>
        </p:txBody>
      </p:sp>
      <p:pic>
        <p:nvPicPr>
          <p:cNvPr id="5" name="Picture 4" descr="Spell-checkers, fuzzy search, and DNA alignment all ask: how far apart are two strings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597" y="1078992"/>
            <a:ext cx="478080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https://images.unsplash.com/photo-1456513080510-7bf3a84b82f8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Edit distance: the recurrence</a:t>
            </a:r>
          </a:p>
        </p:txBody>
      </p:sp>
      <p:pic>
        <p:nvPicPr>
          <p:cNvPr id="5" name="Picture 4" descr="Each cell is the minimum of three neighbors (deletion, insertion, substitution). O(mn) time and spa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9440"/>
            <a:ext cx="8595360" cy="28481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Minimum edit distance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222222"/>
                </a:solidFill>
              </a:rPr>
              <a:t>Uses: spell-check, fuzzy matching, word-error-rate, diffing</a:t>
            </a:r>
          </a:p>
        </p:txBody>
      </p:sp>
      <p:pic>
        <p:nvPicPr>
          <p:cNvPr id="6" name="Picture 5" descr="Fewest insert, delete, or substitute edits, filled in by dynamic programming. Each edit costs 1 here (Levenshtein), so the answer is 5; J&amp;M charge 2 per substitution and get 8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253" y="1078992"/>
            <a:ext cx="6459494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 (Levenshtein; J&amp;M SLP3 Ch. 2)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peek ahead: Byte-Pair Encoding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2924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222222"/>
                </a:solidFill>
              </a:rPr>
              <a:t>We build our own BPE tokenizer in Week 8</a:t>
            </a:r>
          </a:p>
        </p:txBody>
      </p:sp>
      <p:pic>
        <p:nvPicPr>
          <p:cNvPr id="6" name="Picture 5" descr="Modern LLMs use learned subwords: start from characters, then merge the most frequent adjacent pai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6861"/>
            <a:ext cx="8595360" cy="23309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 (BPE: Sennrich et al., 2016)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Watch BPE merge, step by step</a:t>
            </a:r>
          </a:p>
        </p:txBody>
      </p:sp>
      <p:pic>
        <p:nvPicPr>
          <p:cNvPr id="5" name="Picture 4" descr="The token sequence shrinks as the most frequent pair is merged, one step at a tim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6661"/>
            <a:ext cx="8595360" cy="29136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 (BPE: Sennrich et al., 2016)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1 (paper)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19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222222"/>
                </a:solidFill>
              </a:rPr>
              <a:t>Covers Week 1 lecture and J&amp;M Ch. 1 to 2</a:t>
            </a:r>
          </a:p>
          <a:p>
            <a:pPr marL="0" indent="0" algn="ctr">
              <a:buNone/>
            </a:pPr>
            <a:r>
              <a:rPr sz="1400">
                <a:solidFill>
                  <a:srgbClr val="222222"/>
                </a:solidFill>
              </a:rPr>
              <a:t>Closed book; finish early and your break starts early, need more time and it comes out of the break</a:t>
            </a:r>
          </a:p>
        </p:txBody>
      </p:sp>
      <p:pic>
        <p:nvPicPr>
          <p:cNvPr id="6" name="Picture 5" descr="Covers Week 1 lecture plus the reading (J&amp;M Ch. 1 and 2). Clear your desk; about 10 minutes, right before the brea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5861" y="1078992"/>
            <a:ext cx="5272277" cy="28757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whiteboard warm-up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Whiteboard, then Code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Warm-up: be the tokenizer</a:t>
            </a:r>
          </a:p>
        </p:txBody>
      </p:sp>
      <p:pic>
        <p:nvPicPr>
          <p:cNvPr id="5" name="Picture 4" descr="Pairs, whiteboard, 15 minutes. Hand-tokenize three nasty strings, then trace the kitten to sitting DP tab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44135"/>
            <a:ext cx="8595360" cy="26587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edit distance, J&amp;M SLP3 Ch.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Now implement what you traced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20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222222"/>
                </a:solidFill>
              </a:rPr>
              <a:t>Individual, ~20 min: turn your hand-traced logic into code</a:t>
            </a:r>
          </a:p>
          <a:p>
            <a:pPr marL="0" indent="0" algn="ctr">
              <a:buNone/>
            </a:pPr>
            <a:r>
              <a:rPr sz="1400">
                <a:solidFill>
                  <a:srgbClr val="222222"/>
                </a:solidFill>
              </a:rPr>
              <a:t>Implement normalize, tokenize, extract, and edit_distance</a:t>
            </a:r>
          </a:p>
        </p:txBody>
      </p:sp>
      <p:pic>
        <p:nvPicPr>
          <p:cNvPr id="6" name="Picture 5" descr="Now implement what you trac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564" y="1078992"/>
            <a:ext cx="3712871" cy="28757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weeks/week-01/class-02/exercise/text_tools.py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19403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222222"/>
                </a:solidFill>
              </a:rPr>
              <a:t>All 10 tests green when your four functions are correct</a:t>
            </a:r>
          </a:p>
        </p:txBody>
      </p:sp>
      <p:pic>
        <p:nvPicPr>
          <p:cNvPr id="6" name="Picture 5" descr="What you should se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16705"/>
            <a:ext cx="8595360" cy="17112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weeks/week-01/class-02/exercise/test_text_tools.py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Text becomes data via tokenization, normalization, regex, and edit distan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10008"/>
            <a:ext cx="8595360" cy="21269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394</Words>
  <Application>Microsoft Macintosh PowerPoint</Application>
  <PresentationFormat>On-screen Show (16:9)</PresentationFormat>
  <Paragraphs>53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Playfair Display</vt:lpstr>
      <vt:lpstr>Roboto</vt:lpstr>
      <vt:lpstr>Roboto Light</vt:lpstr>
      <vt:lpstr>Arial</vt:lpstr>
      <vt:lpstr>Office Theme</vt:lpstr>
      <vt:lpstr>CSCI 3495 Text Processing: Tokenization, Regex &amp; Edit Distance</vt:lpstr>
      <vt:lpstr>It all starts with raw text</vt:lpstr>
      <vt:lpstr>Why text processing?</vt:lpstr>
      <vt:lpstr>PowerPoint Presentation</vt:lpstr>
      <vt:lpstr>Tokenization</vt:lpstr>
      <vt:lpstr>One word, three tokenizations</vt:lpstr>
      <vt:lpstr>Normalization</vt:lpstr>
      <vt:lpstr>Regular Expressions</vt:lpstr>
      <vt:lpstr>Regular expressions</vt:lpstr>
      <vt:lpstr>Write the regex</vt:lpstr>
      <vt:lpstr>Minimum Edit Distance</vt:lpstr>
      <vt:lpstr>Did you mean...?</vt:lpstr>
      <vt:lpstr>Edit distance: the recurrence</vt:lpstr>
      <vt:lpstr>Minimum edit distance</vt:lpstr>
      <vt:lpstr>A peek ahead: Byte-Pair Encoding</vt:lpstr>
      <vt:lpstr>Watch BPE merge, step by step</vt:lpstr>
      <vt:lpstr>Quiz 1 (paper)</vt:lpstr>
      <vt:lpstr>Break</vt:lpstr>
      <vt:lpstr>Whiteboard, then Code</vt:lpstr>
      <vt:lpstr>Warm-up: be the tokenizer</vt:lpstr>
      <vt:lpstr>Now implement what you traced</vt:lpstr>
      <vt:lpstr>What you should see</vt:lpstr>
      <vt:lpstr>Recap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Davalos Anaya, Eduardo</cp:lastModifiedBy>
  <cp:revision>1</cp:revision>
  <dcterms:modified xsi:type="dcterms:W3CDTF">2026-08-18T19:51:21Z</dcterms:modified>
</cp:coreProperties>
</file>