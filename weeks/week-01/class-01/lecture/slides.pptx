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21"/>
    <p:sldId id="257" r:id="rId22"/>
    <p:sldId id="258" r:id="rId20"/>
    <p:sldId id="259" r:id="rId19"/>
    <p:sldId id="260" r:id="rId18"/>
    <p:sldId id="261" r:id="rId17"/>
    <p:sldId id="262" r:id="rId16"/>
    <p:sldId id="263" r:id="rId15"/>
    <p:sldId id="264" r:id="rId14"/>
    <p:sldId id="265" r:id="rId13"/>
    <p:sldId id="266" r:id="rId12"/>
    <p:sldId id="267" r:id="rId11"/>
    <p:sldId id="268" r:id="rId10"/>
    <p:sldId id="269" r:id="rId9"/>
    <p:sldId id="270" r:id="rId8"/>
    <p:sldId id="271" r:id="rId7"/>
    <p:sldId id="272" r:id="rId6"/>
    <p:sldId id="273" r:id="rId5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Roboto Mono Light"/>
      <p:regular r:id="rId31"/>
      <p:bold r:id="rId32"/>
      <p:italic r:id="rId33"/>
      <p:boldItalic r:id="rId34"/>
    </p:embeddedFont>
    <p:embeddedFont>
      <p:font typeface="Roboto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8.xml"/><Relationship Id="rId6" Type="http://schemas.openxmlformats.org/officeDocument/2006/relationships/slide" Target="slides/slide17.xml"/><Relationship Id="rId7" Type="http://schemas.openxmlformats.org/officeDocument/2006/relationships/slide" Target="slides/slide16.xml"/><Relationship Id="rId8" Type="http://schemas.openxmlformats.org/officeDocument/2006/relationships/slide" Target="slides/slide15.xml"/><Relationship Id="rId9" Type="http://schemas.openxmlformats.org/officeDocument/2006/relationships/slide" Target="slides/slide14.xml"/><Relationship Id="rId10" Type="http://schemas.openxmlformats.org/officeDocument/2006/relationships/slide" Target="slides/slide13.xml"/><Relationship Id="rId11" Type="http://schemas.openxmlformats.org/officeDocument/2006/relationships/slide" Target="slides/slide12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9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7" Type="http://schemas.openxmlformats.org/officeDocument/2006/relationships/slide" Target="slides/slide6.xml"/><Relationship Id="rId18" Type="http://schemas.openxmlformats.org/officeDocument/2006/relationships/slide" Target="slides/slide5.xml"/><Relationship Id="rId19" Type="http://schemas.openxmlformats.org/officeDocument/2006/relationships/slide" Target="slides/slide4.xml"/><Relationship Id="rId20" Type="http://schemas.openxmlformats.org/officeDocument/2006/relationships/slide" Target="slides/slide3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Relationship Id="rId27" Type="http://schemas.openxmlformats.org/officeDocument/2006/relationships/font" Target="fonts/PlayfairDisplay-regular.fntdata"/><Relationship Id="rId28" Type="http://schemas.openxmlformats.org/officeDocument/2006/relationships/font" Target="fonts/PlayfairDisplay-bold.fntdata"/><Relationship Id="rId29" Type="http://schemas.openxmlformats.org/officeDocument/2006/relationships/font" Target="fonts/PlayfairDisplay-italic.fntdata"/><Relationship Id="rId30" Type="http://schemas.openxmlformats.org/officeDocument/2006/relationships/font" Target="fonts/PlayfairDisplay-boldItalic.fntdata"/><Relationship Id="rId31" Type="http://schemas.openxmlformats.org/officeDocument/2006/relationships/font" Target="fonts/RobotoMonoLight-regular.fntdata"/><Relationship Id="rId32" Type="http://schemas.openxmlformats.org/officeDocument/2006/relationships/font" Target="fonts/RobotoMonoLight-bold.fntdata"/><Relationship Id="rId33" Type="http://schemas.openxmlformats.org/officeDocument/2006/relationships/font" Target="fonts/RobotoMonoLight-italic.fntdata"/><Relationship Id="rId34" Type="http://schemas.openxmlformats.org/officeDocument/2006/relationships/font" Target="fonts/RobotoMonoLight-boldItalic.fntdata"/><Relationship Id="rId35" Type="http://schemas.openxmlformats.org/officeDocument/2006/relationships/font" Target="fonts/RobotoLight-regular.fntdata"/><Relationship Id="rId36" Type="http://schemas.openxmlformats.org/officeDocument/2006/relationships/font" Target="fonts/RobotoLight-bold.fntdata"/><Relationship Id="rId37" Type="http://schemas.openxmlformats.org/officeDocument/2006/relationships/font" Target="fonts/RobotoLight-italic.fntdata"/><Relationship Id="rId38" Type="http://schemas.openxmlformats.org/officeDocument/2006/relationships/font" Target="fonts/RobotoLight-boldItalic.fntdata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523" y="685800"/>
            <a:ext cx="457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13732" l="600" r="-600" t="43847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2 Columns">
  <p:cSld name="2_Portfolio Thre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body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3 Columns">
  <p:cSld name="1_Slide with Placehol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3" type="body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4" type="body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">
  <p:cSld name="Cover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 with Logo">
  <p:cSld name="Cover Slide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Acknowledgments Slide">
  <p:cSld name="Cover Slide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i="0" sz="5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ig Concept Slide">
  <p:cSld name="Slide with Placehol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">
  <p:cSld name="Large Picture with Log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b="2009" l="27412" r="6551" t="0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1">
  <p:cSld name="Large Picture with Logo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2">
  <p:cSld name="Large Picture with Logo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b="0" l="27412" r="6551" t="0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b="0" l="8950" r="0" t="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b="0" l="39028" r="0" t="0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3">
  <p:cSld name="Large Picture with Logo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b="0" l="24210" r="1252" t="0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4">
  <p:cSld name="Large Picture with Logo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b="0" l="34525" r="0" t="0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">
  <p:cSld name="3_Placehol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 1">
  <p:cSld name="3_Placeholder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ingle Statistic">
  <p:cSld name="1_Placehol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2" type="subTitle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subTitle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4" type="title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Multiple Statistics">
  <p:cSld name="1_Placeholder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subTitle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title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subTitle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5" type="title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subTitle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Quote">
  <p:cSld name="CUSTOM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818387"/>
                </a:solidFill>
              </a:rPr>
              <a:t>“</a:t>
            </a:r>
            <a:endParaRPr b="1" sz="12000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2" type="subTitle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 showMasterSp="0">
  <p:cSld name="13_Title Slid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>
            <p:ph idx="2" type="pic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6" type="pic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 1">
  <p:cSld name="1_Cover Pag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b="13732" l="0" r="-563" t="43844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25700" spcFirstLastPara="1" rIns="25700" wrap="square" tIns="2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i="0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sz="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0.jpg"/><Relationship Id="rId3" Type="http://schemas.openxmlformats.org/officeDocument/2006/relationships/hyperlink" Target="https://www.youtube.com/watch?v=Gjnup-PuquQ" TargetMode="External"/><Relationship Id="rId4" Type="http://schemas.openxmlformats.org/officeDocument/2006/relationships/hyperlink" Target="https://docs.docker.com/desktop/setup/install/windows-install/" TargetMode="External"/><Relationship Id="rId5" Type="http://schemas.openxmlformats.org/officeDocument/2006/relationships/hyperlink" Target="https://docs.docker.com/desktop/setup/install/mac-install/" TargetMode="External"/><Relationship Id="rId6" Type="http://schemas.openxmlformats.org/officeDocument/2006/relationships/hyperlink" Target="https://docs.docker.com/desktop/setup/install/linux/" TargetMode="External"/><Relationship Id="rId7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3.jpg"/><Relationship Id="rId3" Type="http://schemas.openxmlformats.org/officeDocument/2006/relationships/hyperlink" Target="https://www.youtube.com/watch?v=PeMlggyqz0Y" TargetMode="External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7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s://www.overleaf.com/latex/templates/formatting-instructions-for-neurips-2026/bjdwqfdkyftc" TargetMode="External"/><Relationship Id="rId3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CSCI 3495</a:t>
            </a:r>
          </a:p>
          <a:p>
            <a:pPr marL="0" indent="0">
              <a:buNone/>
            </a:pPr>
            <a:r>
              <a:t>Welcome &amp; The Big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6453196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1, Class 1  ·  Mon Aug 24, 2026</a:t>
            </a:r>
          </a:p>
        </p:txBody>
      </p:sp>
      <p:pic>
        <p:nvPicPr>
          <p:cNvPr id="5" name="Picture 4" descr="Shelves of language, waiting to be read by something that cannot read. That is the whole proble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722" y="3474720"/>
            <a:ext cx="1602518" cy="148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photo: Unsplash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Ice breaker: you will argue both sides</a:t>
            </a:r>
          </a:p>
        </p:txBody>
      </p:sp>
      <p:pic>
        <p:nvPicPr>
          <p:cNvPr id="5" name="Picture 4" descr="Two motions, two rounds, and you switch teams in between. Nobody defends the same position twic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43819"/>
            <a:ext cx="8595360" cy="30593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Round 1: on balance, AI and LLMs have made society better</a:t>
            </a:r>
          </a:p>
        </p:txBody>
      </p:sp>
      <p:pic>
        <p:nvPicPr>
          <p:cNvPr id="5" name="Picture 4" descr="Left half of the room argues for, right half argues against. Four minutes, then we stop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7651"/>
            <a:ext cx="8595360" cy="28117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Round 2: AI and LLMs have made us measurably more productive</a:t>
            </a:r>
          </a:p>
        </p:txBody>
      </p:sp>
      <p:pic>
        <p:nvPicPr>
          <p:cNvPr id="5" name="Picture 4" descr="Same room, new motion, and everyone changes sides. If you argued for, you now argue agains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62030"/>
            <a:ext cx="8595360" cy="30229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Who am I?</a:t>
            </a:r>
          </a:p>
        </p:txBody>
      </p:sp>
      <p:pic>
        <p:nvPicPr>
          <p:cNvPr id="5" name="Picture 4" descr="Two minutes of me, so the next fifteen weeks are not a stranger talking at you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95" y="1078992"/>
            <a:ext cx="7482409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personal photos; game and series cover art copyright their publishers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My background</a:t>
            </a:r>
          </a:p>
        </p:txBody>
      </p:sp>
      <p:pic>
        <p:nvPicPr>
          <p:cNvPr id="5" name="Picture 4" descr="St. Mary's in San Antonio, then Vanderbilt in Nashvill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49" y="1078992"/>
            <a:ext cx="7429901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campus photos and marks copyright the respective universities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6537960" cy="822960"/>
          </a:xfrm>
        </p:spPr>
        <p:txBody>
          <a:bodyPr wrap="square"/>
          <a:lstStyle/>
          <a:p>
            <a:pPr marL="0" indent="0">
              <a:buNone/>
            </a:pPr>
            <a:r>
              <a:t>Installing Docker</a:t>
            </a:r>
          </a:p>
        </p:txBody>
      </p:sp>
      <p:pic>
        <p:nvPicPr>
          <p:cNvPr id="5" name="Picture 4" descr="Video: Docker in 100 Seconds. Opens https://www.youtube.com/watch?v=Gjnup-PuquQ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"/>
            <a:ext cx="1554480" cy="8741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31152" y="993038"/>
            <a:ext cx="1956816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marL="0" indent="0">
              <a:buNone/>
            </a:pPr>
            <a:r>
              <a:rPr sz="850" b="1">
                <a:solidFill>
                  <a:srgbClr val="7C2529"/>
                </a:solidFill>
              </a:rPr>
              <a:t>Docker in 100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6317" y="329184"/>
            <a:ext cx="276880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200" b="1" u="sng">
                <a:solidFill>
                  <a:srgbClr val="7C2529"/>
                </a:solidFill>
                <a:hlinkClick r:id="rId4"/>
              </a:rPr>
              <a:t>Windows</a:t>
            </a:r>
            <a:r>
              <a:rPr sz="1100">
                <a:solidFill>
                  <a:srgbClr val="777777"/>
                </a:solidFill>
              </a:rPr>
              <a:t>   ·   </a:t>
            </a:r>
            <a:r>
              <a:rPr sz="1200" b="1" u="sng">
                <a:solidFill>
                  <a:srgbClr val="7C2529"/>
                </a:solidFill>
                <a:hlinkClick r:id="rId5"/>
              </a:rPr>
              <a:t>macOS</a:t>
            </a:r>
            <a:r>
              <a:rPr sz="1100">
                <a:solidFill>
                  <a:srgbClr val="777777"/>
                </a:solidFill>
              </a:rPr>
              <a:t>   ·   </a:t>
            </a:r>
            <a:r>
              <a:rPr sz="1200" b="1" u="sng">
                <a:solidFill>
                  <a:srgbClr val="7C2529"/>
                </a:solidFill>
                <a:hlinkClick r:id="rId6"/>
              </a:rPr>
              <a:t>Linux</a:t>
            </a:r>
          </a:p>
        </p:txBody>
      </p:sp>
      <p:pic>
        <p:nvPicPr>
          <p:cNvPr id="8" name="Picture 7" descr="Do this before next class. Everything we run this semester runs inside this image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1240291"/>
            <a:ext cx="8595360" cy="33944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docs.docker.com/desktop/setup/install/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is Natural Language Processing (NLP)?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571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Take thirty seconds. Say it in your own words before I say it in mine.</a:t>
            </a:r>
          </a:p>
        </p:txBody>
      </p:sp>
      <p:pic>
        <p:nvPicPr>
          <p:cNvPr id="9" name="Picture 8" descr="What is Natural Language Processing (NLP)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58" y="1078992"/>
            <a:ext cx="7425283" cy="31866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reaction GIF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6537960" cy="822960"/>
          </a:xfrm>
        </p:spPr>
        <p:txBody>
          <a:bodyPr wrap="square"/>
          <a:lstStyle/>
          <a:p>
            <a:pPr marL="0" indent="0">
              <a:buNone/>
            </a:pPr>
            <a:r>
              <a:t>Language in, action out</a:t>
            </a:r>
          </a:p>
        </p:txBody>
      </p:sp>
      <p:pic>
        <p:nvPicPr>
          <p:cNvPr id="5" name="Picture 4" descr="Video: ML in 100 Seconds. Opens https://www.youtube.com/watch?v=PeMlggyqz0Y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"/>
            <a:ext cx="1554480" cy="8741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31152" y="993038"/>
            <a:ext cx="1956816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marL="0" indent="0">
              <a:buNone/>
            </a:pPr>
            <a:r>
              <a:rPr sz="850" b="1">
                <a:solidFill>
                  <a:srgbClr val="7C2529"/>
                </a:solidFill>
              </a:rPr>
              <a:t>ML in 100 Seconds</a:t>
            </a:r>
          </a:p>
        </p:txBody>
      </p:sp>
      <p:pic>
        <p:nvPicPr>
          <p:cNvPr id="7" name="Picture 6" descr="NLP turns human language into useful action: search, translation, voice, and cha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313133"/>
            <a:ext cx="8595360" cy="32487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Language is everywhere</a:t>
            </a:r>
          </a:p>
        </p:txBody>
      </p:sp>
      <p:pic>
        <p:nvPicPr>
          <p:cNvPr id="5" name="Picture 4" descr="Every conversation, message, and search is text waiting to be understood by a machin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27272"/>
            <a:ext cx="8595360" cy="32924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photo: Unsplash License, https://images.unsplash.com/photo-1517245386807-bb43f82c33c4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Hold that question. We will keep asking it all semeste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143250"/>
            <a:ext cx="9144000" cy="1143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43000"/>
            <a:ext cx="9144000" cy="2834640"/>
          </a:xfrm>
          <a:prstGeom prst="rect">
            <a:avLst/>
          </a:prstGeom>
          <a:solidFill>
            <a:srgbClr val="101012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FFFFFF"/>
                </a:solidFill>
              </a:rPr>
              <a:t>If a computer can finish your sentence, does it understand you?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59"/>
            <a:ext cx="7863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buNone/>
            </a:pPr>
            <a:r>
              <a:rPr sz="2000">
                <a:solidFill>
                  <a:srgbClr val="FFFFFF"/>
                </a:solidFill>
              </a:rPr>
              <a:t>Hold that question. We will keep asking it all semester.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Unsplash License, https://images.unsplash.com/photo-1620712943543-bcc4688e7485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Predicting the next word</a:t>
            </a:r>
          </a:p>
        </p:txBody>
      </p:sp>
      <p:pic>
        <p:nvPicPr>
          <p:cNvPr id="5" name="Picture 4" descr="A local LLM completes a prompt one token at a time. That is the whole trick, scaled up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6337"/>
            <a:ext cx="8595360" cy="30943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animation (qwen2.5:0.5b style)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Why is language hard?</a:t>
            </a:r>
          </a:p>
        </p:txBody>
      </p:sp>
      <p:pic>
        <p:nvPicPr>
          <p:cNvPr id="5" name="Picture 4" descr="Four reasons language resists computation: ambiguity, context, world knowledge, productivit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43" y="1078992"/>
            <a:ext cx="8144314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Winograd schema example, Levesque et al. 2012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 very short history</a:t>
            </a:r>
          </a:p>
        </p:txBody>
      </p:sp>
      <p:pic>
        <p:nvPicPr>
          <p:cNvPr id="5" name="Picture 4" descr="Seven decades: rules to statistics to neural nets to Transformers to pretraining to LLMs and agent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27903"/>
            <a:ext cx="8595360" cy="24911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This course in one diagram</a:t>
            </a:r>
          </a:p>
        </p:txBody>
      </p:sp>
      <p:pic>
        <p:nvPicPr>
          <p:cNvPr id="5" name="Picture 4" descr="Seven phases over 15 weeks, from text foundations to agents, workflows, and ethic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43" y="1078992"/>
            <a:ext cx="8144314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see schedule/SCHEDULE.md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How class works (every session)</a:t>
            </a:r>
          </a:p>
        </p:txBody>
      </p:sp>
      <p:pic>
        <p:nvPicPr>
          <p:cNvPr id="5" name="Picture 4" descr="Every session is ~35 min lecture, a 5 min break, then ~35 min of hands-on coding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5924"/>
            <a:ext cx="8595360" cy="26951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Learning together</a:t>
            </a:r>
          </a:p>
        </p:txBody>
      </p:sp>
      <p:pic>
        <p:nvPicPr>
          <p:cNvPr id="5" name="Picture 4" descr="This is a hands-on, build-it course. Bring your laptop and your question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27272"/>
            <a:ext cx="8595360" cy="32924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photo: Unsplash License, https://images.unsplash.com/photo-1523240795612-9a054b0db644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Grade breakdown</a:t>
            </a:r>
          </a:p>
        </p:txBody>
      </p:sp>
      <p:pic>
        <p:nvPicPr>
          <p:cNvPr id="5" name="Picture 4" descr="Project 35, Quizzes 27, Homeworks 15, Participation 8, Final 8, Midterm 7. Details in the syllabu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7049"/>
            <a:ext cx="8595360" cy="33929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syllabus/SYLLABUS.md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semester project</a:t>
            </a:r>
          </a:p>
        </p:txBody>
      </p:sp>
      <p:pic>
        <p:nvPicPr>
          <p:cNvPr id="5" name="Picture 4" descr="Pick a path: new method, reproduction, or benchmark. Solo or in a team of up to thre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1904"/>
            <a:ext cx="8595360" cy="3183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project/README.md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5574183" cy="822960"/>
          </a:xfrm>
        </p:spPr>
        <p:txBody>
          <a:bodyPr wrap="square"/>
          <a:lstStyle/>
          <a:p>
            <a:pPr marL="0" indent="0">
              <a:buNone/>
            </a:pPr>
            <a:r>
              <a:t>Three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57063" y="329184"/>
            <a:ext cx="292973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marL="0" indent="0">
              <a:buNone/>
            </a:pPr>
            <a:r>
              <a:rPr sz="1200" b="1" u="sng">
                <a:solidFill>
                  <a:srgbClr val="7C2529"/>
                </a:solidFill>
                <a:hlinkClick r:id="rId2"/>
              </a:rPr>
              <a:t>NeurIPS LaTeX template (Overleaf)</a:t>
            </a:r>
          </a:p>
        </p:txBody>
      </p:sp>
      <p:pic>
        <p:nvPicPr>
          <p:cNvPr id="6" name="Picture 5" descr="Weeks 6, 10 and 15. The full rubrics live in project/RUBRICS.md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29" y="1078992"/>
            <a:ext cx="8436341" cy="35890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project/README.md; project/RUBRICS.md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Tools: free &amp; open-source</a:t>
            </a:r>
          </a:p>
        </p:txBody>
      </p:sp>
      <p:pic>
        <p:nvPicPr>
          <p:cNvPr id="5" name="Picture 4" descr="Everything we use is free, open-source, and runs on a laptop CPU. No API keys, no GPU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93" y="1078992"/>
            <a:ext cx="8051413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logos copyright their projects (Simple Icons, CC0)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AI-use policy (important)</a:t>
            </a:r>
          </a:p>
        </p:txBody>
      </p:sp>
      <p:pic>
        <p:nvPicPr>
          <p:cNvPr id="5" name="Picture 4" descr="Use AI as an assistant and an object of study, but disclose it, own every line, and keep exams on pape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93461"/>
            <a:ext cx="8595360" cy="23600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syllabus/SYLLABUS.md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Assigned reading this week</a:t>
            </a:r>
          </a:p>
        </p:txBody>
      </p:sp>
      <p:pic>
        <p:nvPicPr>
          <p:cNvPr id="5" name="Picture 4" descr="Jurafsky &amp; Martin, SLP3 (free draft): Ch. 1 and 2. Quiz 1 next class covers this plus toda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90" y="1078992"/>
            <a:ext cx="7576820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web.stanford.edu/~jurafsky/slp3/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Five minutes: stretch, refill water, compare notes. Then we get Docker running and put a real language model on your laptop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Exercise: your first local LLM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4622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Edit the prompt, then try temperature 0.0 vs 1.2</a:t>
            </a:r>
          </a:p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Run it and read the model's answer</a:t>
            </a:r>
          </a:p>
        </p:txBody>
      </p:sp>
      <p:pic>
        <p:nvPicPr>
          <p:cNvPr id="6" name="Picture 5" descr="Exercise: your first local LLM promp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775" y="1078992"/>
            <a:ext cx="6178450" cy="28757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weeks/week-01/class-01/exercise/hello_nlp.py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you should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0465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sz="1400">
                <a:solidFill>
                  <a:srgbClr val="222222"/>
                </a:solidFill>
              </a:rPr>
              <a:t>A real LLM, running locally on your laptop CPU</a:t>
            </a:r>
          </a:p>
        </p:txBody>
      </p:sp>
      <p:pic>
        <p:nvPicPr>
          <p:cNvPr id="6" name="Picture 5" descr="What you should se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31458"/>
            <a:ext cx="8595360" cy="2681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example run, qwen2.5:0.5b via Ollama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Activity: First-Prompt Scavenger Hunt</a:t>
            </a:r>
          </a:p>
        </p:txBody>
      </p:sp>
      <p:pic>
        <p:nvPicPr>
          <p:cNvPr id="5" name="Picture 4" descr="Pairs, programming, 10 minutes. Find one win and one fail, then post to the shared boar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29" y="1078992"/>
            <a:ext cx="8436341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weeks/week-01/class-01/exercise/hello_nlp.py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