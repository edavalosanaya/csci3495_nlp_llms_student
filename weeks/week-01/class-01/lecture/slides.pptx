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Gjnup-PuquQ" TargetMode="External"/><Relationship Id="rId4" Type="http://schemas.openxmlformats.org/officeDocument/2006/relationships/hyperlink" Target="https://docs.docker.com/desktop/setup/install/windows-install/" TargetMode="External"/><Relationship Id="rId5" Type="http://schemas.openxmlformats.org/officeDocument/2006/relationships/hyperlink" Target="https://docs.docker.com/desktop/setup/install/mac-install/" TargetMode="External"/><Relationship Id="rId6" Type="http://schemas.openxmlformats.org/officeDocument/2006/relationships/hyperlink" Target="https://docs.docker.com/desktop/setup/install/linux/" TargetMode="External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Relationship Id="rId3" Type="http://schemas.openxmlformats.org/officeDocument/2006/relationships/hyperlink" Target="https://www.youtube.com/watch?v=PeMlggyqz0Y" TargetMode="External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hyperlink" Target="https://www.overleaf.com/latex/templates/formatting-instructions-for-neurips-2026/bjdwqfdkyftc" TargetMode="External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Welcome &amp;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4531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1  ·  Mon Aug 24, 2026</a:t>
            </a:r>
          </a:p>
        </p:txBody>
      </p:sp>
      <p:pic>
        <p:nvPicPr>
          <p:cNvPr id="5" name="Picture 4" descr="Shelves of language, waiting to be read by something that cannot read. That is the whole probl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722" y="3474720"/>
            <a:ext cx="16025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Unsplash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Ice breaker: you will argue both sides</a:t>
            </a:r>
          </a:p>
        </p:txBody>
      </p:sp>
      <p:pic>
        <p:nvPicPr>
          <p:cNvPr id="5" name="Picture 4" descr="Two motions, two rounds, and you switch teams in between. Nobody defends the same position twi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3819"/>
            <a:ext cx="8595360" cy="3059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1: on balance, AI and LLMs have made society better</a:t>
            </a:r>
          </a:p>
        </p:txBody>
      </p:sp>
      <p:pic>
        <p:nvPicPr>
          <p:cNvPr id="5" name="Picture 4" descr="Left half of the room argues for, right half argues against. Four minutes, then we s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7651"/>
            <a:ext cx="8595360" cy="28117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2: AI and LLMs have made us measurably more productive</a:t>
            </a:r>
          </a:p>
        </p:txBody>
      </p:sp>
      <p:pic>
        <p:nvPicPr>
          <p:cNvPr id="5" name="Picture 4" descr="Same room, new motion, and everyone changes sides. If you argued for, you now argue again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2030"/>
            <a:ext cx="8595360" cy="3022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am I?</a:t>
            </a:r>
          </a:p>
        </p:txBody>
      </p:sp>
      <p:pic>
        <p:nvPicPr>
          <p:cNvPr id="5" name="Picture 4" descr="Two minutes of me, so the next fifteen weeks are not a stranger talking at yo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95" y="1078992"/>
            <a:ext cx="74824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personal photos; game and series cover art copyright their publishers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My background</a:t>
            </a:r>
          </a:p>
        </p:txBody>
      </p:sp>
      <p:pic>
        <p:nvPicPr>
          <p:cNvPr id="5" name="Picture 4" descr="St. Mary's in San Antonio, then Vanderbilt in Nashvi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campus photos and marks copyright the respective universities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Installing Docker</a:t>
            </a:r>
          </a:p>
        </p:txBody>
      </p:sp>
      <p:pic>
        <p:nvPicPr>
          <p:cNvPr id="5" name="Picture 4" descr="Video: Docker in 100 Seconds. Opens https://www.youtube.com/watch?v=Gjnup-PuquQ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Docker in 100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6317" y="329184"/>
            <a:ext cx="27688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4"/>
              </a:rPr>
              <a:t>Windows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5"/>
              </a:rPr>
              <a:t>macOS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6"/>
              </a:rPr>
              <a:t>Linux</a:t>
            </a:r>
          </a:p>
        </p:txBody>
      </p:sp>
      <p:pic>
        <p:nvPicPr>
          <p:cNvPr id="8" name="Picture 7" descr="Do this before next class. Everything we run this semester runs inside this image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1240291"/>
            <a:ext cx="8595360" cy="3394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docs.docker.com/desktop/setup/install/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4983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Schedule &amp; syllabus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335470"/>
            <a:ext cx="8229600" cy="1558200"/>
          </a:xfrm>
        </p:spPr>
        <p:txBody>
          <a:bodyPr wrap="square"/>
          <a:lstStyle/>
          <a:p>
            <a:pPr marL="0" indent="0" algn="ctr">
              <a:buNone/>
            </a:pPr>
            <a:r>
              <a:t>Open both now. We will walk the semester end to 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agenda</a:t>
            </a:r>
          </a:p>
        </p:txBody>
      </p:sp>
      <p:pic>
        <p:nvPicPr>
          <p:cNvPr id="5" name="Picture 4" descr="Six stops. We end with a language model running on your own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85230"/>
            <a:ext cx="8595360" cy="35765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Natural Language Processing (NLP)?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Take thirty seconds. Say it in your own words before I say it in mine.</a:t>
            </a:r>
          </a:p>
        </p:txBody>
      </p:sp>
      <p:pic>
        <p:nvPicPr>
          <p:cNvPr id="9" name="Picture 8" descr="What is Natural Language Processing (NLP)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8" y="1078992"/>
            <a:ext cx="7425283" cy="3186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reaction GIF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in, action out</a:t>
            </a:r>
          </a:p>
        </p:txBody>
      </p:sp>
      <p:pic>
        <p:nvPicPr>
          <p:cNvPr id="5" name="Picture 4" descr="Video: ML in 100 Seconds. Opens https://www.youtube.com/watch?v=PeMlggyqz0Y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ML in 100 Seconds</a:t>
            </a:r>
          </a:p>
        </p:txBody>
      </p:sp>
      <p:pic>
        <p:nvPicPr>
          <p:cNvPr id="7" name="Picture 6" descr="NLP turns human language into useful action: search, translation, voice, and cha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313133"/>
            <a:ext cx="8595360" cy="3248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is everywhere</a:t>
            </a:r>
          </a:p>
        </p:txBody>
      </p:sp>
      <p:pic>
        <p:nvPicPr>
          <p:cNvPr id="5" name="Picture 4" descr="Every conversation, message, and search is text waiting to be understood by a mach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https://images.unsplash.com/photo-1517245386807-bb43f82c33c4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Hold that question. We will keep asking it all semes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143250"/>
            <a:ext cx="9144000" cy="1143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computer can finish your sentence, does it understand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Hold that question. We will keep asking it all semester.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https://images.unsplash.com/photo-1620712943543-bcc4688e7485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Predicting the next word</a:t>
            </a:r>
          </a:p>
        </p:txBody>
      </p:sp>
      <p:pic>
        <p:nvPicPr>
          <p:cNvPr id="5" name="Picture 4" descr="A local LLM completes a prompt one token at a time. That is the whole trick, scaled 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6337"/>
            <a:ext cx="8595360" cy="3094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(qwen2.5:0.5b style)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language hard?</a:t>
            </a:r>
          </a:p>
        </p:txBody>
      </p:sp>
      <p:pic>
        <p:nvPicPr>
          <p:cNvPr id="5" name="Picture 4" descr="Four reasons language resists computation: ambiguity, context, world knowledge, productiv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Winograd schema example, Levesque et al. 2012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very short history</a:t>
            </a:r>
          </a:p>
        </p:txBody>
      </p:sp>
      <p:pic>
        <p:nvPicPr>
          <p:cNvPr id="5" name="Picture 4" descr="Seven decades: rules to statistics to neural nets to Transformers to pretraining to LLMs and agen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7903"/>
            <a:ext cx="8595360" cy="2491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This course in one diagram</a:t>
            </a:r>
          </a:p>
        </p:txBody>
      </p:sp>
      <p:pic>
        <p:nvPicPr>
          <p:cNvPr id="5" name="Picture 4" descr="Seven phases over 15 weeks, from text foundations to agents, workflows, and ethi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see schedule/SCHEDULE.md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class works (every session)</a:t>
            </a:r>
          </a:p>
        </p:txBody>
      </p:sp>
      <p:pic>
        <p:nvPicPr>
          <p:cNvPr id="5" name="Picture 4" descr="Every session is ~35 min lecture, a 5 min break, then ~35 min of hands-on cod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25924"/>
            <a:ext cx="8595360" cy="269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Learning together</a:t>
            </a:r>
          </a:p>
        </p:txBody>
      </p:sp>
      <p:pic>
        <p:nvPicPr>
          <p:cNvPr id="5" name="Picture 4" descr="This is a hands-on, build-it course. Bring your laptop and your questi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https://images.unsplash.com/photo-1523240795612-9a054b0db644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Grade breakdown</a:t>
            </a:r>
          </a:p>
        </p:txBody>
      </p:sp>
      <p:pic>
        <p:nvPicPr>
          <p:cNvPr id="5" name="Picture 4" descr="Project 35, Quizzes 27, Homeworks 15, Participation 8, Final 8, Midterm 7. Details in the syllab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7049"/>
            <a:ext cx="8595360" cy="3392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semester project</a:t>
            </a:r>
          </a:p>
        </p:txBody>
      </p:sp>
      <p:pic>
        <p:nvPicPr>
          <p:cNvPr id="5" name="Picture 4" descr="Pick a path: new method, reproduction, or benchmark. Solo or in a team of up to thr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1904"/>
            <a:ext cx="8595360" cy="3183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5574183" cy="822960"/>
          </a:xfrm>
        </p:spPr>
        <p:txBody>
          <a:bodyPr wrap="square"/>
          <a:lstStyle/>
          <a:p>
            <a:pPr marL="0" indent="0">
              <a:buNone/>
            </a:pPr>
            <a:r>
              <a:t>Three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57063" y="329184"/>
            <a:ext cx="292973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2"/>
              </a:rPr>
              <a:t>NeurIPS LaTeX template (Overleaf)</a:t>
            </a:r>
          </a:p>
        </p:txBody>
      </p:sp>
      <p:pic>
        <p:nvPicPr>
          <p:cNvPr id="6" name="Picture 5" descr="Weeks 5, 10 and 15. The full rubrics live in project/RUBRICS.m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project/README.md; project/RUBRICS.md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Tools: free &amp; open-source</a:t>
            </a:r>
          </a:p>
        </p:txBody>
      </p:sp>
      <p:pic>
        <p:nvPicPr>
          <p:cNvPr id="5" name="Picture 4" descr="Everything we use is free, open-source, and runs on a laptop CPU. No API keys, no GP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logos copyright their projects (Simple Icons, CC0)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AI-use policy (important)</a:t>
            </a:r>
          </a:p>
        </p:txBody>
      </p:sp>
      <p:pic>
        <p:nvPicPr>
          <p:cNvPr id="5" name="Picture 4" descr="Use AI as an assistant and an object of study, but disclose it, own every line, and keep exams on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3461"/>
            <a:ext cx="8595360" cy="2360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Jurafsky &amp; Martin, SLP3 (free draft): Ch. 1 and 2. Quiz 1 next class covers this plus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90" y="1078992"/>
            <a:ext cx="75768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web.stanford.edu/~jurafsky/slp3/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we get Docker running and put a real language model on your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your first local LLM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Edit the prompt, then try temperature 0.0 vs 1.2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 and read the model's answer</a:t>
            </a:r>
          </a:p>
        </p:txBody>
      </p:sp>
      <p:pic>
        <p:nvPicPr>
          <p:cNvPr id="6" name="Picture 5" descr="Exercise: your first local LLM 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775" y="1078992"/>
            <a:ext cx="6178450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0465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real LLM, running locally on your laptop CPU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1458"/>
            <a:ext cx="8595360" cy="268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qwen2.5:0.5b via Ollama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First-Prompt Scavenger Hunt</a:t>
            </a:r>
          </a:p>
        </p:txBody>
      </p:sp>
      <p:pic>
        <p:nvPicPr>
          <p:cNvPr id="5" name="Picture 4" descr="Pairs, programming, 10 minutes. Find one win and one fail, then post to the shared bo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anguage is hard; the field went from rules to LLMs to agents; we build it hands-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07398"/>
            <a:ext cx="8595360" cy="3132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