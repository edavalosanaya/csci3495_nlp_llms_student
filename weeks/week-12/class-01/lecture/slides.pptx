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5" Type="http://schemas.openxmlformats.org/officeDocument/2006/relationships/slide" Target="slides/slide35.xml"/><Relationship Id="rId56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jpg"/><Relationship Id="rId3" Type="http://schemas.openxmlformats.org/officeDocument/2006/relationships/hyperlink" Target="https://www.youtube.com/watch?v=kopoLzvh5jY" TargetMode="External"/><Relationship Id="rId4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LLM Agents: ReAct, Tool Use &amp; Toolformer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599627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12, Class 1</a:t>
            </a:r>
          </a:p>
        </p:txBody>
      </p:sp>
      <p:pic>
        <p:nvPicPr>
          <p:cNvPr id="5" name="Picture 4" descr="One body, many tools, and a decision about which one to reach for. That decision is the whole subject of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153" y="3474720"/>
            <a:ext cx="2456087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Andrew Toskin, CC BY-SA 2.0, via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Phase 5 begins, creating agents. HW6 (build an agent) goes out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77" y="1078992"/>
            <a:ext cx="82554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tile images: ReAct (Yao et al., 2022) Fig. 1, Toolformer (Schick et al., 2023) Fig. 1, Unsplash photos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Recap: where we are</a:t>
            </a:r>
          </a:p>
        </p:txBody>
      </p:sp>
      <p:pic>
        <p:nvPicPr>
          <p:cNvPr id="5" name="Picture 4" descr="Recap: where we a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9188"/>
            <a:ext cx="8595360" cy="3168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(schedule/SCHEDULE.md); thumbnails: CoT (Wei et al., 2022) Fig. 1, RAG (Lewis et al., 2020) Fig. 1, ReAct (Yao et al., 2022) Fig.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an LLM agent?</a:t>
            </a:r>
          </a:p>
        </p:txBody>
      </p:sp>
      <p:pic>
        <p:nvPicPr>
          <p:cNvPr id="5" name="Picture 4" descr="What is an LLM agent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06051"/>
            <a:ext cx="8595360" cy="25349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Keep this question in mind: the model proposes, the loop decides, the tools a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20090"/>
            <a:ext cx="9144000" cy="6583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a model can call tools, who is really in control?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Keep this question in mind: the model proposes, the loop decides, the tools 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https://images.unsplash.com/photo-1531746790731-6c087fecd65a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add tools at all?</a:t>
            </a:r>
          </a:p>
        </p:txBody>
      </p:sp>
      <p:pic>
        <p:nvPicPr>
          <p:cNvPr id="5" name="Picture 4" descr="Why add tools at all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61714"/>
            <a:ext cx="8595360" cy="34235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Agents &amp; ReAct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Reason only, act only, or both?</a:t>
            </a:r>
          </a:p>
        </p:txBody>
      </p:sp>
      <p:pic>
        <p:nvPicPr>
          <p:cNvPr id="5" name="Picture 4" descr="Chain-of-thought is the left loop, plain tool calling is the right loop. ReAct is what happens when you join the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03441"/>
            <a:ext cx="8595360" cy="35401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figure, after Yao et al. 2022 (arXiv:2210.03629)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ReAct loop (Yao et al., 2022)</a:t>
            </a:r>
          </a:p>
        </p:txBody>
      </p:sp>
      <p:pic>
        <p:nvPicPr>
          <p:cNvPr id="5" name="Picture 4" descr="Reasoning + Acting interleaved: Thought → Action → Observation, repeat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504"/>
            <a:ext cx="8595360" cy="34599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ReAct (Yao et al., 2022), arXiv:2210.03629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ReAct trace, line by line</a:t>
            </a:r>
          </a:p>
        </p:txBody>
      </p:sp>
      <p:pic>
        <p:nvPicPr>
          <p:cNvPr id="5" name="Picture 4" descr="The arrow that matters points backwards: after every observation it returns to Thought, and only finish exi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60" y="1078992"/>
            <a:ext cx="656528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original figure (ReAct-style trace)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interleave reasoning and acting?</a:t>
            </a:r>
          </a:p>
        </p:txBody>
      </p:sp>
      <p:pic>
        <p:nvPicPr>
          <p:cNvPr id="5" name="Picture 4" descr="CoT alone hallucinates (red); Act-only retrieves but cannot plan past a dead end; ReAct chains searches to the right answer. You will see this figure again in the Quiz 12 pap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040" y="1078992"/>
            <a:ext cx="619191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ReAct (Yao et al., 2022), arXiv:2210.03629, Fig. 1 (HotpotQA half)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Anatomy of a ReAct step</a:t>
            </a:r>
          </a:p>
        </p:txBody>
      </p:sp>
      <p:pic>
        <p:nvPicPr>
          <p:cNvPr id="5" name="Picture 4" descr="Anatomy of a ReAct ste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504"/>
            <a:ext cx="8595360" cy="34599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Building the loop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the loop actually runs</a:t>
            </a:r>
          </a:p>
        </p:txBody>
      </p:sp>
      <p:pic>
        <p:nvPicPr>
          <p:cNvPr id="5" name="Picture 4" descr="How the loop actually ru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1777"/>
            <a:ext cx="8595360" cy="33434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Designing an action grammar</a:t>
            </a:r>
          </a:p>
        </p:txBody>
      </p:sp>
      <p:pic>
        <p:nvPicPr>
          <p:cNvPr id="5" name="Picture 4" descr="Designing an action gramm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78261"/>
            <a:ext cx="8595360" cy="31904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Tools = typed functions with a contract</a:t>
            </a:r>
          </a:p>
        </p:txBody>
      </p:sp>
      <p:pic>
        <p:nvPicPr>
          <p:cNvPr id="5" name="Picture 4" descr="Tools = typed functions with a contra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38514"/>
            <a:ext cx="8595360" cy="28699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Safety: never eval() model output</a:t>
            </a:r>
          </a:p>
        </p:txBody>
      </p:sp>
      <p:pic>
        <p:nvPicPr>
          <p:cNvPr id="5" name="Picture 4" descr="Safety: never eval() model outpu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Before agents act: talking to software safely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problem: prose is not an API</a:t>
            </a:r>
          </a:p>
        </p:txBody>
      </p:sp>
      <p:pic>
        <p:nvPicPr>
          <p:cNvPr id="5" name="Picture 4" descr="A chatty sentence is brittle to parse; the agent loop needs typed, structured fiel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1167"/>
            <a:ext cx="8595360" cy="29646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Ask for structured output</a:t>
            </a:r>
          </a:p>
        </p:txBody>
      </p:sp>
      <p:pic>
        <p:nvPicPr>
          <p:cNvPr id="5" name="Picture 4" descr="JSON out of prose, validated before use. The fence around untrusted input is also your first injection defen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8451"/>
            <a:ext cx="8595360" cy="2950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Function (tool) calling</a:t>
            </a:r>
          </a:p>
        </p:txBody>
      </p:sp>
      <p:pic>
        <p:nvPicPr>
          <p:cNvPr id="5" name="Picture 4" descr="You declare a signature, the model proposes name plus JSON arguments, the loop executes. This is the Action step of ReAct, standardiz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10725"/>
            <a:ext cx="8595360" cy="35255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Prompt injection</a:t>
            </a:r>
          </a:p>
        </p:txBody>
      </p:sp>
      <p:pic>
        <p:nvPicPr>
          <p:cNvPr id="5" name="Picture 4" descr="Untrusted text smuggles commands into the prompt: direct from the user, or indirect via pages and files the agent rea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948" y="1078992"/>
            <a:ext cx="7714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Greshake et al. 2023, arXiv:2302.12173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Tools and agents widen the attack surface</a:t>
            </a:r>
          </a:p>
        </p:txBody>
      </p:sp>
      <p:pic>
        <p:nvPicPr>
          <p:cNvPr id="5" name="Picture 4" descr="The attacker never talks to the model: a planted instruction (1) rides retrieval (3) into your agent, then tool access (4) turns bad text into exfiltration (5) and user manipulation (6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986" y="1078992"/>
            <a:ext cx="358402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Greshake et al. 2023 (arXiv:2302.12173), Fig.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Defense in depth</a:t>
            </a:r>
          </a:p>
        </p:txBody>
      </p:sp>
      <p:pic>
        <p:nvPicPr>
          <p:cNvPr id="5" name="Picture 4" descr="Input and output validation, tool allow-lists, privilege separation, human-in-the-loop, and treating fetched text as untrusted. You will attack these guards in the game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93" y="1078992"/>
            <a:ext cx="85212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OWASP Top 10 for LLM Apps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Toolformer (Schick et al., 2023)</a:t>
            </a:r>
          </a:p>
        </p:txBody>
      </p:sp>
      <p:pic>
        <p:nvPicPr>
          <p:cNvPr id="5" name="Picture 4" descr="Toolformer (Schick et al., 202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1167"/>
            <a:ext cx="8595360" cy="29646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Toolformer (Schick et al., 2023), arXiv:2302.04761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Toolformer in action: inline API calls</a:t>
            </a:r>
          </a:p>
        </p:txBody>
      </p:sp>
      <p:pic>
        <p:nvPicPr>
          <p:cNvPr id="5" name="Picture 4" descr="One syntax, four tools: the fine-tuned model decides mid-sentence to call QA, Calculator, MT, or WikiSearch and splices the result back into its own text. No loop, no scaffol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7804" y="1078992"/>
            <a:ext cx="26083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Toolformer (Schick et al., 2023), arXiv:2302.04761, Fig.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ReAct vs. Toolformer</a:t>
            </a:r>
          </a:p>
        </p:txBody>
      </p:sp>
      <p:pic>
        <p:nvPicPr>
          <p:cNvPr id="5" name="Picture 4" descr="ReAct vs. Toolfor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Yao et al. 2022 / Schick et al. 2023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agents go wrong (preview)</a:t>
            </a:r>
          </a:p>
        </p:txBody>
      </p:sp>
      <p:pic>
        <p:nvPicPr>
          <p:cNvPr id="5" name="Picture 4" descr="Where agents go wrong (preview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(full treatment in Class 2)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Agents already act in the world</a:t>
            </a:r>
          </a:p>
        </p:txBody>
      </p:sp>
      <p:pic>
        <p:nvPicPr>
          <p:cNvPr id="5" name="Picture 4" descr="A service robot reads a screen, decides, and acts. The same loop drives software agen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https://images.unsplash.com/photo-1485827404703-89b55fcc595e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Agents in the wild</a:t>
            </a:r>
          </a:p>
        </p:txBody>
      </p:sp>
      <p:pic>
        <p:nvPicPr>
          <p:cNvPr id="5" name="Picture 4" descr="Video: Multi-Agent Hide &amp; Seek. Opens https://www.youtube.com/watch?v=kopoLzvh5jY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Multi-Agent Hide &amp; Seek</a:t>
            </a:r>
          </a:p>
        </p:txBody>
      </p:sp>
      <p:pic>
        <p:nvPicPr>
          <p:cNvPr id="7" name="Picture 6" descr="Agents in the wi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411469"/>
            <a:ext cx="8595360" cy="3052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this week</a:t>
            </a:r>
          </a:p>
        </p:txBody>
      </p:sp>
      <p:pic>
        <p:nvPicPr>
          <p:cNvPr id="5" name="Picture 4" descr="Assigned reading this wee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69630"/>
            <a:ext cx="8595360" cy="260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resources/landmark-papers.md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Adversarial role-play in pairs, ~30 min. One plays the rogue LLM, one hunts the guard that stops each attac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94373"/>
            <a:ext cx="9144000" cy="653224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Pair up: rogue LLM vs guard hunter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Adversarial role-play in pairs, ~30 min. One plays the rogue LLM, one hunts the guard that stops each attack.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https://images.unsplash.com/photo-1505373877841-8d25f7d46678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reak-the-Agent game, head to hea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Break the Agent, head to head</a:t>
            </a:r>
          </a:p>
        </p:txBody>
      </p:sp>
      <p:pic>
        <p:nvPicPr>
          <p:cNvPr id="5" name="Picture 4" descr="Activity: Break the Agent, head to hea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9377"/>
            <a:ext cx="8595360" cy="29282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weeks/week-12/class-01/exercise/break_the_agent.py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game looks like</a:t>
            </a:r>
          </a:p>
        </p:txBody>
      </p:sp>
      <p:pic>
        <p:nvPicPr>
          <p:cNvPr id="5" name="Picture 4" descr="What the game looks lik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23946"/>
            <a:ext cx="8595360" cy="2899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run: break_the_agent.py (no Ollama needed)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58072"/>
            <a:ext cx="8595360" cy="34308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