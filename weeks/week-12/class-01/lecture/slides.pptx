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body, many tools, and a decision about which one to reach for. That decision is the whole subject of today.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5 begins, creating agents. HW6 (build an agent) goes out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weeks in a line. Week 10 got the model to reason in text, Week 11 got that text into a structure code can read and grounded it in retrieved documents, and this week those steps start acting on the world.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ingredients, and the model is only one of them. An LLM controller, a set of tools, a loop, and a stop condition. Reason, act, observe, repeat until done. The model never touches the world. It emits text, and the environment runs the tools.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a real pause. The model only proposes. The loop decides whether to run it and the tools are what actually touch anything. Every safety property lives in those two, not in the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 each weakness with the tool that fixes it. Arithmetic, today's date, anything past the training cutoff, anything private. None of these are things a bigger model fixes. The model decides when to call a tool and with what arguments. That decision is the whole skill.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Chain-of-thought is the left loop, plain tool calling is the right loop. ReAct is what happens when you join them. Both halves already existed. ReAct's contribution is putting them in one loop, so evidence can revise the plan and the plan can choose the next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Reasoning + Acting interleaved: Thought → Action → Observation, repeated.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arrow that matters points backwards: after every observation it returns to Thought, and only finish exits.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CoT alone hallucinates (red); Act-only retrieves but cannot plan past a dead end; ReAct chains searches to the right answer. You will see this figure again in the Quiz 12 paper.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Note who writes what. The model writes the Thought and the Action, and the Thought is never executed. The Observation is written by your code. That line between them is the trust boundary, and the whole lab hangs on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lines of plumbing around a single model call. Build the prompt, ask for one Thought and Action, stop before the Observation, parse, run, append. Everything else is guards. The agent is mostly plumbing: prompt-build -&gt; parse -&gt; dispatch -&gt; append. The only intelligence is inside step 2.</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has to be parseable by a regex you wrote, not by good intentions. A fixed keyword to anchor on, a tool name checked against the allow-list, and the argument taken verbatim.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tool is a function that takes one string and returns one string. That contract is what makes the loop survivable: nothing the model sends can be the wrong type, and nothing the tool returns can crash the caller.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one line that hands over the shell. Read the attack out loud. The safe version parses to an AST and evaluates only a whitelist of nodes, which is what they implement in the lab.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chatty sentence is brittle to parse; the agent loop needs typed, structured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JSON out of prose, validated before use. The fence around untrusted input is also your first injection defense. But asking is not guaranteeing. Models still emit malformed or wrong-typed output, so validate before you use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declare a signature, the model proposes name plus JSON arguments, the loop executes. This is the Action step of ReAct, standardized.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Untrusted text smuggles commands into the prompt: direct from the user, or indirect via pages and files the agent reads. Root cause: prompt and data share one channel. The model cannot tell them apart.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attacker never talks to the model: a planted instruction (1) rides retrieval (3) into your agent, then tool access (4) turns bad text into exfiltration (5) and user manipulation (6).</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and output validation, tool allow-lists, privilege separation, human-in-the-loop, and treating fetched text as untrusted. You will attack these guards in the game today. Two guards failed, the stack held. Independent layers keep one miss from becoming a breach.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prompts a model to use tools at inference. Toolformer teaches it to, by having the model annotate its own text with candidate API calls and keeping the ones that reduce loss. Same goal, opposite mechanism. The model learns which API to call, when, and with what arguments: calculator, QA, search, calendar, translation.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syntax, four tools: the fine-tuned model decides mid-sentence to call QA, Calculator, MT, or WikiSearch and splices the result back into its own text. No loop, no scaffold.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row that matters is the last one: adding a tool to ReAct is editing a prompt, and adding one to Toolformer is retraining. That is why almost everything in production is ReAct-shaped. We build ReAct agents because they need no training, which is perfect for tiny local models.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failure modes, and they are Wednesday's whole lecture. Read them now so that when they try to break each other's agents after the break, they know what they are aiming 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service robot reads a screen, decides, and acts. The same loop drives software agents.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tools. A coding assistant runs tests, a research assistant searches, an ops assistant queries logs. None of them are a different architecture. All the same loop, and therefore all the same failure modes.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in Quiz 12. Toolformer is optional enrichment, though its core idea was lecture content and is fair game.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then swap, about thirty minutes. One of them plays the rogue model and types the Thoughts and Actions, trying to crash, hang or trick the loop. The other watches which guard catches it. Then swap roles and run a fresh attack. Hand in: which attack was hardest to defend, and which line of code defends it.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round at the keyboard. The attacks that work are the interesting ones, and they should write down which guard was missing.</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is a controller plus tools plus a loop plus a stop condition. ReAct interleaves Thought, Action and Observation so the reasoning stays anchored to real results, and it needs no training. The trust boundary is the whole safety story.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 Id="rId4" Type="http://schemas.openxmlformats.org/officeDocument/2006/relationships/hyperlink" Target="https://www.youtube.com/watch?v=kopoLzvh5jY" TargetMode="External"/><Relationship Id="rId5"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LLM Agents: ReAct, Tool Use &amp; Toolformer</a:t>
            </a:r>
          </a:p>
        </p:txBody>
      </p:sp>
      <p:sp>
        <p:nvSpPr>
          <p:cNvPr id="3" name="Subtitle 2"/>
          <p:cNvSpPr>
            <a:spLocks noGrp="1"/>
          </p:cNvSpPr>
          <p:nvPr>
            <p:ph type="subTitle" idx="1"/>
          </p:nvPr>
        </p:nvSpPr>
        <p:spPr>
          <a:xfrm>
            <a:off x="493926" y="3549825"/>
            <a:ext cx="5599627" cy="970800"/>
          </a:xfrm>
        </p:spPr>
        <p:txBody>
          <a:bodyPr wrap="square"/>
          <a:lstStyle/>
          <a:p>
            <a:pPr marL="0" indent="0">
              <a:buNone/>
            </a:pPr>
            <a:r>
              <a:t>Natural Language Processing &amp; Large Language Models</a:t>
            </a:r>
          </a:p>
          <a:p>
            <a:pPr marL="0" indent="0">
              <a:buNone/>
            </a:pPr>
            <a:r>
              <a:t>Week 12, Class 1  ·  Wed Nov 11, 2026</a:t>
            </a:r>
          </a:p>
        </p:txBody>
      </p:sp>
      <p:pic>
        <p:nvPicPr>
          <p:cNvPr id="5" name="Picture 4" descr="LLM Agents: ReAct, Tool Use &amp; Toolformer"/>
          <p:cNvPicPr>
            <a:picLocks noChangeAspect="1"/>
          </p:cNvPicPr>
          <p:nvPr/>
        </p:nvPicPr>
        <p:blipFill>
          <a:blip r:embed="rId3"/>
          <a:stretch>
            <a:fillRect/>
          </a:stretch>
        </p:blipFill>
        <p:spPr>
          <a:xfrm>
            <a:off x="6322153" y="3474720"/>
            <a:ext cx="245608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Andrew Toskin, CC BY-SA 2.0,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tile images: ReAct (Yao et al., 2022) Fig. 1, Toolformer (Schick et al., 2023) Fig. 1, Unsplash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where we are</a:t>
            </a:r>
          </a:p>
        </p:txBody>
      </p:sp>
      <p:pic>
        <p:nvPicPr>
          <p:cNvPr id="5" name="Picture 4" descr="Recap: where we are"/>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(schedule/SCHEDULE.md); thumbnails: CoT (Wei et al., 2022) Fig. 1, RAG (Lewis et al., 2020) Fig. 1, ReAct (Yao et al., 2022) Fig.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an LLM agent?</a:t>
            </a:r>
          </a:p>
        </p:txBody>
      </p:sp>
      <p:pic>
        <p:nvPicPr>
          <p:cNvPr id="5" name="Picture 4" descr="What is an LLM agent?"/>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Keep this question in mind: the model proposes, the loop decides, the tools act."/>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can call tools, who is really in control?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Keep this question in mind: the model proposes, the loop decides, the tools act.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add tools at all?</a:t>
            </a:r>
          </a:p>
        </p:txBody>
      </p:sp>
      <p:pic>
        <p:nvPicPr>
          <p:cNvPr id="5" name="Picture 4" descr="Why add tools at all?"/>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Agents &amp; ReAct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 only, act only, or both?</a:t>
            </a:r>
          </a:p>
        </p:txBody>
      </p:sp>
      <p:pic>
        <p:nvPicPr>
          <p:cNvPr id="5" name="Picture 4" descr="Reason only, act only, or both?"/>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after Yao et al. 2022 (arXiv:2210.03629)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ReAct loop (Yao et al., 2022)</a:t>
            </a:r>
          </a:p>
        </p:txBody>
      </p:sp>
      <p:pic>
        <p:nvPicPr>
          <p:cNvPr id="5" name="Picture 4" descr="The ReAct loop (Yao et al., 2022)"/>
          <p:cNvPicPr>
            <a:picLocks noChangeAspect="1"/>
          </p:cNvPicPr>
          <p:nvPr/>
        </p:nvPicPr>
        <p:blipFill>
          <a:blip r:embed="rId3"/>
          <a:stretch>
            <a:fillRect/>
          </a:stretch>
        </p:blipFill>
        <p:spPr>
          <a:xfrm>
            <a:off x="274320" y="1085230"/>
            <a:ext cx="8595360" cy="35765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 arXiv:2210.03629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ReAct trace, line by line</a:t>
            </a:r>
          </a:p>
        </p:txBody>
      </p:sp>
      <p:pic>
        <p:nvPicPr>
          <p:cNvPr id="5" name="Picture 4" descr="A ReAct trace, line by line"/>
          <p:cNvPicPr>
            <a:picLocks noChangeAspect="1"/>
          </p:cNvPicPr>
          <p:nvPr/>
        </p:nvPicPr>
        <p:blipFill>
          <a:blip r:embed="rId3"/>
          <a:stretch>
            <a:fillRect/>
          </a:stretch>
        </p:blipFill>
        <p:spPr>
          <a:xfrm>
            <a:off x="1289360" y="1078992"/>
            <a:ext cx="65652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(ReAct-style trace)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interleave reasoning and acting?</a:t>
            </a:r>
          </a:p>
        </p:txBody>
      </p:sp>
      <p:pic>
        <p:nvPicPr>
          <p:cNvPr id="5" name="Picture 4" descr="Why interleave reasoning and acting?"/>
          <p:cNvPicPr>
            <a:picLocks noChangeAspect="1"/>
          </p:cNvPicPr>
          <p:nvPr/>
        </p:nvPicPr>
        <p:blipFill>
          <a:blip r:embed="rId3"/>
          <a:stretch>
            <a:fillRect/>
          </a:stretch>
        </p:blipFill>
        <p:spPr>
          <a:xfrm>
            <a:off x="1476040" y="1078992"/>
            <a:ext cx="619191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ReAct (Yao et al., 2022), arXiv:2210.03629, Fig. 1 (HotpotQA half)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ReAct step</a:t>
            </a:r>
          </a:p>
        </p:txBody>
      </p:sp>
      <p:pic>
        <p:nvPicPr>
          <p:cNvPr id="5" name="Picture 4" descr="Anatomy of a ReAct step"/>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Building the loop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loop actually runs</a:t>
            </a:r>
          </a:p>
        </p:txBody>
      </p:sp>
      <p:pic>
        <p:nvPicPr>
          <p:cNvPr id="5" name="Picture 4" descr="How the loop actually runs"/>
          <p:cNvPicPr>
            <a:picLocks noChangeAspect="1"/>
          </p:cNvPicPr>
          <p:nvPr/>
        </p:nvPicPr>
        <p:blipFill>
          <a:blip r:embed="rId3"/>
          <a:stretch>
            <a:fillRect/>
          </a:stretch>
        </p:blipFill>
        <p:spPr>
          <a:xfrm>
            <a:off x="274320" y="1405735"/>
            <a:ext cx="8595360" cy="29355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an action grammar</a:t>
            </a:r>
          </a:p>
        </p:txBody>
      </p:sp>
      <p:pic>
        <p:nvPicPr>
          <p:cNvPr id="5" name="Picture 4" descr="Designing an action grammar"/>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 typed functions with a contract</a:t>
            </a:r>
          </a:p>
        </p:txBody>
      </p:sp>
      <p:pic>
        <p:nvPicPr>
          <p:cNvPr id="5" name="Picture 4" descr="Tools = typed functions with a contract"/>
          <p:cNvPicPr>
            <a:picLocks noChangeAspect="1"/>
          </p:cNvPicPr>
          <p:nvPr/>
        </p:nvPicPr>
        <p:blipFill>
          <a:blip r:embed="rId3"/>
          <a:stretch>
            <a:fillRect/>
          </a:stretch>
        </p:blipFill>
        <p:spPr>
          <a:xfrm>
            <a:off x="274320" y="1114367"/>
            <a:ext cx="8595360" cy="3518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Safety: never eval() model output</a:t>
            </a:r>
          </a:p>
        </p:txBody>
      </p:sp>
      <p:pic>
        <p:nvPicPr>
          <p:cNvPr id="5" name="Picture 4" descr="Safety: never eval() model output"/>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Before agents act: talking to software safely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problem: prose is not an API</a:t>
            </a:r>
          </a:p>
        </p:txBody>
      </p:sp>
      <p:pic>
        <p:nvPicPr>
          <p:cNvPr id="5" name="Picture 4" descr="The problem: prose is not an API"/>
          <p:cNvPicPr>
            <a:picLocks noChangeAspect="1"/>
          </p:cNvPicPr>
          <p:nvPr/>
        </p:nvPicPr>
        <p:blipFill>
          <a:blip r:embed="rId3"/>
          <a:stretch>
            <a:fillRect/>
          </a:stretch>
        </p:blipFill>
        <p:spPr>
          <a:xfrm>
            <a:off x="274320" y="1121651"/>
            <a:ext cx="8595360" cy="35037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Ask for structured output</a:t>
            </a:r>
          </a:p>
        </p:txBody>
      </p:sp>
      <p:pic>
        <p:nvPicPr>
          <p:cNvPr id="5" name="Picture 4" descr="Ask for structured output"/>
          <p:cNvPicPr>
            <a:picLocks noChangeAspect="1"/>
          </p:cNvPicPr>
          <p:nvPr/>
        </p:nvPicPr>
        <p:blipFill>
          <a:blip r:embed="rId3"/>
          <a:stretch>
            <a:fillRect/>
          </a:stretch>
        </p:blipFill>
        <p:spPr>
          <a:xfrm>
            <a:off x="274320" y="1314682"/>
            <a:ext cx="8595360" cy="31176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Function (tool) calling</a:t>
            </a:r>
          </a:p>
        </p:txBody>
      </p:sp>
      <p:pic>
        <p:nvPicPr>
          <p:cNvPr id="5" name="Picture 4" descr="Function (tool) calling"/>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injection</a:t>
            </a:r>
          </a:p>
        </p:txBody>
      </p:sp>
      <p:pic>
        <p:nvPicPr>
          <p:cNvPr id="5" name="Picture 4" descr="Prompt injection"/>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and agents widen the attack surface</a:t>
            </a:r>
          </a:p>
        </p:txBody>
      </p:sp>
      <p:pic>
        <p:nvPicPr>
          <p:cNvPr id="5" name="Picture 4" descr="Tools and agents widen the attack surface"/>
          <p:cNvPicPr>
            <a:picLocks noChangeAspect="1"/>
          </p:cNvPicPr>
          <p:nvPr/>
        </p:nvPicPr>
        <p:blipFill>
          <a:blip r:embed="rId3"/>
          <a:stretch>
            <a:fillRect/>
          </a:stretch>
        </p:blipFill>
        <p:spPr>
          <a:xfrm>
            <a:off x="2779986" y="1078992"/>
            <a:ext cx="35840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 Fig.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Defense in depth</a:t>
            </a:r>
          </a:p>
        </p:txBody>
      </p:sp>
      <p:pic>
        <p:nvPicPr>
          <p:cNvPr id="5" name="Picture 4" descr="Defense in depth"/>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OWASP Top 10 for LLM Apps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(Schick et al., 2023)</a:t>
            </a:r>
          </a:p>
        </p:txBody>
      </p:sp>
      <p:pic>
        <p:nvPicPr>
          <p:cNvPr id="5" name="Picture 4" descr="Toolformer (Schick et al., 2023)"/>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Toolformer (Schick et al., 2023), arXiv:2302.04761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in action: inline API calls</a:t>
            </a:r>
          </a:p>
        </p:txBody>
      </p:sp>
      <p:pic>
        <p:nvPicPr>
          <p:cNvPr id="5" name="Picture 4" descr="Toolformer in action: inline API calls"/>
          <p:cNvPicPr>
            <a:picLocks noChangeAspect="1"/>
          </p:cNvPicPr>
          <p:nvPr/>
        </p:nvPicPr>
        <p:blipFill>
          <a:blip r:embed="rId3"/>
          <a:stretch>
            <a:fillRect/>
          </a:stretch>
        </p:blipFill>
        <p:spPr>
          <a:xfrm>
            <a:off x="3267804" y="1078992"/>
            <a:ext cx="260839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Toolformer (Schick et al., 2023), arXiv:2302.04761, Fig.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ReAct vs. Toolformer</a:t>
            </a:r>
          </a:p>
        </p:txBody>
      </p:sp>
      <p:pic>
        <p:nvPicPr>
          <p:cNvPr id="5" name="Picture 4" descr="ReAct vs. Toolformer"/>
          <p:cNvPicPr>
            <a:picLocks noChangeAspect="1"/>
          </p:cNvPicPr>
          <p:nvPr/>
        </p:nvPicPr>
        <p:blipFill>
          <a:blip r:embed="rId3"/>
          <a:stretch>
            <a:fillRect/>
          </a:stretch>
        </p:blipFill>
        <p:spPr>
          <a:xfrm>
            <a:off x="274320" y="1372956"/>
            <a:ext cx="8595360" cy="3001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Yao et al. 2022 / Schick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agents go wrong (preview)</a:t>
            </a:r>
          </a:p>
        </p:txBody>
      </p:sp>
      <p:pic>
        <p:nvPicPr>
          <p:cNvPr id="5" name="Picture 4" descr="Where agents go wrong (preview)"/>
          <p:cNvPicPr>
            <a:picLocks noChangeAspect="1"/>
          </p:cNvPicPr>
          <p:nvPr/>
        </p:nvPicPr>
        <p:blipFill>
          <a:blip r:embed="rId3"/>
          <a:stretch>
            <a:fillRect/>
          </a:stretch>
        </p:blipFill>
        <p:spPr>
          <a:xfrm>
            <a:off x="274320" y="1165356"/>
            <a:ext cx="8595360" cy="34162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(full treatment in Class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Agents already act in the world</a:t>
            </a:r>
          </a:p>
        </p:txBody>
      </p:sp>
      <p:pic>
        <p:nvPicPr>
          <p:cNvPr id="5" name="Picture 4" descr="Agents already act in the world"/>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https://images.unsplash.com/photo-1485827404703-89b55fcc595e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Agents in the wild</a:t>
            </a:r>
          </a:p>
        </p:txBody>
      </p:sp>
      <p:pic>
        <p:nvPicPr>
          <p:cNvPr id="5" name="Picture 4" descr="Video: Multi-Agent Hide &amp; Seek. Opens https://www.youtube.com/watch?v=kopoLzvh5jY">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Multi-Agent Hide &amp; Seek</a:t>
            </a:r>
          </a:p>
        </p:txBody>
      </p:sp>
      <p:pic>
        <p:nvPicPr>
          <p:cNvPr id="7" name="Picture 6" descr="Agents in the wild"/>
          <p:cNvPicPr>
            <a:picLocks noChangeAspect="1"/>
          </p:cNvPicPr>
          <p:nvPr/>
        </p:nvPicPr>
        <p:blipFill>
          <a:blip r:embed="rId5"/>
          <a:stretch>
            <a:fillRect/>
          </a:stretch>
        </p:blipFill>
        <p:spPr>
          <a:xfrm>
            <a:off x="274320" y="1571722"/>
            <a:ext cx="8595360" cy="273157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428122" y="1078992"/>
            <a:ext cx="82877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Break-the-Agent game, head to hea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 the Agent, head to head</a:t>
            </a:r>
          </a:p>
        </p:txBody>
      </p:sp>
      <p:pic>
        <p:nvPicPr>
          <p:cNvPr id="5" name="Picture 4" descr="Break the Agent, head to head"/>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weeks/week-12/class-01/exercise/break_the_agent.py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game looks like</a:t>
            </a:r>
          </a:p>
        </p:txBody>
      </p:sp>
      <p:pic>
        <p:nvPicPr>
          <p:cNvPr id="5" name="Picture 4" descr="What the game looks lik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break_the_agent.py (no Ollama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362215" y="1078992"/>
            <a:ext cx="84195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