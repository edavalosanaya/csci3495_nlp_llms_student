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Engineers crash cars on purpose to learn what breaks before drivers do. Today we crash-test an agent: five failure modes, five guards.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brief intro first, then Quiz 12 right before the break, then a full ~50 min build of the robust ReAct loop and its guards, with milestones.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things carry over. An agent is a controller plus tools plus a loop plus a stop condition. They tried to break one. Today is how a good loop survives that.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numbered steps and that is the whole thing. A step budget, a model call, a parse, a dispatch, an append, a check for done. Everything hard about agents is the error handling around these six lines.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bad one first. A vague name the model cannot guess when to call, a KeyError that kills the loop, and no docstring so it never even reaches the prompt. The good one fixes all three, and the docstring is the part people forget is load-bearing. Most "the model is dumb" bugs are really bad tool contracts.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this plainly. Almost every agent failure they will hit this term is in the loop or the tool contract, not in the model. A better model does not save a loop with no step budget.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agent bugs are loop-control and tool-contract problems, not the model being dumb.</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agent never emits finish and repeats forever. Two cheap defenses: a hard step budget so it always stops, and repeat detection so the same action twice in a row breaks the cycle.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output does not parse: wrong brackets, no Action line, an invented format. Do not crash. Append a corrective Observation telling it the expected format and let it try again. The model usually fixes itself on the next turn when it sees the error.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Divide by zero, an empty query, the wrong type. The tool returns an error string rather than raising, and the dispatcher wraps everything anyway. Two layers, because one of them will be forgotten. An error is just another Observation, the agent reads it and adapts.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asks the calculator to run arbitrary code. Two defenses, and you want both: allowlist which tools exist at all, and inside the tool parse to an AST rather than calling eval.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Privilege separation plus confirm-before-act: a tricked model still cannot run a risky tool unapproved. The model proposes the action. Your code decides whether it may run.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writes its own Observation line and invents a result. The fix is in the generation call: stop at Observation, and discard anything after it. Only your code writes observations. This single rule keeps the loop grounded in reality.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guards, each one line, each stopping a specific failure. This slide is the lab's spec sheet.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wiring on a board, an agent is only debuggable when every step is traced.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cannot debug what you cannot see. Print every Thought, Action and Observation, and record why the loop stopped: finished, budget exhausted, or repeat detected. That stopped-reason field is the first thing you look at when something goes wrong.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Few and distinct, so the model rarely picks wrong. A budget of six is big enough to finish and small enough to fail fast. A bloated toolbox makes the model worse, not better. Small models need simple grammars and tight guards. Robustness lets a weak model still be a usable agent.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is required and quizzed today. Toolformer is optional enrichment, but its core idea was lecture content and is fair game.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Coverage: Week 12 lecture + ReAct (Yao et al., 2022). ~10 min, closed book. Clear your desk; finish early and your break starts early, need more time and it comes out of the break.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50 min across milestones: tools first, then parse_action, run_tool, and the guarded run_agent.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Ollama needed: a scripted fake LLM drives every guard, so the tests are deterministic. Each line of that output is one failure mode being caught.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is simple and the robustness lives in the guards around it. Five failure modes, each with a cheap defense. Log the trace and the stop reason. And keep the toolbox small.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Designing Tools &amp; the Agent Loop</a:t>
            </a:r>
          </a:p>
        </p:txBody>
      </p:sp>
      <p:sp>
        <p:nvSpPr>
          <p:cNvPr id="3" name="Subtitle 2"/>
          <p:cNvSpPr>
            <a:spLocks noGrp="1"/>
          </p:cNvSpPr>
          <p:nvPr>
            <p:ph type="subTitle" idx="1"/>
          </p:nvPr>
        </p:nvSpPr>
        <p:spPr>
          <a:xfrm>
            <a:off x="493926" y="3549825"/>
            <a:ext cx="5685590" cy="970800"/>
          </a:xfrm>
        </p:spPr>
        <p:txBody>
          <a:bodyPr wrap="square"/>
          <a:lstStyle/>
          <a:p>
            <a:pPr marL="0" indent="0">
              <a:buNone/>
            </a:pPr>
            <a:r>
              <a:t>Natural Language Processing &amp; Large Language Models</a:t>
            </a:r>
          </a:p>
          <a:p>
            <a:pPr marL="0" indent="0">
              <a:buNone/>
            </a:pPr>
            <a:r>
              <a:t>Week 12, Class 2  ·  Mon Nov 16, 2026</a:t>
            </a:r>
          </a:p>
        </p:txBody>
      </p:sp>
      <p:pic>
        <p:nvPicPr>
          <p:cNvPr id="5" name="Picture 4" descr="Designing Tools &amp; the Agent Loop"/>
          <p:cNvPicPr>
            <a:picLocks noChangeAspect="1"/>
          </p:cNvPicPr>
          <p:nvPr/>
        </p:nvPicPr>
        <p:blipFill>
          <a:blip r:embed="rId3"/>
          <a:stretch>
            <a:fillRect/>
          </a:stretch>
        </p:blipFill>
        <p:spPr>
          <a:xfrm>
            <a:off x="6408116" y="3474720"/>
            <a:ext cx="237012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Brady Holt, CC BY 3.0,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 is an extended hands-on lab</a:t>
            </a:r>
          </a:p>
        </p:txBody>
      </p:sp>
      <p:pic>
        <p:nvPicPr>
          <p:cNvPr id="5" name="Picture 4" descr="Today is an extended hands-on lab"/>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 tile images from this deck's figures;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class</a:t>
            </a:r>
          </a:p>
        </p:txBody>
      </p:sp>
      <p:pic>
        <p:nvPicPr>
          <p:cNvPr id="5" name="Picture 4" descr="Last clas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loop, as real code</a:t>
            </a:r>
          </a:p>
        </p:txBody>
      </p:sp>
      <p:pic>
        <p:nvPicPr>
          <p:cNvPr id="5" name="Picture 4" descr="The loop, as real code"/>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weeks/week-12/class-02/solutions/agent.py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a good tool</a:t>
            </a:r>
          </a:p>
        </p:txBody>
      </p:sp>
      <p:pic>
        <p:nvPicPr>
          <p:cNvPr id="5" name="Picture 4" descr="Designing a good tool"/>
          <p:cNvPicPr>
            <a:picLocks noChangeAspect="1"/>
          </p:cNvPicPr>
          <p:nvPr/>
        </p:nvPicPr>
        <p:blipFill>
          <a:blip r:embed="rId3"/>
          <a:stretch>
            <a:fillRect/>
          </a:stretch>
        </p:blipFill>
        <p:spPr>
          <a:xfrm>
            <a:off x="274320" y="1569630"/>
            <a:ext cx="8595360" cy="26077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ost agent failures live in the loop and the tool contracts, not the model."/>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A clever model does not make a robust agent</a:t>
            </a:r>
          </a:p>
          <a:p>
            <a:pPr algn="ctr" marL="0" indent="0">
              <a:buNone/>
            </a:pPr>
            <a:r>
              <a:rPr sz="2000">
                <a:solidFill>
                  <a:srgbClr val="FFFFFF"/>
                </a:solidFill>
              </a:rPr>
              <a:t>Most agent failures live in the loop and the tool contracts, not the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https://images.unsplash.com/photo-1581091226825-a6a2a5aee158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Five failure modes (and defenses)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at a glance</a:t>
            </a:r>
          </a:p>
        </p:txBody>
      </p:sp>
      <p:pic>
        <p:nvPicPr>
          <p:cNvPr id="5" name="Picture 4" descr="Failure modes at a glance"/>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1. Runaway / infinite loop</a:t>
            </a:r>
          </a:p>
        </p:txBody>
      </p:sp>
      <p:pic>
        <p:nvPicPr>
          <p:cNvPr id="5" name="Picture 4" descr="1. Runaway / infinite loop"/>
          <p:cNvPicPr>
            <a:picLocks noChangeAspect="1"/>
          </p:cNvPicPr>
          <p:nvPr/>
        </p:nvPicPr>
        <p:blipFill>
          <a:blip r:embed="rId3"/>
          <a:stretch>
            <a:fillRect/>
          </a:stretch>
        </p:blipFill>
        <p:spPr>
          <a:xfrm>
            <a:off x="274320" y="1413087"/>
            <a:ext cx="8595360" cy="292083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2. Malformed action</a:t>
            </a:r>
          </a:p>
        </p:txBody>
      </p:sp>
      <p:pic>
        <p:nvPicPr>
          <p:cNvPr id="5" name="Picture 4" descr="2. Malformed action"/>
          <p:cNvPicPr>
            <a:picLocks noChangeAspect="1"/>
          </p:cNvPicPr>
          <p:nvPr/>
        </p:nvPicPr>
        <p:blipFill>
          <a:blip r:embed="rId3"/>
          <a:stretch>
            <a:fillRect/>
          </a:stretch>
        </p:blipFill>
        <p:spPr>
          <a:xfrm>
            <a:off x="284233" y="1078992"/>
            <a:ext cx="857553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3. Tool error / bad input</a:t>
            </a:r>
          </a:p>
        </p:txBody>
      </p:sp>
      <p:pic>
        <p:nvPicPr>
          <p:cNvPr id="5" name="Picture 4" descr="3. Tool error / bad input"/>
          <p:cNvPicPr>
            <a:picLocks noChangeAspect="1"/>
          </p:cNvPicPr>
          <p:nvPr/>
        </p:nvPicPr>
        <p:blipFill>
          <a:blip r:embed="rId3"/>
          <a:stretch>
            <a:fillRect/>
          </a:stretch>
        </p:blipFill>
        <p:spPr>
          <a:xfrm>
            <a:off x="274320" y="1261872"/>
            <a:ext cx="8595360" cy="32232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weeks/week-12/class-02/solutions/agent.py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4. Unsafe action</a:t>
            </a:r>
          </a:p>
        </p:txBody>
      </p:sp>
      <p:pic>
        <p:nvPicPr>
          <p:cNvPr id="5" name="Picture 4" descr="4. Unsafe action"/>
          <p:cNvPicPr>
            <a:picLocks noChangeAspect="1"/>
          </p:cNvPicPr>
          <p:nvPr/>
        </p:nvPicPr>
        <p:blipFill>
          <a:blip r:embed="rId3"/>
          <a:stretch>
            <a:fillRect/>
          </a:stretch>
        </p:blipFill>
        <p:spPr>
          <a:xfrm>
            <a:off x="491851" y="1078992"/>
            <a:ext cx="816029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against tool-call abuse</a:t>
            </a:r>
          </a:p>
        </p:txBody>
      </p:sp>
      <p:pic>
        <p:nvPicPr>
          <p:cNvPr id="5" name="Picture 4" descr="Defending against tool-call abuse"/>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5. Hallucinated observation</a:t>
            </a:r>
          </a:p>
        </p:txBody>
      </p:sp>
      <p:pic>
        <p:nvPicPr>
          <p:cNvPr id="5" name="Picture 4" descr="5. Hallucinated observation"/>
          <p:cNvPicPr>
            <a:picLocks noChangeAspect="1"/>
          </p:cNvPicPr>
          <p:nvPr/>
        </p:nvPicPr>
        <p:blipFill>
          <a:blip r:embed="rId3"/>
          <a:stretch>
            <a:fillRect/>
          </a:stretch>
        </p:blipFill>
        <p:spPr>
          <a:xfrm>
            <a:off x="274320" y="1182285"/>
            <a:ext cx="8595360" cy="33824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Putting it together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robust loop: all five guards</a:t>
            </a:r>
          </a:p>
        </p:txBody>
      </p:sp>
      <p:pic>
        <p:nvPicPr>
          <p:cNvPr id="5" name="Picture 4" descr="A robust loop: all five guards"/>
          <p:cNvPicPr>
            <a:picLocks noChangeAspect="1"/>
          </p:cNvPicPr>
          <p:nvPr/>
        </p:nvPicPr>
        <p:blipFill>
          <a:blip r:embed="rId3"/>
          <a:stretch>
            <a:fillRect/>
          </a:stretch>
        </p:blipFill>
        <p:spPr>
          <a:xfrm>
            <a:off x="584200" y="1078992"/>
            <a:ext cx="79756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cannot fix what you cannot see</a:t>
            </a:r>
          </a:p>
        </p:txBody>
      </p:sp>
      <p:pic>
        <p:nvPicPr>
          <p:cNvPr id="5" name="Picture 4" descr="You cannot fix what you cannot se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Observability: log the trace</a:t>
            </a:r>
          </a:p>
        </p:txBody>
      </p:sp>
      <p:pic>
        <p:nvPicPr>
          <p:cNvPr id="5" name="Picture 4" descr="Observability: log the trace"/>
          <p:cNvPicPr>
            <a:picLocks noChangeAspect="1"/>
          </p:cNvPicPr>
          <p:nvPr/>
        </p:nvPicPr>
        <p:blipFill>
          <a:blip r:embed="rId3"/>
          <a:stretch>
            <a:fillRect/>
          </a:stretch>
        </p:blipFill>
        <p:spPr>
          <a:xfrm>
            <a:off x="691978" y="1078992"/>
            <a:ext cx="77600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weeks/week-12/class-02/solutions/agent.py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many tools? How big a budget?</a:t>
            </a:r>
          </a:p>
        </p:txBody>
      </p:sp>
      <p:pic>
        <p:nvPicPr>
          <p:cNvPr id="5" name="Picture 4" descr="How many tools? How big a budget?"/>
          <p:cNvPicPr>
            <a:picLocks noChangeAspect="1"/>
          </p:cNvPicPr>
          <p:nvPr/>
        </p:nvPicPr>
        <p:blipFill>
          <a:blip r:embed="rId3"/>
          <a:stretch>
            <a:fillRect/>
          </a:stretch>
        </p:blipFill>
        <p:spPr>
          <a:xfrm>
            <a:off x="274320" y="1433402"/>
            <a:ext cx="8595360" cy="288019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(recap for the quiz)</a:t>
            </a:r>
          </a:p>
        </p:txBody>
      </p:sp>
      <p:pic>
        <p:nvPicPr>
          <p:cNvPr id="5" name="Picture 4" descr="Assigned reading (recap for the quiz)"/>
          <p:cNvPicPr>
            <a:picLocks noChangeAspect="1"/>
          </p:cNvPicPr>
          <p:nvPr/>
        </p:nvPicPr>
        <p:blipFill>
          <a:blip r:embed="rId3"/>
          <a:stretch>
            <a:fillRect/>
          </a:stretch>
        </p:blipFill>
        <p:spPr>
          <a:xfrm>
            <a:off x="474599" y="1078992"/>
            <a:ext cx="81948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12 (paper)</a:t>
            </a:r>
          </a:p>
        </p:txBody>
      </p:sp>
      <p:pic>
        <p:nvPicPr>
          <p:cNvPr id="5" name="Picture 4" descr="Quiz 12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quizzes/quiz-12.md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the robust ag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the robust agent</a:t>
            </a:r>
          </a:p>
        </p:txBody>
      </p:sp>
      <p:pic>
        <p:nvPicPr>
          <p:cNvPr id="5" name="Picture 4" descr="Extended lab: build the robust agent"/>
          <p:cNvPicPr>
            <a:picLocks noChangeAspect="1"/>
          </p:cNvPicPr>
          <p:nvPr/>
        </p:nvPicPr>
        <p:blipFill>
          <a:blip r:embed="rId3"/>
          <a:stretch>
            <a:fillRect/>
          </a:stretch>
        </p:blipFill>
        <p:spPr>
          <a:xfrm>
            <a:off x="353327" y="1078992"/>
            <a:ext cx="84373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weeks/week-12/class-02/exercise/tools.py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success looks like</a:t>
            </a:r>
          </a:p>
        </p:txBody>
      </p:sp>
      <p:pic>
        <p:nvPicPr>
          <p:cNvPr id="5" name="Picture 4" descr="What success looks like"/>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pytest test_agent.py (no Ollama needed)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257893"/>
            <a:ext cx="8595360" cy="32312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