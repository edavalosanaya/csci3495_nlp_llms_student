
<file path=[Content_Types].xml><?xml version="1.0" encoding="utf-8"?>
<Types xmlns="http://schemas.openxmlformats.org/package/2006/content-types">
  <Default Extension="fntdata" ContentType="application/x-fontdata"/>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nudge, then every step sets up the next. What happens when one domino is out of line?</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ideas carry forward. New tasks come from the prompt with no training run, and a prompt is something you test against a held-out set with the decoding pinned.</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information is in there. Demanding the answer immediately leaves the model nowhere to do the work.</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them an actual multi-step arithmetic problem for five seconds. Nobody solves it at a glance. Then make the point: we ask models to do exactly that constantly.</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most reproduced figure of the prompting era. Only the highlighted worked solution differs between the two prompts, yet it flips the cafeteria answer from 27 to 9.</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asking students to show your work: the steps make the answer better.</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Blue pulls away from black only at each family's largest model; small models gain nothing or get worse.</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Elicits reasoning zero-shot: cheap, surprisingly effective, the first thing to try.</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Self-consistency: greedy decoding commits to one flawed path ($14); sampling at temperature &gt; 0 explores several, and the stray $26 path is outvoted by the two that agree on $18.</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All three foreshadow agents (Weeks 12 to 14), where each step becomes a tool call.</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is the 2024 to 2025 turn. Instead of writing let us think step by step every time, train the chain in as a behaviour and reward the correct final answer.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Inference-time scaling: a fixed model that generates a long reasoning chain, samples many tries, or checks its work can beat a much larger model that answers in one shot.</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chain moves from something you write to something the model learned to do on its own.</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RL on verifiable rewards, the Week 10 alignment idea aimed at reasoning: AIME accuracy climbs past the average human competitor while responses grow 10x longer. Thinking longer is learned, never prompted. Same skepticism applies: plausible chain does not guarantee a correct answer.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for a tagged final line, Therefore, the answer is X., then parse the last marked answer. Reliability comes from format discipline (Week 13).</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all tools: use it where it pays for itself, and measure it.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stated reasoning may be a post-hoc rationalization. Do not equate "shows steps" with "is right": verify the final answer, not the vibe.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Chain of thought is the hinge. Next week those reasoning steps get forced into a structure the code can read, and in Weeks 12 to 14 each step becomes an action that touches the world.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twenty-five minutes. Hand-write the trace first, then a decomposition tree for the second problem, and only then run it. Committing to an answer on the board before running is what makes the comparison worth anything.</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Did the scores match what you predicted?</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handwritten 8.5 x 11 sheet, both sides, name on it, handed in with the exam. Study guide has a full-length practice exam.</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5.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1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Chain-of-Thought, Self-Consistency &amp; Decomposition</a:t>
            </a:r>
          </a:p>
        </p:txBody>
      </p:sp>
      <p:sp>
        <p:nvSpPr>
          <p:cNvPr id="3" name="Subtitle 2"/>
          <p:cNvSpPr>
            <a:spLocks noGrp="1"/>
          </p:cNvSpPr>
          <p:nvPr>
            <p:ph type="subTitle" idx="1"/>
          </p:nvPr>
        </p:nvSpPr>
        <p:spPr>
          <a:xfrm>
            <a:off x="493926" y="3549825"/>
            <a:ext cx="5828502" cy="970800"/>
          </a:xfrm>
        </p:spPr>
        <p:txBody>
          <a:bodyPr wrap="square"/>
          <a:lstStyle/>
          <a:p>
            <a:pPr marL="0" indent="0">
              <a:buNone/>
            </a:pPr>
            <a:r>
              <a:t>Natural Language Processing &amp; Large Language Models</a:t>
            </a:r>
          </a:p>
          <a:p>
            <a:pPr marL="0" indent="0">
              <a:buNone/>
            </a:pPr>
            <a:r>
              <a:t>Week 12, Class 2  ·  Wed Nov 11, 2026</a:t>
            </a:r>
          </a:p>
        </p:txBody>
      </p:sp>
      <p:pic>
        <p:nvPicPr>
          <p:cNvPr id="5" name="Picture 4" descr="Chain-of-Thought, Self-Consistency &amp; Decomposition"/>
          <p:cNvPicPr>
            <a:picLocks noChangeAspect="1"/>
          </p:cNvPicPr>
          <p:nvPr/>
        </p:nvPicPr>
        <p:blipFill>
          <a:blip r:embed="rId3"/>
          <a:stretch>
            <a:fillRect/>
          </a:stretch>
        </p:blipFill>
        <p:spPr>
          <a:xfrm>
            <a:off x="6551028" y="3474720"/>
            <a:ext cx="2227212"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Kurt:S, Wikimedia Commons, CC BY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Where we left off</a:t>
            </a:r>
          </a:p>
        </p:txBody>
      </p:sp>
      <p:pic>
        <p:nvPicPr>
          <p:cNvPr id="5" name="Picture 4" descr="Where we left off"/>
          <p:cNvPicPr>
            <a:picLocks noChangeAspect="1"/>
          </p:cNvPicPr>
          <p:nvPr/>
        </p:nvPicPr>
        <p:blipFill>
          <a:blip r:embed="rId3"/>
          <a:stretch>
            <a:fillRect/>
          </a:stretch>
        </p:blipFill>
        <p:spPr>
          <a:xfrm>
            <a:off x="274320" y="1365982"/>
            <a:ext cx="8595360" cy="30150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One-step answers fail multi-step problems</a:t>
            </a:r>
          </a:p>
        </p:txBody>
      </p:sp>
      <p:pic>
        <p:nvPicPr>
          <p:cNvPr id="5" name="Picture 4" descr="One-step answers fail multi-step problems"/>
          <p:cNvPicPr>
            <a:picLocks noChangeAspect="1"/>
          </p:cNvPicPr>
          <p:nvPr/>
        </p:nvPicPr>
        <p:blipFill>
          <a:blip r:embed="rId3"/>
          <a:stretch>
            <a:fillRect/>
          </a:stretch>
        </p:blipFill>
        <p:spPr>
          <a:xfrm>
            <a:off x="274320" y="1605459"/>
            <a:ext cx="8595360" cy="25360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Hard problems need steps. So do language models."/>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Could you solve this in one glance, or do you need to show your work?</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Hard problems need steps. So do language models.</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put the steps in the exemplar</a:t>
            </a:r>
          </a:p>
        </p:txBody>
      </p:sp>
      <p:pic>
        <p:nvPicPr>
          <p:cNvPr id="5" name="Picture 4" descr="CoT: put the steps in the exemplar"/>
          <p:cNvPicPr>
            <a:picLocks noChangeAspect="1"/>
          </p:cNvPicPr>
          <p:nvPr/>
        </p:nvPicPr>
        <p:blipFill>
          <a:blip r:embed="rId3"/>
          <a:stretch>
            <a:fillRect/>
          </a:stretch>
        </p:blipFill>
        <p:spPr>
          <a:xfrm>
            <a:off x="1374661" y="1078992"/>
            <a:ext cx="6394678"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Why does CoT help?</a:t>
            </a:r>
          </a:p>
        </p:txBody>
      </p:sp>
      <p:pic>
        <p:nvPicPr>
          <p:cNvPr id="5" name="Picture 4" descr="Why does CoT help?"/>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(arXiv:2201.11903)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5086871" cy="822960"/>
          </a:xfrm>
        </p:spPr>
        <p:txBody>
          <a:bodyPr wrap="square"/>
          <a:lstStyle/>
          <a:p>
            <a:pPr marL="0" indent="0">
              <a:buNone/>
            </a:pPr>
            <a:r>
              <a:t>CoT and scale</a:t>
            </a:r>
          </a:p>
        </p:txBody>
      </p:sp>
      <p:pic>
        <p:nvPicPr>
          <p:cNvPr id="5" name="Picture 4" descr="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
          <p:cNvPicPr>
            <a:picLocks noChangeAspect="1"/>
          </p:cNvPicPr>
          <p:nvPr/>
        </p:nvPicPr>
        <p:blipFill>
          <a:blip r:embed="rId3"/>
          <a:srcRect b="20000"/>
          <a:stretch>
            <a:fillRect/>
          </a:stretch>
        </p:blipFill>
        <p:spPr>
          <a:xfrm>
            <a:off x="5818391" y="256032"/>
            <a:ext cx="2868409" cy="4411980"/>
          </a:xfrm>
          <a:prstGeom prst="rect">
            <a:avLst/>
          </a:prstGeom>
        </p:spPr>
      </p:pic>
      <p:sp>
        <p:nvSpPr>
          <p:cNvPr id="6" name="TextBox 5"/>
          <p:cNvSpPr txBox="1"/>
          <p:nvPr/>
        </p:nvSpPr>
        <p:spPr>
          <a:xfrm>
            <a:off x="457200" y="1188720"/>
            <a:ext cx="5086871" cy="3479292"/>
          </a:xfrm>
          <a:prstGeom prst="rect">
            <a:avLst/>
          </a:prstGeom>
          <a:noFill/>
        </p:spPr>
        <p:txBody>
          <a:bodyPr wrap="square">
            <a:spAutoFit/>
          </a:bodyPr>
          <a:lstStyle/>
          <a:p>
            <a:pPr marL="0" indent="0">
              <a:spcAft>
                <a:spcPts val="800"/>
              </a:spcAft>
              <a:buNone/>
            </a:pPr>
            <a:r>
              <a:rPr sz="1300">
                <a:solidFill>
                  <a:srgbClr val="222222"/>
                </a:solidFill>
              </a:rPr>
              <a:t>Figure 4: Chain-of-thought prompting enables large language models to solve challenging math problems. Notably, chain-of-thought reasoning is an emergent ability of increasing model scale. Prior best numbers are from Cobbe et al. (2021) for GSM8K, Jie et al. (2022) for SVAMP, and Lan et al. (2021) for MAWPS.</a:t>
            </a:r>
          </a:p>
        </p:txBody>
      </p:sp>
      <p:sp>
        <p:nvSpPr>
          <p:cNvPr id="7" name="TextBox 6"/>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Wei et al. 2022 (arXiv:2201.11903), Fig. 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Zero-shot CoT</a:t>
            </a:r>
          </a:p>
        </p:txBody>
      </p:sp>
      <p:pic>
        <p:nvPicPr>
          <p:cNvPr id="5" name="Picture 4" descr="Zero-shot CoT"/>
          <p:cNvPicPr>
            <a:picLocks noChangeAspect="1"/>
          </p:cNvPicPr>
          <p:nvPr/>
        </p:nvPicPr>
        <p:blipFill>
          <a:blip r:embed="rId3"/>
          <a:stretch>
            <a:fillRect/>
          </a:stretch>
        </p:blipFill>
        <p:spPr>
          <a:xfrm>
            <a:off x="274320" y="1127569"/>
            <a:ext cx="8595360" cy="34918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Kojima et al. 2022 (arXiv:2205.11916)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Sample many chains, then vote</a:t>
            </a:r>
          </a:p>
        </p:txBody>
      </p:sp>
      <p:pic>
        <p:nvPicPr>
          <p:cNvPr id="5" name="Picture 4" descr="Sample many chains, then vote"/>
          <p:cNvPicPr>
            <a:picLocks noChangeAspect="1"/>
          </p:cNvPicPr>
          <p:nvPr/>
        </p:nvPicPr>
        <p:blipFill>
          <a:blip r:embed="rId3"/>
          <a:srcRect t="17700"/>
          <a:stretch>
            <a:fillRect/>
          </a:stretch>
        </p:blipFill>
        <p:spPr>
          <a:xfrm>
            <a:off x="1539812" y="1078992"/>
            <a:ext cx="6064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Wang et al. 2022 (arXiv:2203.11171), Fig.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Decomposition: break the task apart</a:t>
            </a:r>
          </a:p>
        </p:txBody>
      </p:sp>
      <p:pic>
        <p:nvPicPr>
          <p:cNvPr id="5" name="Picture 4" descr="Decomposition: break the task apart"/>
          <p:cNvPicPr>
            <a:picLocks noChangeAspect="1"/>
          </p:cNvPicPr>
          <p:nvPr/>
        </p:nvPicPr>
        <p:blipFill>
          <a:blip r:embed="rId3"/>
          <a:stretch>
            <a:fillRect/>
          </a:stretch>
        </p:blipFill>
        <p:spPr>
          <a:xfrm>
            <a:off x="274320" y="1092514"/>
            <a:ext cx="8595360" cy="3561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least-to-most, Zhou et al. 2022 (arXiv:2205.10625)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e 2024 to 2025 idea: make the chain a learned behavior, not a prompt you write."/>
          <p:cNvPicPr>
            <a:picLocks noChangeAspect="1"/>
          </p:cNvPicPr>
          <p:nvPr/>
        </p:nvPicPr>
        <p:blipFill>
          <a:blip r:embed="rId3"/>
          <a:stretch>
            <a:fillRect/>
          </a:stretch>
        </p:blipFill>
        <p:spPr>
          <a:xfrm>
            <a:off x="0" y="-477203"/>
            <a:ext cx="9144000" cy="609790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What if we stopped prompting for reasoning and trained it in?</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The 2024 to 2025 idea: make the chain a learned behavior, not a prompt you write.</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https://images.unsplash.com/photo-1509228468518-180dd4864904</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Scale inference, not just parameters</a:t>
            </a:r>
          </a:p>
        </p:txBody>
      </p:sp>
      <p:pic>
        <p:nvPicPr>
          <p:cNvPr id="5" name="Picture 4" descr="Scale inference, not just parameters"/>
          <p:cNvPicPr>
            <a:picLocks noChangeAspect="1"/>
          </p:cNvPicPr>
          <p:nvPr/>
        </p:nvPicPr>
        <p:blipFill>
          <a:blip r:embed="rId3"/>
          <a:stretch>
            <a:fillRect/>
          </a:stretch>
        </p:blipFill>
        <p:spPr>
          <a:xfrm>
            <a:off x="320143" y="1078992"/>
            <a:ext cx="850371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schematic; test-time compute scaling, Snell et al. 2024 (arXiv:2408.03314)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CoT to trained reasoning</a:t>
            </a:r>
          </a:p>
        </p:txBody>
      </p:sp>
      <p:pic>
        <p:nvPicPr>
          <p:cNvPr id="5" name="Picture 4" descr="CoT to trained reasoning"/>
          <p:cNvPicPr>
            <a:picLocks noChangeAspect="1"/>
          </p:cNvPicPr>
          <p:nvPr/>
        </p:nvPicPr>
        <p:blipFill>
          <a:blip r:embed="rId3"/>
          <a:stretch>
            <a:fillRect/>
          </a:stretch>
        </p:blipFill>
        <p:spPr>
          <a:xfrm>
            <a:off x="274320" y="1749727"/>
            <a:ext cx="8595360" cy="224754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Wei et al. 2022 (2201.11903); DeepSeek-R1 2025 (2501.12948)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Reasoning models: what RL training buys</a:t>
            </a:r>
          </a:p>
        </p:txBody>
      </p:sp>
      <p:pic>
        <p:nvPicPr>
          <p:cNvPr id="5" name="Picture 4" descr="Reasoning models: what RL training buys"/>
          <p:cNvPicPr>
            <a:picLocks noChangeAspect="1"/>
          </p:cNvPicPr>
          <p:nvPr/>
        </p:nvPicPr>
        <p:blipFill>
          <a:blip r:embed="rId3"/>
          <a:stretch>
            <a:fillRect/>
          </a:stretch>
        </p:blipFill>
        <p:spPr>
          <a:xfrm>
            <a:off x="1590282" y="1078992"/>
            <a:ext cx="5963435"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DeepSeek-AI 2025 (arXiv:2501.12948), Fig. 1</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Extract the answer reliably</a:t>
            </a:r>
          </a:p>
        </p:txBody>
      </p:sp>
      <p:pic>
        <p:nvPicPr>
          <p:cNvPr id="5" name="Picture 4" descr="Extract the answer reliably"/>
          <p:cNvPicPr>
            <a:picLocks noChangeAspect="1"/>
          </p:cNvPicPr>
          <p:nvPr/>
        </p:nvPicPr>
        <p:blipFill>
          <a:blip r:embed="rId3"/>
          <a:stretch>
            <a:fillRect/>
          </a:stretch>
        </p:blipFill>
        <p:spPr>
          <a:xfrm>
            <a:off x="274320" y="1258514"/>
            <a:ext cx="8595360" cy="322997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When NOT to use CoT</a:t>
            </a:r>
          </a:p>
        </p:txBody>
      </p:sp>
      <p:pic>
        <p:nvPicPr>
          <p:cNvPr id="5" name="Picture 4" descr="When NOT to use CoT"/>
          <p:cNvPicPr>
            <a:picLocks noChangeAspect="1"/>
          </p:cNvPicPr>
          <p:nvPr/>
        </p:nvPicPr>
        <p:blipFill>
          <a:blip r:embed="rId3"/>
          <a:stretch>
            <a:fillRect/>
          </a:stretch>
        </p:blipFill>
        <p:spPr>
          <a:xfrm>
            <a:off x="569123" y="1078992"/>
            <a:ext cx="800575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Risks: plausible ≠ correct</a:t>
            </a:r>
          </a:p>
        </p:txBody>
      </p:sp>
      <p:pic>
        <p:nvPicPr>
          <p:cNvPr id="5" name="Picture 4" descr="Risks: plausible ≠ correct"/>
          <p:cNvPicPr>
            <a:picLocks noChangeAspect="1"/>
          </p:cNvPicPr>
          <p:nvPr/>
        </p:nvPicPr>
        <p:blipFill>
          <a:blip r:embed="rId3"/>
          <a:stretch>
            <a:fillRect/>
          </a:stretch>
        </p:blipFill>
        <p:spPr>
          <a:xfrm>
            <a:off x="274320" y="1856640"/>
            <a:ext cx="8595360" cy="20337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Looking ahead</a:t>
            </a:r>
          </a:p>
        </p:txBody>
      </p:sp>
      <p:pic>
        <p:nvPicPr>
          <p:cNvPr id="5" name="Picture 4" descr="Looking ahead"/>
          <p:cNvPicPr>
            <a:picLocks noChangeAspect="1"/>
          </p:cNvPicPr>
          <p:nvPr/>
        </p:nvPicPr>
        <p:blipFill>
          <a:blip r:embed="rId3"/>
          <a:stretch>
            <a:fillRect/>
          </a:stretch>
        </p:blipFill>
        <p:spPr>
          <a:xfrm>
            <a:off x="700845" y="1078992"/>
            <a:ext cx="774231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schedule/SCHEDULE.md; thumbnails: Wei et al. 2022 (2201.11903) Fig. 1, Lewis et al. 2020 (2005.11401) Fig. 1, Yao et al. 2022 (2210.03629) Fig. 1</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the Predict, then Verify CoT activity."/>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Predict, then Verify CoT</a:t>
            </a:r>
          </a:p>
        </p:txBody>
      </p:sp>
      <p:pic>
        <p:nvPicPr>
          <p:cNvPr id="5" name="Picture 4" descr="Predict, then Verify CoT"/>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weeks/week-12/class-02/exercise/cot_lab.py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Verify your predictions</a:t>
            </a:r>
          </a:p>
        </p:txBody>
      </p:sp>
      <p:pic>
        <p:nvPicPr>
          <p:cNvPr id="5" name="Picture 4" descr="Verify your predictions"/>
          <p:cNvPicPr>
            <a:picLocks noChangeAspect="1"/>
          </p:cNvPicPr>
          <p:nvPr/>
        </p:nvPicPr>
        <p:blipFill>
          <a:blip r:embed="rId3"/>
          <a:stretch>
            <a:fillRect/>
          </a:stretch>
        </p:blipFill>
        <p:spPr>
          <a:xfrm>
            <a:off x="695858" y="1078992"/>
            <a:ext cx="775228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qwen2.5:0.5b via Ollama</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Midterm next class</a:t>
            </a:r>
          </a:p>
        </p:txBody>
      </p:sp>
      <p:pic>
        <p:nvPicPr>
          <p:cNvPr id="5" name="Picture 4" descr="Midterm next class"/>
          <p:cNvPicPr>
            <a:picLocks noChangeAspect="1"/>
          </p:cNvPicPr>
          <p:nvPr/>
        </p:nvPicPr>
        <p:blipFill>
          <a:blip r:embed="rId3"/>
          <a:stretch>
            <a:fillRect/>
          </a:stretch>
        </p:blipFill>
        <p:spPr>
          <a:xfrm>
            <a:off x="735910" y="1078992"/>
            <a:ext cx="767218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exams/midterm-study-guide.md</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