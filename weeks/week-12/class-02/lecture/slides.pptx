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nudge, then every step sets up the next. What happens when one domino is out of line?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ideas carry forward. New tasks come from the prompt with no training run, and a prompt is something you test against a held-out set with the decoding pinned.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information is in there. Demanding the answer immediately leaves the model nowhere to do the work.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them an actual multi-step arithmetic problem for five seconds. Nobody solves it at a glance. Then make the point: we ask models to do exactly that constantly.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of the prompting era. Only the highlighted worked solution differs between the two prompts, yet it flips the cafeteria answer from 27 to 9.</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asking students to show your work: the steps make the answer better.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Blue pulls away from black only at each family's largest model; small models gain nothing or get worse.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Elicits reasoning zero-shot: cheap, surprisingly effective, the first thing to try.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Self-consistency: greedy decoding commits to one flawed path ($14); sampling at temperature &gt; 0 explores several, and the stray $26 path is outvoted by the two that agree on $18.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foreshadow agents (Weeks 12 to 14), where each step becomes a tool call.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2024 to 2025 turn. Instead of writing let us think step by step every time, train the chain in as a behaviour and reward the correct final answer.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Inference-time scaling: a fixed model that generates a long reasoning chain, samples many tries, or checks its work can beat a much larger model that answers in one shot.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chain moves from something you write to something the model learned to do on its own.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 on verifiable rewards, the Week 10 alignment idea aimed at reasoning: AIME accuracy climbs past the average human competitor while responses grow 10x longer. Thinking longer is learned, never prompted. Same skepticism applies: plausible chain does not guarantee a correct answer.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for a tagged final line, Therefore, the answer is X., then parse the last marked answer. Reliability comes from format discipline (Week 13).</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all tools: use it where it pays for itself, and measure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stated reasoning may be a post-hoc rationalization. Do not equate "shows steps" with "is right": verify the final answer, not the vibe.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is the hinge. Next week those reasoning steps get forced into a structure the code can read, and in Weeks 12 to 14 each step becomes an action that touches the world.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12 lecture + Chain-of-Thought (Wei et al. 2022); optional readings are never quizzed. Clear your desk: finish early and your break starts early, need more time and it comes out of the break. Clear your desk: finish early and your break starts early; need more time and it comes out of your break.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twenty-five minutes. Hand-write the trace first, then a decomposition tree for the second problem, and only then run it. Committing to an answer on the board before running is what makes the comparison worth anything.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Did the scores match what you predicted?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handwritten 8.5 x 11 sheet, both sides, name on it, handed in with the exam. Study guide has a full-length practice exam.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12, Class 2  ·  Wed Nov 11, 2026</a:t>
            </a:r>
          </a:p>
        </p:txBody>
      </p:sp>
      <p:pic>
        <p:nvPicPr>
          <p:cNvPr id="5" name="Picture 4" descr="Chain-of-Thought, Self-Consistency &amp; Decomposition"/>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274320" y="1365982"/>
            <a:ext cx="8595360" cy="30150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pic>
        <p:nvPicPr>
          <p:cNvPr id="5" name="Picture 4" descr="One-step answers fail multi-step problems"/>
          <p:cNvPicPr>
            <a:picLocks noChangeAspect="1"/>
          </p:cNvPicPr>
          <p:nvPr/>
        </p:nvPicPr>
        <p:blipFill>
          <a:blip r:embed="rId3"/>
          <a:stretch>
            <a:fillRect/>
          </a:stretch>
        </p:blipFill>
        <p:spPr>
          <a:xfrm>
            <a:off x="274320" y="1605459"/>
            <a:ext cx="8595360" cy="25360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CoT: put the steps in the exemplar"/>
          <p:cNvPicPr>
            <a:picLocks noChangeAspect="1"/>
          </p:cNvPicPr>
          <p:nvPr/>
        </p:nvPicPr>
        <p:blipFill>
          <a:blip r:embed="rId3"/>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pic>
        <p:nvPicPr>
          <p:cNvPr id="5" name="Picture 4" descr="Why does CoT hel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3"/>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pic>
        <p:nvPicPr>
          <p:cNvPr id="5" name="Picture 4" descr="Zero-shot CoT"/>
          <p:cNvPicPr>
            <a:picLocks noChangeAspect="1"/>
          </p:cNvPicPr>
          <p:nvPr/>
        </p:nvPicPr>
        <p:blipFill>
          <a:blip r:embed="rId3"/>
          <a:stretch>
            <a:fillRect/>
          </a:stretch>
        </p:blipFill>
        <p:spPr>
          <a:xfrm>
            <a:off x="274320" y="1127569"/>
            <a:ext cx="8595360" cy="34918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ample many chains, then vote"/>
          <p:cNvPicPr>
            <a:picLocks noChangeAspect="1"/>
          </p:cNvPicPr>
          <p:nvPr/>
        </p:nvPicPr>
        <p:blipFill>
          <a:blip r:embed="rId3"/>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pic>
        <p:nvPicPr>
          <p:cNvPr id="5" name="Picture 4" descr="Decomposition: break the task apart"/>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3"/>
          <a:stretch>
            <a:fillRect/>
          </a:stretch>
        </p:blipFill>
        <p:spPr>
          <a:xfrm>
            <a:off x="320143" y="1078992"/>
            <a:ext cx="85037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pic>
        <p:nvPicPr>
          <p:cNvPr id="5" name="Picture 4" descr="CoT to trained reasoning"/>
          <p:cNvPicPr>
            <a:picLocks noChangeAspect="1"/>
          </p:cNvPicPr>
          <p:nvPr/>
        </p:nvPicPr>
        <p:blipFill>
          <a:blip r:embed="rId3"/>
          <a:stretch>
            <a:fillRect/>
          </a:stretch>
        </p:blipFill>
        <p:spPr>
          <a:xfrm>
            <a:off x="274320" y="1749727"/>
            <a:ext cx="8595360" cy="2247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pic>
        <p:nvPicPr>
          <p:cNvPr id="5" name="Picture 4" descr="Reasoning models: what RL training buys"/>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pic>
        <p:nvPicPr>
          <p:cNvPr id="5" name="Picture 4" descr="Extract the answer reliably"/>
          <p:cNvPicPr>
            <a:picLocks noChangeAspect="1"/>
          </p:cNvPicPr>
          <p:nvPr/>
        </p:nvPicPr>
        <p:blipFill>
          <a:blip r:embed="rId3"/>
          <a:stretch>
            <a:fillRect/>
          </a:stretch>
        </p:blipFill>
        <p:spPr>
          <a:xfrm>
            <a:off x="274320" y="1258514"/>
            <a:ext cx="8595360" cy="3229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pic>
        <p:nvPicPr>
          <p:cNvPr id="5" name="Picture 4" descr="When NOT to use CoT"/>
          <p:cNvPicPr>
            <a:picLocks noChangeAspect="1"/>
          </p:cNvPicPr>
          <p:nvPr/>
        </p:nvPicPr>
        <p:blipFill>
          <a:blip r:embed="rId3"/>
          <a:stretch>
            <a:fillRect/>
          </a:stretch>
        </p:blipFill>
        <p:spPr>
          <a:xfrm>
            <a:off x="569123" y="1078992"/>
            <a:ext cx="8005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pic>
        <p:nvPicPr>
          <p:cNvPr id="5" name="Picture 4" descr="Risks: plausible ≠ correct"/>
          <p:cNvPicPr>
            <a:picLocks noChangeAspect="1"/>
          </p:cNvPicPr>
          <p:nvPr/>
        </p:nvPicPr>
        <p:blipFill>
          <a:blip r:embed="rId3"/>
          <a:stretch>
            <a:fillRect/>
          </a:stretch>
        </p:blipFill>
        <p:spPr>
          <a:xfrm>
            <a:off x="274320" y="1856640"/>
            <a:ext cx="8595360" cy="2033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10 (paper)</a:t>
            </a:r>
          </a:p>
        </p:txBody>
      </p:sp>
      <p:pic>
        <p:nvPicPr>
          <p:cNvPr id="5" name="Picture 4" descr="Quiz 10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quizzes/quiz-10.md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Predict, then Verify CoT</a:t>
            </a:r>
          </a:p>
        </p:txBody>
      </p:sp>
      <p:pic>
        <p:nvPicPr>
          <p:cNvPr id="5" name="Picture 4" descr="Predict, then Verify Co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weeks/week-12/class-02/exercise/cot_lab.py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pic>
        <p:nvPicPr>
          <p:cNvPr id="5" name="Picture 4" descr="Verify your prediction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pic>
        <p:nvPicPr>
          <p:cNvPr id="5" name="Picture 4" descr="Midterm next clas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