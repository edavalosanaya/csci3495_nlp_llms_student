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Designing Tools &amp; the Agent Loop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68559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12, Class 2</a:t>
            </a:r>
          </a:p>
        </p:txBody>
      </p:sp>
      <p:pic>
        <p:nvPicPr>
          <p:cNvPr id="5" name="Picture 4" descr="Engineers crash cars on purpose to learn what breaks before drivers do. Today we crash-test an agent: five failure modes, five guard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16" y="3474720"/>
            <a:ext cx="237012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Brady Holt, CC BY 3.0, via Wikimedia Commons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 is an extended hands-on lab</a:t>
            </a:r>
          </a:p>
        </p:txBody>
      </p:sp>
      <p:pic>
        <p:nvPicPr>
          <p:cNvPr id="5" name="Picture 4" descr="A brief intro first, then Quiz 12 right before the break, then a full ~50 min build of the robust ReAct loop and its guards, with mileston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948" y="1078992"/>
            <a:ext cx="76861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weeks/week-12/class-02/exercise; tile images from this deck's figures; photo: Unsplash License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Last class</a:t>
            </a:r>
          </a:p>
        </p:txBody>
      </p:sp>
      <p:pic>
        <p:nvPicPr>
          <p:cNvPr id="5" name="Picture 4" descr="Last clas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09107"/>
            <a:ext cx="8595360" cy="29287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loop, as real code</a:t>
            </a:r>
          </a:p>
        </p:txBody>
      </p:sp>
      <p:pic>
        <p:nvPicPr>
          <p:cNvPr id="5" name="Picture 4" descr="The loop, as real co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58409"/>
            <a:ext cx="8595360" cy="34301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weeks/week-12/class-02/solutions/agent.py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Designing a good tool</a:t>
            </a:r>
          </a:p>
        </p:txBody>
      </p:sp>
      <p:pic>
        <p:nvPicPr>
          <p:cNvPr id="5" name="Picture 4" descr="Designing a good too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62030"/>
            <a:ext cx="8595360" cy="3022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Most agent failures live in the loop and the tool contracts, not the mode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A clever model does not make a robust agent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Most agent failures live in the loop and the tool contracts, not the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https://images.unsplash.com/photo-1581091226825-a6a2a5aee158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Five failure modes (and defenses)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Failure modes at a glance</a:t>
            </a:r>
          </a:p>
        </p:txBody>
      </p:sp>
      <p:pic>
        <p:nvPicPr>
          <p:cNvPr id="5" name="Picture 4" descr="Most agent bugs are loop-control and tool-contract problems, not the model being dum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10725"/>
            <a:ext cx="8595360" cy="35255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1. Runaway / infinite loop</a:t>
            </a:r>
          </a:p>
        </p:txBody>
      </p:sp>
      <p:pic>
        <p:nvPicPr>
          <p:cNvPr id="5" name="Picture 4" descr="1. Runaway / infinite lo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36963"/>
            <a:ext cx="8595360" cy="28730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2. Malformed action</a:t>
            </a:r>
          </a:p>
        </p:txBody>
      </p:sp>
      <p:pic>
        <p:nvPicPr>
          <p:cNvPr id="5" name="Picture 4" descr="2. Malformed ac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45438"/>
            <a:ext cx="8595360" cy="30561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3. Tool error / bad input</a:t>
            </a:r>
          </a:p>
        </p:txBody>
      </p:sp>
      <p:pic>
        <p:nvPicPr>
          <p:cNvPr id="5" name="Picture 4" descr="3. Tool error / bad inpu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14120"/>
            <a:ext cx="8595360" cy="33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weeks/week-12/class-02/solutions/agent.py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4. Unsafe action</a:t>
            </a:r>
          </a:p>
        </p:txBody>
      </p:sp>
      <p:pic>
        <p:nvPicPr>
          <p:cNvPr id="5" name="Picture 4" descr="4. Unsafe ac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066"/>
            <a:ext cx="8595360" cy="2912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Defending against tool-call abuse</a:t>
            </a:r>
          </a:p>
        </p:txBody>
      </p:sp>
      <p:pic>
        <p:nvPicPr>
          <p:cNvPr id="5" name="Picture 4" descr="Privilege separation plus confirm-before-act: a tricked model still cannot run a risky tool unapprov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91482"/>
            <a:ext cx="8595360" cy="2564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OWASP Top 10 for LLM Apps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5. Hallucinated observation</a:t>
            </a:r>
          </a:p>
        </p:txBody>
      </p:sp>
      <p:pic>
        <p:nvPicPr>
          <p:cNvPr id="5" name="Picture 4" descr="5. Hallucinated observ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33500"/>
            <a:ext cx="8595360" cy="3080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Putting it together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robust loop: all five guards</a:t>
            </a:r>
          </a:p>
        </p:txBody>
      </p:sp>
      <p:pic>
        <p:nvPicPr>
          <p:cNvPr id="5" name="Picture 4" descr="A robust loop: all five guard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2492"/>
            <a:ext cx="8595360" cy="3462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weeks/week-12/class-02/exercise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You cannot fix what you cannot see</a:t>
            </a:r>
          </a:p>
        </p:txBody>
      </p:sp>
      <p:pic>
        <p:nvPicPr>
          <p:cNvPr id="5" name="Picture 4" descr="Like wiring on a board, an agent is only debuggable when every step is trac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https://images.unsplash.com/photo-1518770660439-4636190af475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Observability: log the trace</a:t>
            </a:r>
          </a:p>
        </p:txBody>
      </p:sp>
      <p:pic>
        <p:nvPicPr>
          <p:cNvPr id="5" name="Picture 4" descr="Observability: log the tra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89" y="1078992"/>
            <a:ext cx="8182221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weeks/week-12/class-02/solutions/agent.py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many tools? How big a budget?</a:t>
            </a:r>
          </a:p>
        </p:txBody>
      </p:sp>
      <p:pic>
        <p:nvPicPr>
          <p:cNvPr id="5" name="Picture 4" descr="How many tools? How big a budget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61774"/>
            <a:ext cx="8595360" cy="3023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Assigned reading (recap for the quiz)</a:t>
            </a:r>
          </a:p>
        </p:txBody>
      </p:sp>
      <p:pic>
        <p:nvPicPr>
          <p:cNvPr id="5" name="Picture 4" descr="Assigned reading (recap for the quiz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03578"/>
            <a:ext cx="8595360" cy="2339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resources/landmark-papers.md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12 (paper)</a:t>
            </a:r>
          </a:p>
        </p:txBody>
      </p:sp>
      <p:pic>
        <p:nvPicPr>
          <p:cNvPr id="5" name="Picture 4" descr="Coverage: Week 12 lecture + ReAct (Yao et al., 2022). ~10 min, closed book. Clear your desk; finish early and your break starts early, need more time and it comes out of the brea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quizzes/quiz-12.md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extended lab: build the robust age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Extended lab: build the robust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About 50 min across milestones: tools first, then parse_action, run_tool, and the guarded run_agent</a:t>
            </a:r>
          </a:p>
        </p:txBody>
      </p:sp>
      <p:pic>
        <p:nvPicPr>
          <p:cNvPr id="6" name="Picture 5" descr="Extended lab: build the robust ag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676" y="1078992"/>
            <a:ext cx="7584647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weeks/week-12/class-02/exercise/tools.py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success looks like</a:t>
            </a:r>
          </a:p>
        </p:txBody>
      </p:sp>
      <p:pic>
        <p:nvPicPr>
          <p:cNvPr id="5" name="Picture 4" descr="What success looks lik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02699"/>
            <a:ext cx="8595360" cy="35416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run: pytest test_agent.py (no Ollama needed)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37479"/>
            <a:ext cx="8595360" cy="30720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