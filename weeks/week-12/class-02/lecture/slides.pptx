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 id="268" r:id="rId10"/>
    <p:sldId id="269" r:id="rId9"/>
    <p:sldId id="270" r:id="rId8"/>
    <p:sldId id="271" r:id="rId7"/>
    <p:sldId id="272" r:id="rId6"/>
    <p:sldId id="273" r:id="rId5"/>
    <p:sldId id="274" r:id="rId39"/>
    <p:sldId id="275" r:id="rId40"/>
    <p:sldId id="276" r:id="rId41"/>
    <p:sldId id="277" r:id="rId42"/>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 Id="rId39" Type="http://schemas.openxmlformats.org/officeDocument/2006/relationships/slide" Target="slides/slide19.xml"/><Relationship Id="rId40" Type="http://schemas.openxmlformats.org/officeDocument/2006/relationships/slide" Target="slides/slide20.xml"/><Relationship Id="rId41" Type="http://schemas.openxmlformats.org/officeDocument/2006/relationships/slide" Target="slides/slide21.xml"/><Relationship Id="rId42"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Chain-of-Thought, Self-Consistency &amp; Decomposition</a:t>
            </a:r>
          </a:p>
        </p:txBody>
      </p:sp>
      <p:sp>
        <p:nvSpPr>
          <p:cNvPr id="3" name="Subtitle 2"/>
          <p:cNvSpPr>
            <a:spLocks noGrp="1"/>
          </p:cNvSpPr>
          <p:nvPr>
            <p:ph type="subTitle" idx="1"/>
          </p:nvPr>
        </p:nvSpPr>
        <p:spPr>
          <a:xfrm>
            <a:off x="493926" y="3549825"/>
            <a:ext cx="5828502" cy="970800"/>
          </a:xfrm>
        </p:spPr>
        <p:txBody>
          <a:bodyPr wrap="square"/>
          <a:lstStyle/>
          <a:p>
            <a:pPr marL="0" indent="0">
              <a:buNone/>
            </a:pPr>
            <a:r>
              <a:t>Natural Language Processing &amp; Large Language Models</a:t>
            </a:r>
          </a:p>
          <a:p>
            <a:pPr marL="0" indent="0">
              <a:buNone/>
            </a:pPr>
            <a:r>
              <a:t>Week 12, Class 2  ·  Wed Nov 11, 2026</a:t>
            </a:r>
          </a:p>
        </p:txBody>
      </p:sp>
      <p:pic>
        <p:nvPicPr>
          <p:cNvPr id="5" name="Picture 4" descr="Chain-of-Thought, Self-Consistency &amp; Decomposition"/>
          <p:cNvPicPr>
            <a:picLocks noChangeAspect="1"/>
          </p:cNvPicPr>
          <p:nvPr/>
        </p:nvPicPr>
        <p:blipFill>
          <a:blip r:embed="rId3"/>
          <a:stretch>
            <a:fillRect/>
          </a:stretch>
        </p:blipFill>
        <p:spPr>
          <a:xfrm>
            <a:off x="6551028" y="3474720"/>
            <a:ext cx="2227212"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Kurt:S, Wikimedia Commons, CC BY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Where we left off</a:t>
            </a:r>
          </a:p>
        </p:txBody>
      </p:sp>
      <p:sp>
        <p:nvSpPr>
          <p:cNvPr id="5" name="Rounded Rectangle 4"/>
          <p:cNvSpPr/>
          <p:nvPr/>
        </p:nvSpPr>
        <p:spPr>
          <a:xfrm>
            <a:off x="457200" y="2354612"/>
            <a:ext cx="4041648" cy="1037780"/>
          </a:xfrm>
          <a:prstGeom prst="roundRect">
            <a:avLst>
              <a:gd name="adj" fmla="val 114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500916"/>
            <a:ext cx="3675888" cy="7451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IN-CONTEXT LEARNING</a:t>
            </a:r>
          </a:p>
          <a:p>
            <a:pPr marL="0" indent="0">
              <a:spcAft>
                <a:spcPts val="300"/>
              </a:spcAft>
              <a:buNone/>
            </a:pPr>
            <a:r>
              <a:rPr sz="1250" b="0" u="none">
                <a:solidFill>
                  <a:srgbClr val="1D1D1F"/>
                </a:solidFill>
                <a:latin typeface="Menlo"/>
              </a:rPr>
              <a:t>new tasks from the prompt alone</a:t>
            </a:r>
          </a:p>
          <a:p>
            <a:pPr marL="0" indent="0" algn="l">
              <a:spcAft>
                <a:spcPts val="200"/>
              </a:spcAft>
              <a:buNone/>
            </a:pPr>
            <a:r>
              <a:rPr sz="1050" b="0">
                <a:solidFill>
                  <a:srgbClr val="86868B"/>
                </a:solidFill>
                <a:latin typeface="Helvetica Neue"/>
              </a:rPr>
              <a:t>No weight updates, no training run.</a:t>
            </a:r>
          </a:p>
        </p:txBody>
      </p:sp>
      <p:sp>
        <p:nvSpPr>
          <p:cNvPr id="7" name="Rounded Rectangle 6"/>
          <p:cNvSpPr/>
          <p:nvPr/>
        </p:nvSpPr>
        <p:spPr>
          <a:xfrm>
            <a:off x="4645152" y="2354612"/>
            <a:ext cx="4041648" cy="1037780"/>
          </a:xfrm>
          <a:prstGeom prst="roundRect">
            <a:avLst>
              <a:gd name="adj" fmla="val 114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500916"/>
            <a:ext cx="3675888" cy="7451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PROMPTS AS EXPERIMENTS</a:t>
            </a:r>
          </a:p>
          <a:p>
            <a:pPr marL="0" indent="0">
              <a:spcAft>
                <a:spcPts val="300"/>
              </a:spcAft>
              <a:buNone/>
            </a:pPr>
            <a:r>
              <a:rPr sz="1250" b="0" u="none">
                <a:solidFill>
                  <a:srgbClr val="1D1D1F"/>
                </a:solidFill>
                <a:latin typeface="Menlo"/>
              </a:rPr>
              <a:t>variants, an eval set, fixed decoding</a:t>
            </a:r>
          </a:p>
          <a:p>
            <a:pPr marL="0" indent="0" algn="l">
              <a:spcAft>
                <a:spcPts val="200"/>
              </a:spcAft>
              <a:buNone/>
            </a:pPr>
            <a:r>
              <a:rPr sz="1050" b="0">
                <a:solidFill>
                  <a:srgbClr val="86868B"/>
                </a:solidFill>
                <a:latin typeface="Helvetica Neue"/>
              </a:rPr>
              <a:t>Then compare. Today: patterns that improve reasoning.</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One-step answers fail multi-step problems</a:t>
            </a:r>
          </a:p>
        </p:txBody>
      </p:sp>
      <p:sp>
        <p:nvSpPr>
          <p:cNvPr id="5" name="Rounded Rectangle 4"/>
          <p:cNvSpPr/>
          <p:nvPr/>
        </p:nvSpPr>
        <p:spPr>
          <a:xfrm>
            <a:off x="457200" y="2334768"/>
            <a:ext cx="2645664" cy="1077468"/>
          </a:xfrm>
          <a:prstGeom prst="roundRect">
            <a:avLst>
              <a:gd name="adj" fmla="val 1103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81072"/>
            <a:ext cx="2279904" cy="784860"/>
          </a:xfrm>
          <a:prstGeom prst="rect">
            <a:avLst/>
          </a:prstGeom>
          <a:noFill/>
        </p:spPr>
        <p:txBody>
          <a:bodyPr wrap="square" anchor="t" lIns="0" rIns="0" tIns="0" bIns="0">
            <a:spAutoFit/>
          </a:bodyPr>
          <a:lstStyle/>
          <a:p>
            <a:pPr marL="0" indent="0" algn="l">
              <a:spcAft>
                <a:spcPts val="600"/>
              </a:spcAft>
              <a:buNone/>
            </a:pPr>
            <a:r>
              <a:rPr sz="850" b="1" spc="70">
                <a:solidFill>
                  <a:srgbClr val="86868B"/>
                </a:solidFill>
                <a:latin typeface="Helvetica Neue"/>
              </a:rPr>
              <a:t>THE PROMPT</a:t>
            </a:r>
          </a:p>
          <a:p>
            <a:pPr marL="0" indent="0">
              <a:spcAft>
                <a:spcPts val="300"/>
              </a:spcAft>
              <a:buNone/>
            </a:pPr>
            <a:r>
              <a:rPr sz="950" b="0" u="none">
                <a:solidFill>
                  <a:srgbClr val="1D1D1F"/>
                </a:solidFill>
                <a:latin typeface="Menlo"/>
              </a:rPr>
              <a:t>"23 muffins, sold 17, baked 12 more. Answer with only the number."</a:t>
            </a:r>
          </a:p>
        </p:txBody>
      </p:sp>
      <p:sp>
        <p:nvSpPr>
          <p:cNvPr id="7" name="Rounded Rectangle 6"/>
          <p:cNvSpPr/>
          <p:nvPr/>
        </p:nvSpPr>
        <p:spPr>
          <a:xfrm>
            <a:off x="3249168" y="2334768"/>
            <a:ext cx="2645664" cy="1077468"/>
          </a:xfrm>
          <a:prstGeom prst="roundRect">
            <a:avLst>
              <a:gd name="adj" fmla="val 1103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32048" y="2481072"/>
            <a:ext cx="2279904" cy="784860"/>
          </a:xfrm>
          <a:prstGeom prst="rect">
            <a:avLst/>
          </a:prstGeom>
          <a:noFill/>
        </p:spPr>
        <p:txBody>
          <a:bodyPr wrap="square" anchor="t" lIns="0" rIns="0" tIns="0" bIns="0">
            <a:spAutoFit/>
          </a:bodyPr>
          <a:lstStyle/>
          <a:p>
            <a:pPr marL="0" indent="0" algn="l">
              <a:spcAft>
                <a:spcPts val="600"/>
              </a:spcAft>
              <a:buNone/>
            </a:pPr>
            <a:r>
              <a:rPr sz="850" b="1" spc="70">
                <a:solidFill>
                  <a:srgbClr val="86868B"/>
                </a:solidFill>
                <a:latin typeface="Helvetica Neue"/>
              </a:rPr>
              <a:t>WHAT IT SAYS</a:t>
            </a:r>
          </a:p>
          <a:p>
            <a:pPr marL="0" indent="0">
              <a:spcAft>
                <a:spcPts val="300"/>
              </a:spcAft>
              <a:buNone/>
            </a:pPr>
            <a:r>
              <a:rPr sz="950" b="0" u="none">
                <a:solidFill>
                  <a:srgbClr val="1D1D1F"/>
                </a:solidFill>
                <a:latin typeface="Menlo"/>
              </a:rPr>
              <a:t>23</a:t>
            </a:r>
          </a:p>
          <a:p>
            <a:pPr marL="0" indent="0" algn="l">
              <a:spcAft>
                <a:spcPts val="200"/>
              </a:spcAft>
              <a:buNone/>
            </a:pPr>
            <a:r>
              <a:rPr sz="900" b="0">
                <a:solidFill>
                  <a:srgbClr val="86868B"/>
                </a:solidFill>
                <a:latin typeface="Helvetica Neue"/>
              </a:rPr>
              <a:t>Wrong. It echoed the first number it saw.</a:t>
            </a:r>
          </a:p>
        </p:txBody>
      </p:sp>
      <p:sp>
        <p:nvSpPr>
          <p:cNvPr id="9" name="Rounded Rectangle 8"/>
          <p:cNvSpPr/>
          <p:nvPr/>
        </p:nvSpPr>
        <p:spPr>
          <a:xfrm>
            <a:off x="6041136" y="2334768"/>
            <a:ext cx="2645664" cy="1077468"/>
          </a:xfrm>
          <a:prstGeom prst="roundRect">
            <a:avLst>
              <a:gd name="adj" fmla="val 11032"/>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24016" y="2481072"/>
            <a:ext cx="2279904" cy="784860"/>
          </a:xfrm>
          <a:prstGeom prst="rect">
            <a:avLst/>
          </a:prstGeom>
          <a:noFill/>
        </p:spPr>
        <p:txBody>
          <a:bodyPr wrap="square" anchor="t" lIns="0" rIns="0" tIns="0" bIns="0">
            <a:spAutoFit/>
          </a:bodyPr>
          <a:lstStyle/>
          <a:p>
            <a:pPr marL="0" indent="0" algn="l">
              <a:spcAft>
                <a:spcPts val="600"/>
              </a:spcAft>
              <a:buNone/>
            </a:pPr>
            <a:r>
              <a:rPr sz="850" b="1" spc="70">
                <a:solidFill>
                  <a:srgbClr val="86868B"/>
                </a:solidFill>
                <a:latin typeface="Helvetica Neue"/>
              </a:rPr>
              <a:t>THE WORK IT SKIPPED</a:t>
            </a:r>
          </a:p>
          <a:p>
            <a:pPr marL="0" indent="0">
              <a:spcAft>
                <a:spcPts val="300"/>
              </a:spcAft>
              <a:buNone/>
            </a:pPr>
            <a:r>
              <a:rPr sz="950" b="0" u="none">
                <a:solidFill>
                  <a:srgbClr val="1D1D1F"/>
                </a:solidFill>
                <a:latin typeface="Menlo"/>
              </a:rPr>
              <a:t>23 - 17 = 6, then 6 + 12 = 18</a:t>
            </a:r>
          </a:p>
          <a:p>
            <a:pPr marL="0" indent="0" algn="l">
              <a:spcAft>
                <a:spcPts val="200"/>
              </a:spcAft>
              <a:buNone/>
            </a:pPr>
            <a:r>
              <a:rPr sz="900" b="0">
                <a:solidFill>
                  <a:srgbClr val="86868B"/>
                </a:solidFill>
                <a:latin typeface="Helvetica Neue"/>
              </a:rPr>
              <a:t>Two easy steps that never happened, because there was no room to take them.</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Hard problems need steps. So do language models."/>
          <p:cNvPicPr>
            <a:picLocks noChangeAspect="1"/>
          </p:cNvPicPr>
          <p:nvPr/>
        </p:nvPicPr>
        <p:blipFill>
          <a:blip r:embed="rId3"/>
          <a:stretch>
            <a:fillRect/>
          </a:stretch>
        </p:blipFill>
        <p:spPr>
          <a:xfrm>
            <a:off x="0" y="-477203"/>
            <a:ext cx="9144000" cy="6097905"/>
          </a:xfrm>
          <a:prstGeom prst="rect">
            <a:avLst/>
          </a:prstGeom>
        </p:spPr>
      </p:pic>
      <p:sp>
        <p:nvSpPr>
          <p:cNvPr id="6" name="Rectangle 5"/>
          <p:cNvSpPr/>
          <p:nvPr/>
        </p:nvSpPr>
        <p:spPr>
          <a:xfrm>
            <a:off x="0" y="1143000"/>
            <a:ext cx="9144000" cy="2834640"/>
          </a:xfrm>
          <a:prstGeom prst="rect">
            <a:avLst/>
          </a:prstGeom>
          <a:solidFill>
            <a:srgbClr val="10101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7863840" cy="1874519"/>
          </a:xfrm>
          <a:prstGeom prst="rect">
            <a:avLst/>
          </a:prstGeom>
          <a:noFill/>
        </p:spPr>
        <p:txBody>
          <a:bodyPr wrap="square" anchor="ctr">
            <a:spAutoFit/>
          </a:bodyPr>
          <a:lstStyle/>
          <a:p>
            <a:pPr algn="ctr" marL="0" indent="0">
              <a:buNone/>
            </a:pPr>
            <a:r>
              <a:rPr sz="3400" b="1">
                <a:solidFill>
                  <a:srgbClr val="FFFFFF"/>
                </a:solidFill>
              </a:rPr>
              <a:t>Could you solve this in one glance, or do you need to show your work?</a:t>
            </a:r>
          </a:p>
        </p:txBody>
      </p:sp>
      <p:sp>
        <p:nvSpPr>
          <p:cNvPr id="8" name="TextBox 7"/>
          <p:cNvSpPr txBox="1"/>
          <p:nvPr/>
        </p:nvSpPr>
        <p:spPr>
          <a:xfrm>
            <a:off x="640080" y="3108959"/>
            <a:ext cx="7863840" cy="777240"/>
          </a:xfrm>
          <a:prstGeom prst="rect">
            <a:avLst/>
          </a:prstGeom>
          <a:noFill/>
        </p:spPr>
        <p:txBody>
          <a:bodyPr wrap="square" anchor="t">
            <a:spAutoFit/>
          </a:bodyPr>
          <a:lstStyle/>
          <a:p>
            <a:pPr algn="ctr" marL="0" indent="0">
              <a:buNone/>
            </a:pPr>
            <a:r>
              <a:rPr sz="2000">
                <a:solidFill>
                  <a:srgbClr val="FFFFFF"/>
                </a:solidFill>
              </a:rPr>
              <a:t>Hard problems need steps. So do language models.</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https://images.unsplash.com/photo-1509228468518-180dd4864904</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CoT: put the steps in the exemplar</a:t>
            </a:r>
          </a:p>
        </p:txBody>
      </p:sp>
      <p:pic>
        <p:nvPicPr>
          <p:cNvPr id="5" name="Picture 4" descr="CoT: put the steps in the exemplar"/>
          <p:cNvPicPr>
            <a:picLocks noChangeAspect="1"/>
          </p:cNvPicPr>
          <p:nvPr/>
        </p:nvPicPr>
        <p:blipFill>
          <a:blip r:embed="rId3"/>
          <a:stretch>
            <a:fillRect/>
          </a:stretch>
        </p:blipFill>
        <p:spPr>
          <a:xfrm>
            <a:off x="1374661" y="1078992"/>
            <a:ext cx="6394678"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Wei et al. 2022 (arXiv:2201.11903), Fig.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Why does CoT help?</a:t>
            </a:r>
          </a:p>
        </p:txBody>
      </p:sp>
      <p:sp>
        <p:nvSpPr>
          <p:cNvPr id="5" name="Rounded Rectangle 4"/>
          <p:cNvSpPr/>
          <p:nvPr/>
        </p:nvSpPr>
        <p:spPr>
          <a:xfrm>
            <a:off x="457200" y="1078992"/>
            <a:ext cx="8229600" cy="1135380"/>
          </a:xfrm>
          <a:prstGeom prst="roundRect">
            <a:avLst>
              <a:gd name="adj" fmla="val 885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1135380"/>
          </a:xfrm>
          <a:prstGeom prst="rect">
            <a:avLst/>
          </a:prstGeom>
          <a:noFill/>
        </p:spPr>
        <p:txBody>
          <a:bodyPr wrap="none" anchor="ctr" lIns="0" rIns="0" tIns="0" bIns="0">
            <a:spAutoFit/>
          </a:bodyPr>
          <a:lstStyle/>
          <a:p>
            <a:pPr marL="0" indent="0" algn="l">
              <a:spcAft>
                <a:spcPts val="0"/>
              </a:spcAft>
              <a:buNone/>
            </a:pPr>
            <a:r>
              <a:rPr sz="1850" b="1">
                <a:solidFill>
                  <a:srgbClr val="1D1D1F"/>
                </a:solidFill>
                <a:latin typeface="Helvetica Neue"/>
              </a:rPr>
              <a:t>1</a:t>
            </a:r>
          </a:p>
        </p:txBody>
      </p:sp>
      <p:sp>
        <p:nvSpPr>
          <p:cNvPr id="7" name="TextBox 6"/>
          <p:cNvSpPr txBox="1"/>
          <p:nvPr/>
        </p:nvSpPr>
        <p:spPr>
          <a:xfrm>
            <a:off x="1170432" y="1078992"/>
            <a:ext cx="7278624" cy="1135380"/>
          </a:xfrm>
          <a:prstGeom prst="rect">
            <a:avLst/>
          </a:prstGeom>
          <a:noFill/>
        </p:spPr>
        <p:txBody>
          <a:bodyPr wrap="square" anchor="ctr" lIns="0" rIns="0" tIns="0" bIns="0">
            <a:spAutoFit/>
          </a:bodyPr>
          <a:lstStyle/>
          <a:p>
            <a:pPr marL="0" indent="0" algn="l">
              <a:spcAft>
                <a:spcPts val="0"/>
              </a:spcAft>
              <a:buNone/>
            </a:pPr>
            <a:r>
              <a:rPr sz="1250" b="0">
                <a:solidFill>
                  <a:srgbClr val="1D1D1F"/>
                </a:solidFill>
                <a:latin typeface="Menlo"/>
              </a:rPr>
              <a:t>More compute: every generated token is another pass through the model</a:t>
            </a:r>
          </a:p>
        </p:txBody>
      </p:sp>
      <p:sp>
        <p:nvSpPr>
          <p:cNvPr id="8" name="Rounded Rectangle 7"/>
          <p:cNvSpPr/>
          <p:nvPr/>
        </p:nvSpPr>
        <p:spPr>
          <a:xfrm>
            <a:off x="457200" y="2305812"/>
            <a:ext cx="8229600" cy="1135380"/>
          </a:xfrm>
          <a:prstGeom prst="roundRect">
            <a:avLst>
              <a:gd name="adj" fmla="val 885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2305812"/>
            <a:ext cx="475488" cy="1135380"/>
          </a:xfrm>
          <a:prstGeom prst="rect">
            <a:avLst/>
          </a:prstGeom>
          <a:noFill/>
        </p:spPr>
        <p:txBody>
          <a:bodyPr wrap="none" anchor="ctr" lIns="0" rIns="0" tIns="0" bIns="0">
            <a:spAutoFit/>
          </a:bodyPr>
          <a:lstStyle/>
          <a:p>
            <a:pPr marL="0" indent="0" algn="l">
              <a:spcAft>
                <a:spcPts val="0"/>
              </a:spcAft>
              <a:buNone/>
            </a:pPr>
            <a:r>
              <a:rPr sz="1850" b="1">
                <a:solidFill>
                  <a:srgbClr val="1D1D1F"/>
                </a:solidFill>
                <a:latin typeface="Helvetica Neue"/>
              </a:rPr>
              <a:t>2</a:t>
            </a:r>
          </a:p>
        </p:txBody>
      </p:sp>
      <p:sp>
        <p:nvSpPr>
          <p:cNvPr id="10" name="TextBox 9"/>
          <p:cNvSpPr txBox="1"/>
          <p:nvPr/>
        </p:nvSpPr>
        <p:spPr>
          <a:xfrm>
            <a:off x="1170432" y="2305812"/>
            <a:ext cx="7278624" cy="1135380"/>
          </a:xfrm>
          <a:prstGeom prst="rect">
            <a:avLst/>
          </a:prstGeom>
          <a:noFill/>
        </p:spPr>
        <p:txBody>
          <a:bodyPr wrap="square" anchor="ctr" lIns="0" rIns="0" tIns="0" bIns="0">
            <a:spAutoFit/>
          </a:bodyPr>
          <a:lstStyle/>
          <a:p>
            <a:pPr marL="0" indent="0" algn="l">
              <a:spcAft>
                <a:spcPts val="0"/>
              </a:spcAft>
              <a:buNone/>
            </a:pPr>
            <a:r>
              <a:rPr sz="1250" b="0">
                <a:solidFill>
                  <a:srgbClr val="1D1D1F"/>
                </a:solidFill>
                <a:latin typeface="Menlo"/>
              </a:rPr>
              <a:t>The intermediate state is written down instead of held in one activation</a:t>
            </a:r>
          </a:p>
        </p:txBody>
      </p:sp>
      <p:sp>
        <p:nvSpPr>
          <p:cNvPr id="11" name="Rounded Rectangle 10"/>
          <p:cNvSpPr/>
          <p:nvPr/>
        </p:nvSpPr>
        <p:spPr>
          <a:xfrm>
            <a:off x="457200" y="3532632"/>
            <a:ext cx="8229600" cy="1135380"/>
          </a:xfrm>
          <a:prstGeom prst="roundRect">
            <a:avLst>
              <a:gd name="adj" fmla="val 885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3532632"/>
            <a:ext cx="475488" cy="1135380"/>
          </a:xfrm>
          <a:prstGeom prst="rect">
            <a:avLst/>
          </a:prstGeom>
          <a:noFill/>
        </p:spPr>
        <p:txBody>
          <a:bodyPr wrap="none" anchor="ctr" lIns="0" rIns="0" tIns="0" bIns="0">
            <a:spAutoFit/>
          </a:bodyPr>
          <a:lstStyle/>
          <a:p>
            <a:pPr marL="0" indent="0" algn="l">
              <a:spcAft>
                <a:spcPts val="0"/>
              </a:spcAft>
              <a:buNone/>
            </a:pPr>
            <a:r>
              <a:rPr sz="1850" b="1">
                <a:solidFill>
                  <a:srgbClr val="1D1D1F"/>
                </a:solidFill>
                <a:latin typeface="Helvetica Neue"/>
              </a:rPr>
              <a:t>3</a:t>
            </a:r>
          </a:p>
        </p:txBody>
      </p:sp>
      <p:sp>
        <p:nvSpPr>
          <p:cNvPr id="13" name="TextBox 12"/>
          <p:cNvSpPr txBox="1"/>
          <p:nvPr/>
        </p:nvSpPr>
        <p:spPr>
          <a:xfrm>
            <a:off x="1170432" y="3532632"/>
            <a:ext cx="7278624" cy="1135380"/>
          </a:xfrm>
          <a:prstGeom prst="rect">
            <a:avLst/>
          </a:prstGeom>
          <a:noFill/>
        </p:spPr>
        <p:txBody>
          <a:bodyPr wrap="square" anchor="ctr" lIns="0" rIns="0" tIns="0" bIns="0">
            <a:spAutoFit/>
          </a:bodyPr>
          <a:lstStyle/>
          <a:p>
            <a:pPr marL="0" indent="0" algn="l">
              <a:spcAft>
                <a:spcPts val="0"/>
              </a:spcAft>
              <a:buNone/>
            </a:pPr>
            <a:r>
              <a:rPr sz="1250" b="0">
                <a:solidFill>
                  <a:srgbClr val="1D1D1F"/>
                </a:solidFill>
                <a:latin typeface="Menlo"/>
              </a:rPr>
              <a:t>The chain is inspectable, so a wrong step is visible rather than hidden</a:t>
            </a:r>
          </a:p>
        </p:txBody>
      </p:sp>
      <p:sp>
        <p:nvSpPr>
          <p:cNvPr id="14" name="TextBox 13"/>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Wei et al. 2022 (arXiv:2201.11903)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5086871" cy="822960"/>
          </a:xfrm>
        </p:spPr>
        <p:txBody>
          <a:bodyPr wrap="square"/>
          <a:lstStyle/>
          <a:p>
            <a:pPr marL="0" indent="0">
              <a:buNone/>
            </a:pPr>
            <a:r>
              <a:t>CoT and scale</a:t>
            </a:r>
          </a:p>
        </p:txBody>
      </p:sp>
      <p:pic>
        <p:nvPicPr>
          <p:cNvPr id="5" name="Picture 4" descr="Figure 4: Chain-of-thought prompting enables large language models to solve challenging math problems. Notably, chain-of-thought reasoning is an emergent ability of increasing model scale. Prior best numbers are from Cobbe et al. (2021) for GSM8K, Jie et al. (2022) for SVAMP, and Lan et al. (2021) for MAWPS."/>
          <p:cNvPicPr>
            <a:picLocks noChangeAspect="1"/>
          </p:cNvPicPr>
          <p:nvPr/>
        </p:nvPicPr>
        <p:blipFill>
          <a:blip r:embed="rId3"/>
          <a:srcRect b="20000"/>
          <a:stretch>
            <a:fillRect/>
          </a:stretch>
        </p:blipFill>
        <p:spPr>
          <a:xfrm>
            <a:off x="5818391" y="256032"/>
            <a:ext cx="2868409" cy="4411980"/>
          </a:xfrm>
          <a:prstGeom prst="rect">
            <a:avLst/>
          </a:prstGeom>
        </p:spPr>
      </p:pic>
      <p:sp>
        <p:nvSpPr>
          <p:cNvPr id="6" name="TextBox 5"/>
          <p:cNvSpPr txBox="1"/>
          <p:nvPr/>
        </p:nvSpPr>
        <p:spPr>
          <a:xfrm>
            <a:off x="457200" y="1188720"/>
            <a:ext cx="5086871" cy="3479292"/>
          </a:xfrm>
          <a:prstGeom prst="rect">
            <a:avLst/>
          </a:prstGeom>
          <a:noFill/>
        </p:spPr>
        <p:txBody>
          <a:bodyPr wrap="square">
            <a:spAutoFit/>
          </a:bodyPr>
          <a:lstStyle/>
          <a:p>
            <a:pPr marL="0" indent="0">
              <a:spcAft>
                <a:spcPts val="800"/>
              </a:spcAft>
              <a:buNone/>
            </a:pPr>
            <a:r>
              <a:rPr sz="1300">
                <a:solidFill>
                  <a:srgbClr val="222222"/>
                </a:solidFill>
              </a:rPr>
              <a:t>Figure 4: Chain-of-thought prompting enables large language models to solve challenging math problems. Notably, chain-of-thought reasoning is an emergent ability of increasing model scale. Prior best numbers are from Cobbe et al. (2021) for GSM8K, Jie et al. (2022) for SVAMP, and Lan et al. (2021) for MAWPS.</a:t>
            </a:r>
          </a:p>
        </p:txBody>
      </p:sp>
      <p:sp>
        <p:nvSpPr>
          <p:cNvPr id="7" name="TextBox 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Wei et al. 2022 (arXiv:2201.11903), Fig.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Zero-shot CoT</a:t>
            </a:r>
          </a:p>
        </p:txBody>
      </p:sp>
      <p:sp>
        <p:nvSpPr>
          <p:cNvPr id="5" name="Rounded Rectangle 4"/>
          <p:cNvSpPr/>
          <p:nvPr/>
        </p:nvSpPr>
        <p:spPr>
          <a:xfrm>
            <a:off x="457200" y="2299843"/>
            <a:ext cx="4041648" cy="1147318"/>
          </a:xfrm>
          <a:prstGeom prst="roundRect">
            <a:avLst>
              <a:gd name="adj" fmla="val 1036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46147"/>
            <a:ext cx="3675888" cy="85471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WITHOUT IT</a:t>
            </a:r>
          </a:p>
          <a:p>
            <a:pPr marL="0" indent="0">
              <a:spcAft>
                <a:spcPts val="300"/>
              </a:spcAft>
              <a:buNone/>
            </a:pPr>
            <a:r>
              <a:rPr sz="1700" b="0" u="none">
                <a:solidFill>
                  <a:srgbClr val="1D1D1F"/>
                </a:solidFill>
                <a:latin typeface="Menlo"/>
              </a:rPr>
              <a:t>"Answer: 42"</a:t>
            </a:r>
          </a:p>
          <a:p>
            <a:pPr marL="0" indent="0" algn="l">
              <a:spcAft>
                <a:spcPts val="200"/>
              </a:spcAft>
              <a:buNone/>
            </a:pPr>
            <a:r>
              <a:rPr sz="1200" b="0">
                <a:solidFill>
                  <a:srgbClr val="86868B"/>
                </a:solidFill>
                <a:latin typeface="Helvetica Neue"/>
              </a:rPr>
              <a:t>A fast, often wrong guess. No steps to inspect.</a:t>
            </a:r>
          </a:p>
        </p:txBody>
      </p:sp>
      <p:sp>
        <p:nvSpPr>
          <p:cNvPr id="7" name="Rounded Rectangle 6"/>
          <p:cNvSpPr/>
          <p:nvPr/>
        </p:nvSpPr>
        <p:spPr>
          <a:xfrm>
            <a:off x="4645152" y="2299843"/>
            <a:ext cx="4041648" cy="1147318"/>
          </a:xfrm>
          <a:prstGeom prst="roundRect">
            <a:avLst>
              <a:gd name="adj" fmla="val 1036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46147"/>
            <a:ext cx="3675888" cy="85471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WITH ONE PHRASE</a:t>
            </a:r>
          </a:p>
          <a:p>
            <a:pPr marL="0" indent="0">
              <a:spcAft>
                <a:spcPts val="300"/>
              </a:spcAft>
              <a:buNone/>
            </a:pPr>
            <a:r>
              <a:rPr sz="1700" b="0" u="none">
                <a:solidFill>
                  <a:srgbClr val="1D1D1F"/>
                </a:solidFill>
                <a:latin typeface="Menlo"/>
              </a:rPr>
              <a:t>"Let's think step by step."</a:t>
            </a:r>
          </a:p>
          <a:p>
            <a:pPr marL="0" indent="0" algn="l">
              <a:spcAft>
                <a:spcPts val="200"/>
              </a:spcAft>
              <a:buNone/>
            </a:pPr>
            <a:r>
              <a:rPr sz="1200" b="0">
                <a:solidFill>
                  <a:srgbClr val="86868B"/>
                </a:solidFill>
                <a:latin typeface="Helvetica Neue"/>
              </a:rPr>
              <a:t>The model lays out steps first, then answers. No exemplars to write.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Kojima et al. 2022 (arXiv:2205.11916)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Sample many chains, then vote</a:t>
            </a:r>
          </a:p>
        </p:txBody>
      </p:sp>
      <p:pic>
        <p:nvPicPr>
          <p:cNvPr id="5" name="Picture 4" descr="Sample many chains, then vote"/>
          <p:cNvPicPr>
            <a:picLocks noChangeAspect="1"/>
          </p:cNvPicPr>
          <p:nvPr/>
        </p:nvPicPr>
        <p:blipFill>
          <a:blip r:embed="rId3"/>
          <a:srcRect t="17700"/>
          <a:stretch>
            <a:fillRect/>
          </a:stretch>
        </p:blipFill>
        <p:spPr>
          <a:xfrm>
            <a:off x="1539812" y="1078992"/>
            <a:ext cx="6064375"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Wang et al. 2022 (arXiv:2203.11171), Fig.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Decomposition: break the task apart</a:t>
            </a:r>
          </a:p>
        </p:txBody>
      </p:sp>
      <p:graphicFrame>
        <p:nvGraphicFramePr>
          <p:cNvPr id="5" name="Table 4"/>
          <p:cNvGraphicFramePr>
            <a:graphicFrameLocks noGrp="1"/>
          </p:cNvGraphicFramePr>
          <p:nvPr/>
        </p:nvGraphicFramePr>
        <p:xfrm>
          <a:off x="457200" y="1739646"/>
          <a:ext cx="8229599" cy="2267712"/>
        </p:xfrm>
        <a:graphic>
          <a:graphicData uri="http://schemas.openxmlformats.org/drawingml/2006/table">
            <a:tbl>
              <a:tblPr firstRow="1" bandRow="0"/>
              <a:tblGrid>
                <a:gridCol w="2495105"/>
                <a:gridCol w="1911498"/>
                <a:gridCol w="1911498"/>
                <a:gridCol w="1911498"/>
              </a:tblGrid>
              <a:tr h="566928">
                <a:tc>
                  <a:txBody>
                    <a:bodyPr wrap="none"/>
                    <a:lstStyle/>
                    <a:p>
                      <a:pPr marL="0" indent="0" algn="l">
                        <a:spcAft>
                          <a:spcPts val="0"/>
                        </a:spcAft>
                        <a:buNone/>
                      </a:pPr>
                      <a:r>
                        <a:rPr sz="1100" b="1" spc="50">
                          <a:solidFill>
                            <a:srgbClr val="86868B"/>
                          </a:solidFill>
                          <a:latin typeface="Helvetica Neue"/>
                        </a:rPr>
                        <a:t>PATTERN</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FIRST</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THEN</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FINALLY</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Least-to-most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solve the easiest part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feed it forward</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build to the whole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Self-ask</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ask a sub-question</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answer it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combine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Plan then execute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write the plan</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run each step</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assemble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least-to-most, Zhou et al. 2022 (arXiv:2205.10625)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The 2024 to 2025 idea: make the chain a learned behavior, not a prompt you write."/>
          <p:cNvPicPr>
            <a:picLocks noChangeAspect="1"/>
          </p:cNvPicPr>
          <p:nvPr/>
        </p:nvPicPr>
        <p:blipFill>
          <a:blip r:embed="rId3"/>
          <a:stretch>
            <a:fillRect/>
          </a:stretch>
        </p:blipFill>
        <p:spPr>
          <a:xfrm>
            <a:off x="0" y="-477203"/>
            <a:ext cx="9144000" cy="6097905"/>
          </a:xfrm>
          <a:prstGeom prst="rect">
            <a:avLst/>
          </a:prstGeom>
        </p:spPr>
      </p:pic>
      <p:sp>
        <p:nvSpPr>
          <p:cNvPr id="6" name="Rectangle 5"/>
          <p:cNvSpPr/>
          <p:nvPr/>
        </p:nvSpPr>
        <p:spPr>
          <a:xfrm>
            <a:off x="0" y="1143000"/>
            <a:ext cx="9144000" cy="2834640"/>
          </a:xfrm>
          <a:prstGeom prst="rect">
            <a:avLst/>
          </a:prstGeom>
          <a:solidFill>
            <a:srgbClr val="10101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7863840" cy="1874519"/>
          </a:xfrm>
          <a:prstGeom prst="rect">
            <a:avLst/>
          </a:prstGeom>
          <a:noFill/>
        </p:spPr>
        <p:txBody>
          <a:bodyPr wrap="square" anchor="ctr">
            <a:spAutoFit/>
          </a:bodyPr>
          <a:lstStyle/>
          <a:p>
            <a:pPr algn="ctr" marL="0" indent="0">
              <a:buNone/>
            </a:pPr>
            <a:r>
              <a:rPr sz="3400" b="1">
                <a:solidFill>
                  <a:srgbClr val="FFFFFF"/>
                </a:solidFill>
              </a:rPr>
              <a:t>What if we stopped prompting for reasoning and trained it in?</a:t>
            </a:r>
          </a:p>
        </p:txBody>
      </p:sp>
      <p:sp>
        <p:nvSpPr>
          <p:cNvPr id="8" name="TextBox 7"/>
          <p:cNvSpPr txBox="1"/>
          <p:nvPr/>
        </p:nvSpPr>
        <p:spPr>
          <a:xfrm>
            <a:off x="640080" y="3108959"/>
            <a:ext cx="7863840" cy="777240"/>
          </a:xfrm>
          <a:prstGeom prst="rect">
            <a:avLst/>
          </a:prstGeom>
          <a:noFill/>
        </p:spPr>
        <p:txBody>
          <a:bodyPr wrap="square" anchor="t">
            <a:spAutoFit/>
          </a:bodyPr>
          <a:lstStyle/>
          <a:p>
            <a:pPr algn="ctr" marL="0" indent="0">
              <a:buNone/>
            </a:pPr>
            <a:r>
              <a:rPr sz="2000">
                <a:solidFill>
                  <a:srgbClr val="FFFFFF"/>
                </a:solidFill>
              </a:rPr>
              <a:t>The 2024 to 2025 idea: make the chain a learned behavior, not a prompt you write.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https://images.unsplash.com/photo-1509228468518-180dd4864904</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Scale inference, not just parameters</a:t>
            </a:r>
          </a:p>
        </p:txBody>
      </p:sp>
      <p:pic>
        <p:nvPicPr>
          <p:cNvPr id="5" name="Picture 4" descr="Scale inference, not just parameters"/>
          <p:cNvPicPr>
            <a:picLocks noChangeAspect="1"/>
          </p:cNvPicPr>
          <p:nvPr/>
        </p:nvPicPr>
        <p:blipFill>
          <a:blip r:embed="rId3"/>
          <a:stretch>
            <a:fillRect/>
          </a:stretch>
        </p:blipFill>
        <p:spPr>
          <a:xfrm>
            <a:off x="320143" y="1078992"/>
            <a:ext cx="8503714"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schematic; test-time compute scaling, Snell et al. 2024 (arXiv:2408.03314)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CoT to trained reasoning</a:t>
            </a:r>
          </a:p>
        </p:txBody>
      </p:sp>
      <p:sp>
        <p:nvSpPr>
          <p:cNvPr id="5" name="Rounded Rectangle 4"/>
          <p:cNvSpPr/>
          <p:nvPr/>
        </p:nvSpPr>
        <p:spPr>
          <a:xfrm>
            <a:off x="457200"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PROMPT FOR IT</a:t>
            </a:r>
          </a:p>
          <a:p>
            <a:pPr marL="0" indent="0" algn="l">
              <a:lnSpc>
                <a:spcPts val="3000"/>
              </a:lnSpc>
              <a:spcAft>
                <a:spcPts val="0"/>
              </a:spcAft>
              <a:buNone/>
            </a:pPr>
            <a:r>
              <a:rPr sz="2000" b="0">
                <a:solidFill>
                  <a:srgbClr val="1D1D1F"/>
                </a:solidFill>
                <a:latin typeface="Menlo"/>
              </a:rPr>
              <a:t>you write the chain</a:t>
            </a:r>
          </a:p>
        </p:txBody>
      </p:sp>
      <p:sp>
        <p:nvSpPr>
          <p:cNvPr id="7" name="Right Arrow 6"/>
          <p:cNvSpPr/>
          <p:nvPr/>
        </p:nvSpPr>
        <p:spPr>
          <a:xfrm>
            <a:off x="2913156" y="2718054"/>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SAMPLE IT</a:t>
            </a:r>
          </a:p>
          <a:p>
            <a:pPr marL="0" indent="0" algn="l">
              <a:lnSpc>
                <a:spcPts val="3000"/>
              </a:lnSpc>
              <a:spcAft>
                <a:spcPts val="0"/>
              </a:spcAft>
              <a:buNone/>
            </a:pPr>
            <a:r>
              <a:rPr sz="2000" b="0">
                <a:solidFill>
                  <a:srgbClr val="1D1D1F"/>
                </a:solidFill>
                <a:latin typeface="Menlo"/>
              </a:rPr>
              <a:t>the chain is drawn many times</a:t>
            </a:r>
          </a:p>
        </p:txBody>
      </p:sp>
      <p:sp>
        <p:nvSpPr>
          <p:cNvPr id="10" name="Right Arrow 9"/>
          <p:cNvSpPr/>
          <p:nvPr/>
        </p:nvSpPr>
        <p:spPr>
          <a:xfrm>
            <a:off x="5845332" y="2718054"/>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TRAIN FOR IT</a:t>
            </a:r>
          </a:p>
          <a:p>
            <a:pPr marL="0" indent="0" algn="l">
              <a:lnSpc>
                <a:spcPts val="3000"/>
              </a:lnSpc>
              <a:spcAft>
                <a:spcPts val="0"/>
              </a:spcAft>
              <a:buNone/>
            </a:pPr>
            <a:r>
              <a:rPr sz="2000" b="0">
                <a:solidFill>
                  <a:srgbClr val="1D1D1F"/>
                </a:solidFill>
                <a:latin typeface="Menlo"/>
              </a:rPr>
              <a:t>the chain is learned</a:t>
            </a:r>
          </a:p>
        </p:txBody>
      </p:sp>
      <p:sp>
        <p:nvSpPr>
          <p:cNvPr id="13" name="TextBox 12"/>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Wei et al. 2022 (2201.11903); DeepSeek-R1 2025 (2501.12948)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Reasoning models: what RL training buys</a:t>
            </a:r>
          </a:p>
        </p:txBody>
      </p:sp>
      <p:pic>
        <p:nvPicPr>
          <p:cNvPr id="5" name="Picture 4" descr="Reasoning models: what RL training buys"/>
          <p:cNvPicPr>
            <a:picLocks noChangeAspect="1"/>
          </p:cNvPicPr>
          <p:nvPr/>
        </p:nvPicPr>
        <p:blipFill>
          <a:blip r:embed="rId3"/>
          <a:stretch>
            <a:fillRect/>
          </a:stretch>
        </p:blipFill>
        <p:spPr>
          <a:xfrm>
            <a:off x="1590282" y="1078992"/>
            <a:ext cx="5963435" cy="3589019"/>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DeepSeek-AI 2025 (arXiv:2501.12948), Fig.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Extract the answer reliably</a:t>
            </a:r>
          </a:p>
        </p:txBody>
      </p:sp>
      <p:sp>
        <p:nvSpPr>
          <p:cNvPr id="5" name="Rounded Rectangle 4"/>
          <p:cNvSpPr/>
          <p:nvPr/>
        </p:nvSpPr>
        <p:spPr>
          <a:xfrm>
            <a:off x="457200" y="1685861"/>
            <a:ext cx="8229600" cy="1680591"/>
          </a:xfrm>
          <a:prstGeom prst="roundRect">
            <a:avLst>
              <a:gd name="adj" fmla="val 6529"/>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8096" y="1841309"/>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1841309"/>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3856" y="1841309"/>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06485"/>
            <a:ext cx="7607808" cy="1003935"/>
          </a:xfrm>
          <a:prstGeom prst="rect">
            <a:avLst/>
          </a:prstGeom>
          <a:noFill/>
        </p:spPr>
        <p:txBody>
          <a:bodyPr wrap="none" anchor="t" lIns="0" rIns="0" tIns="0" bIns="0">
            <a:spAutoFit/>
          </a:bodyPr>
          <a:lstStyle/>
          <a:p>
            <a:pPr marL="0" indent="0" algn="l">
              <a:lnSpc>
                <a:spcPts val="2635"/>
              </a:lnSpc>
              <a:spcAft>
                <a:spcPts val="0"/>
              </a:spcAft>
              <a:buNone/>
            </a:pPr>
            <a:r>
              <a:rPr sz="1700" b="0">
                <a:solidFill>
                  <a:srgbClr val="F5F5F7"/>
                </a:solidFill>
                <a:latin typeface="Menlo"/>
              </a:rPr>
              <a:t>Start with 23 muffins. Sold 17 -&gt; 23 - 17 = 6.</a:t>
            </a:r>
          </a:p>
          <a:p>
            <a:pPr marL="0" indent="0" algn="l">
              <a:lnSpc>
                <a:spcPts val="2635"/>
              </a:lnSpc>
              <a:spcAft>
                <a:spcPts val="0"/>
              </a:spcAft>
              <a:buNone/>
            </a:pPr>
            <a:r>
              <a:rPr sz="1700" b="0">
                <a:solidFill>
                  <a:srgbClr val="F5F5F7"/>
                </a:solidFill>
                <a:latin typeface="Menlo"/>
              </a:rPr>
              <a:t>Baked 12 more -&gt; 6 + 12 = 18.</a:t>
            </a:r>
          </a:p>
          <a:p>
            <a:pPr marL="0" indent="0" algn="l">
              <a:lnSpc>
                <a:spcPts val="2635"/>
              </a:lnSpc>
              <a:spcAft>
                <a:spcPts val="0"/>
              </a:spcAft>
              <a:buNone/>
            </a:pPr>
            <a:r>
              <a:rPr sz="1700" b="0">
                <a:solidFill>
                  <a:srgbClr val="F5F5F7"/>
                </a:solidFill>
                <a:latin typeface="Menlo"/>
              </a:rPr>
              <a:t>Therefore, the answer is 18.</a:t>
            </a:r>
          </a:p>
        </p:txBody>
      </p:sp>
      <p:sp>
        <p:nvSpPr>
          <p:cNvPr id="10" name="TextBox 9"/>
          <p:cNvSpPr txBox="1"/>
          <p:nvPr/>
        </p:nvSpPr>
        <p:spPr>
          <a:xfrm>
            <a:off x="768096" y="3494468"/>
            <a:ext cx="7607808" cy="694690"/>
          </a:xfrm>
          <a:prstGeom prst="rect">
            <a:avLst/>
          </a:prstGeom>
          <a:noFill/>
        </p:spPr>
        <p:txBody>
          <a:bodyPr wrap="none" anchor="t" lIns="0" rIns="0" tIns="0" bIns="0">
            <a:spAutoFit/>
          </a:bodyPr>
          <a:lstStyle/>
          <a:p>
            <a:pPr marL="0" indent="0" algn="l">
              <a:lnSpc>
                <a:spcPts val="2015"/>
              </a:lnSpc>
              <a:spcAft>
                <a:spcPts val="0"/>
              </a:spcAft>
              <a:buNone/>
            </a:pPr>
            <a:r>
              <a:rPr sz="1300" b="0">
                <a:solidFill>
                  <a:srgbClr val="86868B"/>
                </a:solidFill>
                <a:latin typeface="Menlo"/>
              </a:rPr>
              <a:t>parse the last tagged value: 18</a:t>
            </a:r>
          </a:p>
          <a:p>
            <a:pPr marL="0" indent="0" algn="l">
              <a:lnSpc>
                <a:spcPts val="2015"/>
              </a:lnSpc>
              <a:spcAft>
                <a:spcPts val="0"/>
              </a:spcAft>
              <a:buNone/>
            </a:pPr>
            <a:r>
              <a:rPr sz="1300" b="0">
                <a:solidFill>
                  <a:srgbClr val="86868B"/>
                </a:solidFill>
                <a:latin typeface="Menlo"/>
              </a:rPr>
              <a:t>reasoning and final answer are different things, so separate them</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When NOT to use CoT</a:t>
            </a:r>
          </a:p>
        </p:txBody>
      </p:sp>
      <p:sp>
        <p:nvSpPr>
          <p:cNvPr id="5" name="Rounded Rectangle 4"/>
          <p:cNvSpPr/>
          <p:nvPr/>
        </p:nvSpPr>
        <p:spPr>
          <a:xfrm>
            <a:off x="457200" y="2434780"/>
            <a:ext cx="2645664" cy="877443"/>
          </a:xfrm>
          <a:prstGeom prst="roundRect">
            <a:avLst>
              <a:gd name="adj" fmla="val 1354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581084"/>
            <a:ext cx="2279904" cy="584835"/>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SKIP IT</a:t>
            </a:r>
          </a:p>
          <a:p>
            <a:pPr marL="0" indent="0">
              <a:spcAft>
                <a:spcPts val="300"/>
              </a:spcAft>
              <a:buNone/>
            </a:pPr>
            <a:r>
              <a:rPr sz="850" b="0" u="none">
                <a:solidFill>
                  <a:srgbClr val="1D1D1F"/>
                </a:solidFill>
                <a:latin typeface="Menlo"/>
              </a:rPr>
              <a:t>"What is the capital of France?"</a:t>
            </a:r>
          </a:p>
          <a:p>
            <a:pPr marL="0" indent="0" algn="l">
              <a:spcAft>
                <a:spcPts val="200"/>
              </a:spcAft>
              <a:buNone/>
            </a:pPr>
            <a:r>
              <a:rPr sz="900" b="0">
                <a:solidFill>
                  <a:srgbClr val="86868B"/>
                </a:solidFill>
                <a:latin typeface="Helvetica Neue"/>
              </a:rPr>
              <a:t>Single-step lookup. CoT adds cost and risk.</a:t>
            </a:r>
          </a:p>
        </p:txBody>
      </p:sp>
      <p:sp>
        <p:nvSpPr>
          <p:cNvPr id="7" name="Rounded Rectangle 6"/>
          <p:cNvSpPr/>
          <p:nvPr/>
        </p:nvSpPr>
        <p:spPr>
          <a:xfrm>
            <a:off x="3249168" y="2434780"/>
            <a:ext cx="2645664" cy="877443"/>
          </a:xfrm>
          <a:prstGeom prst="roundRect">
            <a:avLst>
              <a:gd name="adj" fmla="val 1354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32048" y="2581084"/>
            <a:ext cx="2279904" cy="584835"/>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SKIP IT</a:t>
            </a:r>
          </a:p>
          <a:p>
            <a:pPr marL="0" indent="0">
              <a:spcAft>
                <a:spcPts val="300"/>
              </a:spcAft>
              <a:buNone/>
            </a:pPr>
            <a:r>
              <a:rPr sz="850" b="0" u="none">
                <a:solidFill>
                  <a:srgbClr val="1D1D1F"/>
                </a:solidFill>
                <a:latin typeface="Menlo"/>
              </a:rPr>
              <a:t>10,000 reviews a minute</a:t>
            </a:r>
          </a:p>
          <a:p>
            <a:pPr marL="0" indent="0" algn="l">
              <a:spcAft>
                <a:spcPts val="200"/>
              </a:spcAft>
              <a:buNone/>
            </a:pPr>
            <a:r>
              <a:rPr sz="900" b="0">
                <a:solidFill>
                  <a:srgbClr val="86868B"/>
                </a:solidFill>
                <a:latin typeface="Helvetica Neue"/>
              </a:rPr>
              <a:t>Latency critical. Reasoning tokens are not free.</a:t>
            </a:r>
          </a:p>
        </p:txBody>
      </p:sp>
      <p:sp>
        <p:nvSpPr>
          <p:cNvPr id="9" name="Rounded Rectangle 8"/>
          <p:cNvSpPr/>
          <p:nvPr/>
        </p:nvSpPr>
        <p:spPr>
          <a:xfrm>
            <a:off x="6041136" y="2434780"/>
            <a:ext cx="2645664" cy="877443"/>
          </a:xfrm>
          <a:prstGeom prst="roundRect">
            <a:avLst>
              <a:gd name="adj" fmla="val 1354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24016" y="2581084"/>
            <a:ext cx="2279904" cy="584835"/>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MEASURE FIRST</a:t>
            </a:r>
          </a:p>
          <a:p>
            <a:pPr marL="0" indent="0">
              <a:spcAft>
                <a:spcPts val="300"/>
              </a:spcAft>
              <a:buNone/>
            </a:pPr>
            <a:r>
              <a:rPr sz="850" b="0" u="none">
                <a:solidFill>
                  <a:srgbClr val="1D1D1F"/>
                </a:solidFill>
                <a:latin typeface="Menlo"/>
              </a:rPr>
              <a:t>anything arithmetic or multi-step</a:t>
            </a:r>
          </a:p>
          <a:p>
            <a:pPr marL="0" indent="0" algn="l">
              <a:spcAft>
                <a:spcPts val="200"/>
              </a:spcAft>
              <a:buNone/>
            </a:pPr>
            <a:r>
              <a:rPr sz="900" b="0">
                <a:solidFill>
                  <a:srgbClr val="86868B"/>
                </a:solidFill>
                <a:latin typeface="Helvetica Neue"/>
              </a:rPr>
              <a:t>This is where it pays, and you should prove it does.</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Risks: plausible ≠ correct</a:t>
            </a:r>
          </a:p>
        </p:txBody>
      </p:sp>
      <p:sp>
        <p:nvSpPr>
          <p:cNvPr id="5" name="Rounded Rectangle 4"/>
          <p:cNvSpPr/>
          <p:nvPr/>
        </p:nvSpPr>
        <p:spPr>
          <a:xfrm>
            <a:off x="457200" y="2023300"/>
            <a:ext cx="4041648" cy="1700403"/>
          </a:xfrm>
          <a:prstGeom prst="roundRect">
            <a:avLst>
              <a:gd name="adj" fmla="val 699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169604"/>
            <a:ext cx="3675888" cy="140779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THE CHAIN</a:t>
            </a:r>
          </a:p>
          <a:p>
            <a:pPr marL="0" indent="0">
              <a:spcAft>
                <a:spcPts val="300"/>
              </a:spcAft>
              <a:buNone/>
            </a:pPr>
            <a:r>
              <a:rPr sz="2000" b="0" u="none">
                <a:solidFill>
                  <a:srgbClr val="1D1D1F"/>
                </a:solidFill>
                <a:latin typeface="Menlo"/>
              </a:rPr>
              <a:t>"30 marbles. Remove half -&gt; 15. Then add 4 -&gt; </a:t>
            </a:r>
            <a:r>
              <a:rPr sz="2000" b="1" u="sng">
                <a:solidFill>
                  <a:srgbClr val="1D1D1F"/>
                </a:solidFill>
                <a:latin typeface="Menlo"/>
              </a:rPr>
              <a:t>21</a:t>
            </a:r>
            <a:r>
              <a:rPr sz="2000" b="0" u="none">
                <a:solidFill>
                  <a:srgbClr val="1D1D1F"/>
                </a:solidFill>
                <a:latin typeface="Menlo"/>
              </a:rPr>
              <a:t>."</a:t>
            </a:r>
          </a:p>
        </p:txBody>
      </p:sp>
      <p:sp>
        <p:nvSpPr>
          <p:cNvPr id="7" name="Rounded Rectangle 6"/>
          <p:cNvSpPr/>
          <p:nvPr/>
        </p:nvSpPr>
        <p:spPr>
          <a:xfrm>
            <a:off x="4645152" y="2023300"/>
            <a:ext cx="4041648" cy="1700403"/>
          </a:xfrm>
          <a:prstGeom prst="roundRect">
            <a:avLst>
              <a:gd name="adj" fmla="val 699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169604"/>
            <a:ext cx="3675888" cy="140779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THE SLIP</a:t>
            </a:r>
          </a:p>
          <a:p>
            <a:pPr marL="0" indent="0">
              <a:spcAft>
                <a:spcPts val="300"/>
              </a:spcAft>
              <a:buNone/>
            </a:pPr>
            <a:r>
              <a:rPr sz="2000" b="0" u="none">
                <a:solidFill>
                  <a:srgbClr val="1D1D1F"/>
                </a:solidFill>
                <a:latin typeface="Menlo"/>
              </a:rPr>
              <a:t>15 + 4 = 19</a:t>
            </a:r>
          </a:p>
          <a:p>
            <a:pPr marL="0" indent="0" algn="l">
              <a:spcAft>
                <a:spcPts val="200"/>
              </a:spcAft>
              <a:buNone/>
            </a:pPr>
            <a:r>
              <a:rPr sz="1200" b="0">
                <a:solidFill>
                  <a:srgbClr val="86868B"/>
                </a:solidFill>
                <a:latin typeface="Helvetica Neue"/>
              </a:rPr>
              <a:t>One arithmetic step is wrong and every sentence around it reads perfectly. CoT makes output look authoritative.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Looking ahead</a:t>
            </a:r>
          </a:p>
        </p:txBody>
      </p:sp>
      <p:sp>
        <p:nvSpPr>
          <p:cNvPr id="5" name="Rounded Rectangle 4"/>
          <p:cNvSpPr/>
          <p:nvPr/>
        </p:nvSpPr>
        <p:spPr>
          <a:xfrm>
            <a:off x="457200"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REASONING</a:t>
            </a:r>
          </a:p>
          <a:p>
            <a:pPr marL="0" indent="0" algn="l">
              <a:lnSpc>
                <a:spcPts val="2250"/>
              </a:lnSpc>
              <a:spcAft>
                <a:spcPts val="0"/>
              </a:spcAft>
              <a:buNone/>
            </a:pPr>
            <a:r>
              <a:rPr sz="1500" b="0">
                <a:solidFill>
                  <a:srgbClr val="1D1D1F"/>
                </a:solidFill>
                <a:latin typeface="Menlo"/>
              </a:rPr>
              <a:t>CoT, self-consistency, decomposition</a:t>
            </a:r>
          </a:p>
        </p:txBody>
      </p:sp>
      <p:sp>
        <p:nvSpPr>
          <p:cNvPr id="7" name="Right Arrow 6"/>
          <p:cNvSpPr/>
          <p:nvPr/>
        </p:nvSpPr>
        <p:spPr>
          <a:xfrm>
            <a:off x="2913156" y="2718054"/>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RELIABLE OUTPUTS</a:t>
            </a:r>
          </a:p>
          <a:p>
            <a:pPr marL="0" indent="0" algn="l">
              <a:lnSpc>
                <a:spcPts val="2250"/>
              </a:lnSpc>
              <a:spcAft>
                <a:spcPts val="0"/>
              </a:spcAft>
              <a:buNone/>
            </a:pPr>
            <a:r>
              <a:rPr sz="1500" b="0">
                <a:solidFill>
                  <a:srgbClr val="1D1D1F"/>
                </a:solidFill>
                <a:latin typeface="Menlo"/>
              </a:rPr>
              <a:t>structured JSON, function calling, RAG</a:t>
            </a:r>
          </a:p>
        </p:txBody>
      </p:sp>
      <p:sp>
        <p:nvSpPr>
          <p:cNvPr id="10" name="Right Arrow 9"/>
          <p:cNvSpPr/>
          <p:nvPr/>
        </p:nvSpPr>
        <p:spPr>
          <a:xfrm>
            <a:off x="5845332" y="2718054"/>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760906"/>
            <a:ext cx="2365248" cy="2225192"/>
          </a:xfrm>
          <a:prstGeom prst="roundRect">
            <a:avLst>
              <a:gd name="adj" fmla="val 49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2024253"/>
            <a:ext cx="2036064" cy="1896008"/>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AGENTS</a:t>
            </a:r>
          </a:p>
          <a:p>
            <a:pPr marL="0" indent="0" algn="l">
              <a:lnSpc>
                <a:spcPts val="2250"/>
              </a:lnSpc>
              <a:spcAft>
                <a:spcPts val="0"/>
              </a:spcAft>
              <a:buNone/>
            </a:pPr>
            <a:r>
              <a:rPr sz="1500" b="0">
                <a:solidFill>
                  <a:srgbClr val="1D1D1F"/>
                </a:solidFill>
                <a:latin typeface="Menlo"/>
              </a:rPr>
              <a:t>reasoning steps become actions</a:t>
            </a:r>
          </a:p>
        </p:txBody>
      </p:sp>
      <p:sp>
        <p:nvSpPr>
          <p:cNvPr id="13" name="TextBox 12"/>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schedule/SCHEDULE.md; thumbnails: Wei et al. 2022 (2201.11903) Fig. 1, Lewis et al. 2020 (2005.11401) Fig. 1, Yao et al. 2022 (2210.03629) Fig. 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Five minutes: stretch, refill water, compare notes. Then the Predict, then Verify CoT activity."/>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Predict, then Verify CoT</a:t>
            </a:r>
          </a:p>
        </p:txBody>
      </p:sp>
      <p:sp>
        <p:nvSpPr>
          <p:cNvPr id="5" name="Rounded Rectangle 4"/>
          <p:cNvSpPr/>
          <p:nvPr/>
        </p:nvSpPr>
        <p:spPr>
          <a:xfrm>
            <a:off x="457200" y="1078992"/>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828675"/>
          </a:xfrm>
          <a:prstGeom prst="rect">
            <a:avLst/>
          </a:prstGeom>
          <a:noFill/>
        </p:spPr>
        <p:txBody>
          <a:bodyPr wrap="none" anchor="ctr" lIns="0" rIns="0" tIns="0" bIns="0">
            <a:spAutoFit/>
          </a:bodyPr>
          <a:lstStyle/>
          <a:p>
            <a:pPr marL="0" indent="0" algn="l">
              <a:spcAft>
                <a:spcPts val="0"/>
              </a:spcAft>
              <a:buNone/>
            </a:pPr>
            <a:r>
              <a:rPr sz="1850" b="1">
                <a:solidFill>
                  <a:srgbClr val="1D1D1F"/>
                </a:solidFill>
                <a:latin typeface="Helvetica Neue"/>
              </a:rPr>
              <a:t>1</a:t>
            </a:r>
          </a:p>
        </p:txBody>
      </p:sp>
      <p:sp>
        <p:nvSpPr>
          <p:cNvPr id="7" name="TextBox 6"/>
          <p:cNvSpPr txBox="1"/>
          <p:nvPr/>
        </p:nvSpPr>
        <p:spPr>
          <a:xfrm>
            <a:off x="1170432" y="1078992"/>
            <a:ext cx="7278624" cy="828675"/>
          </a:xfrm>
          <a:prstGeom prst="rect">
            <a:avLst/>
          </a:prstGeom>
          <a:noFill/>
        </p:spPr>
        <p:txBody>
          <a:bodyPr wrap="square" anchor="ctr" lIns="0" rIns="0" tIns="0" bIns="0">
            <a:spAutoFit/>
          </a:bodyPr>
          <a:lstStyle/>
          <a:p>
            <a:pPr marL="0" indent="0" algn="l">
              <a:spcAft>
                <a:spcPts val="0"/>
              </a:spcAft>
              <a:buNone/>
            </a:pPr>
            <a:r>
              <a:rPr sz="1250" b="0">
                <a:solidFill>
                  <a:srgbClr val="1D1D1F"/>
                </a:solidFill>
                <a:latin typeface="Menlo"/>
              </a:rPr>
              <a:t>On the whiteboard, hand-write a CoT trace for both problems, no laptops</a:t>
            </a:r>
          </a:p>
        </p:txBody>
      </p:sp>
      <p:sp>
        <p:nvSpPr>
          <p:cNvPr id="8" name="Rounded Rectangle 7"/>
          <p:cNvSpPr/>
          <p:nvPr/>
        </p:nvSpPr>
        <p:spPr>
          <a:xfrm>
            <a:off x="457200" y="1999107"/>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999107"/>
            <a:ext cx="475488" cy="828675"/>
          </a:xfrm>
          <a:prstGeom prst="rect">
            <a:avLst/>
          </a:prstGeom>
          <a:noFill/>
        </p:spPr>
        <p:txBody>
          <a:bodyPr wrap="none" anchor="ctr" lIns="0" rIns="0" tIns="0" bIns="0">
            <a:spAutoFit/>
          </a:bodyPr>
          <a:lstStyle/>
          <a:p>
            <a:pPr marL="0" indent="0" algn="l">
              <a:spcAft>
                <a:spcPts val="0"/>
              </a:spcAft>
              <a:buNone/>
            </a:pPr>
            <a:r>
              <a:rPr sz="1850" b="1">
                <a:solidFill>
                  <a:srgbClr val="1D1D1F"/>
                </a:solidFill>
                <a:latin typeface="Helvetica Neue"/>
              </a:rPr>
              <a:t>2</a:t>
            </a:r>
          </a:p>
        </p:txBody>
      </p:sp>
      <p:sp>
        <p:nvSpPr>
          <p:cNvPr id="10" name="TextBox 9"/>
          <p:cNvSpPr txBox="1"/>
          <p:nvPr/>
        </p:nvSpPr>
        <p:spPr>
          <a:xfrm>
            <a:off x="1170432" y="1999107"/>
            <a:ext cx="7278624" cy="828675"/>
          </a:xfrm>
          <a:prstGeom prst="rect">
            <a:avLst/>
          </a:prstGeom>
          <a:noFill/>
        </p:spPr>
        <p:txBody>
          <a:bodyPr wrap="square" anchor="ctr" lIns="0" rIns="0" tIns="0" bIns="0">
            <a:spAutoFit/>
          </a:bodyPr>
          <a:lstStyle/>
          <a:p>
            <a:pPr marL="0" indent="0" algn="l">
              <a:spcAft>
                <a:spcPts val="0"/>
              </a:spcAft>
              <a:buNone/>
            </a:pPr>
            <a:r>
              <a:rPr sz="1250" b="0">
                <a:solidFill>
                  <a:srgbClr val="1D1D1F"/>
                </a:solidFill>
                <a:latin typeface="Menlo"/>
              </a:rPr>
              <a:t>A: 23 muffins, sold 17, baked 12 more. B: 4 nests of 3 eggs, 2 hatch</a:t>
            </a:r>
          </a:p>
        </p:txBody>
      </p:sp>
      <p:sp>
        <p:nvSpPr>
          <p:cNvPr id="11" name="Rounded Rectangle 10"/>
          <p:cNvSpPr/>
          <p:nvPr/>
        </p:nvSpPr>
        <p:spPr>
          <a:xfrm>
            <a:off x="457200" y="2919222"/>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919222"/>
            <a:ext cx="475488" cy="828675"/>
          </a:xfrm>
          <a:prstGeom prst="rect">
            <a:avLst/>
          </a:prstGeom>
          <a:noFill/>
        </p:spPr>
        <p:txBody>
          <a:bodyPr wrap="none" anchor="ctr" lIns="0" rIns="0" tIns="0" bIns="0">
            <a:spAutoFit/>
          </a:bodyPr>
          <a:lstStyle/>
          <a:p>
            <a:pPr marL="0" indent="0" algn="l">
              <a:spcAft>
                <a:spcPts val="0"/>
              </a:spcAft>
              <a:buNone/>
            </a:pPr>
            <a:r>
              <a:rPr sz="1850" b="1">
                <a:solidFill>
                  <a:srgbClr val="1D1D1F"/>
                </a:solidFill>
                <a:latin typeface="Helvetica Neue"/>
              </a:rPr>
              <a:t>3</a:t>
            </a:r>
          </a:p>
        </p:txBody>
      </p:sp>
      <p:sp>
        <p:nvSpPr>
          <p:cNvPr id="13" name="TextBox 12"/>
          <p:cNvSpPr txBox="1"/>
          <p:nvPr/>
        </p:nvSpPr>
        <p:spPr>
          <a:xfrm>
            <a:off x="1170432" y="2919222"/>
            <a:ext cx="7278624" cy="828675"/>
          </a:xfrm>
          <a:prstGeom prst="rect">
            <a:avLst/>
          </a:prstGeom>
          <a:noFill/>
        </p:spPr>
        <p:txBody>
          <a:bodyPr wrap="square" anchor="ctr" lIns="0" rIns="0" tIns="0" bIns="0">
            <a:spAutoFit/>
          </a:bodyPr>
          <a:lstStyle/>
          <a:p>
            <a:pPr marL="0" indent="0" algn="l">
              <a:spcAft>
                <a:spcPts val="0"/>
              </a:spcAft>
              <a:buNone/>
            </a:pPr>
            <a:r>
              <a:rPr sz="1250" b="0">
                <a:solidFill>
                  <a:srgbClr val="1D1D1F"/>
                </a:solidFill>
                <a:latin typeface="Menlo"/>
              </a:rPr>
              <a:t>Predict for each: will CoT beat a direct answer, and why?</a:t>
            </a:r>
          </a:p>
        </p:txBody>
      </p:sp>
      <p:sp>
        <p:nvSpPr>
          <p:cNvPr id="14" name="Rounded Rectangle 13"/>
          <p:cNvSpPr/>
          <p:nvPr/>
        </p:nvSpPr>
        <p:spPr>
          <a:xfrm>
            <a:off x="457200" y="3839337"/>
            <a:ext cx="8229600" cy="828675"/>
          </a:xfrm>
          <a:prstGeom prst="roundRect">
            <a:avLst>
              <a:gd name="adj" fmla="val 1213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3839337"/>
            <a:ext cx="475488" cy="828675"/>
          </a:xfrm>
          <a:prstGeom prst="rect">
            <a:avLst/>
          </a:prstGeom>
          <a:noFill/>
        </p:spPr>
        <p:txBody>
          <a:bodyPr wrap="none" anchor="ctr" lIns="0" rIns="0" tIns="0" bIns="0">
            <a:spAutoFit/>
          </a:bodyPr>
          <a:lstStyle/>
          <a:p>
            <a:pPr marL="0" indent="0" algn="l">
              <a:spcAft>
                <a:spcPts val="0"/>
              </a:spcAft>
              <a:buNone/>
            </a:pPr>
            <a:r>
              <a:rPr sz="1850" b="1">
                <a:solidFill>
                  <a:srgbClr val="1D1D1F"/>
                </a:solidFill>
                <a:latin typeface="Helvetica Neue"/>
              </a:rPr>
              <a:t>4</a:t>
            </a:r>
          </a:p>
        </p:txBody>
      </p:sp>
      <p:sp>
        <p:nvSpPr>
          <p:cNvPr id="16" name="TextBox 15"/>
          <p:cNvSpPr txBox="1"/>
          <p:nvPr/>
        </p:nvSpPr>
        <p:spPr>
          <a:xfrm>
            <a:off x="1170432" y="3839337"/>
            <a:ext cx="7278624" cy="828675"/>
          </a:xfrm>
          <a:prstGeom prst="rect">
            <a:avLst/>
          </a:prstGeom>
          <a:noFill/>
        </p:spPr>
        <p:txBody>
          <a:bodyPr wrap="square" anchor="ctr" lIns="0" rIns="0" tIns="0" bIns="0">
            <a:spAutoFit/>
          </a:bodyPr>
          <a:lstStyle/>
          <a:p>
            <a:pPr marL="0" indent="0" algn="l">
              <a:spcAft>
                <a:spcPts val="0"/>
              </a:spcAft>
              <a:buNone/>
            </a:pPr>
            <a:r>
              <a:rPr sz="1250" b="0">
                <a:solidFill>
                  <a:srgbClr val="1D1D1F"/>
                </a:solidFill>
                <a:latin typeface="Menlo"/>
              </a:rPr>
              <a:t>Then run them and see whether your prediction held</a:t>
            </a:r>
          </a:p>
        </p:txBody>
      </p:sp>
      <p:sp>
        <p:nvSpPr>
          <p:cNvPr id="17" name="TextBox 1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weeks/week-12/class-02/exercise/cot_lab.py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Verify your predictions</a:t>
            </a:r>
          </a:p>
        </p:txBody>
      </p:sp>
      <p:graphicFrame>
        <p:nvGraphicFramePr>
          <p:cNvPr id="5" name="Table 4"/>
          <p:cNvGraphicFramePr>
            <a:graphicFrameLocks noGrp="1"/>
          </p:cNvGraphicFramePr>
          <p:nvPr/>
        </p:nvGraphicFramePr>
        <p:xfrm>
          <a:off x="457200" y="1739646"/>
          <a:ext cx="5102352" cy="2267712"/>
        </p:xfrm>
        <a:graphic>
          <a:graphicData uri="http://schemas.openxmlformats.org/drawingml/2006/table">
            <a:tbl>
              <a:tblPr firstRow="1" bandRow="0"/>
              <a:tblGrid>
                <a:gridCol w="2630043"/>
                <a:gridCol w="2472309"/>
              </a:tblGrid>
              <a:tr h="566928">
                <a:tc>
                  <a:txBody>
                    <a:bodyPr wrap="none"/>
                    <a:lstStyle/>
                    <a:p>
                      <a:pPr marL="0" indent="0" algn="l">
                        <a:spcAft>
                          <a:spcPts val="0"/>
                        </a:spcAft>
                        <a:buNone/>
                      </a:pPr>
                      <a:r>
                        <a:rPr sz="1100" b="1" spc="50">
                          <a:solidFill>
                            <a:srgbClr val="86868B"/>
                          </a:solidFill>
                          <a:latin typeface="Helvetica Neue"/>
                        </a:rPr>
                        <a:t>PROMPT STYLE</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ACCURACY</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direct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33%</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chain-of-thought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67%</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 self-consistency</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83%</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5925312" y="1739646"/>
            <a:ext cx="2761488" cy="2267712"/>
          </a:xfrm>
          <a:prstGeom prst="rect">
            <a:avLst/>
          </a:prstGeom>
          <a:noFill/>
        </p:spPr>
        <p:txBody>
          <a:bodyPr wrap="square" anchor="t" lIns="0" rIns="0" tIns="0" bIns="0">
            <a:spAutoFit/>
          </a:bodyPr>
          <a:lstStyle/>
          <a:p>
            <a:pPr marL="0" indent="0" algn="l">
              <a:spcAft>
                <a:spcPts val="1000"/>
              </a:spcAft>
              <a:buNone/>
            </a:pPr>
            <a:r>
              <a:rPr sz="1100" b="1" spc="70">
                <a:solidFill>
                  <a:srgbClr val="86868B"/>
                </a:solidFill>
                <a:latin typeface="Helvetica Neue"/>
              </a:rPr>
              <a:t>REASONING, THEN VOTING</a:t>
            </a:r>
          </a:p>
          <a:p>
            <a:pPr marL="0" indent="0">
              <a:spcAft>
                <a:spcPts val="900"/>
              </a:spcAft>
              <a:buNone/>
            </a:pPr>
            <a:r>
              <a:rPr sz="1300">
                <a:solidFill>
                  <a:srgbClr val="1D1D1F"/>
                </a:solidFill>
                <a:latin typeface="Helvetica Neue"/>
              </a:rPr>
              <a:t>Both beat one-shot guessing, and they stack.</a:t>
            </a:r>
          </a:p>
        </p:txBody>
      </p:sp>
      <p:sp>
        <p:nvSpPr>
          <p:cNvPr id="7" name="TextBox 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example run, qwen2.5:0.5b via Ollama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Midterm next class</a:t>
            </a:r>
          </a:p>
        </p:txBody>
      </p:sp>
      <p:graphicFrame>
        <p:nvGraphicFramePr>
          <p:cNvPr id="5" name="Table 4"/>
          <p:cNvGraphicFramePr>
            <a:graphicFrameLocks noGrp="1"/>
          </p:cNvGraphicFramePr>
          <p:nvPr/>
        </p:nvGraphicFramePr>
        <p:xfrm>
          <a:off x="457200" y="1456182"/>
          <a:ext cx="5102352" cy="2834640"/>
        </p:xfrm>
        <a:graphic>
          <a:graphicData uri="http://schemas.openxmlformats.org/drawingml/2006/table">
            <a:tbl>
              <a:tblPr firstRow="1" bandRow="0"/>
              <a:tblGrid>
                <a:gridCol w="1955355"/>
                <a:gridCol w="3146997"/>
              </a:tblGrid>
              <a:tr h="566928">
                <a:tc>
                  <a:txBody>
                    <a:bodyPr wrap="none"/>
                    <a:lstStyle/>
                    <a:p>
                      <a:pPr marL="0" indent="0" algn="l">
                        <a:spcAft>
                          <a:spcPts val="0"/>
                        </a:spcAft>
                        <a:buNone/>
                      </a:pPr>
                      <a:r>
                        <a:rPr sz="1100" b="1" spc="50">
                          <a:solidFill>
                            <a:srgbClr val="86868B"/>
                          </a:solidFill>
                          <a:latin typeface="Helvetica Neue"/>
                        </a:rPr>
                        <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points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100</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time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about 70 minutes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you may bring</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one 8.5x11 sheet, handwritten, both sides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not allowed</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printouts, photocopies, textbook, laptop, phone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5925312" y="1456182"/>
            <a:ext cx="2761488" cy="2834640"/>
          </a:xfrm>
          <a:prstGeom prst="rect">
            <a:avLst/>
          </a:prstGeom>
          <a:noFill/>
        </p:spPr>
        <p:txBody>
          <a:bodyPr wrap="square" anchor="t" lIns="0" rIns="0" tIns="0" bIns="0">
            <a:spAutoFit/>
          </a:bodyPr>
          <a:lstStyle/>
          <a:p>
            <a:pPr marL="0" indent="0" algn="l">
              <a:spcAft>
                <a:spcPts val="1000"/>
              </a:spcAft>
              <a:buNone/>
            </a:pPr>
            <a:r>
              <a:rPr sz="1100" b="1" spc="70">
                <a:solidFill>
                  <a:srgbClr val="86868B"/>
                </a:solidFill>
                <a:latin typeface="Helvetica Neue"/>
              </a:rPr>
              <a:t>PUT YOUR NAME ON THE SHEET</a:t>
            </a:r>
          </a:p>
          <a:p>
            <a:pPr marL="0" indent="0">
              <a:spcAft>
                <a:spcPts val="900"/>
              </a:spcAft>
              <a:buNone/>
            </a:pPr>
            <a:r>
              <a:rPr sz="1300">
                <a:solidFill>
                  <a:srgbClr val="1D1D1F"/>
                </a:solidFill>
                <a:latin typeface="Helvetica Neue"/>
              </a:rPr>
              <a:t>You hand it in with the exam.</a:t>
            </a:r>
          </a:p>
        </p:txBody>
      </p:sp>
      <p:sp>
        <p:nvSpPr>
          <p:cNvPr id="7" name="TextBox 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exams/midterm-study-guide.md</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