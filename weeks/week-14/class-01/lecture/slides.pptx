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conductor plays no instrument, yet the whole orchestra depends on one. What plays that role in a system of LLM calls?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steps. From one model call to a system of them, the difference between a workflow and an agent, the augmented LLM as the building block, four composition patterns, and then building a router with workers.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skill shifts from prompting to systems design.</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project team, a good LLM system splits work into focused roles that each do one job well.</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engineering guide, not a paper. Most agent projects fail by being over-engineered.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Most production needs are workflows, not full agents.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today is made of this one unit: a model with retrieval, tools and memory attached. Retrieval was Week 11, tools were Week 12. Nothing new here, just named so we can compose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patterns 1 to 4; evaluator-optimizer next class.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fixed sequence, with a gate between steps. Outline, draft, polish, and a programmatic check that can send a step back. Fixed in advance, which is what makes it a workflow and not an agent.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cheap classifier, then dispatch to a specialist. This is where most of the cost savings in real systems come from: the strong model only sees the queries that need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flavours. Sectioning splits a task into independent pieces and merges them, which buys wall-clock time. Voting runs the same task several times and aggregates, which buys reliability.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difference from parallelization is that the number and shape of the subtasks is decided at runtime, by the model, not written down in advance. That is the first pattern on this slide with any real autonomy in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before adding a single agent loop. Every extra step is another place to fail, and complexity is a cost you pay forever.</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the router deterministic and testable.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Software engineering with stochastic parts.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Often a workflow is simpler and more reliable.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is only as good as its interface. Prompt-engineer your tools as carefully as your prompts.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systems are compositions of small reliable steps. Workflows have predefined paths and agents self-direct, so prefer the simplest that works. Chaining, routing, parallelization, orchestrator-workers.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route classifies the query defensively, worker_summarize is one specialist, and run_workflow ties them into a structured Result. The other workers are written, so they have a pattern to copy.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query goes to the router, the router picks a worker, and a structured Result comes back. Point at the structure: the worker's output is parsed, not read.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reflection, evaluator and optimizer, when NOT to use agents. Quiz 14 plus project feedback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Agentic Workflows &amp; Orchestration</a:t>
            </a:r>
          </a:p>
        </p:txBody>
      </p:sp>
      <p:sp>
        <p:nvSpPr>
          <p:cNvPr id="3" name="Subtitle 2"/>
          <p:cNvSpPr>
            <a:spLocks noGrp="1"/>
          </p:cNvSpPr>
          <p:nvPr>
            <p:ph type="subTitle" idx="1"/>
          </p:nvPr>
        </p:nvSpPr>
        <p:spPr>
          <a:xfrm>
            <a:off x="493926" y="3549825"/>
            <a:ext cx="5834417" cy="970800"/>
          </a:xfrm>
        </p:spPr>
        <p:txBody>
          <a:bodyPr wrap="square"/>
          <a:lstStyle/>
          <a:p>
            <a:pPr marL="0" indent="0">
              <a:buNone/>
            </a:pPr>
            <a:r>
              <a:t>Natural Language Processing &amp; Large Language Models</a:t>
            </a:r>
          </a:p>
          <a:p>
            <a:pPr marL="0" indent="0">
              <a:buNone/>
            </a:pPr>
            <a:r>
              <a:t>Week 14, Class 1  ·  Mon Nov 30, 2026</a:t>
            </a:r>
          </a:p>
        </p:txBody>
      </p:sp>
      <p:pic>
        <p:nvPicPr>
          <p:cNvPr id="5" name="Picture 4" descr="Agentic Workflows &amp; Orchestration"/>
          <p:cNvPicPr>
            <a:picLocks noChangeAspect="1"/>
          </p:cNvPicPr>
          <p:nvPr/>
        </p:nvPicPr>
        <p:blipFill>
          <a:blip r:embed="rId3"/>
          <a:stretch>
            <a:fillRect/>
          </a:stretch>
        </p:blipFill>
        <p:spPr>
          <a:xfrm>
            <a:off x="6556943" y="3474720"/>
            <a:ext cx="22212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Photo: AnnaLesniewski,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763508" y="1078992"/>
            <a:ext cx="761698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composite of this deck's figures; activity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one call to a system</a:t>
            </a:r>
          </a:p>
        </p:txBody>
      </p:sp>
      <p:pic>
        <p:nvPicPr>
          <p:cNvPr id="5" name="Picture 4" descr="From one call to a system"/>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team of specialists, not one genius</a:t>
            </a:r>
          </a:p>
        </p:txBody>
      </p:sp>
      <p:pic>
        <p:nvPicPr>
          <p:cNvPr id="5" name="Picture 4" descr="A team of specialists, not one genius"/>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https://images.unsplash.com/photo-1522071820081-009f0129c71c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patterns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grounding source</a:t>
            </a:r>
          </a:p>
        </p:txBody>
      </p:sp>
      <p:pic>
        <p:nvPicPr>
          <p:cNvPr id="5" name="Picture 4" descr="A grounding source"/>
          <p:cNvPicPr>
            <a:picLocks noChangeAspect="1"/>
          </p:cNvPicPr>
          <p:nvPr/>
        </p:nvPicPr>
        <p:blipFill>
          <a:blip r:embed="rId3"/>
          <a:stretch>
            <a:fillRect/>
          </a:stretch>
        </p:blipFill>
        <p:spPr>
          <a:xfrm>
            <a:off x="274320" y="1243627"/>
            <a:ext cx="8595360" cy="32597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Workflow or agent?</a:t>
            </a:r>
          </a:p>
        </p:txBody>
      </p:sp>
      <p:pic>
        <p:nvPicPr>
          <p:cNvPr id="5" name="Picture 4" descr="Workflow or agent?"/>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building block: the augmented LLM</a:t>
            </a:r>
          </a:p>
        </p:txBody>
      </p:sp>
      <p:pic>
        <p:nvPicPr>
          <p:cNvPr id="5" name="Picture 4" descr="The building block: the augmented LLM"/>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five patterns at a glance</a:t>
            </a:r>
          </a:p>
        </p:txBody>
      </p:sp>
      <p:pic>
        <p:nvPicPr>
          <p:cNvPr id="5" name="Picture 4" descr="The five patterns at a glance"/>
          <p:cNvPicPr>
            <a:picLocks noChangeAspect="1"/>
          </p:cNvPicPr>
          <p:nvPr/>
        </p:nvPicPr>
        <p:blipFill>
          <a:blip r:embed="rId3"/>
          <a:stretch>
            <a:fillRect/>
          </a:stretch>
        </p:blipFill>
        <p:spPr>
          <a:xfrm>
            <a:off x="914795" y="1078992"/>
            <a:ext cx="73144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1: prompt chaining</a:t>
            </a:r>
          </a:p>
        </p:txBody>
      </p:sp>
      <p:pic>
        <p:nvPicPr>
          <p:cNvPr id="5" name="Picture 4" descr="Pattern 1: prompt chaining"/>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2: routing</a:t>
            </a:r>
          </a:p>
        </p:txBody>
      </p:sp>
      <p:pic>
        <p:nvPicPr>
          <p:cNvPr id="5" name="Picture 4" descr="Pattern 2: routing"/>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3: parallelization</a:t>
            </a:r>
          </a:p>
        </p:txBody>
      </p:sp>
      <p:pic>
        <p:nvPicPr>
          <p:cNvPr id="5" name="Picture 4" descr="Pattern 3: parallelization"/>
          <p:cNvPicPr>
            <a:picLocks noChangeAspect="1"/>
          </p:cNvPicPr>
          <p:nvPr/>
        </p:nvPicPr>
        <p:blipFill>
          <a:blip r:embed="rId3"/>
          <a:stretch>
            <a:fillRect/>
          </a:stretch>
        </p:blipFill>
        <p:spPr>
          <a:xfrm>
            <a:off x="672328" y="1078992"/>
            <a:ext cx="77993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4: orchestrator and workers</a:t>
            </a:r>
          </a:p>
        </p:txBody>
      </p:sp>
      <p:pic>
        <p:nvPicPr>
          <p:cNvPr id="5" name="Picture 4" descr="Pattern 4: orchestrator and workers"/>
          <p:cNvPicPr>
            <a:picLocks noChangeAspect="1"/>
          </p:cNvPicPr>
          <p:nvPr/>
        </p:nvPicPr>
        <p:blipFill>
          <a:blip r:embed="rId3"/>
          <a:stretch>
            <a:fillRect/>
          </a:stretch>
        </p:blipFill>
        <p:spPr>
          <a:xfrm>
            <a:off x="274320" y="1544135"/>
            <a:ext cx="8595360" cy="2658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sk this before adding a single agent loop. Complexity is a cost, not a featur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is the simplest design that could possibly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Ask this before adding a single agent loop. Complexity is a cost, not a feature.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Routing in depth (our exercise)</a:t>
            </a:r>
          </a:p>
        </p:txBody>
      </p:sp>
      <p:pic>
        <p:nvPicPr>
          <p:cNvPr id="5" name="Picture 4" descr="Routing in depth (our exercise)"/>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structure beats one mega-prompt</a:t>
            </a:r>
          </a:p>
        </p:txBody>
      </p:sp>
      <p:pic>
        <p:nvPicPr>
          <p:cNvPr id="5" name="Picture 4" descr="Why structure beats one mega-prompt"/>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Multi-agent systems: a caution</a:t>
            </a:r>
          </a:p>
        </p:txBody>
      </p:sp>
      <p:pic>
        <p:nvPicPr>
          <p:cNvPr id="5" name="Picture 4" descr="Multi-agent systems: a caution"/>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Designing good tool and step interfaces</a:t>
            </a:r>
          </a:p>
        </p:txBody>
      </p:sp>
      <p:pic>
        <p:nvPicPr>
          <p:cNvPr id="5" name="Picture 4" descr="Designing good tool and step interface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 "Building Effective Agents"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595710"/>
            <a:ext cx="8595360" cy="255558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outing workflow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Activity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Router and workers</a:t>
            </a:r>
          </a:p>
        </p:txBody>
      </p:sp>
      <p:pic>
        <p:nvPicPr>
          <p:cNvPr id="5" name="Picture 4" descr="Router and workers"/>
          <p:cNvPicPr>
            <a:picLocks noChangeAspect="1"/>
          </p:cNvPicPr>
          <p:nvPr/>
        </p:nvPicPr>
        <p:blipFill>
          <a:blip r:embed="rId3"/>
          <a:stretch>
            <a:fillRect/>
          </a:stretch>
        </p:blipFill>
        <p:spPr>
          <a:xfrm>
            <a:off x="274320" y="1740808"/>
            <a:ext cx="8595360" cy="22653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weeks/week-14/class-01/exercise/workflow.py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29366" y="1078992"/>
            <a:ext cx="768526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mock LLM (deterministic tests)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next class</a:t>
            </a:r>
          </a:p>
        </p:txBody>
      </p:sp>
      <p:pic>
        <p:nvPicPr>
          <p:cNvPr id="5" name="Picture 4" descr="Reading &amp; next class"/>
          <p:cNvPicPr>
            <a:picLocks noChangeAspect="1"/>
          </p:cNvPicPr>
          <p:nvPr/>
        </p:nvPicPr>
        <p:blipFill>
          <a:blip r:embed="rId3"/>
          <a:stretch>
            <a:fillRect/>
          </a:stretch>
        </p:blipFill>
        <p:spPr>
          <a:xfrm>
            <a:off x="378178" y="1078992"/>
            <a:ext cx="83876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anthropic.com/research/building-effective-agents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