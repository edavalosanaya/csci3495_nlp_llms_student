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Rube Goldberg's "Self-Operating Napkin" (1931): thirteen steps to wipe a chin. Which LLM pipelines are secretly this machine?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model, three passes over its own answer. Draft, find the flaws, revise using the critique. It costs three calls instead of one, which is exactly the trade-off to keep in mind.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critic is a separate call with explicit criteria, and it loops until the bar is met or the step budget runs out. The budget is not optional: without it this is an infinite loop with a bill. When to use: you have clear evaluation criteria and iteration measurably helps (e.g., code that must pass tests, translations checked for nuance). Add a max-iterations budget so the loop always terminates.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conditions have to hold: you can state the criteria clearly, and iterating measurably helps. Code that must pass tests is the perfect case. Anything with no checkable bar just burns tokens.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about their own projects, out loud. Most of them have an agent in the design that a function call would do better.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Climb the ladder only as far as the task requires, and stop the moment it works. One prompt, then retrieval and tools, then a workflow, and only then an agent. Costs agents add, measure before adopting: dollars per task up, latency up, errors compound across steps, harder to debug.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these before adopting an agent.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in order, and you stop at the first yes. This is the slide to apply to their own project in the work session after the break. Always: structured outputs, validation, and a stopping condition.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real risky task, drafting and sending a refund. The model drafts, then code validates the JSON, checks the fields, caps the amount, and only then sends. The LLM proposes and deterministic code decides, which is the same trust boundary as Week 12.</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to sanity-check their design before the final. Is anything over-engineered, could a workflow replace an agent, what happens when a step fails, and how will they report a rate rather than an anecdote.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recap we go one-on-one. Sketch your pipeline and where it could simplify.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14 lecture + Building Effective Agents (Anthropic 2024). ~10 min, closed book. Clear your desk; finish early and your break starts early, need more time and it comes out of the break.</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minutes on the self-checklist, then keep building while I circulate for five-minute one-on-ones. Tell them now to come to their slot with a specific question, because is this good gets a useless answer. Optional 5-min opener: discuss as a class, when would a plain function call beat an autonomous agent?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one ships complete: nothing to implement. Read it, run it on a passing file and a warning file, then run it on their own project entry point.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was the last new technical content of the course. Next week is ethics and society, and then presentations.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Reflection, Evaluator and Optimizer, and When NOT to Use Agents</a:t>
            </a:r>
          </a:p>
        </p:txBody>
      </p:sp>
      <p:sp>
        <p:nvSpPr>
          <p:cNvPr id="3" name="Subtitle 2"/>
          <p:cNvSpPr>
            <a:spLocks noGrp="1"/>
          </p:cNvSpPr>
          <p:nvPr>
            <p:ph type="subTitle" idx="1"/>
          </p:nvPr>
        </p:nvSpPr>
        <p:spPr>
          <a:xfrm>
            <a:off x="493926" y="3549825"/>
            <a:ext cx="5956349" cy="970800"/>
          </a:xfrm>
        </p:spPr>
        <p:txBody>
          <a:bodyPr wrap="square"/>
          <a:lstStyle/>
          <a:p>
            <a:pPr marL="0" indent="0">
              <a:buNone/>
            </a:pPr>
            <a:r>
              <a:t>Natural Language Processing &amp; Large Language Models</a:t>
            </a:r>
          </a:p>
          <a:p>
            <a:pPr marL="0" indent="0">
              <a:buNone/>
            </a:pPr>
            <a:r>
              <a:t>Week 14, Class 2  ·  Mon Nov 30, 2026</a:t>
            </a:r>
          </a:p>
        </p:txBody>
      </p:sp>
      <p:pic>
        <p:nvPicPr>
          <p:cNvPr id="5" name="Picture 4" descr="Reflection, Evaluator and Optimizer, and When NOT to Use Agents"/>
          <p:cNvPicPr>
            <a:picLocks noChangeAspect="1"/>
          </p:cNvPicPr>
          <p:nvPr/>
        </p:nvPicPr>
        <p:blipFill>
          <a:blip r:embed="rId3"/>
          <a:stretch>
            <a:fillRect/>
          </a:stretch>
        </p:blipFill>
        <p:spPr>
          <a:xfrm>
            <a:off x="6678875" y="3474720"/>
            <a:ext cx="2099365"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Rube Goldberg, 1931, via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Reflection: check your own work</a:t>
            </a:r>
          </a:p>
        </p:txBody>
      </p:sp>
      <p:pic>
        <p:nvPicPr>
          <p:cNvPr id="5" name="Picture 4" descr="Reflection: check your own work"/>
          <p:cNvPicPr>
            <a:picLocks noChangeAspect="1"/>
          </p:cNvPicPr>
          <p:nvPr/>
        </p:nvPicPr>
        <p:blipFill>
          <a:blip r:embed="rId3"/>
          <a:stretch>
            <a:fillRect/>
          </a:stretch>
        </p:blipFill>
        <p:spPr>
          <a:xfrm>
            <a:off x="495223" y="1078992"/>
            <a:ext cx="815355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2023, arXiv:2303.11366)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5: evaluator and optimizer</a:t>
            </a:r>
          </a:p>
        </p:txBody>
      </p:sp>
      <p:pic>
        <p:nvPicPr>
          <p:cNvPr id="5" name="Picture 4" descr="Pattern 5: evaluator and optimizer"/>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does it shine?</a:t>
            </a:r>
          </a:p>
        </p:txBody>
      </p:sp>
      <p:pic>
        <p:nvPicPr>
          <p:cNvPr id="5" name="Picture 4" descr="When does it shine?"/>
          <p:cNvPicPr>
            <a:picLocks noChangeAspect="1"/>
          </p:cNvPicPr>
          <p:nvPr/>
        </p:nvPicPr>
        <p:blipFill>
          <a:blip r:embed="rId3"/>
          <a:stretch>
            <a:fillRect/>
          </a:stretch>
        </p:blipFill>
        <p:spPr>
          <a:xfrm>
            <a:off x="274320" y="1150725"/>
            <a:ext cx="8595360" cy="34455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underrated skill is knowing when a plain function call beats an autonomous loop."/>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Just because you can build an agent, should you?</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underrated skill is knowing when a plain function call beats an autonomous loop.</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underrated skill: NOT using an agent</a:t>
            </a:r>
          </a:p>
        </p:txBody>
      </p:sp>
      <p:pic>
        <p:nvPicPr>
          <p:cNvPr id="5" name="Picture 4" descr="The underrated skill: NOT using an agent"/>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agents are expensive</a:t>
            </a:r>
          </a:p>
        </p:txBody>
      </p:sp>
      <p:pic>
        <p:nvPicPr>
          <p:cNvPr id="5" name="Picture 4" descr="Why agents are expensive"/>
          <p:cNvPicPr>
            <a:picLocks noChangeAspect="1"/>
          </p:cNvPicPr>
          <p:nvPr/>
        </p:nvPicPr>
        <p:blipFill>
          <a:blip r:embed="rId3"/>
          <a:stretch>
            <a:fillRect/>
          </a:stretch>
        </p:blipFill>
        <p:spPr>
          <a:xfrm>
            <a:off x="474300" y="1078992"/>
            <a:ext cx="81954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decision checklist</a:t>
            </a:r>
          </a:p>
        </p:txBody>
      </p:sp>
      <p:pic>
        <p:nvPicPr>
          <p:cNvPr id="5" name="Picture 4" descr="A decision checklist"/>
          <p:cNvPicPr>
            <a:picLocks noChangeAspect="1"/>
          </p:cNvPicPr>
          <p:nvPr/>
        </p:nvPicPr>
        <p:blipFill>
          <a:blip r:embed="rId3"/>
          <a:stretch>
            <a:fillRect/>
          </a:stretch>
        </p:blipFill>
        <p:spPr>
          <a:xfrm>
            <a:off x="274320" y="1142918"/>
            <a:ext cx="8595360" cy="346116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Reliability engineering</a:t>
            </a:r>
          </a:p>
        </p:txBody>
      </p:sp>
      <p:pic>
        <p:nvPicPr>
          <p:cNvPr id="5" name="Picture 4" descr="Reliability engineering"/>
          <p:cNvPicPr>
            <a:picLocks noChangeAspect="1"/>
          </p:cNvPicPr>
          <p:nvPr/>
        </p:nvPicPr>
        <p:blipFill>
          <a:blip r:embed="rId3"/>
          <a:stretch>
            <a:fillRect/>
          </a:stretch>
        </p:blipFill>
        <p:spPr>
          <a:xfrm>
            <a:off x="274320" y="1205419"/>
            <a:ext cx="8595360" cy="3336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Applying this to YOUR project</a:t>
            </a:r>
          </a:p>
        </p:txBody>
      </p:sp>
      <p:pic>
        <p:nvPicPr>
          <p:cNvPr id="5" name="Picture 4" descr="Applying this to YOUR project"/>
          <p:cNvPicPr>
            <a:picLocks noChangeAspect="1"/>
          </p:cNvPicPr>
          <p:nvPr/>
        </p:nvPicPr>
        <p:blipFill>
          <a:blip r:embed="rId3"/>
          <a:stretch>
            <a:fillRect/>
          </a:stretch>
        </p:blipFill>
        <p:spPr>
          <a:xfrm>
            <a:off x="608665" y="1078992"/>
            <a:ext cx="79266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feedback: bring your design</a:t>
            </a:r>
          </a:p>
        </p:txBody>
      </p:sp>
      <p:pic>
        <p:nvPicPr>
          <p:cNvPr id="5" name="Picture 4" descr="Project feedback: bring your design"/>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14 (paper)</a:t>
            </a:r>
          </a:p>
        </p:txBody>
      </p:sp>
      <p:pic>
        <p:nvPicPr>
          <p:cNvPr id="5" name="Picture 4" descr="Quiz 14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quizzes/quiz-14.md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project work and 1-on-1 feedbac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+ 1-on-1 feedback</a:t>
            </a:r>
          </a:p>
        </p:txBody>
      </p:sp>
      <p:pic>
        <p:nvPicPr>
          <p:cNvPr id="5" name="Picture 4" descr="Project work + 1-on-1 feedback"/>
          <p:cNvPicPr>
            <a:picLocks noChangeAspect="1"/>
          </p:cNvPicPr>
          <p:nvPr/>
        </p:nvPicPr>
        <p:blipFill>
          <a:blip r:embed="rId3"/>
          <a:stretch>
            <a:fillRect/>
          </a:stretch>
        </p:blipFill>
        <p:spPr>
          <a:xfrm>
            <a:off x="274320" y="1464009"/>
            <a:ext cx="8595360" cy="28189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Optional helper: reproducibility check</a:t>
            </a:r>
          </a:p>
        </p:txBody>
      </p:sp>
      <p:pic>
        <p:nvPicPr>
          <p:cNvPr id="5" name="Picture 4" descr="Optional helper: reproducibility check"/>
          <p:cNvPicPr>
            <a:picLocks noChangeAspect="1"/>
          </p:cNvPicPr>
          <p:nvPr/>
        </p:nvPicPr>
        <p:blipFill>
          <a:blip r:embed="rId3"/>
          <a:stretch>
            <a:fillRect/>
          </a:stretch>
        </p:blipFill>
        <p:spPr>
          <a:xfrm>
            <a:off x="274320" y="2068598"/>
            <a:ext cx="8595360" cy="16098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weeks/week-14/class-02/exercise/repro_check.py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photos: Clement Bardot (CC BY-SA 4.0), Alison Wood (CC BY 3.0), Wikimedia Commons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