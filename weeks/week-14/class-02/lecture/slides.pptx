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 id="273" r:id="rId5"/>
    <p:sldId id="274" r:id="rId39"/>
    <p:sldId id="275" r:id="rId40"/>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 Id="rId39" Type="http://schemas.openxmlformats.org/officeDocument/2006/relationships/slide" Target="slides/slide19.xml"/><Relationship Id="rId4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conductor plays no instrument, yet the whole orchestra depends on one. What plays that role in a system of LLM calls?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skill shifts from prompting to systems design.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Like a project team, a good LLM system splits work into focused roles that each do one job well.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engineering guide, not a paper. Most agent projects fail by being over-engineered.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Most production needs are workflows, not full agents.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today is made of this one unit: a model with retrieval, tools and memory attached. Retrieval was Week 13, tools were Week 13. Nothing new here, just named so we can compose it.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Today: patterns 1 to 4; evaluator-optimizer next class.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fixed sequence, with a gate between steps. Outline, draft, polish, and a programmatic check that can send a step back. Fixed in advance, which is what makes it a workflow and not an agent.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cheap classifier, then dispatch to a specialist. This is where most of the cost savings in real systems come from: the strong model only sees the queries that need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flavours. Sectioning splits a task into independent pieces and merges them, which buys wall-clock time. Voting runs the same task several times and aggregates, which buys reliability.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difference from parallelization is that the number and shape of the subtasks is decided at runtime, by the model, not written down in advance. That is the first pattern on this slide with any real autonomy in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it before adding a single agent loop. Every extra step is another place to fail, and complexity is a cost you pay forever.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Make the router deterministic and testable.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Software engineering with stochastic parts.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Often a workflow is simpler and more reliable.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model is only as good as its interface. Prompt-engineer your tools as carefully as your prompts.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functions: route classifies the query defensively, worker_summarize is one specialist, and run_workflow ties them into a structured Result. The other workers are written, so they have a pattern to copy.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query goes to the router, the router picks a worker, and a structured Result comes back. Point at the structure: the worker's output is parsed, not read.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Next: reflection, evaluator and optimizer, when NOT to use agents. Project feedback session.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Agentic Workflows &amp; Orchestration</a:t>
            </a:r>
          </a:p>
        </p:txBody>
      </p:sp>
      <p:sp>
        <p:nvSpPr>
          <p:cNvPr id="3" name="Subtitle 2"/>
          <p:cNvSpPr>
            <a:spLocks noGrp="1"/>
          </p:cNvSpPr>
          <p:nvPr>
            <p:ph type="subTitle" idx="1"/>
          </p:nvPr>
        </p:nvSpPr>
        <p:spPr>
          <a:xfrm>
            <a:off x="493926" y="3549825"/>
            <a:ext cx="5834417" cy="970800"/>
          </a:xfrm>
        </p:spPr>
        <p:txBody>
          <a:bodyPr wrap="square"/>
          <a:lstStyle/>
          <a:p>
            <a:pPr marL="0" indent="0">
              <a:buNone/>
            </a:pPr>
            <a:r>
              <a:t>Natural Language Processing &amp; Large Language Models</a:t>
            </a:r>
          </a:p>
          <a:p>
            <a:pPr marL="0" indent="0">
              <a:buNone/>
            </a:pPr>
            <a:r>
              <a:t>Week 14, Class 2  ·  Wed Dec 2, 2026</a:t>
            </a:r>
          </a:p>
        </p:txBody>
      </p:sp>
      <p:pic>
        <p:nvPicPr>
          <p:cNvPr id="5" name="Picture 4" descr="Agentic Workflows &amp; Orchestration"/>
          <p:cNvPicPr>
            <a:picLocks noChangeAspect="1"/>
          </p:cNvPicPr>
          <p:nvPr/>
        </p:nvPicPr>
        <p:blipFill>
          <a:blip r:embed="rId3"/>
          <a:stretch>
            <a:fillRect/>
          </a:stretch>
        </p:blipFill>
        <p:spPr>
          <a:xfrm>
            <a:off x="6556943" y="3474720"/>
            <a:ext cx="2221297"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Photo: AnnaLesniewski, Wikimedia Commons, CC0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From one call to a system</a:t>
            </a:r>
          </a:p>
        </p:txBody>
      </p:sp>
      <p:sp>
        <p:nvSpPr>
          <p:cNvPr id="5" name="Rounded Rectangle 4"/>
          <p:cNvSpPr/>
          <p:nvPr/>
        </p:nvSpPr>
        <p:spPr>
          <a:xfrm>
            <a:off x="457200" y="2272220"/>
            <a:ext cx="4041648" cy="1202563"/>
          </a:xfrm>
          <a:prstGeom prst="roundRect">
            <a:avLst>
              <a:gd name="adj" fmla="val 988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18524"/>
            <a:ext cx="3675888" cy="90995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WHERE WE STARTED</a:t>
            </a:r>
          </a:p>
          <a:p>
            <a:pPr marL="0" indent="0">
              <a:spcAft>
                <a:spcPts val="300"/>
              </a:spcAft>
              <a:buNone/>
            </a:pPr>
            <a:r>
              <a:rPr sz="2000" b="0" u="none">
                <a:solidFill>
                  <a:srgbClr val="1D1D1F"/>
                </a:solidFill>
                <a:latin typeface="Menlo"/>
              </a:rPr>
              <a:t>one LLM call</a:t>
            </a:r>
          </a:p>
          <a:p>
            <a:pPr marL="0" indent="0" algn="l">
              <a:spcAft>
                <a:spcPts val="200"/>
              </a:spcAft>
              <a:buNone/>
            </a:pPr>
            <a:r>
              <a:rPr sz="1200" b="0">
                <a:solidFill>
                  <a:srgbClr val="86868B"/>
                </a:solidFill>
                <a:latin typeface="Helvetica Neue"/>
              </a:rPr>
              <a:t>A single prompt. Simple, and brittle for anything complex.</a:t>
            </a:r>
          </a:p>
        </p:txBody>
      </p:sp>
      <p:sp>
        <p:nvSpPr>
          <p:cNvPr id="7" name="Rounded Rectangle 6"/>
          <p:cNvSpPr/>
          <p:nvPr/>
        </p:nvSpPr>
        <p:spPr>
          <a:xfrm>
            <a:off x="4645152" y="2272220"/>
            <a:ext cx="4041648" cy="1202563"/>
          </a:xfrm>
          <a:prstGeom prst="roundRect">
            <a:avLst>
              <a:gd name="adj" fmla="val 988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18524"/>
            <a:ext cx="3675888" cy="90995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WHERE WE ARE GOING</a:t>
            </a:r>
          </a:p>
          <a:p>
            <a:pPr marL="0" indent="0">
              <a:spcAft>
                <a:spcPts val="300"/>
              </a:spcAft>
              <a:buNone/>
            </a:pPr>
            <a:r>
              <a:rPr sz="2000" b="0" u="none">
                <a:solidFill>
                  <a:srgbClr val="1D1D1F"/>
                </a:solidFill>
                <a:latin typeface="Menlo"/>
              </a:rPr>
              <a:t>a system of calls</a:t>
            </a:r>
          </a:p>
          <a:p>
            <a:pPr marL="0" indent="0" algn="l">
              <a:spcAft>
                <a:spcPts val="200"/>
              </a:spcAft>
              <a:buNone/>
            </a:pPr>
            <a:r>
              <a:rPr sz="1200" b="0">
                <a:solidFill>
                  <a:srgbClr val="86868B"/>
                </a:solidFill>
                <a:latin typeface="Helvetica Neue"/>
              </a:rPr>
              <a:t>Small reliable steps wired together. Software design, with LLMs as components.</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team of specialists, not one genius</a:t>
            </a:r>
          </a:p>
        </p:txBody>
      </p:sp>
      <p:pic>
        <p:nvPicPr>
          <p:cNvPr id="5" name="Picture 4" descr="A team of specialists, not one genius"/>
          <p:cNvPicPr>
            <a:picLocks noChangeAspect="1"/>
          </p:cNvPicPr>
          <p:nvPr/>
        </p:nvPicPr>
        <p:blipFill>
          <a:blip r:embed="rId3"/>
          <a:stretch>
            <a:fillRect/>
          </a:stretch>
        </p:blipFill>
        <p:spPr>
          <a:xfrm>
            <a:off x="1881076" y="1078992"/>
            <a:ext cx="538184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https://images.unsplash.com/photo-1522071820081-009f0129c71c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A grounding source</a:t>
            </a:r>
          </a:p>
          <a:p>
            <a:pPr algn="ctr" marL="0" indent="0">
              <a:buNone/>
            </a:pPr>
            <a:r>
              <a:rPr sz="2000">
                <a:solidFill>
                  <a:srgbClr val="222222"/>
                </a:solidFill>
              </a:rPr>
              <a:t>Find the simplest solution possible, and only add complexity when it is needed.</a:t>
            </a:r>
          </a:p>
        </p:txBody>
      </p:sp>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Workflow or agent?</a:t>
            </a:r>
          </a:p>
        </p:txBody>
      </p:sp>
      <p:graphicFrame>
        <p:nvGraphicFramePr>
          <p:cNvPr id="5" name="Table 4"/>
          <p:cNvGraphicFramePr>
            <a:graphicFrameLocks noGrp="1"/>
          </p:cNvGraphicFramePr>
          <p:nvPr/>
        </p:nvGraphicFramePr>
        <p:xfrm>
          <a:off x="457200" y="1172718"/>
          <a:ext cx="8229600" cy="3401568"/>
        </p:xfrm>
        <a:graphic>
          <a:graphicData uri="http://schemas.openxmlformats.org/drawingml/2006/table">
            <a:tbl>
              <a:tblPr firstRow="1" bandRow="0"/>
              <a:tblGrid>
                <a:gridCol w="1810512"/>
                <a:gridCol w="3209544"/>
                <a:gridCol w="3209544"/>
              </a:tblGrid>
              <a:tr h="566928">
                <a:tc>
                  <a:txBody>
                    <a:bodyPr wrap="none"/>
                    <a:lstStyle/>
                    <a:p>
                      <a:pPr marL="0" indent="0" algn="l">
                        <a:spcAft>
                          <a:spcPts val="0"/>
                        </a:spcAft>
                        <a:buNone/>
                      </a:pPr>
                      <a:r>
                        <a:rPr sz="1100" b="1" spc="50">
                          <a:solidFill>
                            <a:srgbClr val="86868B"/>
                          </a:solidFill>
                          <a:latin typeface="Helvetica Neue"/>
                        </a:rPr>
                        <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WORKFLOW</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AGENT</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path</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fixed before the run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decided by the LLM</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control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code decides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the LLM decides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predictable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high</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low</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cost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bounded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open-ended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use when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it decomposes cleanly</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it does not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building block: the augmented LLM</a:t>
            </a:r>
          </a:p>
        </p:txBody>
      </p:sp>
      <p:sp>
        <p:nvSpPr>
          <p:cNvPr id="5" name="Rounded Rectangle 4"/>
          <p:cNvSpPr/>
          <p:nvPr/>
        </p:nvSpPr>
        <p:spPr>
          <a:xfrm>
            <a:off x="457200" y="2376995"/>
            <a:ext cx="2645664" cy="993013"/>
          </a:xfrm>
          <a:prstGeom prst="roundRect">
            <a:avLst>
              <a:gd name="adj" fmla="val 119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23299"/>
            <a:ext cx="2279904" cy="700405"/>
          </a:xfrm>
          <a:prstGeom prst="rect">
            <a:avLst/>
          </a:prstGeom>
          <a:noFill/>
        </p:spPr>
        <p:txBody>
          <a:bodyPr wrap="square" anchor="t" lIns="0" rIns="0" tIns="0" bIns="0">
            <a:spAutoFit/>
          </a:bodyPr>
          <a:lstStyle/>
          <a:p>
            <a:pPr marL="0" indent="0" algn="l">
              <a:spcAft>
                <a:spcPts val="600"/>
              </a:spcAft>
              <a:buNone/>
            </a:pPr>
            <a:r>
              <a:rPr sz="1050" b="1" spc="70">
                <a:solidFill>
                  <a:srgbClr val="86868B"/>
                </a:solidFill>
                <a:latin typeface="Helvetica Neue"/>
              </a:rPr>
              <a:t>RETRIEVAL</a:t>
            </a:r>
          </a:p>
          <a:p>
            <a:pPr marL="0" indent="0">
              <a:spcAft>
                <a:spcPts val="300"/>
              </a:spcAft>
              <a:buNone/>
            </a:pPr>
            <a:r>
              <a:rPr sz="1150" b="0" u="none">
                <a:solidFill>
                  <a:srgbClr val="1D1D1F"/>
                </a:solidFill>
                <a:latin typeface="Menlo"/>
              </a:rPr>
              <a:t>pull context on demand</a:t>
            </a:r>
          </a:p>
          <a:p>
            <a:pPr marL="0" indent="0" algn="l">
              <a:spcAft>
                <a:spcPts val="200"/>
              </a:spcAft>
              <a:buNone/>
            </a:pPr>
            <a:r>
              <a:rPr sz="950" b="0">
                <a:solidFill>
                  <a:srgbClr val="86868B"/>
                </a:solidFill>
                <a:latin typeface="Helvetica Neue"/>
              </a:rPr>
              <a:t>A knowledge base, queried per question.</a:t>
            </a:r>
          </a:p>
        </p:txBody>
      </p:sp>
      <p:sp>
        <p:nvSpPr>
          <p:cNvPr id="7" name="Rounded Rectangle 6"/>
          <p:cNvSpPr/>
          <p:nvPr/>
        </p:nvSpPr>
        <p:spPr>
          <a:xfrm>
            <a:off x="3249168" y="2376995"/>
            <a:ext cx="2645664" cy="993013"/>
          </a:xfrm>
          <a:prstGeom prst="roundRect">
            <a:avLst>
              <a:gd name="adj" fmla="val 119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523299"/>
            <a:ext cx="2279904" cy="700405"/>
          </a:xfrm>
          <a:prstGeom prst="rect">
            <a:avLst/>
          </a:prstGeom>
          <a:noFill/>
        </p:spPr>
        <p:txBody>
          <a:bodyPr wrap="square" anchor="t" lIns="0" rIns="0" tIns="0" bIns="0">
            <a:spAutoFit/>
          </a:bodyPr>
          <a:lstStyle/>
          <a:p>
            <a:pPr marL="0" indent="0" algn="l">
              <a:spcAft>
                <a:spcPts val="600"/>
              </a:spcAft>
              <a:buNone/>
            </a:pPr>
            <a:r>
              <a:rPr sz="1050" b="1" spc="70">
                <a:solidFill>
                  <a:srgbClr val="86868B"/>
                </a:solidFill>
                <a:latin typeface="Helvetica Neue"/>
              </a:rPr>
              <a:t>TOOLS</a:t>
            </a:r>
          </a:p>
          <a:p>
            <a:pPr marL="0" indent="0">
              <a:spcAft>
                <a:spcPts val="300"/>
              </a:spcAft>
              <a:buNone/>
            </a:pPr>
            <a:r>
              <a:rPr sz="1150" b="0" u="none">
                <a:solidFill>
                  <a:srgbClr val="1D1D1F"/>
                </a:solidFill>
                <a:latin typeface="Menlo"/>
              </a:rPr>
              <a:t>call functions and APIs</a:t>
            </a:r>
          </a:p>
          <a:p>
            <a:pPr marL="0" indent="0" algn="l">
              <a:spcAft>
                <a:spcPts val="200"/>
              </a:spcAft>
              <a:buNone/>
            </a:pPr>
            <a:r>
              <a:rPr sz="950" b="0">
                <a:solidFill>
                  <a:srgbClr val="86868B"/>
                </a:solidFill>
                <a:latin typeface="Helvetica Neue"/>
              </a:rPr>
              <a:t>Search, run code, act on the world.</a:t>
            </a:r>
          </a:p>
        </p:txBody>
      </p:sp>
      <p:sp>
        <p:nvSpPr>
          <p:cNvPr id="9" name="Rounded Rectangle 8"/>
          <p:cNvSpPr/>
          <p:nvPr/>
        </p:nvSpPr>
        <p:spPr>
          <a:xfrm>
            <a:off x="6041136" y="2376995"/>
            <a:ext cx="2645664" cy="993013"/>
          </a:xfrm>
          <a:prstGeom prst="roundRect">
            <a:avLst>
              <a:gd name="adj" fmla="val 119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523299"/>
            <a:ext cx="2279904" cy="700405"/>
          </a:xfrm>
          <a:prstGeom prst="rect">
            <a:avLst/>
          </a:prstGeom>
          <a:noFill/>
        </p:spPr>
        <p:txBody>
          <a:bodyPr wrap="square" anchor="t" lIns="0" rIns="0" tIns="0" bIns="0">
            <a:spAutoFit/>
          </a:bodyPr>
          <a:lstStyle/>
          <a:p>
            <a:pPr marL="0" indent="0" algn="l">
              <a:spcAft>
                <a:spcPts val="600"/>
              </a:spcAft>
              <a:buNone/>
            </a:pPr>
            <a:r>
              <a:rPr sz="1050" b="1" spc="70">
                <a:solidFill>
                  <a:srgbClr val="86868B"/>
                </a:solidFill>
                <a:latin typeface="Helvetica Neue"/>
              </a:rPr>
              <a:t>MEMORY</a:t>
            </a:r>
          </a:p>
          <a:p>
            <a:pPr marL="0" indent="0">
              <a:spcAft>
                <a:spcPts val="300"/>
              </a:spcAft>
              <a:buNone/>
            </a:pPr>
            <a:r>
              <a:rPr sz="1150" b="0" u="none">
                <a:solidFill>
                  <a:srgbClr val="1D1D1F"/>
                </a:solidFill>
                <a:latin typeface="Menlo"/>
              </a:rPr>
              <a:t>carry state across turns</a:t>
            </a:r>
          </a:p>
          <a:p>
            <a:pPr marL="0" indent="0" algn="l">
              <a:spcAft>
                <a:spcPts val="200"/>
              </a:spcAft>
              <a:buNone/>
            </a:pPr>
            <a:r>
              <a:rPr sz="950" b="0">
                <a:solidFill>
                  <a:srgbClr val="86868B"/>
                </a:solidFill>
                <a:latin typeface="Helvetica Neue"/>
              </a:rPr>
              <a:t>What happened earlier, available later.</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five patterns at a glance</a:t>
            </a:r>
          </a:p>
        </p:txBody>
      </p:sp>
      <p:sp>
        <p:nvSpPr>
          <p:cNvPr id="5" name="Rounded Rectangle 4"/>
          <p:cNvSpPr/>
          <p:nvPr/>
        </p:nvSpPr>
        <p:spPr>
          <a:xfrm>
            <a:off x="457200" y="1699070"/>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845374"/>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PROMPT CHAINING</a:t>
            </a:r>
          </a:p>
          <a:p>
            <a:pPr marL="0" indent="0">
              <a:spcAft>
                <a:spcPts val="300"/>
              </a:spcAft>
              <a:buNone/>
            </a:pPr>
            <a:r>
              <a:rPr sz="1450" b="0" u="none">
                <a:solidFill>
                  <a:srgbClr val="1D1D1F"/>
                </a:solidFill>
                <a:latin typeface="Menlo"/>
              </a:rPr>
              <a:t>fixed sequential steps</a:t>
            </a:r>
          </a:p>
          <a:p>
            <a:pPr marL="0" indent="0" algn="l">
              <a:spcAft>
                <a:spcPts val="200"/>
              </a:spcAft>
              <a:buNone/>
            </a:pPr>
            <a:r>
              <a:rPr sz="1200" b="0">
                <a:solidFill>
                  <a:srgbClr val="86868B"/>
                </a:solidFill>
                <a:latin typeface="Helvetica Neue"/>
              </a:rPr>
              <a:t>Each call works on the prior output, with a gate between them.</a:t>
            </a:r>
          </a:p>
        </p:txBody>
      </p:sp>
      <p:sp>
        <p:nvSpPr>
          <p:cNvPr id="7" name="Rounded Rectangle 6"/>
          <p:cNvSpPr/>
          <p:nvPr/>
        </p:nvSpPr>
        <p:spPr>
          <a:xfrm>
            <a:off x="4645152" y="1699070"/>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1845374"/>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ROUTING</a:t>
            </a:r>
          </a:p>
          <a:p>
            <a:pPr marL="0" indent="0">
              <a:spcAft>
                <a:spcPts val="300"/>
              </a:spcAft>
              <a:buNone/>
            </a:pPr>
            <a:r>
              <a:rPr sz="1450" b="0" u="none">
                <a:solidFill>
                  <a:srgbClr val="1D1D1F"/>
                </a:solidFill>
                <a:latin typeface="Menlo"/>
              </a:rPr>
              <a:t>classify, then dispatch</a:t>
            </a:r>
          </a:p>
          <a:p>
            <a:pPr marL="0" indent="0" algn="l">
              <a:spcAft>
                <a:spcPts val="200"/>
              </a:spcAft>
              <a:buNone/>
            </a:pPr>
            <a:r>
              <a:rPr sz="1200" b="0">
                <a:solidFill>
                  <a:srgbClr val="86868B"/>
                </a:solidFill>
                <a:latin typeface="Helvetica Neue"/>
              </a:rPr>
              <a:t>Cheap work to cheap models.</a:t>
            </a:r>
          </a:p>
        </p:txBody>
      </p:sp>
      <p:sp>
        <p:nvSpPr>
          <p:cNvPr id="9" name="Rounded Rectangle 8"/>
          <p:cNvSpPr/>
          <p:nvPr/>
        </p:nvSpPr>
        <p:spPr>
          <a:xfrm>
            <a:off x="457200" y="2946654"/>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3092958"/>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PARALLELIZATION</a:t>
            </a:r>
          </a:p>
          <a:p>
            <a:pPr marL="0" indent="0">
              <a:spcAft>
                <a:spcPts val="300"/>
              </a:spcAft>
              <a:buNone/>
            </a:pPr>
            <a:r>
              <a:rPr sz="1450" b="0" u="none">
                <a:solidFill>
                  <a:srgbClr val="1D1D1F"/>
                </a:solidFill>
                <a:latin typeface="Menlo"/>
              </a:rPr>
              <a:t>sectioning, or voting</a:t>
            </a:r>
          </a:p>
          <a:p>
            <a:pPr marL="0" indent="0" algn="l">
              <a:spcAft>
                <a:spcPts val="200"/>
              </a:spcAft>
              <a:buNone/>
            </a:pPr>
            <a:r>
              <a:rPr sz="1200" b="0">
                <a:solidFill>
                  <a:srgbClr val="86868B"/>
                </a:solidFill>
                <a:latin typeface="Helvetica Neue"/>
              </a:rPr>
              <a:t>Split and merge, or run N times and count.</a:t>
            </a:r>
          </a:p>
        </p:txBody>
      </p:sp>
      <p:sp>
        <p:nvSpPr>
          <p:cNvPr id="11" name="Rounded Rectangle 10"/>
          <p:cNvSpPr/>
          <p:nvPr/>
        </p:nvSpPr>
        <p:spPr>
          <a:xfrm>
            <a:off x="4645152" y="2946654"/>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28032" y="3092958"/>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ORCHESTRATOR-WORKERS</a:t>
            </a:r>
          </a:p>
          <a:p>
            <a:pPr marL="0" indent="0">
              <a:spcAft>
                <a:spcPts val="300"/>
              </a:spcAft>
              <a:buNone/>
            </a:pPr>
            <a:r>
              <a:rPr sz="1450" b="0" u="none">
                <a:solidFill>
                  <a:srgbClr val="1D1D1F"/>
                </a:solidFill>
                <a:latin typeface="Menlo"/>
              </a:rPr>
              <a:t>the split is decided at runtime</a:t>
            </a:r>
          </a:p>
          <a:p>
            <a:pPr marL="0" indent="0" algn="l">
              <a:spcAft>
                <a:spcPts val="200"/>
              </a:spcAft>
              <a:buNone/>
            </a:pPr>
            <a:r>
              <a:rPr sz="1200" b="0">
                <a:solidFill>
                  <a:srgbClr val="86868B"/>
                </a:solidFill>
                <a:latin typeface="Helvetica Neue"/>
              </a:rPr>
              <a:t>Use when you cannot predict the decomposition.</a:t>
            </a:r>
          </a:p>
        </p:txBody>
      </p:sp>
      <p:sp>
        <p:nvSpPr>
          <p:cNvPr id="13" name="TextBox 1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1: prompt chaining</a:t>
            </a:r>
          </a:p>
        </p:txBody>
      </p:sp>
      <p:sp>
        <p:nvSpPr>
          <p:cNvPr id="5" name="Rounded Rectangle 4"/>
          <p:cNvSpPr/>
          <p:nvPr/>
        </p:nvSpPr>
        <p:spPr>
          <a:xfrm>
            <a:off x="457200"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OUTLINE</a:t>
            </a:r>
          </a:p>
          <a:p>
            <a:pPr marL="0" indent="0" algn="l">
              <a:lnSpc>
                <a:spcPts val="3000"/>
              </a:lnSpc>
              <a:spcAft>
                <a:spcPts val="0"/>
              </a:spcAft>
              <a:buNone/>
            </a:pPr>
            <a:r>
              <a:rPr sz="2000" b="0">
                <a:solidFill>
                  <a:srgbClr val="1D1D1F"/>
                </a:solidFill>
                <a:latin typeface="Menlo"/>
              </a:rPr>
              <a:t>draft the structure</a:t>
            </a:r>
          </a:p>
        </p:txBody>
      </p:sp>
      <p:sp>
        <p:nvSpPr>
          <p:cNvPr id="7" name="Right Arrow 6"/>
          <p:cNvSpPr/>
          <p:nvPr/>
        </p:nvSpPr>
        <p:spPr>
          <a:xfrm>
            <a:off x="2913156"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DRAFT</a:t>
            </a:r>
          </a:p>
          <a:p>
            <a:pPr marL="0" indent="0" algn="l">
              <a:lnSpc>
                <a:spcPts val="3000"/>
              </a:lnSpc>
              <a:spcAft>
                <a:spcPts val="0"/>
              </a:spcAft>
              <a:buNone/>
            </a:pPr>
            <a:r>
              <a:rPr sz="2000" b="0">
                <a:solidFill>
                  <a:srgbClr val="1D1D1F"/>
                </a:solidFill>
                <a:latin typeface="Menlo"/>
              </a:rPr>
              <a:t>write from the outline</a:t>
            </a:r>
          </a:p>
        </p:txBody>
      </p:sp>
      <p:sp>
        <p:nvSpPr>
          <p:cNvPr id="10" name="Right Arrow 9"/>
          <p:cNvSpPr/>
          <p:nvPr/>
        </p:nvSpPr>
        <p:spPr>
          <a:xfrm>
            <a:off x="5845332"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POLISH</a:t>
            </a:r>
          </a:p>
          <a:p>
            <a:pPr marL="0" indent="0" algn="l">
              <a:lnSpc>
                <a:spcPts val="3000"/>
              </a:lnSpc>
              <a:spcAft>
                <a:spcPts val="0"/>
              </a:spcAft>
              <a:buNone/>
            </a:pPr>
            <a:r>
              <a:rPr sz="2000" b="0">
                <a:solidFill>
                  <a:srgbClr val="1D1D1F"/>
                </a:solidFill>
                <a:latin typeface="Menlo"/>
              </a:rPr>
              <a:t>fix grammar and tone</a:t>
            </a:r>
          </a:p>
        </p:txBody>
      </p:sp>
      <p:sp>
        <p:nvSpPr>
          <p:cNvPr id="13" name="Left Arrow 12"/>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a programmatic gate between steps catches an error before it propagates</a:t>
            </a:r>
          </a:p>
        </p:txBody>
      </p:sp>
      <p:sp>
        <p:nvSpPr>
          <p:cNvPr id="15" name="TextBox 14"/>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2: routing</a:t>
            </a:r>
          </a:p>
        </p:txBody>
      </p:sp>
      <p:sp>
        <p:nvSpPr>
          <p:cNvPr id="5" name="Rounded Rectangle 4"/>
          <p:cNvSpPr/>
          <p:nvPr/>
        </p:nvSpPr>
        <p:spPr>
          <a:xfrm>
            <a:off x="457200"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QUERY</a:t>
            </a:r>
          </a:p>
          <a:p>
            <a:pPr marL="0" indent="0" algn="l">
              <a:lnSpc>
                <a:spcPts val="3000"/>
              </a:lnSpc>
              <a:spcAft>
                <a:spcPts val="0"/>
              </a:spcAft>
              <a:buNone/>
            </a:pPr>
            <a:r>
              <a:rPr sz="2000" b="0">
                <a:solidFill>
                  <a:srgbClr val="1D1D1F"/>
                </a:solidFill>
                <a:latin typeface="Menlo"/>
              </a:rPr>
              <a:t>whatever came in</a:t>
            </a:r>
          </a:p>
        </p:txBody>
      </p:sp>
      <p:sp>
        <p:nvSpPr>
          <p:cNvPr id="7" name="Right Arrow 6"/>
          <p:cNvSpPr/>
          <p:nvPr/>
        </p:nvSpPr>
        <p:spPr>
          <a:xfrm>
            <a:off x="2913156"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ROUTER</a:t>
            </a:r>
          </a:p>
          <a:p>
            <a:pPr marL="0" indent="0" algn="l">
              <a:lnSpc>
                <a:spcPts val="3000"/>
              </a:lnSpc>
              <a:spcAft>
                <a:spcPts val="0"/>
              </a:spcAft>
              <a:buNone/>
            </a:pPr>
            <a:r>
              <a:rPr sz="2000" b="0">
                <a:solidFill>
                  <a:srgbClr val="1D1D1F"/>
                </a:solidFill>
                <a:latin typeface="Menlo"/>
              </a:rPr>
              <a:t>a cheap classifier</a:t>
            </a:r>
          </a:p>
        </p:txBody>
      </p:sp>
      <p:sp>
        <p:nvSpPr>
          <p:cNvPr id="10" name="Right Arrow 9"/>
          <p:cNvSpPr/>
          <p:nvPr/>
        </p:nvSpPr>
        <p:spPr>
          <a:xfrm>
            <a:off x="5845332"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SPECIALIST</a:t>
            </a:r>
          </a:p>
          <a:p>
            <a:pPr marL="0" indent="0" algn="l">
              <a:lnSpc>
                <a:spcPts val="3000"/>
              </a:lnSpc>
              <a:spcAft>
                <a:spcPts val="0"/>
              </a:spcAft>
              <a:buNone/>
            </a:pPr>
            <a:r>
              <a:rPr sz="2000" b="0">
                <a:solidFill>
                  <a:srgbClr val="1D1D1F"/>
                </a:solidFill>
                <a:latin typeface="Menlo"/>
              </a:rPr>
              <a:t>the right path</a:t>
            </a:r>
          </a:p>
        </p:txBody>
      </p:sp>
      <p:sp>
        <p:nvSpPr>
          <p:cNvPr id="13" name="Left Arrow 12"/>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cheap work to cheap models, strong models kept for the hard cases</a:t>
            </a:r>
          </a:p>
        </p:txBody>
      </p:sp>
      <p:sp>
        <p:nvSpPr>
          <p:cNvPr id="15" name="TextBox 14"/>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3: parallelization</a:t>
            </a:r>
          </a:p>
        </p:txBody>
      </p:sp>
      <p:sp>
        <p:nvSpPr>
          <p:cNvPr id="5" name="Rounded Rectangle 4"/>
          <p:cNvSpPr/>
          <p:nvPr/>
        </p:nvSpPr>
        <p:spPr>
          <a:xfrm>
            <a:off x="457200" y="2299843"/>
            <a:ext cx="4041648" cy="1147318"/>
          </a:xfrm>
          <a:prstGeom prst="roundRect">
            <a:avLst>
              <a:gd name="adj" fmla="val 1036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46147"/>
            <a:ext cx="3675888" cy="85471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SECTIONING</a:t>
            </a:r>
          </a:p>
          <a:p>
            <a:pPr marL="0" indent="0">
              <a:spcAft>
                <a:spcPts val="300"/>
              </a:spcAft>
              <a:buNone/>
            </a:pPr>
            <a:r>
              <a:rPr sz="1700" b="0" u="none">
                <a:solidFill>
                  <a:srgbClr val="1D1D1F"/>
                </a:solidFill>
                <a:latin typeface="Menlo"/>
              </a:rPr>
              <a:t>different subtasks, at once</a:t>
            </a:r>
          </a:p>
          <a:p>
            <a:pPr marL="0" indent="0" algn="l">
              <a:spcAft>
                <a:spcPts val="200"/>
              </a:spcAft>
              <a:buNone/>
            </a:pPr>
            <a:r>
              <a:rPr sz="1200" b="0">
                <a:solidFill>
                  <a:srgbClr val="86868B"/>
                </a:solidFill>
                <a:latin typeface="Helvetica Neue"/>
              </a:rPr>
              <a:t>Split, run in parallel, merge. Faster wall-clock.</a:t>
            </a:r>
          </a:p>
        </p:txBody>
      </p:sp>
      <p:sp>
        <p:nvSpPr>
          <p:cNvPr id="7" name="Rounded Rectangle 6"/>
          <p:cNvSpPr/>
          <p:nvPr/>
        </p:nvSpPr>
        <p:spPr>
          <a:xfrm>
            <a:off x="4645152" y="2299843"/>
            <a:ext cx="4041648" cy="1147318"/>
          </a:xfrm>
          <a:prstGeom prst="roundRect">
            <a:avLst>
              <a:gd name="adj" fmla="val 1036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46147"/>
            <a:ext cx="3675888" cy="85471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VOTING</a:t>
            </a:r>
          </a:p>
          <a:p>
            <a:pPr marL="0" indent="0">
              <a:spcAft>
                <a:spcPts val="300"/>
              </a:spcAft>
              <a:buNone/>
            </a:pPr>
            <a:r>
              <a:rPr sz="1700" b="0" u="none">
                <a:solidFill>
                  <a:srgbClr val="1D1D1F"/>
                </a:solidFill>
                <a:latin typeface="Menlo"/>
              </a:rPr>
              <a:t>the same task, N times</a:t>
            </a:r>
          </a:p>
          <a:p>
            <a:pPr marL="0" indent="0" algn="l">
              <a:spcAft>
                <a:spcPts val="200"/>
              </a:spcAft>
              <a:buNone/>
            </a:pPr>
            <a:r>
              <a:rPr sz="1200" b="0">
                <a:solidFill>
                  <a:srgbClr val="86868B"/>
                </a:solidFill>
                <a:latin typeface="Helvetica Neue"/>
              </a:rPr>
              <a:t>Aggregate by majority. Higher confidence, N times the cost.</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Pattern 4: orchestrator and workers</a:t>
            </a:r>
          </a:p>
        </p:txBody>
      </p:sp>
      <p:sp>
        <p:nvSpPr>
          <p:cNvPr id="5" name="Rounded Rectangle 4"/>
          <p:cNvSpPr/>
          <p:nvPr/>
        </p:nvSpPr>
        <p:spPr>
          <a:xfrm>
            <a:off x="457200"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ORCHESTRATOR</a:t>
            </a:r>
          </a:p>
          <a:p>
            <a:pPr marL="0" indent="0" algn="l">
              <a:lnSpc>
                <a:spcPts val="3000"/>
              </a:lnSpc>
              <a:spcAft>
                <a:spcPts val="0"/>
              </a:spcAft>
              <a:buNone/>
            </a:pPr>
            <a:r>
              <a:rPr sz="2000" b="0">
                <a:solidFill>
                  <a:srgbClr val="1D1D1F"/>
                </a:solidFill>
                <a:latin typeface="Menlo"/>
              </a:rPr>
              <a:t>plans, and splits</a:t>
            </a:r>
          </a:p>
        </p:txBody>
      </p:sp>
      <p:sp>
        <p:nvSpPr>
          <p:cNvPr id="7" name="Right Arrow 6"/>
          <p:cNvSpPr/>
          <p:nvPr/>
        </p:nvSpPr>
        <p:spPr>
          <a:xfrm>
            <a:off x="2913156"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WORKERS</a:t>
            </a:r>
          </a:p>
          <a:p>
            <a:pPr marL="0" indent="0" algn="l">
              <a:lnSpc>
                <a:spcPts val="3000"/>
              </a:lnSpc>
              <a:spcAft>
                <a:spcPts val="0"/>
              </a:spcAft>
              <a:buNone/>
            </a:pPr>
            <a:r>
              <a:rPr sz="2000" b="0">
                <a:solidFill>
                  <a:srgbClr val="1D1D1F"/>
                </a:solidFill>
                <a:latin typeface="Menlo"/>
              </a:rPr>
              <a:t>one per subtask</a:t>
            </a:r>
          </a:p>
        </p:txBody>
      </p:sp>
      <p:sp>
        <p:nvSpPr>
          <p:cNvPr id="10" name="Right Arrow 9"/>
          <p:cNvSpPr/>
          <p:nvPr/>
        </p:nvSpPr>
        <p:spPr>
          <a:xfrm>
            <a:off x="5845332"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SYNTHESISE</a:t>
            </a:r>
          </a:p>
          <a:p>
            <a:pPr marL="0" indent="0" algn="l">
              <a:lnSpc>
                <a:spcPts val="3000"/>
              </a:lnSpc>
              <a:spcAft>
                <a:spcPts val="0"/>
              </a:spcAft>
              <a:buNone/>
            </a:pPr>
            <a:r>
              <a:rPr sz="2000" b="0">
                <a:solidFill>
                  <a:srgbClr val="1D1D1F"/>
                </a:solidFill>
                <a:latin typeface="Menlo"/>
              </a:rPr>
              <a:t>one answer back</a:t>
            </a:r>
          </a:p>
        </p:txBody>
      </p:sp>
      <p:sp>
        <p:nvSpPr>
          <p:cNvPr id="13" name="Left Arrow 12"/>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unlike parallelization, the number and shape of subtasks is decided at runtime</a:t>
            </a:r>
          </a:p>
        </p:txBody>
      </p:sp>
      <p:sp>
        <p:nvSpPr>
          <p:cNvPr id="15" name="TextBox 14"/>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Ask this before adding a single agent loop. Complexity is a cost, not a feature."/>
          <p:cNvPicPr>
            <a:picLocks noChangeAspect="1"/>
          </p:cNvPicPr>
          <p:nvPr/>
        </p:nvPicPr>
        <p:blipFill>
          <a:blip r:embed="rId3"/>
          <a:stretch>
            <a:fillRect/>
          </a:stretch>
        </p:blipFill>
        <p:spPr>
          <a:xfrm>
            <a:off x="0" y="-477203"/>
            <a:ext cx="9144000" cy="6097905"/>
          </a:xfrm>
          <a:prstGeom prst="rect">
            <a:avLst/>
          </a:prstGeom>
        </p:spPr>
      </p:pic>
      <p:sp>
        <p:nvSpPr>
          <p:cNvPr id="6" name="Rectangle 5"/>
          <p:cNvSpPr/>
          <p:nvPr/>
        </p:nvSpPr>
        <p:spPr>
          <a:xfrm>
            <a:off x="0" y="1143000"/>
            <a:ext cx="9144000" cy="2834640"/>
          </a:xfrm>
          <a:prstGeom prst="rect">
            <a:avLst/>
          </a:prstGeom>
          <a:solidFill>
            <a:srgbClr val="101012">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7863840" cy="1874519"/>
          </a:xfrm>
          <a:prstGeom prst="rect">
            <a:avLst/>
          </a:prstGeom>
          <a:noFill/>
        </p:spPr>
        <p:txBody>
          <a:bodyPr wrap="square" anchor="ctr">
            <a:spAutoFit/>
          </a:bodyPr>
          <a:lstStyle/>
          <a:p>
            <a:pPr algn="ctr" marL="0" indent="0">
              <a:buNone/>
            </a:pPr>
            <a:r>
              <a:rPr sz="3400" b="1">
                <a:solidFill>
                  <a:srgbClr val="FFFFFF"/>
                </a:solidFill>
              </a:rPr>
              <a:t>What is the simplest design that could possibly work?</a:t>
            </a:r>
          </a:p>
        </p:txBody>
      </p:sp>
      <p:sp>
        <p:nvSpPr>
          <p:cNvPr id="8" name="TextBox 7"/>
          <p:cNvSpPr txBox="1"/>
          <p:nvPr/>
        </p:nvSpPr>
        <p:spPr>
          <a:xfrm>
            <a:off x="640080" y="3108959"/>
            <a:ext cx="7863840" cy="777240"/>
          </a:xfrm>
          <a:prstGeom prst="rect">
            <a:avLst/>
          </a:prstGeom>
          <a:noFill/>
        </p:spPr>
        <p:txBody>
          <a:bodyPr wrap="square" anchor="t">
            <a:spAutoFit/>
          </a:bodyPr>
          <a:lstStyle/>
          <a:p>
            <a:pPr algn="ctr" marL="0" indent="0">
              <a:buNone/>
            </a:pPr>
            <a:r>
              <a:rPr sz="2000">
                <a:solidFill>
                  <a:srgbClr val="FFFFFF"/>
                </a:solidFill>
              </a:rPr>
              <a:t>Ask this before adding a single agent loop. Complexity is a cost, not a feature.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Unsplash License, https://images.unsplash.com/photo-1518770660439-4636190af475</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Routing in depth (our exercise)</a:t>
            </a:r>
          </a:p>
        </p:txBody>
      </p:sp>
      <p:sp>
        <p:nvSpPr>
          <p:cNvPr id="5" name="Rounded Rectangle 4"/>
          <p:cNvSpPr/>
          <p:nvPr/>
        </p:nvSpPr>
        <p:spPr>
          <a:xfrm>
            <a:off x="457200"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RAW REPLY</a:t>
            </a:r>
          </a:p>
          <a:p>
            <a:pPr marL="0" indent="0" algn="l">
              <a:lnSpc>
                <a:spcPts val="2400"/>
              </a:lnSpc>
              <a:spcAft>
                <a:spcPts val="0"/>
              </a:spcAft>
              <a:buNone/>
            </a:pPr>
            <a:r>
              <a:rPr sz="1600" b="0">
                <a:solidFill>
                  <a:srgbClr val="1D1D1F"/>
                </a:solidFill>
                <a:latin typeface="Menlo"/>
              </a:rPr>
              <a:t>" Translate "</a:t>
            </a:r>
          </a:p>
        </p:txBody>
      </p:sp>
      <p:sp>
        <p:nvSpPr>
          <p:cNvPr id="7" name="Right Arrow 6"/>
          <p:cNvSpPr/>
          <p:nvPr/>
        </p:nvSpPr>
        <p:spPr>
          <a:xfrm>
            <a:off x="2266431"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619756"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784348"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NORMALISE</a:t>
            </a:r>
          </a:p>
          <a:p>
            <a:pPr marL="0" indent="0" algn="l">
              <a:lnSpc>
                <a:spcPts val="2400"/>
              </a:lnSpc>
              <a:spcAft>
                <a:spcPts val="0"/>
              </a:spcAft>
              <a:buNone/>
            </a:pPr>
            <a:r>
              <a:rPr sz="1600" b="0">
                <a:solidFill>
                  <a:srgbClr val="1D1D1F"/>
                </a:solidFill>
                <a:latin typeface="Menlo"/>
              </a:rPr>
              <a:t>strip, lowercase</a:t>
            </a:r>
          </a:p>
        </p:txBody>
      </p:sp>
      <p:sp>
        <p:nvSpPr>
          <p:cNvPr id="10" name="Right Arrow 9"/>
          <p:cNvSpPr/>
          <p:nvPr/>
        </p:nvSpPr>
        <p:spPr>
          <a:xfrm>
            <a:off x="4428987"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782312"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46904"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VALIDATE</a:t>
            </a:r>
          </a:p>
          <a:p>
            <a:pPr marL="0" indent="0" algn="l">
              <a:lnSpc>
                <a:spcPts val="2400"/>
              </a:lnSpc>
              <a:spcAft>
                <a:spcPts val="0"/>
              </a:spcAft>
              <a:buNone/>
            </a:pPr>
            <a:r>
              <a:rPr sz="1600" b="0">
                <a:solidFill>
                  <a:srgbClr val="1D1D1F"/>
                </a:solidFill>
                <a:latin typeface="Menlo"/>
              </a:rPr>
              <a:t>is it in LABELS?</a:t>
            </a:r>
          </a:p>
        </p:txBody>
      </p:sp>
      <p:sp>
        <p:nvSpPr>
          <p:cNvPr id="13" name="Right Arrow 12"/>
          <p:cNvSpPr/>
          <p:nvPr/>
        </p:nvSpPr>
        <p:spPr>
          <a:xfrm>
            <a:off x="6591543" y="2361438"/>
            <a:ext cx="286024"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944868" y="1625392"/>
            <a:ext cx="1741932" cy="1782988"/>
          </a:xfrm>
          <a:prstGeom prst="roundRect">
            <a:avLst>
              <a:gd name="adj" fmla="val 6299"/>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09460" y="1888739"/>
            <a:ext cx="1412748"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WORKER</a:t>
            </a:r>
          </a:p>
          <a:p>
            <a:pPr marL="0" indent="0" algn="l">
              <a:lnSpc>
                <a:spcPts val="2400"/>
              </a:lnSpc>
              <a:spcAft>
                <a:spcPts val="0"/>
              </a:spcAft>
              <a:buNone/>
            </a:pPr>
            <a:r>
              <a:rPr sz="1600" b="0">
                <a:solidFill>
                  <a:srgbClr val="1D1D1F"/>
                </a:solidFill>
                <a:latin typeface="Menlo"/>
              </a:rPr>
              <a:t>translate</a:t>
            </a:r>
          </a:p>
        </p:txBody>
      </p:sp>
      <p:sp>
        <p:nvSpPr>
          <p:cNvPr id="16" name="Left Arrow 15"/>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a router that trusts the raw reply breaks on a capital letter</a:t>
            </a:r>
          </a:p>
        </p:txBody>
      </p:sp>
      <p:sp>
        <p:nvSpPr>
          <p:cNvPr id="18" name="TextBox 17"/>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Why structure beats one mega-prompt</a:t>
            </a:r>
          </a:p>
        </p:txBody>
      </p:sp>
      <p:graphicFrame>
        <p:nvGraphicFramePr>
          <p:cNvPr id="5" name="Table 4"/>
          <p:cNvGraphicFramePr>
            <a:graphicFrameLocks noGrp="1"/>
          </p:cNvGraphicFramePr>
          <p:nvPr/>
        </p:nvGraphicFramePr>
        <p:xfrm>
          <a:off x="457200" y="1739646"/>
          <a:ext cx="8229600" cy="2267712"/>
        </p:xfrm>
        <a:graphic>
          <a:graphicData uri="http://schemas.openxmlformats.org/drawingml/2006/table">
            <a:tbl>
              <a:tblPr firstRow="1" bandRow="0"/>
              <a:tblGrid>
                <a:gridCol w="1810512"/>
                <a:gridCol w="3209544"/>
                <a:gridCol w="3209544"/>
              </a:tblGrid>
              <a:tr h="566928">
                <a:tc>
                  <a:txBody>
                    <a:bodyPr wrap="none"/>
                    <a:lstStyle/>
                    <a:p>
                      <a:pPr marL="0" indent="0" algn="l">
                        <a:spcAft>
                          <a:spcPts val="0"/>
                        </a:spcAft>
                        <a:buNone/>
                      </a:pPr>
                      <a:r>
                        <a:rPr sz="1100" b="1" spc="50">
                          <a:solidFill>
                            <a:srgbClr val="86868B"/>
                          </a:solidFill>
                          <a:latin typeface="Helvetica Neue"/>
                        </a:rPr>
                        <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ONE MEGA-PROMPT</a:t>
                      </a:r>
                    </a:p>
                  </a:txBody>
                  <a:tcPr marL="54864" marR="54864" anchor="ctr">
                    <a:lnL w="12700" cap="flat" cmpd="sng" algn="ctr">
                      <a:noFill/>
                    </a:lnL>
                    <a:lnR w="12700" cap="flat" cmpd="sng" algn="ctr">
                      <a:noFill/>
                    </a:lnR>
                    <a:lnT w="12700" cap="flat" cmpd="sng" algn="ctr">
                      <a:noFill/>
                    </a:lnT>
                    <a:lnB w="12700" cap="flat" cmpd="sng" algn="ctr">
                      <a:noFill/>
                    </a:lnB>
                    <a:noFill/>
                  </a:tcPr>
                </a:tc>
                <a:tc>
                  <a:txBody>
                    <a:bodyPr wrap="none"/>
                    <a:lstStyle/>
                    <a:p>
                      <a:pPr marL="0" indent="0" algn="ctr">
                        <a:spcAft>
                          <a:spcPts val="0"/>
                        </a:spcAft>
                        <a:buNone/>
                      </a:pPr>
                      <a:r>
                        <a:rPr sz="1100" b="1" spc="50">
                          <a:solidFill>
                            <a:srgbClr val="86868B"/>
                          </a:solidFill>
                          <a:latin typeface="Helvetica Neue"/>
                        </a:rPr>
                        <a:t>A STRUCTURED PIPELINE</a:t>
                      </a:r>
                    </a:p>
                  </a:txBody>
                  <a:tcPr marL="54864" marR="54864" anchor="ctr">
                    <a:lnL w="12700" cap="flat" cmpd="sng" algn="ctr">
                      <a:noFill/>
                    </a:lnL>
                    <a:lnR w="12700" cap="flat" cmpd="sng" algn="ctr">
                      <a:noFill/>
                    </a:lnR>
                    <a:lnT w="12700" cap="flat" cmpd="sng" algn="ctr">
                      <a:no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failure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silent, one wrong token</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loud, at the step that failed</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visibility</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none, inside one call</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inspect every stage</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r h="566928">
                <a:tc>
                  <a:txBody>
                    <a:bodyPr wrap="none"/>
                    <a:lstStyle/>
                    <a:p>
                      <a:pPr marL="0" indent="0" algn="l">
                        <a:spcAft>
                          <a:spcPts val="0"/>
                        </a:spcAft>
                        <a:buNone/>
                      </a:pPr>
                      <a:r>
                        <a:rPr sz="1700" b="1">
                          <a:solidFill>
                            <a:srgbClr val="1D1D1F"/>
                          </a:solidFill>
                          <a:latin typeface="Helvetica Neue"/>
                        </a:rPr>
                        <a:t>cost</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top price for every subtask</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c>
                  <a:txBody>
                    <a:bodyPr wrap="none"/>
                    <a:lstStyle/>
                    <a:p>
                      <a:pPr marL="0" indent="0" algn="ctr">
                        <a:spcAft>
                          <a:spcPts val="0"/>
                        </a:spcAft>
                        <a:buNone/>
                      </a:pPr>
                      <a:r>
                        <a:rPr sz="1700" b="0">
                          <a:solidFill>
                            <a:srgbClr val="1D1D1F"/>
                          </a:solidFill>
                          <a:latin typeface="Menlo"/>
                        </a:rPr>
                        <a:t>cheap models for cheap steps</a:t>
                      </a:r>
                    </a:p>
                  </a:txBody>
                  <a:tcPr marL="54864" marR="54864" anchor="ctr">
                    <a:lnL w="12700" cap="flat" cmpd="sng" algn="ctr">
                      <a:noFill/>
                    </a:lnL>
                    <a:lnR w="12700" cap="flat" cmpd="sng" algn="ctr">
                      <a:noFill/>
                    </a:lnR>
                    <a:lnT w="12700" cap="flat" cmpd="sng" algn="ctr">
                      <a:solidFill>
                        <a:srgbClr val="C6C6CB"/>
                      </a:solidFill>
                    </a:lnT>
                    <a:lnB w="12700" cap="flat" cmpd="sng" algn="ctr">
                      <a:noFill/>
                    </a:lnB>
                    <a:noFill/>
                  </a:tcPr>
                </a:tc>
              </a:tr>
            </a:tbl>
          </a:graphicData>
        </a:graphic>
      </p:graphicFrame>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Multi-agent systems: a caution</a:t>
            </a:r>
          </a:p>
        </p:txBody>
      </p:sp>
      <p:sp>
        <p:nvSpPr>
          <p:cNvPr id="5" name="Rounded Rectangle 4"/>
          <p:cNvSpPr/>
          <p:nvPr/>
        </p:nvSpPr>
        <p:spPr>
          <a:xfrm>
            <a:off x="457200" y="2286032"/>
            <a:ext cx="4041648" cy="1174940"/>
          </a:xfrm>
          <a:prstGeom prst="roundRect">
            <a:avLst>
              <a:gd name="adj" fmla="val 1011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32336"/>
            <a:ext cx="3675888" cy="88233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2 AGENTS</a:t>
            </a:r>
          </a:p>
          <a:p>
            <a:pPr marL="0" indent="0">
              <a:spcAft>
                <a:spcPts val="300"/>
              </a:spcAft>
              <a:buNone/>
            </a:pPr>
            <a:r>
              <a:rPr sz="1850" b="0" u="none">
                <a:solidFill>
                  <a:srgbClr val="1D1D1F"/>
                </a:solidFill>
                <a:latin typeface="Menlo"/>
              </a:rPr>
              <a:t>1 channel to keep in sync</a:t>
            </a:r>
          </a:p>
        </p:txBody>
      </p:sp>
      <p:sp>
        <p:nvSpPr>
          <p:cNvPr id="7" name="Rounded Rectangle 6"/>
          <p:cNvSpPr/>
          <p:nvPr/>
        </p:nvSpPr>
        <p:spPr>
          <a:xfrm>
            <a:off x="4645152" y="2286032"/>
            <a:ext cx="4041648" cy="1174940"/>
          </a:xfrm>
          <a:prstGeom prst="roundRect">
            <a:avLst>
              <a:gd name="adj" fmla="val 1011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32336"/>
            <a:ext cx="3675888" cy="88233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4 AGENTS</a:t>
            </a:r>
          </a:p>
          <a:p>
            <a:pPr marL="0" indent="0">
              <a:spcAft>
                <a:spcPts val="300"/>
              </a:spcAft>
              <a:buNone/>
            </a:pPr>
            <a:r>
              <a:rPr sz="1850" b="0" u="none">
                <a:solidFill>
                  <a:srgbClr val="1D1D1F"/>
                </a:solidFill>
                <a:latin typeface="Menlo"/>
              </a:rPr>
              <a:t>6 channels</a:t>
            </a:r>
          </a:p>
          <a:p>
            <a:pPr marL="0" indent="0" algn="l">
              <a:spcAft>
                <a:spcPts val="200"/>
              </a:spcAft>
              <a:buNone/>
            </a:pPr>
            <a:r>
              <a:rPr sz="1200" b="0">
                <a:solidFill>
                  <a:srgbClr val="86868B"/>
                </a:solidFill>
                <a:latin typeface="Helvetica Neue"/>
              </a:rPr>
              <a:t>N(N-1)/2. Every pair is one more place to disagree, and errors compound. Prefer the least agentic design that works.</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Anthropic, "Building Effective Agents" (2024)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Designing good tool and step interfaces</a:t>
            </a:r>
          </a:p>
        </p:txBody>
      </p:sp>
      <p:sp>
        <p:nvSpPr>
          <p:cNvPr id="5" name="Rounded Rectangle 4"/>
          <p:cNvSpPr/>
          <p:nvPr/>
        </p:nvSpPr>
        <p:spPr>
          <a:xfrm>
            <a:off x="457200" y="1543145"/>
            <a:ext cx="8229600" cy="2271141"/>
          </a:xfrm>
          <a:prstGeom prst="roundRect">
            <a:avLst>
              <a:gd name="adj" fmla="val 4831"/>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698593"/>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698593"/>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 y="1698593"/>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63769"/>
            <a:ext cx="7607808" cy="1594485"/>
          </a:xfrm>
          <a:prstGeom prst="rect">
            <a:avLst/>
          </a:prstGeom>
          <a:noFill/>
        </p:spPr>
        <p:txBody>
          <a:bodyPr wrap="none" anchor="t" lIns="0" rIns="0" tIns="0" bIns="0">
            <a:spAutoFit/>
          </a:bodyPr>
          <a:lstStyle/>
          <a:p>
            <a:pPr marL="0" indent="0" algn="l">
              <a:lnSpc>
                <a:spcPts val="2092"/>
              </a:lnSpc>
              <a:spcAft>
                <a:spcPts val="0"/>
              </a:spcAft>
              <a:buNone/>
            </a:pPr>
            <a:r>
              <a:rPr sz="1350" b="0">
                <a:solidFill>
                  <a:srgbClr val="F5F5F7"/>
                </a:solidFill>
                <a:latin typeface="Menlo"/>
              </a:rPr>
              <a:t>def search(q):</a:t>
            </a:r>
          </a:p>
          <a:p>
            <a:pPr marL="0" indent="0" algn="l">
              <a:lnSpc>
                <a:spcPts val="2092"/>
              </a:lnSpc>
              <a:spcAft>
                <a:spcPts val="0"/>
              </a:spcAft>
              <a:buNone/>
            </a:pPr>
            <a:r>
              <a:rPr sz="1350" b="0">
                <a:solidFill>
                  <a:srgbClr val="F5F5F7"/>
                </a:solidFill>
                <a:latin typeface="Menlo"/>
              </a:rPr>
              <a:t>    "searches stuff"          # the model guesses, and gets prose back</a:t>
            </a:r>
          </a:p>
          <a:p>
            <a:pPr marL="0" indent="0" algn="l">
              <a:lnSpc>
                <a:spcPts val="2092"/>
              </a:lnSpc>
              <a:spcAft>
                <a:spcPts val="0"/>
              </a:spcAft>
              <a:buNone/>
            </a:pPr>
            <a:r>
              <a:rPr sz="1350" b="0">
                <a:solidFill>
                  <a:srgbClr val="F5F5F7"/>
                </a:solidFill>
                <a:latin typeface="Menlo"/>
              </a:rPr>
              <a:t> </a:t>
            </a:r>
          </a:p>
          <a:p>
            <a:pPr marL="0" indent="0" algn="l">
              <a:lnSpc>
                <a:spcPts val="2092"/>
              </a:lnSpc>
              <a:spcAft>
                <a:spcPts val="0"/>
              </a:spcAft>
              <a:buNone/>
            </a:pPr>
            <a:r>
              <a:rPr sz="1350" b="0">
                <a:solidFill>
                  <a:srgbClr val="F5F5F7"/>
                </a:solidFill>
                <a:latin typeface="Menlo"/>
              </a:rPr>
              <a:t>def search_flights(origin, dest, date):</a:t>
            </a:r>
          </a:p>
          <a:p>
            <a:pPr marL="0" indent="0" algn="l">
              <a:lnSpc>
                <a:spcPts val="2092"/>
              </a:lnSpc>
              <a:spcAft>
                <a:spcPts val="0"/>
              </a:spcAft>
              <a:buNone/>
            </a:pPr>
            <a:r>
              <a:rPr sz="1350" b="0">
                <a:solidFill>
                  <a:srgbClr val="F5F5F7"/>
                </a:solidFill>
                <a:latin typeface="Menlo"/>
              </a:rPr>
              <a:t>    """Nonstop flights. IATA codes, YYYY-MM-DD.</a:t>
            </a:r>
          </a:p>
          <a:p>
            <a:pPr marL="0" indent="0" algn="l">
              <a:lnSpc>
                <a:spcPts val="2092"/>
              </a:lnSpc>
              <a:spcAft>
                <a:spcPts val="0"/>
              </a:spcAft>
              <a:buNone/>
            </a:pPr>
            <a:r>
              <a:rPr sz="1350" b="0">
                <a:solidFill>
                  <a:srgbClr val="F5F5F7"/>
                </a:solidFill>
                <a:latin typeface="Menlo"/>
              </a:rPr>
              <a:t>    Returns JSON: {"flights": [{"depart": ..., "price": ...}]}"""</a:t>
            </a:r>
          </a:p>
        </p:txBody>
      </p:sp>
      <p:sp>
        <p:nvSpPr>
          <p:cNvPr id="10" name="TextBox 9"/>
          <p:cNvSpPr txBox="1"/>
          <p:nvPr/>
        </p:nvSpPr>
        <p:spPr>
          <a:xfrm>
            <a:off x="768096" y="3942302"/>
            <a:ext cx="7607808" cy="389572"/>
          </a:xfrm>
          <a:prstGeom prst="rect">
            <a:avLst/>
          </a:prstGeom>
          <a:noFill/>
        </p:spPr>
        <p:txBody>
          <a:bodyPr wrap="none" anchor="t" lIns="0" rIns="0" tIns="0" bIns="0">
            <a:spAutoFit/>
          </a:bodyPr>
          <a:lstStyle/>
          <a:p>
            <a:pPr marL="0" indent="0" algn="l">
              <a:lnSpc>
                <a:spcPts val="1627"/>
              </a:lnSpc>
              <a:spcAft>
                <a:spcPts val="0"/>
              </a:spcAft>
              <a:buNone/>
            </a:pPr>
            <a:r>
              <a:rPr sz="1050" b="0">
                <a:solidFill>
                  <a:srgbClr val="86868B"/>
                </a:solidFill>
                <a:latin typeface="Menlo"/>
              </a:rPr>
              <a:t>a vague tool returns prose the next step cannot parse</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 "Building Effective Agents"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Five minutes: stretch, refill water, compare notes. Then the routing workflow lab."/>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Router and workers</a:t>
            </a:r>
          </a:p>
        </p:txBody>
      </p:sp>
      <p:sp>
        <p:nvSpPr>
          <p:cNvPr id="5" name="Rounded Rectangle 4"/>
          <p:cNvSpPr/>
          <p:nvPr/>
        </p:nvSpPr>
        <p:spPr>
          <a:xfrm>
            <a:off x="457200" y="2356517"/>
            <a:ext cx="2645664" cy="1033970"/>
          </a:xfrm>
          <a:prstGeom prst="roundRect">
            <a:avLst>
              <a:gd name="adj" fmla="val 114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02821"/>
            <a:ext cx="2279904" cy="74136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ROUTE</a:t>
            </a:r>
          </a:p>
          <a:p>
            <a:pPr marL="0" indent="0">
              <a:spcAft>
                <a:spcPts val="300"/>
              </a:spcAft>
              <a:buNone/>
            </a:pPr>
            <a:r>
              <a:rPr sz="850" b="0" u="none">
                <a:solidFill>
                  <a:srgbClr val="1D1D1F"/>
                </a:solidFill>
                <a:latin typeface="Menlo"/>
              </a:rPr>
              <a:t>classify a query into exactly one of LABELS, defensively</a:t>
            </a:r>
          </a:p>
        </p:txBody>
      </p:sp>
      <p:sp>
        <p:nvSpPr>
          <p:cNvPr id="7" name="Rounded Rectangle 6"/>
          <p:cNvSpPr/>
          <p:nvPr/>
        </p:nvSpPr>
        <p:spPr>
          <a:xfrm>
            <a:off x="3249168" y="2356517"/>
            <a:ext cx="2645664" cy="1033970"/>
          </a:xfrm>
          <a:prstGeom prst="roundRect">
            <a:avLst>
              <a:gd name="adj" fmla="val 114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502821"/>
            <a:ext cx="2279904" cy="74136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WORKER_SUMMARIZE</a:t>
            </a:r>
          </a:p>
          <a:p>
            <a:pPr marL="0" indent="0">
              <a:spcAft>
                <a:spcPts val="300"/>
              </a:spcAft>
              <a:buNone/>
            </a:pPr>
            <a:r>
              <a:rPr sz="850" b="0" u="none">
                <a:solidFill>
                  <a:srgbClr val="1D1D1F"/>
                </a:solidFill>
                <a:latin typeface="Menlo"/>
              </a:rPr>
              <a:t>summarize the text in one sentence</a:t>
            </a:r>
          </a:p>
        </p:txBody>
      </p:sp>
      <p:sp>
        <p:nvSpPr>
          <p:cNvPr id="9" name="Rounded Rectangle 8"/>
          <p:cNvSpPr/>
          <p:nvPr/>
        </p:nvSpPr>
        <p:spPr>
          <a:xfrm>
            <a:off x="6041136" y="2356517"/>
            <a:ext cx="2645664" cy="1033970"/>
          </a:xfrm>
          <a:prstGeom prst="roundRect">
            <a:avLst>
              <a:gd name="adj" fmla="val 11496"/>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502821"/>
            <a:ext cx="2279904" cy="741362"/>
          </a:xfrm>
          <a:prstGeom prst="rect">
            <a:avLst/>
          </a:prstGeom>
          <a:noFill/>
        </p:spPr>
        <p:txBody>
          <a:bodyPr wrap="square" anchor="t" lIns="0" rIns="0" tIns="0" bIns="0">
            <a:spAutoFit/>
          </a:bodyPr>
          <a:lstStyle/>
          <a:p>
            <a:pPr marL="0" indent="0" algn="l">
              <a:spcAft>
                <a:spcPts val="600"/>
              </a:spcAft>
              <a:buNone/>
            </a:pPr>
            <a:r>
              <a:rPr sz="750" b="1" spc="70">
                <a:solidFill>
                  <a:srgbClr val="86868B"/>
                </a:solidFill>
                <a:latin typeface="Helvetica Neue"/>
              </a:rPr>
              <a:t>RUN_WORKFLOW</a:t>
            </a:r>
          </a:p>
          <a:p>
            <a:pPr marL="0" indent="0">
              <a:spcAft>
                <a:spcPts val="300"/>
              </a:spcAft>
              <a:buNone/>
            </a:pPr>
            <a:r>
              <a:rPr sz="850" b="0" u="none">
                <a:solidFill>
                  <a:srgbClr val="1D1D1F"/>
                </a:solidFill>
                <a:latin typeface="Menlo"/>
              </a:rPr>
              <a:t>route, then return a structured Result</a:t>
            </a:r>
          </a:p>
          <a:p>
            <a:pPr marL="0" indent="0" algn="l">
              <a:spcAft>
                <a:spcPts val="200"/>
              </a:spcAft>
              <a:buNone/>
            </a:pPr>
            <a:r>
              <a:rPr sz="900" b="0">
                <a:solidFill>
                  <a:srgbClr val="86868B"/>
                </a:solidFill>
                <a:latin typeface="Helvetica Neue"/>
              </a:rPr>
              <a:t>Already written: worker_translate, worker_extract, worker_fallback, make_ollama_llm.</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weeks/week-14/class-02/exercise/workflow.py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What you should see</a:t>
            </a:r>
          </a:p>
        </p:txBody>
      </p:sp>
      <p:sp>
        <p:nvSpPr>
          <p:cNvPr id="5" name="Rounded Rectangle 4"/>
          <p:cNvSpPr/>
          <p:nvPr/>
        </p:nvSpPr>
        <p:spPr>
          <a:xfrm>
            <a:off x="457200" y="1649349"/>
            <a:ext cx="8229600" cy="2448306"/>
          </a:xfrm>
          <a:prstGeom prst="roundRect">
            <a:avLst>
              <a:gd name="adj" fmla="val 4481"/>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80479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80479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 y="1804797"/>
            <a:ext cx="96012" cy="96012"/>
          </a:xfrm>
          <a:prstGeom prst="ellipse">
            <a:avLst/>
          </a:prstGeom>
          <a:solidFill>
            <a:srgbClr val="484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69973"/>
            <a:ext cx="7607808" cy="1771650"/>
          </a:xfrm>
          <a:prstGeom prst="rect">
            <a:avLst/>
          </a:prstGeom>
          <a:noFill/>
        </p:spPr>
        <p:txBody>
          <a:bodyPr wrap="none" anchor="t" lIns="0" rIns="0" tIns="0" bIns="0">
            <a:spAutoFit/>
          </a:bodyPr>
          <a:lstStyle/>
          <a:p>
            <a:pPr marL="0" indent="0" algn="l">
              <a:lnSpc>
                <a:spcPts val="2325"/>
              </a:lnSpc>
              <a:spcAft>
                <a:spcPts val="0"/>
              </a:spcAft>
              <a:buNone/>
            </a:pPr>
            <a:r>
              <a:rPr sz="1500" b="0">
                <a:solidFill>
                  <a:srgbClr val="F5F5F7"/>
                </a:solidFill>
                <a:latin typeface="Menlo"/>
              </a:rPr>
              <a:t>$ python -m pytest test_workflow.py -q</a:t>
            </a:r>
          </a:p>
          <a:p>
            <a:pPr marL="0" indent="0" algn="l">
              <a:lnSpc>
                <a:spcPts val="2325"/>
              </a:lnSpc>
              <a:spcAft>
                <a:spcPts val="0"/>
              </a:spcAft>
              <a:buNone/>
            </a:pPr>
            <a:r>
              <a:rPr sz="1500" b="0">
                <a:solidFill>
                  <a:srgbClr val="F5F5F7"/>
                </a:solidFill>
                <a:latin typeface="Menlo"/>
              </a:rPr>
              <a:t>Q: Summarize the French Revolution.</a:t>
            </a:r>
          </a:p>
          <a:p>
            <a:pPr marL="0" indent="0" algn="l">
              <a:lnSpc>
                <a:spcPts val="2325"/>
              </a:lnSpc>
              <a:spcAft>
                <a:spcPts val="0"/>
              </a:spcAft>
              <a:buNone/>
            </a:pPr>
            <a:r>
              <a:rPr sz="1500" b="0">
                <a:solidFill>
                  <a:srgbClr val="F5F5F7"/>
                </a:solidFill>
                <a:latin typeface="Menlo"/>
              </a:rPr>
              <a:t>  -&gt; [summarize] via worker_summarize: A sweeping 1789 upheaval</a:t>
            </a:r>
          </a:p>
          <a:p>
            <a:pPr marL="0" indent="0" algn="l">
              <a:lnSpc>
                <a:spcPts val="2325"/>
              </a:lnSpc>
              <a:spcAft>
                <a:spcPts val="0"/>
              </a:spcAft>
              <a:buNone/>
            </a:pPr>
            <a:r>
              <a:rPr sz="1500" b="0">
                <a:solidFill>
                  <a:srgbClr val="F5F5F7"/>
                </a:solidFill>
                <a:latin typeface="Menlo"/>
              </a:rPr>
              <a:t>Q: Translate 'hello' for me.</a:t>
            </a:r>
          </a:p>
          <a:p>
            <a:pPr marL="0" indent="0" algn="l">
              <a:lnSpc>
                <a:spcPts val="2325"/>
              </a:lnSpc>
              <a:spcAft>
                <a:spcPts val="0"/>
              </a:spcAft>
              <a:buNone/>
            </a:pPr>
            <a:r>
              <a:rPr sz="1500" b="0">
                <a:solidFill>
                  <a:srgbClr val="F5F5F7"/>
                </a:solidFill>
                <a:latin typeface="Menlo"/>
              </a:rPr>
              <a:t>  -&gt; [translate] via worker_translate: bonjour</a:t>
            </a:r>
          </a:p>
          <a:p>
            <a:pPr marL="0" indent="0" algn="l">
              <a:lnSpc>
                <a:spcPts val="2325"/>
              </a:lnSpc>
              <a:spcAft>
                <a:spcPts val="0"/>
              </a:spcAft>
              <a:buNone/>
            </a:pPr>
            <a:r>
              <a:rPr sz="1500" b="0">
                <a:solidFill>
                  <a:srgbClr val="F5F5F7"/>
                </a:solidFill>
                <a:latin typeface="Menlo"/>
              </a:rPr>
              <a:t>........ 6 passed in 0.04s</a:t>
            </a:r>
          </a:p>
        </p:txBody>
      </p:sp>
      <p:sp>
        <p:nvSpPr>
          <p:cNvPr id="10" name="TextBox 9"/>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example run, mock LLM (deterministic tests)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Reading &amp; next class</a:t>
            </a:r>
          </a:p>
        </p:txBody>
      </p:sp>
      <p:sp>
        <p:nvSpPr>
          <p:cNvPr id="5" name="Rounded Rectangle 4"/>
          <p:cNvSpPr/>
          <p:nvPr/>
        </p:nvSpPr>
        <p:spPr>
          <a:xfrm>
            <a:off x="457200" y="2286032"/>
            <a:ext cx="4041648" cy="1174940"/>
          </a:xfrm>
          <a:prstGeom prst="roundRect">
            <a:avLst>
              <a:gd name="adj" fmla="val 1011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32336"/>
            <a:ext cx="3675888" cy="88233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BEFORE NEXT CLASS</a:t>
            </a:r>
          </a:p>
          <a:p>
            <a:pPr marL="0" indent="0">
              <a:spcAft>
                <a:spcPts val="300"/>
              </a:spcAft>
              <a:buNone/>
            </a:pPr>
            <a:r>
              <a:rPr sz="1850" b="0" u="none">
                <a:solidFill>
                  <a:srgbClr val="1D1D1F"/>
                </a:solidFill>
                <a:latin typeface="Menlo"/>
              </a:rPr>
              <a:t>Building Effective Agents</a:t>
            </a:r>
          </a:p>
          <a:p>
            <a:pPr marL="0" indent="0" algn="l">
              <a:spcAft>
                <a:spcPts val="200"/>
              </a:spcAft>
              <a:buNone/>
            </a:pPr>
            <a:r>
              <a:rPr sz="1200" b="0">
                <a:solidFill>
                  <a:srgbClr val="86868B"/>
                </a:solidFill>
                <a:latin typeface="Helvetica Neue"/>
              </a:rPr>
              <a:t>Anthropic, 2024. Be ready for the four questions in readings.md.</a:t>
            </a:r>
          </a:p>
        </p:txBody>
      </p:sp>
      <p:sp>
        <p:nvSpPr>
          <p:cNvPr id="7" name="Rounded Rectangle 6"/>
          <p:cNvSpPr/>
          <p:nvPr/>
        </p:nvSpPr>
        <p:spPr>
          <a:xfrm>
            <a:off x="4645152" y="2286032"/>
            <a:ext cx="4041648" cy="1174940"/>
          </a:xfrm>
          <a:prstGeom prst="roundRect">
            <a:avLst>
              <a:gd name="adj" fmla="val 10117"/>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32336"/>
            <a:ext cx="3675888" cy="88233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NEXT CLASS</a:t>
            </a:r>
          </a:p>
          <a:p>
            <a:pPr marL="0" indent="0">
              <a:spcAft>
                <a:spcPts val="300"/>
              </a:spcAft>
              <a:buNone/>
            </a:pPr>
            <a:r>
              <a:rPr sz="1850" b="0" u="none">
                <a:solidFill>
                  <a:srgbClr val="1D1D1F"/>
                </a:solidFill>
                <a:latin typeface="Menlo"/>
              </a:rPr>
              <a:t>the quiz covers it</a:t>
            </a:r>
          </a:p>
          <a:p>
            <a:pPr marL="0" indent="0" algn="l">
              <a:spcAft>
                <a:spcPts val="200"/>
              </a:spcAft>
              <a:buNone/>
            </a:pPr>
            <a:r>
              <a:rPr sz="1200" b="0">
                <a:solidFill>
                  <a:srgbClr val="86868B"/>
                </a:solidFill>
                <a:latin typeface="Helvetica Neue"/>
              </a:rPr>
              <a:t>This, plus today's lecture.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anthropic.com/research/building-effective-agents</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