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Agentic Workflows &amp; Orchestration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4417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14, Class 2  ·  Wed Dec 2, 2026</a:t>
            </a:r>
          </a:p>
        </p:txBody>
      </p:sp>
      <p:pic>
        <p:nvPicPr>
          <p:cNvPr id="5" name="Picture 4" descr="Agentic Workflows &amp; Orche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943" y="3474720"/>
            <a:ext cx="2221297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AnnaLesniewski, Wikimedia Commons, CC0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From one call to a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WHERE WE STARTED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one LLM call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 single prompt. Simple, and brittle for anything complex.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WHERE WE ARE GOING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a system of calls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Small reliable steps wired together. Software design, with LLMs as components.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team of specialists, not one genius</a:t>
            </a:r>
          </a:p>
        </p:txBody>
      </p:sp>
      <p:pic>
        <p:nvPicPr>
          <p:cNvPr id="5" name="Picture 4" descr="A team of specialists, not one geniu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https://images.unsplash.com/photo-1522071820081-009f0129c71c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A grounding source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Find the simplest solution possible, and only add complexity when it is needed.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Workflow or agent?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72718"/>
          <a:ext cx="8229600" cy="3401568"/>
        </p:xfrm>
        <a:graphic>
          <a:graphicData uri="http://schemas.openxmlformats.org/drawingml/2006/table">
            <a:tbl>
              <a:tblPr firstRow="1" bandRow="0"/>
              <a:tblGrid>
                <a:gridCol w="1810512"/>
                <a:gridCol w="3209544"/>
                <a:gridCol w="3209544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WORKFLOW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AGENT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path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fixed before the run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decided by the LLM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control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code decides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the LLM decides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predictable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high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bounded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open-ended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use when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it decomposes cleanly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it does not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building block: the augmented 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6995"/>
            <a:ext cx="2645664" cy="993013"/>
          </a:xfrm>
          <a:prstGeom prst="roundRect">
            <a:avLst>
              <a:gd name="adj" fmla="val 119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23299"/>
            <a:ext cx="2279904" cy="700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050" b="1" spc="70">
                <a:solidFill>
                  <a:srgbClr val="86868B"/>
                </a:solidFill>
                <a:latin typeface="Helvetica Neue"/>
              </a:rPr>
              <a:t>RETRIEVAL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50" b="0" u="none">
                <a:solidFill>
                  <a:srgbClr val="1D1D1F"/>
                </a:solidFill>
                <a:latin typeface="Menlo"/>
              </a:rPr>
              <a:t>pull context on demand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50" b="0">
                <a:solidFill>
                  <a:srgbClr val="86868B"/>
                </a:solidFill>
                <a:latin typeface="Helvetica Neue"/>
              </a:rPr>
              <a:t>A knowledge base, queried per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76995"/>
            <a:ext cx="2645664" cy="993013"/>
          </a:xfrm>
          <a:prstGeom prst="roundRect">
            <a:avLst>
              <a:gd name="adj" fmla="val 119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23299"/>
            <a:ext cx="2279904" cy="700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050" b="1" spc="70">
                <a:solidFill>
                  <a:srgbClr val="86868B"/>
                </a:solidFill>
                <a:latin typeface="Helvetica Neue"/>
              </a:rPr>
              <a:t>TOOLS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50" b="0" u="none">
                <a:solidFill>
                  <a:srgbClr val="1D1D1F"/>
                </a:solidFill>
                <a:latin typeface="Menlo"/>
              </a:rPr>
              <a:t>call functions and APIs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50" b="0">
                <a:solidFill>
                  <a:srgbClr val="86868B"/>
                </a:solidFill>
                <a:latin typeface="Helvetica Neue"/>
              </a:rPr>
              <a:t>Search, run code, act on the world.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76995"/>
            <a:ext cx="2645664" cy="993013"/>
          </a:xfrm>
          <a:prstGeom prst="roundRect">
            <a:avLst>
              <a:gd name="adj" fmla="val 1197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23299"/>
            <a:ext cx="2279904" cy="700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050" b="1" spc="70">
                <a:solidFill>
                  <a:srgbClr val="86868B"/>
                </a:solidFill>
                <a:latin typeface="Helvetica Neue"/>
              </a:rPr>
              <a:t>MEMORY</a:t>
            </a:r>
          </a:p>
          <a:p>
            <a:pPr marL="0" indent="0">
              <a:spcAft>
                <a:spcPts val="300"/>
              </a:spcAft>
              <a:buNone/>
            </a:pPr>
            <a:r>
              <a:rPr sz="1150" b="0" u="none">
                <a:solidFill>
                  <a:srgbClr val="1D1D1F"/>
                </a:solidFill>
                <a:latin typeface="Menlo"/>
              </a:rPr>
              <a:t>carry state across turns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50" b="0">
                <a:solidFill>
                  <a:srgbClr val="86868B"/>
                </a:solidFill>
                <a:latin typeface="Helvetica Neue"/>
              </a:rPr>
              <a:t>What happened earlier, available later.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five patterns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9070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845374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PROMPT CHAINING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fixed sequential steps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Each call works on the prior output, with a gate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1699070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1845374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ROUTING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classify, then dispatch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Cheap work to cheap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46654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092958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PARALLELIZATION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sectioning, or voting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Split and merge, or run N times and count.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5152" y="2946654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28032" y="3092958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ORCHESTRATOR-WORKERS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the split is decided at runtime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Use when you cannot predict the decomposition.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1: prompt chaining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OUTLINE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draft the structure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DRAFT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write from the outline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POLISH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fix grammar and tone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a programmatic gate between steps catches an error before it propagates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2: routing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QUERY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whatever came in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ROUTER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a cheap classifier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SPECIALIST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the right path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cheap work to cheap models, strong models kept for the hard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3: parallelization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99843"/>
            <a:ext cx="4041648" cy="1147318"/>
          </a:xfrm>
          <a:prstGeom prst="roundRect">
            <a:avLst>
              <a:gd name="adj" fmla="val 1036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46147"/>
            <a:ext cx="3675888" cy="854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SECTIONING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700" b="0" u="none">
                <a:solidFill>
                  <a:srgbClr val="1D1D1F"/>
                </a:solidFill>
                <a:latin typeface="Menlo"/>
              </a:rPr>
              <a:t>different subtasks, at once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Split, run in parallel, merge. Faster wall-clock.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99843"/>
            <a:ext cx="4041648" cy="1147318"/>
          </a:xfrm>
          <a:prstGeom prst="roundRect">
            <a:avLst>
              <a:gd name="adj" fmla="val 1036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46147"/>
            <a:ext cx="3675888" cy="8547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VOTING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700" b="0" u="none">
                <a:solidFill>
                  <a:srgbClr val="1D1D1F"/>
                </a:solidFill>
                <a:latin typeface="Menlo"/>
              </a:rPr>
              <a:t>the same task, N times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Aggregate by majority. Higher confidence, N times the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Pattern 4: orchestrator and workers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ORCHESTRATOR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plans, and splits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WORKERS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one per subtask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361438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625392"/>
            <a:ext cx="2365248" cy="1782988"/>
          </a:xfrm>
          <a:prstGeom prst="roundRect">
            <a:avLst>
              <a:gd name="adj" fmla="val 61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1888739"/>
            <a:ext cx="2036064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SYNTHESISE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one answer back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unlike parallelization, the number and shape of subtasks is decided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sk this before adding a single agent loop. Complexity is a cost, not a featur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What is the simplest design that could possibly work?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Ask this before adding a single agent loop. Complexity is a cost, not a feature.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Routing in depth (our exercise)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RAW REPLY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" Translate "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6431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619756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84348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NORMALISE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strip, lowercase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28987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782312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VALIDATE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is it in LABELS?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91543" y="2361438"/>
            <a:ext cx="286024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944868" y="1625392"/>
            <a:ext cx="1741932" cy="1782988"/>
          </a:xfrm>
          <a:prstGeom prst="roundRect">
            <a:avLst>
              <a:gd name="adj" fmla="val 629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09460" y="1888739"/>
            <a:ext cx="1412748" cy="145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WORKER</a:t>
            </a:r>
          </a:p>
          <a:p>
            <a:pPr marL="0" indent="0" algn="l">
              <a:lnSpc>
                <a:spcPts val="2400"/>
              </a:lnSpc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translate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457200" y="3627836"/>
            <a:ext cx="8229600" cy="237744"/>
          </a:xfrm>
          <a:prstGeom prst="leftArrow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39387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sz="1300" b="0">
                <a:solidFill>
                  <a:srgbClr val="4C72B0"/>
                </a:solidFill>
                <a:latin typeface="Helvetica Neue"/>
              </a:rPr>
              <a:t>a router that trusts the raw reply breaks on a capital letter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structure beats one mega-prompt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8229600" cy="2267712"/>
        </p:xfrm>
        <a:graphic>
          <a:graphicData uri="http://schemas.openxmlformats.org/drawingml/2006/table">
            <a:tbl>
              <a:tblPr firstRow="1" bandRow="0"/>
              <a:tblGrid>
                <a:gridCol w="1810512"/>
                <a:gridCol w="3209544"/>
                <a:gridCol w="3209544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ONE MEGA-PROMPT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A STRUCTURED PIPELINE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failure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silent, one wrong token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loud, at the step that failed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visibility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none, inside one call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inspect every stage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top price for every subtask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cheap models for cheap steps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Multi-agent systems: a caution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32"/>
            <a:ext cx="4041648" cy="1174940"/>
          </a:xfrm>
          <a:prstGeom prst="roundRect">
            <a:avLst>
              <a:gd name="adj" fmla="val 10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32336"/>
            <a:ext cx="3675888" cy="88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2 AGENTS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850" b="0" u="none">
                <a:solidFill>
                  <a:srgbClr val="1D1D1F"/>
                </a:solidFill>
                <a:latin typeface="Menlo"/>
              </a:rPr>
              <a:t>1 channel to keep in sync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6032"/>
            <a:ext cx="4041648" cy="1174940"/>
          </a:xfrm>
          <a:prstGeom prst="roundRect">
            <a:avLst>
              <a:gd name="adj" fmla="val 10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32336"/>
            <a:ext cx="3675888" cy="88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4 AGENTS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850" b="0" u="none">
                <a:solidFill>
                  <a:srgbClr val="1D1D1F"/>
                </a:solidFill>
                <a:latin typeface="Menlo"/>
              </a:rPr>
              <a:t>6 channels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N(N-1)/2. Every pair is one more place to disagree, and errors compound. Prefer the least agentic design that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Anthropic, "Building Effective Agents" (2024)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Designing good tool and step interfaces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43145"/>
            <a:ext cx="8229600" cy="2271141"/>
          </a:xfrm>
          <a:prstGeom prst="roundRect">
            <a:avLst>
              <a:gd name="adj" fmla="val 483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698593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698593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698593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63769"/>
            <a:ext cx="7607808" cy="159448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def search(q):</a:t>
            </a:r>
          </a:p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    "searches stuff"          # the model guesses, and gets prose back</a:t>
            </a:r>
          </a:p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def search_flights(origin, dest, date):</a:t>
            </a:r>
          </a:p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    """Nonstop flights. IATA codes, YYYY-MM-DD.</a:t>
            </a:r>
          </a:p>
          <a:p>
            <a:pPr marL="0" indent="0" algn="l">
              <a:lnSpc>
                <a:spcPts val="2092"/>
              </a:lnSpc>
              <a:spcAft>
                <a:spcPts val="0"/>
              </a:spcAft>
              <a:buNone/>
            </a:pPr>
            <a:r>
              <a:rPr sz="1350" b="0">
                <a:solidFill>
                  <a:srgbClr val="F5F5F7"/>
                </a:solidFill>
                <a:latin typeface="Menlo"/>
              </a:rPr>
              <a:t>    Returns JSON: {"flights": [{"depart": ..., "price": ...}]}"""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942302"/>
            <a:ext cx="7607808" cy="38957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1627"/>
              </a:lnSpc>
              <a:spcAft>
                <a:spcPts val="0"/>
              </a:spcAft>
              <a:buNone/>
            </a:pPr>
            <a:r>
              <a:rPr sz="1050" b="0">
                <a:solidFill>
                  <a:srgbClr val="86868B"/>
                </a:solidFill>
                <a:latin typeface="Menlo"/>
              </a:rPr>
              <a:t>a vague tool returns prose the next step cannot parse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Anthropic, "Building Effective Agents" (2024)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routing workflow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Router and workers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56517"/>
            <a:ext cx="2645664" cy="1033970"/>
          </a:xfrm>
          <a:prstGeom prst="roundRect">
            <a:avLst>
              <a:gd name="adj" fmla="val 114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02821"/>
            <a:ext cx="2279904" cy="741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ROUTE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classify a query into exactly one of LABELS, defensively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56517"/>
            <a:ext cx="2645664" cy="1033970"/>
          </a:xfrm>
          <a:prstGeom prst="roundRect">
            <a:avLst>
              <a:gd name="adj" fmla="val 114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02821"/>
            <a:ext cx="2279904" cy="741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WORKER_SUMMARIZE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summarize the text in one sentence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56517"/>
            <a:ext cx="2645664" cy="1033970"/>
          </a:xfrm>
          <a:prstGeom prst="roundRect">
            <a:avLst>
              <a:gd name="adj" fmla="val 1149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02821"/>
            <a:ext cx="2279904" cy="741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750" b="1" spc="70">
                <a:solidFill>
                  <a:srgbClr val="86868B"/>
                </a:solidFill>
                <a:latin typeface="Helvetica Neue"/>
              </a:rPr>
              <a:t>RUN_WORKFLOW</a:t>
            </a:r>
          </a:p>
          <a:p>
            <a:pPr marL="0" indent="0">
              <a:spcAft>
                <a:spcPts val="300"/>
              </a:spcAft>
              <a:buNone/>
            </a:pPr>
            <a:r>
              <a:rPr sz="850" b="0" u="none">
                <a:solidFill>
                  <a:srgbClr val="1D1D1F"/>
                </a:solidFill>
                <a:latin typeface="Menlo"/>
              </a:rPr>
              <a:t>route, then return a structured Result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Already written: worker_translate, worker_extract, worker_fallback, make_ollama_llm.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weeks/week-14/class-02/exercise/workflow.py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9349"/>
            <a:ext cx="8229600" cy="2448306"/>
          </a:xfrm>
          <a:prstGeom prst="roundRect">
            <a:avLst>
              <a:gd name="adj" fmla="val 448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80479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80479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80479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69973"/>
            <a:ext cx="7607808" cy="17716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$ python -m pytest test_workflow.py -q</a:t>
            </a:r>
          </a:p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Q: Summarize the French Revolution.</a:t>
            </a:r>
          </a:p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  -&gt; [summarize] via worker_summarize: A sweeping 1789 upheaval</a:t>
            </a:r>
          </a:p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Q: Translate 'hello' for me.</a:t>
            </a:r>
          </a:p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  -&gt; [translate] via worker_translate: bonjour</a:t>
            </a:r>
          </a:p>
          <a:p>
            <a:pPr marL="0" indent="0" algn="l">
              <a:lnSpc>
                <a:spcPts val="2325"/>
              </a:lnSpc>
              <a:spcAft>
                <a:spcPts val="0"/>
              </a:spcAft>
              <a:buNone/>
            </a:pPr>
            <a:r>
              <a:rPr sz="1500" b="0">
                <a:solidFill>
                  <a:srgbClr val="F5F5F7"/>
                </a:solidFill>
                <a:latin typeface="Menlo"/>
              </a:rPr>
              <a:t>........ 6 passed in 0.04s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mock LLM (deterministic tests)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Reading &amp; next class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32"/>
            <a:ext cx="4041648" cy="1174940"/>
          </a:xfrm>
          <a:prstGeom prst="roundRect">
            <a:avLst>
              <a:gd name="adj" fmla="val 10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32336"/>
            <a:ext cx="3675888" cy="88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BEFORE NEXT CLASS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850" b="0" u="none">
                <a:solidFill>
                  <a:srgbClr val="1D1D1F"/>
                </a:solidFill>
                <a:latin typeface="Menlo"/>
              </a:rPr>
              <a:t>Building Effective Agents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Anthropic, 2024. Be ready for the four questions in readings.md.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86032"/>
            <a:ext cx="4041648" cy="1174940"/>
          </a:xfrm>
          <a:prstGeom prst="roundRect">
            <a:avLst>
              <a:gd name="adj" fmla="val 10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32336"/>
            <a:ext cx="3675888" cy="88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NEXT CLASS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850" b="0" u="none">
                <a:solidFill>
                  <a:srgbClr val="1D1D1F"/>
                </a:solidFill>
                <a:latin typeface="Menlo"/>
              </a:rPr>
              <a:t>the quiz covers it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This, plus today's lecture.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anthropic.com/research/building-effective-agents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