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13"/>
  </p:notesMasterIdLst>
  <p:sldIdLst>
    <p:sldId id="256" r:id="rId2"/>
    <p:sldId id="264" r:id="rId3"/>
    <p:sldId id="263" r:id="rId4"/>
    <p:sldId id="266" r:id="rId5"/>
    <p:sldId id="265" r:id="rId6"/>
    <p:sldId id="257" r:id="rId7"/>
    <p:sldId id="258" r:id="rId8"/>
    <p:sldId id="259" r:id="rId9"/>
    <p:sldId id="260" r:id="rId10"/>
    <p:sldId id="261" r:id="rId11"/>
    <p:sldId id="262" r:id="rId12"/>
  </p:sldIdLst>
  <p:sldSz cx="9144000" cy="5143500" type="screen16x9"/>
  <p:notesSz cx="6858000" cy="9144000"/>
  <p:embeddedFontLst>
    <p:embeddedFont>
      <p:font typeface="Chiller" pitchFamily="82" charset="77"/>
      <p:regular r:id="rId14"/>
    </p:embeddedFont>
    <p:embeddedFont>
      <p:font typeface="Playfair Display" pitchFamily="2" charset="77"/>
      <p:regular r:id="rId15"/>
      <p:bold r:id="rId16"/>
      <p:italic r:id="rId17"/>
      <p:boldItalic r:id="rId18"/>
    </p:embeddedFont>
    <p:embeddedFont>
      <p:font typeface="Roboto" panose="02000000000000000000" pitchFamily="2" charset="0"/>
      <p:regular r:id="rId19"/>
      <p:bold r:id="rId20"/>
      <p:italic r:id="rId21"/>
      <p:boldItalic r:id="rId22"/>
    </p:embeddedFont>
    <p:embeddedFont>
      <p:font typeface="Roboto Light" panose="020F0302020204030204" pitchFamily="34"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2"/>
    <p:restoredTop sz="94658"/>
  </p:normalViewPr>
  <p:slideViewPr>
    <p:cSldViewPr snapToGrid="0">
      <p:cViewPr varScale="1">
        <p:scale>
          <a:sx n="160" d="100"/>
          <a:sy n="160" d="100"/>
        </p:scale>
        <p:origin x="16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weight</c:v>
                </c:pt>
              </c:strCache>
            </c:strRef>
          </c:tx>
          <c:spPr>
            <a:solidFill>
              <a:srgbClr val="4C72B0"/>
            </a:solidFill>
            <a:ln>
              <a:noFill/>
            </a:ln>
          </c:spPr>
          <c:invertIfNegative val="1"/>
          <c:dPt>
            <c:idx val="0"/>
            <c:invertIfNegative val="1"/>
            <c:bubble3D val="0"/>
            <c:spPr>
              <a:solidFill>
                <a:srgbClr val="4C72B0"/>
              </a:solidFill>
            </c:spPr>
            <c:extLst>
              <c:ext xmlns:c16="http://schemas.microsoft.com/office/drawing/2014/chart" uri="{C3380CC4-5D6E-409C-BE32-E72D297353CC}">
                <c16:uniqueId val="{00000001-B0B6-7D4B-8504-4AA4EEC23ABF}"/>
              </c:ext>
            </c:extLst>
          </c:dPt>
          <c:dPt>
            <c:idx val="1"/>
            <c:invertIfNegative val="1"/>
            <c:bubble3D val="0"/>
            <c:spPr>
              <a:solidFill>
                <a:srgbClr val="4C72B0"/>
              </a:solidFill>
            </c:spPr>
            <c:extLst>
              <c:ext xmlns:c16="http://schemas.microsoft.com/office/drawing/2014/chart" uri="{C3380CC4-5D6E-409C-BE32-E72D297353CC}">
                <c16:uniqueId val="{00000003-B0B6-7D4B-8504-4AA4EEC23ABF}"/>
              </c:ext>
            </c:extLst>
          </c:dPt>
          <c:dPt>
            <c:idx val="2"/>
            <c:invertIfNegative val="1"/>
            <c:bubble3D val="0"/>
            <c:spPr>
              <a:solidFill>
                <a:srgbClr val="DD8452"/>
              </a:solidFill>
            </c:spPr>
            <c:extLst>
              <c:ext xmlns:c16="http://schemas.microsoft.com/office/drawing/2014/chart" uri="{C3380CC4-5D6E-409C-BE32-E72D297353CC}">
                <c16:uniqueId val="{00000005-B0B6-7D4B-8504-4AA4EEC23ABF}"/>
              </c:ext>
            </c:extLst>
          </c:dPt>
          <c:dLbls>
            <c:numFmt formatCode="\+0.00;\-0.00" sourceLinked="0"/>
            <c:spPr>
              <a:noFill/>
              <a:ln>
                <a:noFill/>
              </a:ln>
              <a:effectLst/>
            </c:spPr>
            <c:txPr>
              <a:bodyPr/>
              <a:lstStyle/>
              <a:p>
                <a:pPr>
                  <a:defRPr sz="1500" b="1">
                    <a:solidFill>
                      <a:srgbClr val="1D1D1F"/>
                    </a:solidFill>
                    <a:latin typeface="Helvetica Neue"/>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fear words</c:v>
                </c:pt>
                <c:pt idx="1">
                  <c:v>gore words</c:v>
                </c:pt>
                <c:pt idx="2">
                  <c:v>dull words</c:v>
                </c:pt>
              </c:strCache>
            </c:strRef>
          </c:cat>
          <c:val>
            <c:numRef>
              <c:f>Sheet1!$B$2:$B$4</c:f>
              <c:numCache>
                <c:formatCode>General</c:formatCode>
                <c:ptCount val="3"/>
                <c:pt idx="0">
                  <c:v>1.2829999999999999</c:v>
                </c:pt>
                <c:pt idx="1">
                  <c:v>0.33400000000000002</c:v>
                </c:pt>
                <c:pt idx="2">
                  <c:v>-0.58699999999999997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B0B6-7D4B-8504-4AA4EEC23ABF}"/>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l"/>
        <c:numFmt formatCode="General" sourceLinked="0"/>
        <c:majorTickMark val="none"/>
        <c:minorTickMark val="none"/>
        <c:tickLblPos val="nextTo"/>
        <c:spPr>
          <a:ln>
            <a:solidFill>
              <a:srgbClr val="D2D2D7"/>
            </a:solidFill>
          </a:ln>
        </c:spPr>
        <c:txPr>
          <a:bodyPr/>
          <a:lstStyle/>
          <a:p>
            <a:pPr>
              <a:defRPr sz="1200">
                <a:solidFill>
                  <a:srgbClr val="86868B"/>
                </a:solidFill>
                <a:latin typeface="Helvetica Neue"/>
              </a:defRPr>
            </a:pPr>
            <a:endParaRPr lang="en-US"/>
          </a:p>
        </c:txPr>
        <c:crossAx val="-2113994440"/>
        <c:crosses val="autoZero"/>
        <c:auto val="1"/>
        <c:lblAlgn val="ctr"/>
        <c:lblOffset val="100"/>
        <c:noMultiLvlLbl val="0"/>
      </c:catAx>
      <c:valAx>
        <c:axId val="-2113994440"/>
        <c:scaling>
          <c:orientation val="minMax"/>
        </c:scaling>
        <c:delete val="0"/>
        <c:axPos val="b"/>
        <c:numFmt formatCode="General" sourceLinked="1"/>
        <c:majorTickMark val="none"/>
        <c:minorTickMark val="none"/>
        <c:tickLblPos val="none"/>
        <c:spPr>
          <a:ln>
            <a:noFill/>
          </a:ln>
        </c:spPr>
        <c:crossAx val="-2068027336"/>
        <c:crosses val="autoZero"/>
        <c:crossBetween val="between"/>
      </c:valAx>
    </c:plotArea>
    <c:plotVisOnly val="1"/>
    <c:dispBlanksAs val="gap"/>
    <c:showDLblsOverMax val="1"/>
  </c:chart>
  <c:txPr>
    <a:bodyPr/>
    <a:lstStyle/>
    <a:p>
      <a:pPr>
        <a:defRPr sz="1200">
          <a:latin typeface="Helvetica Neue"/>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y = x</c:v>
                </c:pt>
              </c:strCache>
            </c:strRef>
          </c:tx>
          <c:spPr>
            <a:ln w="28575">
              <a:solidFill>
                <a:srgbClr val="C6C6CB"/>
              </a:solidFill>
            </a:ln>
          </c:spPr>
          <c:marker>
            <c:symbol val="none"/>
          </c:marker>
          <c:xVal>
            <c:numRef>
              <c:f>Sheet1!$A$2:$A$3</c:f>
              <c:numCache>
                <c:formatCode>General</c:formatCode>
                <c:ptCount val="2"/>
                <c:pt idx="0">
                  <c:v>1</c:v>
                </c:pt>
                <c:pt idx="1">
                  <c:v>10</c:v>
                </c:pt>
              </c:numCache>
            </c:numRef>
          </c:xVal>
          <c:yVal>
            <c:numRef>
              <c:f>Sheet1!$B$2:$B$3</c:f>
              <c:numCache>
                <c:formatCode>General</c:formatCode>
                <c:ptCount val="2"/>
                <c:pt idx="0">
                  <c:v>1</c:v>
                </c:pt>
                <c:pt idx="1">
                  <c:v>10</c:v>
                </c:pt>
              </c:numCache>
            </c:numRef>
          </c:yVal>
          <c:smooth val="0"/>
          <c:extLst>
            <c:ext xmlns:c16="http://schemas.microsoft.com/office/drawing/2014/chart" uri="{C3380CC4-5D6E-409C-BE32-E72D297353CC}">
              <c16:uniqueId val="{00000000-A059-954C-84B4-0D32BF856D6A}"/>
            </c:ext>
          </c:extLst>
        </c:ser>
        <c:ser>
          <c:idx val="1"/>
          <c:order val="1"/>
          <c:tx>
            <c:strRef>
              <c:f>Sheet1!$B$5</c:f>
              <c:strCache>
                <c:ptCount val="1"/>
                <c:pt idx="0">
                  <c:v>films</c:v>
                </c:pt>
              </c:strCache>
            </c:strRef>
          </c:tx>
          <c:spPr>
            <a:ln>
              <a:noFill/>
            </a:ln>
          </c:spPr>
          <c:marker>
            <c:symbol val="circle"/>
            <c:size val="7"/>
            <c:spPr>
              <a:solidFill>
                <a:srgbClr val="4C72B0"/>
              </a:solidFill>
              <a:ln>
                <a:noFill/>
              </a:ln>
            </c:spPr>
          </c:marker>
          <c:xVal>
            <c:numRef>
              <c:f>Sheet1!$A$6:$A$125</c:f>
              <c:numCache>
                <c:formatCode>General</c:formatCode>
                <c:ptCount val="120"/>
                <c:pt idx="0">
                  <c:v>4.5</c:v>
                </c:pt>
                <c:pt idx="1">
                  <c:v>5.0999999999999996</c:v>
                </c:pt>
                <c:pt idx="2">
                  <c:v>2.5</c:v>
                </c:pt>
                <c:pt idx="3">
                  <c:v>2.5</c:v>
                </c:pt>
                <c:pt idx="4">
                  <c:v>9.3000000000000007</c:v>
                </c:pt>
                <c:pt idx="5">
                  <c:v>4.4000000000000004</c:v>
                </c:pt>
                <c:pt idx="6">
                  <c:v>6.5</c:v>
                </c:pt>
                <c:pt idx="7">
                  <c:v>5.7</c:v>
                </c:pt>
                <c:pt idx="8">
                  <c:v>3.4</c:v>
                </c:pt>
                <c:pt idx="9">
                  <c:v>4.5</c:v>
                </c:pt>
                <c:pt idx="10">
                  <c:v>5</c:v>
                </c:pt>
                <c:pt idx="11">
                  <c:v>8.1</c:v>
                </c:pt>
                <c:pt idx="12">
                  <c:v>2.8</c:v>
                </c:pt>
                <c:pt idx="13">
                  <c:v>6.1</c:v>
                </c:pt>
                <c:pt idx="14">
                  <c:v>7.1</c:v>
                </c:pt>
                <c:pt idx="15">
                  <c:v>3.9</c:v>
                </c:pt>
                <c:pt idx="16">
                  <c:v>4</c:v>
                </c:pt>
                <c:pt idx="17">
                  <c:v>2.2999999999999998</c:v>
                </c:pt>
                <c:pt idx="18">
                  <c:v>5.5</c:v>
                </c:pt>
                <c:pt idx="19">
                  <c:v>4.2</c:v>
                </c:pt>
                <c:pt idx="20">
                  <c:v>9.1999999999999993</c:v>
                </c:pt>
                <c:pt idx="21">
                  <c:v>4</c:v>
                </c:pt>
                <c:pt idx="22">
                  <c:v>4.2</c:v>
                </c:pt>
                <c:pt idx="23">
                  <c:v>7.1</c:v>
                </c:pt>
                <c:pt idx="24">
                  <c:v>3.3</c:v>
                </c:pt>
                <c:pt idx="25">
                  <c:v>6.1</c:v>
                </c:pt>
                <c:pt idx="26">
                  <c:v>5.9</c:v>
                </c:pt>
                <c:pt idx="27">
                  <c:v>3.8</c:v>
                </c:pt>
                <c:pt idx="28">
                  <c:v>8.6</c:v>
                </c:pt>
                <c:pt idx="29">
                  <c:v>3.5</c:v>
                </c:pt>
                <c:pt idx="30">
                  <c:v>3.8</c:v>
                </c:pt>
                <c:pt idx="31">
                  <c:v>4.2</c:v>
                </c:pt>
                <c:pt idx="32">
                  <c:v>3.1</c:v>
                </c:pt>
                <c:pt idx="33">
                  <c:v>3.6</c:v>
                </c:pt>
                <c:pt idx="34">
                  <c:v>6.1</c:v>
                </c:pt>
                <c:pt idx="35">
                  <c:v>5.4</c:v>
                </c:pt>
                <c:pt idx="36">
                  <c:v>8.1</c:v>
                </c:pt>
                <c:pt idx="37">
                  <c:v>5</c:v>
                </c:pt>
                <c:pt idx="38">
                  <c:v>5.7</c:v>
                </c:pt>
                <c:pt idx="39">
                  <c:v>6</c:v>
                </c:pt>
                <c:pt idx="40">
                  <c:v>5.2</c:v>
                </c:pt>
                <c:pt idx="41">
                  <c:v>4.3</c:v>
                </c:pt>
                <c:pt idx="42">
                  <c:v>3.9</c:v>
                </c:pt>
                <c:pt idx="43">
                  <c:v>5</c:v>
                </c:pt>
                <c:pt idx="44">
                  <c:v>5.8</c:v>
                </c:pt>
                <c:pt idx="45">
                  <c:v>6.4</c:v>
                </c:pt>
                <c:pt idx="46">
                  <c:v>4</c:v>
                </c:pt>
                <c:pt idx="47">
                  <c:v>6.4</c:v>
                </c:pt>
                <c:pt idx="48">
                  <c:v>8.8000000000000007</c:v>
                </c:pt>
                <c:pt idx="49">
                  <c:v>8.4</c:v>
                </c:pt>
                <c:pt idx="50">
                  <c:v>7.2</c:v>
                </c:pt>
                <c:pt idx="51">
                  <c:v>6.5</c:v>
                </c:pt>
                <c:pt idx="52">
                  <c:v>7.2</c:v>
                </c:pt>
                <c:pt idx="53">
                  <c:v>5.6</c:v>
                </c:pt>
                <c:pt idx="54">
                  <c:v>5</c:v>
                </c:pt>
                <c:pt idx="55">
                  <c:v>4.5</c:v>
                </c:pt>
                <c:pt idx="56">
                  <c:v>9.6</c:v>
                </c:pt>
                <c:pt idx="57">
                  <c:v>5</c:v>
                </c:pt>
                <c:pt idx="58">
                  <c:v>6.3</c:v>
                </c:pt>
                <c:pt idx="59">
                  <c:v>4.3</c:v>
                </c:pt>
                <c:pt idx="60">
                  <c:v>4.5999999999999996</c:v>
                </c:pt>
                <c:pt idx="61">
                  <c:v>2.9</c:v>
                </c:pt>
                <c:pt idx="62">
                  <c:v>4.0999999999999996</c:v>
                </c:pt>
                <c:pt idx="63">
                  <c:v>6.4</c:v>
                </c:pt>
                <c:pt idx="64">
                  <c:v>7.1</c:v>
                </c:pt>
                <c:pt idx="65">
                  <c:v>5.0999999999999996</c:v>
                </c:pt>
                <c:pt idx="66">
                  <c:v>2.8</c:v>
                </c:pt>
                <c:pt idx="67">
                  <c:v>3.4</c:v>
                </c:pt>
                <c:pt idx="68">
                  <c:v>8.6</c:v>
                </c:pt>
                <c:pt idx="69">
                  <c:v>3.2</c:v>
                </c:pt>
                <c:pt idx="70">
                  <c:v>3.5</c:v>
                </c:pt>
                <c:pt idx="71">
                  <c:v>8.5</c:v>
                </c:pt>
                <c:pt idx="72">
                  <c:v>8</c:v>
                </c:pt>
                <c:pt idx="73">
                  <c:v>5.2</c:v>
                </c:pt>
                <c:pt idx="74">
                  <c:v>6.2</c:v>
                </c:pt>
                <c:pt idx="75">
                  <c:v>4.5999999999999996</c:v>
                </c:pt>
                <c:pt idx="76">
                  <c:v>2</c:v>
                </c:pt>
                <c:pt idx="77">
                  <c:v>3.1</c:v>
                </c:pt>
                <c:pt idx="78">
                  <c:v>7.4</c:v>
                </c:pt>
                <c:pt idx="79">
                  <c:v>6.1</c:v>
                </c:pt>
                <c:pt idx="80">
                  <c:v>7.5</c:v>
                </c:pt>
                <c:pt idx="81">
                  <c:v>3.4</c:v>
                </c:pt>
                <c:pt idx="82">
                  <c:v>6</c:v>
                </c:pt>
                <c:pt idx="83">
                  <c:v>5.7</c:v>
                </c:pt>
                <c:pt idx="84">
                  <c:v>5.4</c:v>
                </c:pt>
                <c:pt idx="85">
                  <c:v>7.8</c:v>
                </c:pt>
                <c:pt idx="86">
                  <c:v>4.9000000000000004</c:v>
                </c:pt>
                <c:pt idx="87">
                  <c:v>7.4</c:v>
                </c:pt>
                <c:pt idx="88">
                  <c:v>2.6</c:v>
                </c:pt>
                <c:pt idx="89">
                  <c:v>6</c:v>
                </c:pt>
                <c:pt idx="90">
                  <c:v>1.6</c:v>
                </c:pt>
                <c:pt idx="91">
                  <c:v>7.4</c:v>
                </c:pt>
                <c:pt idx="92">
                  <c:v>7.3</c:v>
                </c:pt>
                <c:pt idx="93">
                  <c:v>5.0999999999999996</c:v>
                </c:pt>
                <c:pt idx="94">
                  <c:v>8.1</c:v>
                </c:pt>
                <c:pt idx="95">
                  <c:v>5.9</c:v>
                </c:pt>
                <c:pt idx="96">
                  <c:v>4.7</c:v>
                </c:pt>
                <c:pt idx="97">
                  <c:v>4.8</c:v>
                </c:pt>
                <c:pt idx="98">
                  <c:v>4.9000000000000004</c:v>
                </c:pt>
                <c:pt idx="99">
                  <c:v>5.3</c:v>
                </c:pt>
                <c:pt idx="100">
                  <c:v>8.6999999999999993</c:v>
                </c:pt>
                <c:pt idx="101">
                  <c:v>4.0999999999999996</c:v>
                </c:pt>
                <c:pt idx="102">
                  <c:v>4.4000000000000004</c:v>
                </c:pt>
                <c:pt idx="103">
                  <c:v>5</c:v>
                </c:pt>
                <c:pt idx="104">
                  <c:v>3</c:v>
                </c:pt>
                <c:pt idx="105">
                  <c:v>4.3</c:v>
                </c:pt>
                <c:pt idx="106">
                  <c:v>6.2</c:v>
                </c:pt>
                <c:pt idx="107">
                  <c:v>4.7</c:v>
                </c:pt>
                <c:pt idx="108">
                  <c:v>6.4</c:v>
                </c:pt>
                <c:pt idx="109">
                  <c:v>4.9000000000000004</c:v>
                </c:pt>
                <c:pt idx="110">
                  <c:v>4.7</c:v>
                </c:pt>
                <c:pt idx="111">
                  <c:v>3.7</c:v>
                </c:pt>
                <c:pt idx="112">
                  <c:v>3.7</c:v>
                </c:pt>
                <c:pt idx="113">
                  <c:v>4</c:v>
                </c:pt>
                <c:pt idx="114">
                  <c:v>9.3000000000000007</c:v>
                </c:pt>
                <c:pt idx="115">
                  <c:v>3.9</c:v>
                </c:pt>
                <c:pt idx="116">
                  <c:v>5.5</c:v>
                </c:pt>
                <c:pt idx="117">
                  <c:v>7.9</c:v>
                </c:pt>
                <c:pt idx="118">
                  <c:v>6.7</c:v>
                </c:pt>
                <c:pt idx="119">
                  <c:v>4.8</c:v>
                </c:pt>
              </c:numCache>
            </c:numRef>
          </c:xVal>
          <c:yVal>
            <c:numRef>
              <c:f>Sheet1!$B$6:$B$125</c:f>
              <c:numCache>
                <c:formatCode>General</c:formatCode>
                <c:ptCount val="120"/>
                <c:pt idx="0">
                  <c:v>4.649</c:v>
                </c:pt>
                <c:pt idx="1">
                  <c:v>4.7290000000000001</c:v>
                </c:pt>
                <c:pt idx="2">
                  <c:v>2.8860000000000001</c:v>
                </c:pt>
                <c:pt idx="3">
                  <c:v>2.524</c:v>
                </c:pt>
                <c:pt idx="4">
                  <c:v>9.1660000000000004</c:v>
                </c:pt>
                <c:pt idx="5">
                  <c:v>4.5030000000000001</c:v>
                </c:pt>
                <c:pt idx="6">
                  <c:v>6.3739999999999997</c:v>
                </c:pt>
                <c:pt idx="7">
                  <c:v>5.3440000000000003</c:v>
                </c:pt>
                <c:pt idx="8">
                  <c:v>3.8079999999999998</c:v>
                </c:pt>
                <c:pt idx="9">
                  <c:v>4.649</c:v>
                </c:pt>
                <c:pt idx="10">
                  <c:v>4.9829999999999997</c:v>
                </c:pt>
                <c:pt idx="11">
                  <c:v>7.069</c:v>
                </c:pt>
                <c:pt idx="12">
                  <c:v>3.22</c:v>
                </c:pt>
                <c:pt idx="13">
                  <c:v>5.9320000000000004</c:v>
                </c:pt>
                <c:pt idx="14">
                  <c:v>7.2949999999999999</c:v>
                </c:pt>
                <c:pt idx="15">
                  <c:v>3.6989999999999998</c:v>
                </c:pt>
                <c:pt idx="16">
                  <c:v>3.5539999999999998</c:v>
                </c:pt>
                <c:pt idx="17">
                  <c:v>2.1909999999999998</c:v>
                </c:pt>
                <c:pt idx="18">
                  <c:v>5.3440000000000003</c:v>
                </c:pt>
                <c:pt idx="19">
                  <c:v>3.4460000000000002</c:v>
                </c:pt>
                <c:pt idx="20">
                  <c:v>9.1660000000000004</c:v>
                </c:pt>
                <c:pt idx="21">
                  <c:v>4.3949999999999996</c:v>
                </c:pt>
                <c:pt idx="22">
                  <c:v>4.9829999999999997</c:v>
                </c:pt>
                <c:pt idx="23">
                  <c:v>5.758</c:v>
                </c:pt>
                <c:pt idx="24">
                  <c:v>4.141</c:v>
                </c:pt>
                <c:pt idx="25">
                  <c:v>6.6269999999999998</c:v>
                </c:pt>
                <c:pt idx="26">
                  <c:v>5.3440000000000003</c:v>
                </c:pt>
                <c:pt idx="27">
                  <c:v>3.4740000000000002</c:v>
                </c:pt>
                <c:pt idx="28">
                  <c:v>8.2439999999999998</c:v>
                </c:pt>
                <c:pt idx="29">
                  <c:v>4.0330000000000004</c:v>
                </c:pt>
                <c:pt idx="30">
                  <c:v>4.0609999999999999</c:v>
                </c:pt>
                <c:pt idx="31">
                  <c:v>4.0609999999999999</c:v>
                </c:pt>
                <c:pt idx="32">
                  <c:v>3.8879999999999999</c:v>
                </c:pt>
                <c:pt idx="33">
                  <c:v>3.78</c:v>
                </c:pt>
                <c:pt idx="34">
                  <c:v>5.3159999999999998</c:v>
                </c:pt>
                <c:pt idx="35">
                  <c:v>5.3440000000000003</c:v>
                </c:pt>
                <c:pt idx="36">
                  <c:v>7.5490000000000004</c:v>
                </c:pt>
                <c:pt idx="37">
                  <c:v>5.3159999999999998</c:v>
                </c:pt>
                <c:pt idx="38">
                  <c:v>5.3440000000000003</c:v>
                </c:pt>
                <c:pt idx="39">
                  <c:v>5.9320000000000004</c:v>
                </c:pt>
                <c:pt idx="40">
                  <c:v>4.649</c:v>
                </c:pt>
                <c:pt idx="41">
                  <c:v>4.649</c:v>
                </c:pt>
                <c:pt idx="42">
                  <c:v>4.649</c:v>
                </c:pt>
                <c:pt idx="43">
                  <c:v>4.7290000000000001</c:v>
                </c:pt>
                <c:pt idx="44">
                  <c:v>6.266</c:v>
                </c:pt>
                <c:pt idx="45">
                  <c:v>5.6779999999999999</c:v>
                </c:pt>
                <c:pt idx="46">
                  <c:v>4.0609999999999999</c:v>
                </c:pt>
                <c:pt idx="47">
                  <c:v>6.3739999999999997</c:v>
                </c:pt>
                <c:pt idx="48">
                  <c:v>8.8320000000000007</c:v>
                </c:pt>
                <c:pt idx="49">
                  <c:v>8.8320000000000007</c:v>
                </c:pt>
                <c:pt idx="50">
                  <c:v>6.9610000000000003</c:v>
                </c:pt>
                <c:pt idx="51">
                  <c:v>5.9320000000000004</c:v>
                </c:pt>
                <c:pt idx="52">
                  <c:v>7.2949999999999999</c:v>
                </c:pt>
                <c:pt idx="53">
                  <c:v>5.6779999999999999</c:v>
                </c:pt>
                <c:pt idx="54">
                  <c:v>5.3440000000000003</c:v>
                </c:pt>
                <c:pt idx="55">
                  <c:v>4.9829999999999997</c:v>
                </c:pt>
                <c:pt idx="56">
                  <c:v>9.1660000000000004</c:v>
                </c:pt>
                <c:pt idx="57">
                  <c:v>5.6779999999999999</c:v>
                </c:pt>
                <c:pt idx="58">
                  <c:v>6.3739999999999997</c:v>
                </c:pt>
                <c:pt idx="59">
                  <c:v>3.3660000000000001</c:v>
                </c:pt>
                <c:pt idx="60">
                  <c:v>4.649</c:v>
                </c:pt>
                <c:pt idx="61">
                  <c:v>3.4460000000000002</c:v>
                </c:pt>
                <c:pt idx="62">
                  <c:v>4.3949999999999996</c:v>
                </c:pt>
                <c:pt idx="63">
                  <c:v>5.9320000000000004</c:v>
                </c:pt>
                <c:pt idx="64">
                  <c:v>7.3230000000000004</c:v>
                </c:pt>
                <c:pt idx="65">
                  <c:v>4.9829999999999997</c:v>
                </c:pt>
                <c:pt idx="66">
                  <c:v>2.778</c:v>
                </c:pt>
                <c:pt idx="67">
                  <c:v>3.6989999999999998</c:v>
                </c:pt>
                <c:pt idx="68">
                  <c:v>8.3249999999999993</c:v>
                </c:pt>
                <c:pt idx="69">
                  <c:v>3.1120000000000001</c:v>
                </c:pt>
                <c:pt idx="70">
                  <c:v>3.78</c:v>
                </c:pt>
                <c:pt idx="71">
                  <c:v>8.4979999999999993</c:v>
                </c:pt>
                <c:pt idx="72">
                  <c:v>7.883</c:v>
                </c:pt>
                <c:pt idx="73">
                  <c:v>4.9829999999999997</c:v>
                </c:pt>
                <c:pt idx="74">
                  <c:v>5.3159999999999998</c:v>
                </c:pt>
                <c:pt idx="75">
                  <c:v>5.0629999999999997</c:v>
                </c:pt>
                <c:pt idx="76">
                  <c:v>2.1909999999999998</c:v>
                </c:pt>
                <c:pt idx="77">
                  <c:v>3.1120000000000001</c:v>
                </c:pt>
                <c:pt idx="78">
                  <c:v>7.5490000000000004</c:v>
                </c:pt>
                <c:pt idx="79">
                  <c:v>6.04</c:v>
                </c:pt>
                <c:pt idx="80">
                  <c:v>7.2949999999999999</c:v>
                </c:pt>
                <c:pt idx="81">
                  <c:v>3.5539999999999998</c:v>
                </c:pt>
                <c:pt idx="82">
                  <c:v>6.04</c:v>
                </c:pt>
                <c:pt idx="83">
                  <c:v>5.7859999999999996</c:v>
                </c:pt>
                <c:pt idx="84">
                  <c:v>5.9320000000000004</c:v>
                </c:pt>
                <c:pt idx="85">
                  <c:v>7.2149999999999999</c:v>
                </c:pt>
                <c:pt idx="86">
                  <c:v>4.649</c:v>
                </c:pt>
                <c:pt idx="87">
                  <c:v>7.069</c:v>
                </c:pt>
                <c:pt idx="88">
                  <c:v>1.9370000000000001</c:v>
                </c:pt>
                <c:pt idx="89">
                  <c:v>5.9320000000000004</c:v>
                </c:pt>
                <c:pt idx="90">
                  <c:v>1.9370000000000001</c:v>
                </c:pt>
                <c:pt idx="91">
                  <c:v>7.5490000000000004</c:v>
                </c:pt>
                <c:pt idx="92">
                  <c:v>7.5490000000000004</c:v>
                </c:pt>
                <c:pt idx="93">
                  <c:v>5.6779999999999999</c:v>
                </c:pt>
                <c:pt idx="94">
                  <c:v>7.883</c:v>
                </c:pt>
                <c:pt idx="95">
                  <c:v>5.3159999999999998</c:v>
                </c:pt>
                <c:pt idx="96">
                  <c:v>4.9829999999999997</c:v>
                </c:pt>
                <c:pt idx="97">
                  <c:v>5.3159999999999998</c:v>
                </c:pt>
                <c:pt idx="98">
                  <c:v>4.3949999999999996</c:v>
                </c:pt>
                <c:pt idx="99">
                  <c:v>6.3739999999999997</c:v>
                </c:pt>
                <c:pt idx="100">
                  <c:v>8.8320000000000007</c:v>
                </c:pt>
                <c:pt idx="101">
                  <c:v>4.9829999999999997</c:v>
                </c:pt>
                <c:pt idx="102">
                  <c:v>4.0330000000000004</c:v>
                </c:pt>
                <c:pt idx="103">
                  <c:v>5.9320000000000004</c:v>
                </c:pt>
                <c:pt idx="104">
                  <c:v>3.22</c:v>
                </c:pt>
                <c:pt idx="105">
                  <c:v>3.6989999999999998</c:v>
                </c:pt>
                <c:pt idx="106">
                  <c:v>6.0119999999999996</c:v>
                </c:pt>
                <c:pt idx="107">
                  <c:v>4.3949999999999996</c:v>
                </c:pt>
                <c:pt idx="108">
                  <c:v>6.266</c:v>
                </c:pt>
                <c:pt idx="109">
                  <c:v>4.649</c:v>
                </c:pt>
                <c:pt idx="110">
                  <c:v>4.3949999999999996</c:v>
                </c:pt>
                <c:pt idx="111">
                  <c:v>3.1120000000000001</c:v>
                </c:pt>
                <c:pt idx="112">
                  <c:v>3.3660000000000001</c:v>
                </c:pt>
                <c:pt idx="113">
                  <c:v>4.3949999999999996</c:v>
                </c:pt>
                <c:pt idx="114">
                  <c:v>9.1660000000000004</c:v>
                </c:pt>
                <c:pt idx="115">
                  <c:v>3.6989999999999998</c:v>
                </c:pt>
                <c:pt idx="116">
                  <c:v>6.5990000000000002</c:v>
                </c:pt>
                <c:pt idx="117">
                  <c:v>8.8320000000000007</c:v>
                </c:pt>
                <c:pt idx="118">
                  <c:v>6.6269999999999998</c:v>
                </c:pt>
                <c:pt idx="119">
                  <c:v>4.7290000000000001</c:v>
                </c:pt>
              </c:numCache>
            </c:numRef>
          </c:yVal>
          <c:smooth val="0"/>
          <c:extLst>
            <c:ext xmlns:c16="http://schemas.microsoft.com/office/drawing/2014/chart" uri="{C3380CC4-5D6E-409C-BE32-E72D297353CC}">
              <c16:uniqueId val="{00000001-A059-954C-84B4-0D32BF856D6A}"/>
            </c:ext>
          </c:extLst>
        </c:ser>
        <c:dLbls>
          <c:showLegendKey val="0"/>
          <c:showVal val="0"/>
          <c:showCatName val="0"/>
          <c:showSerName val="0"/>
          <c:showPercent val="0"/>
          <c:showBubbleSize val="0"/>
        </c:dLbls>
        <c:axId val="-2128940872"/>
        <c:axId val="-2129643912"/>
      </c:scatterChart>
      <c:valAx>
        <c:axId val="-2128940872"/>
        <c:scaling>
          <c:orientation val="minMax"/>
          <c:max val="10"/>
          <c:min val="1"/>
        </c:scaling>
        <c:delete val="0"/>
        <c:axPos val="b"/>
        <c:numFmt formatCode="General" sourceLinked="1"/>
        <c:majorTickMark val="none"/>
        <c:minorTickMark val="none"/>
        <c:tickLblPos val="nextTo"/>
        <c:spPr>
          <a:ln>
            <a:solidFill>
              <a:srgbClr val="D2D2D7"/>
            </a:solidFill>
          </a:ln>
        </c:spPr>
        <c:txPr>
          <a:bodyPr/>
          <a:lstStyle/>
          <a:p>
            <a:pPr>
              <a:defRPr sz="1200">
                <a:solidFill>
                  <a:srgbClr val="86868B"/>
                </a:solidFill>
                <a:latin typeface="Helvetica Neue"/>
              </a:defRPr>
            </a:pPr>
            <a:endParaRPr lang="en-US"/>
          </a:p>
        </c:txPr>
        <c:crossAx val="-2129643912"/>
        <c:crosses val="autoZero"/>
        <c:crossBetween val="midCat"/>
      </c:valAx>
      <c:valAx>
        <c:axId val="-2129643912"/>
        <c:scaling>
          <c:orientation val="minMax"/>
          <c:max val="10"/>
          <c:min val="1"/>
        </c:scaling>
        <c:delete val="0"/>
        <c:axPos val="l"/>
        <c:numFmt formatCode="General" sourceLinked="1"/>
        <c:majorTickMark val="none"/>
        <c:minorTickMark val="none"/>
        <c:tickLblPos val="nextTo"/>
        <c:spPr>
          <a:ln>
            <a:solidFill>
              <a:srgbClr val="D2D2D7"/>
            </a:solidFill>
          </a:ln>
        </c:spPr>
        <c:txPr>
          <a:bodyPr/>
          <a:lstStyle/>
          <a:p>
            <a:pPr>
              <a:defRPr sz="1200">
                <a:solidFill>
                  <a:srgbClr val="86868B"/>
                </a:solidFill>
                <a:latin typeface="Helvetica Neue"/>
              </a:defRPr>
            </a:pPr>
            <a:endParaRPr lang="en-US"/>
          </a:p>
        </c:txPr>
        <c:crossAx val="-2128940872"/>
        <c:crosses val="autoZero"/>
        <c:crossBetween val="midCat"/>
      </c:valAx>
    </c:plotArea>
    <c:plotVisOnly val="1"/>
    <c:dispBlanksAs val="gap"/>
    <c:showDLblsOverMax val="0"/>
  </c:chart>
  <c:txPr>
    <a:bodyPr/>
    <a:lstStyle/>
    <a:p>
      <a:pPr>
        <a:defRPr sz="1200">
          <a:latin typeface="Helvetica Neue"/>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523" y="685800"/>
            <a:ext cx="45717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Laptops open, notebook open, and the first half of it empty on purpose. One problem today, start to finish: a hundred and twenty horror films, a pile of audience reviews for each, and an audience scariness score out of ten. We have the words, we want the number. That curve is the loss from the model we are about to build, falling as it learns. Say the rule once and mean it: if I am typing, you are typing.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Read both reviews out loud and then cover the numbers. Ask the room which film scored higher, and everybody gets it right instantly, which is the point: the answer is sitting in the words and every one of us can see it. Now the hard part. The score is a number and the review is a string, and nothing in PyTorch can multiply a string. So the whole job today is the arrow between those two things, and we are going to build it with something embarrassingly simple.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Three lists, written by hand by us, with no learning involved anywhere. Count how many words from each list appear in the reviews and a film becomes three numbers. That is a rule-based feature extractor, and it is what people actually built before anything was learned from data. Say what it throws away, because it throws away nearly everything: word order, who said it, whether the sentence was negated. Not remotely terrifying counts as one fear word. Keep that objection in your pocket; it is what the rest of the course is for.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Trace the grey arrows left to right: text becomes three counts, the counts become a tensor, and the tensor meets four numbers, three weights and a bias. That is the entire model and you can hold it in your head. Then trace the maroon arrow back, and slow right down, because this is the misconception everybody arrives with. backward fills in .grad and moves nothing at all; the moving is a line you write yourself. One more thing while it is on screen: gradients add up by default, so a loop that forgets to clear them is training on a running total, and everyone writes that bug exactly once.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Read the left panel as three sentences. A fear word is worth about one and a quarter points of scariness; a gore word is worth a quarter of that, because blood is not fear and the model worked that out by itself; and a dull word takes six tenths of a point away, which is the clearest evidence that it is reading words rather than just counting them. The right panel is how well it did, and the honest caveat goes with it: nothing was held back, so this is the model marking its own homework. Every point above the grey line is a film we called scarier than the audience did.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Individually or in pairs, about twenty minutes, in a notebook they create themselves, and this time with no template at all. Everything they need is on the slide: comedy_reviews.csv for the data, and the three word lists for the rule, all in the same data folder they have been reading from all session. The task is the seven steps you just walked through, on a different genre. The solutions folder is a rescue hatch, not a starting point; tell them to read the one step they are stuck on and close it. Say the warning before they start or you will say it one desk at a time: the loss lands near 0.80 rather than 0.21, and that is the data and not their code, because the comedy ratings carry twice the noise of the horror ones. Two sentences to collect at the end. Four times better than guessing the average is how you judge a model; four times worse than the horror model is a fact about the data, not about the method.</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Master" Target="../slideMasters/slideMaster1.xml"/><Relationship Id="rId4" Type="http://schemas.openxmlformats.org/officeDocument/2006/relationships/image" Target="../media/image7.jp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Cover Page" type="blank">
  <p:cSld name="BLANK">
    <p:spTree>
      <p:nvGrpSpPr>
        <p:cNvPr id="1"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pic>
        <p:nvPicPr>
          <p:cNvPr id="11" name="Google Shape;11;p2"/>
          <p:cNvPicPr preferRelativeResize="0"/>
          <p:nvPr/>
        </p:nvPicPr>
        <p:blipFill rotWithShape="1">
          <a:blip r:embed="rId2">
            <a:alphaModFix/>
          </a:blip>
          <a:srcRect l="600" t="43847" r="-600" b="13732"/>
          <a:stretch/>
        </p:blipFill>
        <p:spPr>
          <a:xfrm>
            <a:off x="0" y="-70472"/>
            <a:ext cx="9198797" cy="3460774"/>
          </a:xfrm>
          <a:prstGeom prst="rect">
            <a:avLst/>
          </a:prstGeom>
          <a:noFill/>
          <a:ln>
            <a:noFill/>
          </a:ln>
        </p:spPr>
      </p:pic>
      <p:sp>
        <p:nvSpPr>
          <p:cNvPr id="12" name="Google Shape;12;p2"/>
          <p:cNvSpPr txBox="1">
            <a:spLocks noGrp="1"/>
          </p:cNvSpPr>
          <p:nvPr>
            <p:ph type="title"/>
          </p:nvPr>
        </p:nvSpPr>
        <p:spPr>
          <a:xfrm>
            <a:off x="493923" y="976378"/>
            <a:ext cx="8005800" cy="18243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rgbClr val="FFFFFF"/>
              </a:buClr>
              <a:buSzPts val="3600"/>
              <a:buFont typeface="Playfair Display"/>
              <a:buNone/>
              <a:defRPr sz="3600" i="0" u="none" strike="noStrike" cap="non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13" name="Google Shape;13;p2"/>
          <p:cNvSpPr txBox="1">
            <a:spLocks noGrp="1"/>
          </p:cNvSpPr>
          <p:nvPr>
            <p:ph type="subTitle" idx="1"/>
          </p:nvPr>
        </p:nvSpPr>
        <p:spPr>
          <a:xfrm>
            <a:off x="493926" y="3549825"/>
            <a:ext cx="7661100" cy="970800"/>
          </a:xfrm>
          <a:prstGeom prst="rect">
            <a:avLst/>
          </a:prstGeom>
        </p:spPr>
        <p:txBody>
          <a:bodyPr spcFirstLastPara="1" wrap="square" lIns="34275" tIns="34275" rIns="34275" bIns="34275" anchor="t" anchorCtr="0">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14" name="Google Shape;14;p2"/>
          <p:cNvSpPr txBox="1">
            <a:spLocks noGrp="1"/>
          </p:cNvSpPr>
          <p:nvPr>
            <p:ph type="subTitle" idx="2"/>
          </p:nvPr>
        </p:nvSpPr>
        <p:spPr>
          <a:xfrm>
            <a:off x="493923" y="4079316"/>
            <a:ext cx="7327800" cy="2987100"/>
          </a:xfrm>
          <a:prstGeom prst="rect">
            <a:avLst/>
          </a:prstGeom>
        </p:spPr>
        <p:txBody>
          <a:bodyPr spcFirstLastPara="1" wrap="square" lIns="34275" tIns="34275" rIns="34275" bIns="34275" anchor="t" anchorCtr="0">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 2 Columns">
  <p:cSld name="2_Portfolio Three">
    <p:spTree>
      <p:nvGrpSpPr>
        <p:cNvPr id="1" name="Shape 15"/>
        <p:cNvGrpSpPr/>
        <p:nvPr/>
      </p:nvGrpSpPr>
      <p:grpSpPr>
        <a:xfrm>
          <a:off x="0" y="0"/>
          <a:ext cx="0" cy="0"/>
          <a:chOff x="0" y="0"/>
          <a:chExt cx="0" cy="0"/>
        </a:xfrm>
      </p:grpSpPr>
      <p:sp>
        <p:nvSpPr>
          <p:cNvPr id="16" name="Google Shape;16;p3"/>
          <p:cNvSpPr txBox="1">
            <a:spLocks noGrp="1"/>
          </p:cNvSpPr>
          <p:nvPr>
            <p:ph type="body" idx="1"/>
          </p:nvPr>
        </p:nvSpPr>
        <p:spPr>
          <a:xfrm>
            <a:off x="509577" y="1369219"/>
            <a:ext cx="36882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17" name="Google Shape;17;p3"/>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18" name="Google Shape;18;p3"/>
          <p:cNvSpPr txBox="1">
            <a:spLocks noGrp="1"/>
          </p:cNvSpPr>
          <p:nvPr>
            <p:ph type="subTitle" idx="2"/>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19" name="Google Shape;19;p3"/>
          <p:cNvSpPr txBox="1">
            <a:spLocks noGrp="1"/>
          </p:cNvSpPr>
          <p:nvPr>
            <p:ph type="body" idx="3"/>
          </p:nvPr>
        </p:nvSpPr>
        <p:spPr>
          <a:xfrm>
            <a:off x="4827127" y="1369219"/>
            <a:ext cx="36882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Title + 3 Columns">
  <p:cSld name="1_Slide with Placeholder">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22" name="Google Shape;22;p4"/>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23" name="Google Shape;23;p4"/>
          <p:cNvSpPr txBox="1">
            <a:spLocks noGrp="1"/>
          </p:cNvSpPr>
          <p:nvPr>
            <p:ph type="body" idx="2"/>
          </p:nvPr>
        </p:nvSpPr>
        <p:spPr>
          <a:xfrm>
            <a:off x="552175"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24" name="Google Shape;24;p4"/>
          <p:cNvSpPr txBox="1">
            <a:spLocks noGrp="1"/>
          </p:cNvSpPr>
          <p:nvPr>
            <p:ph type="body" idx="3"/>
          </p:nvPr>
        </p:nvSpPr>
        <p:spPr>
          <a:xfrm>
            <a:off x="3337475"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25" name="Google Shape;25;p4"/>
          <p:cNvSpPr txBox="1">
            <a:spLocks noGrp="1"/>
          </p:cNvSpPr>
          <p:nvPr>
            <p:ph type="body" idx="4"/>
          </p:nvPr>
        </p:nvSpPr>
        <p:spPr>
          <a:xfrm>
            <a:off x="6160800"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6_Cover Slide">
  <p:cSld name="Cover Slide">
    <p:spTree>
      <p:nvGrpSpPr>
        <p:cNvPr id="1"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6_Cover Slide with Logo">
  <p:cSld name="Cover Slide_2">
    <p:spTree>
      <p:nvGrpSpPr>
        <p:cNvPr id="1"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6_Acknowledgments Slide">
  <p:cSld name="Cover Slide_1">
    <p:spTree>
      <p:nvGrpSpPr>
        <p:cNvPr id="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a:stretch/>
        </p:blipFill>
        <p:spPr>
          <a:xfrm>
            <a:off x="595" y="0"/>
            <a:ext cx="9142810" cy="5142831"/>
          </a:xfrm>
          <a:prstGeom prst="rect">
            <a:avLst/>
          </a:prstGeom>
          <a:noFill/>
          <a:ln>
            <a:noFill/>
          </a:ln>
        </p:spPr>
      </p:pic>
      <p:sp>
        <p:nvSpPr>
          <p:cNvPr id="33" name="Google Shape;33;p7"/>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lt1"/>
              </a:buClr>
              <a:buSzPts val="5600"/>
              <a:buFont typeface="Playfair Display"/>
              <a:buNone/>
              <a:defRPr sz="5600" i="0" u="none" strike="noStrike" cap="non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34" name="Google Shape;34;p7"/>
          <p:cNvSpPr txBox="1">
            <a:spLocks noGrp="1"/>
          </p:cNvSpPr>
          <p:nvPr>
            <p:ph type="subTitle" idx="1"/>
          </p:nvPr>
        </p:nvSpPr>
        <p:spPr>
          <a:xfrm>
            <a:off x="509521" y="1401113"/>
            <a:ext cx="5120100" cy="1558200"/>
          </a:xfrm>
          <a:prstGeom prst="rect">
            <a:avLst/>
          </a:prstGeom>
        </p:spPr>
        <p:txBody>
          <a:bodyPr spcFirstLastPara="1" wrap="square" lIns="34275" tIns="34275" rIns="34275" bIns="34275" anchor="t" anchorCtr="0">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_Title only">
  <p:cSld name="Custom Layout">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37" name="Google Shape;37;p8"/>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_Big Concept Slide">
  <p:cSld name="Slide with Placeholder">
    <p:spTree>
      <p:nvGrpSpPr>
        <p:cNvPr id="1" name="Shape 38"/>
        <p:cNvGrpSpPr/>
        <p:nvPr/>
      </p:nvGrpSpPr>
      <p:grpSpPr>
        <a:xfrm>
          <a:off x="0" y="0"/>
          <a:ext cx="0" cy="0"/>
          <a:chOff x="0" y="0"/>
          <a:chExt cx="0" cy="0"/>
        </a:xfrm>
      </p:grpSpPr>
      <p:sp>
        <p:nvSpPr>
          <p:cNvPr id="39" name="Google Shape;39;p9"/>
          <p:cNvSpPr txBox="1">
            <a:spLocks noGrp="1"/>
          </p:cNvSpPr>
          <p:nvPr>
            <p:ph type="title"/>
          </p:nvPr>
        </p:nvSpPr>
        <p:spPr>
          <a:xfrm>
            <a:off x="509577" y="2245519"/>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0" name="Google Shape;40;p9"/>
          <p:cNvSpPr txBox="1">
            <a:spLocks noGrp="1"/>
          </p:cNvSpPr>
          <p:nvPr>
            <p:ph type="subTitle" idx="1"/>
          </p:nvPr>
        </p:nvSpPr>
        <p:spPr>
          <a:xfrm>
            <a:off x="509577" y="3154509"/>
            <a:ext cx="6737700" cy="9531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_Text and Photo">
  <p:cSld name="Large Picture with Logo">
    <p:spTree>
      <p:nvGrpSpPr>
        <p:cNvPr id="1" name="Shape 41"/>
        <p:cNvGrpSpPr/>
        <p:nvPr/>
      </p:nvGrpSpPr>
      <p:grpSpPr>
        <a:xfrm>
          <a:off x="0" y="0"/>
          <a:ext cx="0" cy="0"/>
          <a:chOff x="0" y="0"/>
          <a:chExt cx="0" cy="0"/>
        </a:xfrm>
      </p:grpSpPr>
      <p:sp>
        <p:nvSpPr>
          <p:cNvPr id="42" name="Google Shape;42;p10"/>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3" name="Google Shape;43;p10"/>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44" name="Google Shape;44;p10"/>
          <p:cNvPicPr preferRelativeResize="0"/>
          <p:nvPr/>
        </p:nvPicPr>
        <p:blipFill rotWithShape="1">
          <a:blip r:embed="rId2">
            <a:alphaModFix/>
          </a:blip>
          <a:srcRect l="27412" r="6551" b="2009"/>
          <a:stretch/>
        </p:blipFill>
        <p:spPr>
          <a:xfrm>
            <a:off x="7006675" y="-56025"/>
            <a:ext cx="2176574" cy="4846049"/>
          </a:xfrm>
          <a:prstGeom prst="rect">
            <a:avLst/>
          </a:prstGeom>
          <a:noFill/>
          <a:ln>
            <a:noFill/>
          </a:ln>
        </p:spPr>
      </p:pic>
      <p:sp>
        <p:nvSpPr>
          <p:cNvPr id="45" name="Google Shape;45;p10"/>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4_Text and Photo 1">
  <p:cSld name="Large Picture with Logo_1">
    <p:spTree>
      <p:nvGrpSpPr>
        <p:cNvPr id="1" name="Shape 46"/>
        <p:cNvGrpSpPr/>
        <p:nvPr/>
      </p:nvGrpSpPr>
      <p:grpSpPr>
        <a:xfrm>
          <a:off x="0" y="0"/>
          <a:ext cx="0" cy="0"/>
          <a:chOff x="0" y="0"/>
          <a:chExt cx="0" cy="0"/>
        </a:xfrm>
      </p:grpSpPr>
      <p:sp>
        <p:nvSpPr>
          <p:cNvPr id="47" name="Google Shape;47;p11"/>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8" name="Google Shape;48;p11"/>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49" name="Google Shape;49;p11"/>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4_Text and Photo 2">
  <p:cSld name="Large Picture with Logo_1_1">
    <p:spTree>
      <p:nvGrpSpPr>
        <p:cNvPr id="1" name="Shape 50"/>
        <p:cNvGrpSpPr/>
        <p:nvPr/>
      </p:nvGrpSpPr>
      <p:grpSpPr>
        <a:xfrm>
          <a:off x="0" y="0"/>
          <a:ext cx="0" cy="0"/>
          <a:chOff x="0" y="0"/>
          <a:chExt cx="0" cy="0"/>
        </a:xfrm>
      </p:grpSpPr>
      <p:sp>
        <p:nvSpPr>
          <p:cNvPr id="51" name="Google Shape;51;p12"/>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52" name="Google Shape;52;p12"/>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53" name="Google Shape;53;p12"/>
          <p:cNvPicPr preferRelativeResize="0"/>
          <p:nvPr/>
        </p:nvPicPr>
        <p:blipFill rotWithShape="1">
          <a:blip r:embed="rId2">
            <a:alphaModFix/>
          </a:blip>
          <a:srcRect l="27412" r="6551"/>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l="895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l="39028"/>
          <a:stretch/>
        </p:blipFill>
        <p:spPr>
          <a:xfrm>
            <a:off x="7006676" y="-57150"/>
            <a:ext cx="4442373" cy="4856124"/>
          </a:xfrm>
          <a:prstGeom prst="rect">
            <a:avLst/>
          </a:prstGeom>
          <a:noFill/>
          <a:ln>
            <a:noFill/>
          </a:ln>
        </p:spPr>
      </p:pic>
      <p:sp>
        <p:nvSpPr>
          <p:cNvPr id="56" name="Google Shape;56;p12"/>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Text and Photo 3">
  <p:cSld name="Large Picture with Logo_1_1_1">
    <p:spTree>
      <p:nvGrpSpPr>
        <p:cNvPr id="1" name="Shape 57"/>
        <p:cNvGrpSpPr/>
        <p:nvPr/>
      </p:nvGrpSpPr>
      <p:grpSpPr>
        <a:xfrm>
          <a:off x="0" y="0"/>
          <a:ext cx="0" cy="0"/>
          <a:chOff x="0" y="0"/>
          <a:chExt cx="0" cy="0"/>
        </a:xfrm>
      </p:grpSpPr>
      <p:sp>
        <p:nvSpPr>
          <p:cNvPr id="58" name="Google Shape;58;p13"/>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59" name="Google Shape;59;p13"/>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60" name="Google Shape;60;p13"/>
          <p:cNvPicPr preferRelativeResize="0"/>
          <p:nvPr/>
        </p:nvPicPr>
        <p:blipFill rotWithShape="1">
          <a:blip r:embed="rId2">
            <a:alphaModFix/>
          </a:blip>
          <a:srcRect l="24210" r="1252"/>
          <a:stretch/>
        </p:blipFill>
        <p:spPr>
          <a:xfrm>
            <a:off x="7006675" y="-57150"/>
            <a:ext cx="5430948" cy="4856124"/>
          </a:xfrm>
          <a:prstGeom prst="rect">
            <a:avLst/>
          </a:prstGeom>
          <a:noFill/>
          <a:ln>
            <a:noFill/>
          </a:ln>
        </p:spPr>
      </p:pic>
      <p:sp>
        <p:nvSpPr>
          <p:cNvPr id="61" name="Google Shape;61;p13"/>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Text and Photo 4">
  <p:cSld name="Large Picture with Logo_1_1_1_1">
    <p:spTree>
      <p:nvGrpSpPr>
        <p:cNvPr id="1" name="Shape 62"/>
        <p:cNvGrpSpPr/>
        <p:nvPr/>
      </p:nvGrpSpPr>
      <p:grpSpPr>
        <a:xfrm>
          <a:off x="0" y="0"/>
          <a:ext cx="0" cy="0"/>
          <a:chOff x="0" y="0"/>
          <a:chExt cx="0" cy="0"/>
        </a:xfrm>
      </p:grpSpPr>
      <p:sp>
        <p:nvSpPr>
          <p:cNvPr id="63" name="Google Shape;63;p14"/>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64" name="Google Shape;64;p14"/>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65" name="Google Shape;65;p14"/>
          <p:cNvPicPr preferRelativeResize="0"/>
          <p:nvPr/>
        </p:nvPicPr>
        <p:blipFill rotWithShape="1">
          <a:blip r:embed="rId2">
            <a:alphaModFix/>
          </a:blip>
          <a:srcRect l="34525"/>
          <a:stretch/>
        </p:blipFill>
        <p:spPr>
          <a:xfrm>
            <a:off x="7010075" y="-57150"/>
            <a:ext cx="2543048" cy="4856125"/>
          </a:xfrm>
          <a:prstGeom prst="rect">
            <a:avLst/>
          </a:prstGeom>
          <a:noFill/>
          <a:ln>
            <a:noFill/>
          </a:ln>
        </p:spPr>
      </p:pic>
      <p:sp>
        <p:nvSpPr>
          <p:cNvPr id="66" name="Google Shape;66;p14"/>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4_Text with Large Photo">
  <p:cSld name="3_Placeholder">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509577" y="702469"/>
            <a:ext cx="22071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2700"/>
              <a:buFont typeface="Playfair Display"/>
              <a:buNone/>
              <a:defRPr sz="27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69" name="Google Shape;69;p15"/>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0" name="Google Shape;70;p15"/>
          <p:cNvSpPr txBox="1">
            <a:spLocks noGrp="1"/>
          </p:cNvSpPr>
          <p:nvPr>
            <p:ph type="body" idx="2"/>
          </p:nvPr>
        </p:nvSpPr>
        <p:spPr>
          <a:xfrm>
            <a:off x="509575" y="1902650"/>
            <a:ext cx="2253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4_Text with Large Photo 1">
  <p:cSld name="3_Placeholder_1">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509577" y="702469"/>
            <a:ext cx="22071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2700"/>
              <a:buFont typeface="Playfair Display"/>
              <a:buNone/>
              <a:defRPr sz="27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73" name="Google Shape;73;p16"/>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4" name="Google Shape;74;p16"/>
          <p:cNvSpPr txBox="1">
            <a:spLocks noGrp="1"/>
          </p:cNvSpPr>
          <p:nvPr>
            <p:ph type="body" idx="2"/>
          </p:nvPr>
        </p:nvSpPr>
        <p:spPr>
          <a:xfrm>
            <a:off x="509575" y="1902650"/>
            <a:ext cx="2253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5_Single Statistic">
  <p:cSld name="1_Placeholder">
    <p:spTree>
      <p:nvGrpSpPr>
        <p:cNvPr id="1" name="Shape 75"/>
        <p:cNvGrpSpPr/>
        <p:nvPr/>
      </p:nvGrpSpPr>
      <p:grpSpPr>
        <a:xfrm>
          <a:off x="0" y="0"/>
          <a:ext cx="0" cy="0"/>
          <a:chOff x="0" y="0"/>
          <a:chExt cx="0" cy="0"/>
        </a:xfrm>
      </p:grpSpPr>
      <p:sp>
        <p:nvSpPr>
          <p:cNvPr id="76" name="Google Shape;76;p17"/>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7" name="Google Shape;77;p17"/>
          <p:cNvSpPr txBox="1">
            <a:spLocks noGrp="1"/>
          </p:cNvSpPr>
          <p:nvPr>
            <p:ph type="title"/>
          </p:nvPr>
        </p:nvSpPr>
        <p:spPr>
          <a:xfrm>
            <a:off x="454066" y="182433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78" name="Google Shape;78;p17"/>
          <p:cNvSpPr txBox="1">
            <a:spLocks noGrp="1"/>
          </p:cNvSpPr>
          <p:nvPr>
            <p:ph type="subTitle" idx="2"/>
          </p:nvPr>
        </p:nvSpPr>
        <p:spPr>
          <a:xfrm>
            <a:off x="454066" y="3127509"/>
            <a:ext cx="8353200" cy="715200"/>
          </a:xfrm>
          <a:prstGeom prst="rect">
            <a:avLst/>
          </a:prstGeom>
        </p:spPr>
        <p:txBody>
          <a:bodyPr spcFirstLastPara="1" wrap="square" lIns="34275" tIns="34275" rIns="34275" bIns="34275" anchor="t" anchorCtr="0">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9" name="Google Shape;79;p17"/>
          <p:cNvSpPr txBox="1">
            <a:spLocks noGrp="1"/>
          </p:cNvSpPr>
          <p:nvPr>
            <p:ph type="subTitle" idx="3"/>
          </p:nvPr>
        </p:nvSpPr>
        <p:spPr>
          <a:xfrm>
            <a:off x="4838166" y="1824350"/>
            <a:ext cx="38664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80" name="Google Shape;80;p17"/>
          <p:cNvSpPr txBox="1">
            <a:spLocks noGrp="1"/>
          </p:cNvSpPr>
          <p:nvPr>
            <p:ph type="title" idx="4"/>
          </p:nvPr>
        </p:nvSpPr>
        <p:spPr>
          <a:xfrm>
            <a:off x="509577" y="837514"/>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5_Multiple Statistics">
  <p:cSld name="1_Placeholder_1">
    <p:spTree>
      <p:nvGrpSpPr>
        <p:cNvPr id="1" name="Shape 81"/>
        <p:cNvGrpSpPr/>
        <p:nvPr/>
      </p:nvGrpSpPr>
      <p:grpSpPr>
        <a:xfrm>
          <a:off x="0" y="0"/>
          <a:ext cx="0" cy="0"/>
          <a:chOff x="0" y="0"/>
          <a:chExt cx="0" cy="0"/>
        </a:xfrm>
      </p:grpSpPr>
      <p:sp>
        <p:nvSpPr>
          <p:cNvPr id="82" name="Google Shape;82;p18"/>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83" name="Google Shape;83;p18"/>
          <p:cNvSpPr txBox="1">
            <a:spLocks noGrp="1"/>
          </p:cNvSpPr>
          <p:nvPr>
            <p:ph type="title"/>
          </p:nvPr>
        </p:nvSpPr>
        <p:spPr>
          <a:xfrm>
            <a:off x="454066" y="75948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4" name="Google Shape;84;p18"/>
          <p:cNvSpPr txBox="1">
            <a:spLocks noGrp="1"/>
          </p:cNvSpPr>
          <p:nvPr>
            <p:ph type="subTitle" idx="2"/>
          </p:nvPr>
        </p:nvSpPr>
        <p:spPr>
          <a:xfrm>
            <a:off x="4759893" y="759488"/>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
        <p:nvSpPr>
          <p:cNvPr id="85" name="Google Shape;85;p18"/>
          <p:cNvSpPr txBox="1">
            <a:spLocks noGrp="1"/>
          </p:cNvSpPr>
          <p:nvPr>
            <p:ph type="title" idx="3"/>
          </p:nvPr>
        </p:nvSpPr>
        <p:spPr>
          <a:xfrm>
            <a:off x="454066" y="2037533"/>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6" name="Google Shape;86;p18"/>
          <p:cNvSpPr txBox="1">
            <a:spLocks noGrp="1"/>
          </p:cNvSpPr>
          <p:nvPr>
            <p:ph type="subTitle" idx="4"/>
          </p:nvPr>
        </p:nvSpPr>
        <p:spPr>
          <a:xfrm>
            <a:off x="4759893" y="2037533"/>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
        <p:nvSpPr>
          <p:cNvPr id="87" name="Google Shape;87;p18"/>
          <p:cNvSpPr txBox="1">
            <a:spLocks noGrp="1"/>
          </p:cNvSpPr>
          <p:nvPr>
            <p:ph type="title" idx="5"/>
          </p:nvPr>
        </p:nvSpPr>
        <p:spPr>
          <a:xfrm>
            <a:off x="454066" y="343770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8" name="Google Shape;88;p18"/>
          <p:cNvSpPr txBox="1">
            <a:spLocks noGrp="1"/>
          </p:cNvSpPr>
          <p:nvPr>
            <p:ph type="subTitle" idx="6"/>
          </p:nvPr>
        </p:nvSpPr>
        <p:spPr>
          <a:xfrm>
            <a:off x="4759893" y="3437709"/>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5_Quote">
  <p:cSld name="CUSTOM">
    <p:spTree>
      <p:nvGrpSpPr>
        <p:cNvPr id="1" name="Shape 89"/>
        <p:cNvGrpSpPr/>
        <p:nvPr/>
      </p:nvGrpSpPr>
      <p:grpSpPr>
        <a:xfrm>
          <a:off x="0" y="0"/>
          <a:ext cx="0" cy="0"/>
          <a:chOff x="0" y="0"/>
          <a:chExt cx="0" cy="0"/>
        </a:xfrm>
      </p:grpSpPr>
      <p:sp>
        <p:nvSpPr>
          <p:cNvPr id="90" name="Google Shape;90;p19"/>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91" name="Google Shape;91;p19"/>
          <p:cNvSpPr/>
          <p:nvPr/>
        </p:nvSpPr>
        <p:spPr>
          <a:xfrm>
            <a:off x="5748887" y="1561152"/>
            <a:ext cx="1718100" cy="219300"/>
          </a:xfrm>
          <a:prstGeom prst="rect">
            <a:avLst/>
          </a:prstGeom>
          <a:solidFill>
            <a:srgbClr val="738D33"/>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2" name="Google Shape;92;p19"/>
          <p:cNvSpPr/>
          <p:nvPr/>
        </p:nvSpPr>
        <p:spPr>
          <a:xfrm>
            <a:off x="7467434" y="1561152"/>
            <a:ext cx="1718100" cy="219300"/>
          </a:xfrm>
          <a:prstGeom prst="rect">
            <a:avLst/>
          </a:prstGeom>
          <a:solidFill>
            <a:srgbClr val="625578"/>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3" name="Google Shape;93;p19"/>
          <p:cNvSpPr/>
          <p:nvPr/>
        </p:nvSpPr>
        <p:spPr>
          <a:xfrm>
            <a:off x="0" y="1561152"/>
            <a:ext cx="1718100" cy="219300"/>
          </a:xfrm>
          <a:prstGeom prst="rect">
            <a:avLst/>
          </a:prstGeom>
          <a:solidFill>
            <a:srgbClr val="FFB600"/>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4" name="Google Shape;94;p19"/>
          <p:cNvSpPr/>
          <p:nvPr/>
        </p:nvSpPr>
        <p:spPr>
          <a:xfrm>
            <a:off x="1718076" y="1561152"/>
            <a:ext cx="1718100" cy="219300"/>
          </a:xfrm>
          <a:prstGeom prst="rect">
            <a:avLst/>
          </a:prstGeom>
          <a:solidFill>
            <a:srgbClr val="498DA0"/>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5" name="Google Shape;95;p19"/>
          <p:cNvSpPr txBox="1"/>
          <p:nvPr/>
        </p:nvSpPr>
        <p:spPr>
          <a:xfrm>
            <a:off x="3589051" y="975950"/>
            <a:ext cx="1965900" cy="875400"/>
          </a:xfrm>
          <a:prstGeom prst="rect">
            <a:avLst/>
          </a:prstGeom>
          <a:noFill/>
          <a:ln>
            <a:noFill/>
          </a:ln>
        </p:spPr>
        <p:txBody>
          <a:bodyPr spcFirstLastPara="1" wrap="square" lIns="34275" tIns="34275" rIns="34275" bIns="34275" anchor="t" anchorCtr="0">
            <a:noAutofit/>
          </a:bodyPr>
          <a:lstStyle/>
          <a:p>
            <a:pPr marL="0" lvl="0" indent="0" algn="ctr" rtl="0">
              <a:spcBef>
                <a:spcPts val="0"/>
              </a:spcBef>
              <a:spcAft>
                <a:spcPts val="0"/>
              </a:spcAft>
              <a:buNone/>
            </a:pPr>
            <a:r>
              <a:rPr lang="en" sz="12000" b="1">
                <a:solidFill>
                  <a:srgbClr val="818387"/>
                </a:solidFill>
              </a:rPr>
              <a:t>“</a:t>
            </a:r>
            <a:endParaRPr sz="12000" b="1">
              <a:solidFill>
                <a:srgbClr val="818387"/>
              </a:solidFill>
            </a:endParaRPr>
          </a:p>
        </p:txBody>
      </p:sp>
      <p:sp>
        <p:nvSpPr>
          <p:cNvPr id="96" name="Google Shape;96;p19"/>
          <p:cNvSpPr txBox="1">
            <a:spLocks noGrp="1"/>
          </p:cNvSpPr>
          <p:nvPr>
            <p:ph type="title"/>
          </p:nvPr>
        </p:nvSpPr>
        <p:spPr>
          <a:xfrm>
            <a:off x="1682308" y="2130769"/>
            <a:ext cx="5779500" cy="1962600"/>
          </a:xfrm>
          <a:prstGeom prst="rect">
            <a:avLst/>
          </a:prstGeom>
        </p:spPr>
        <p:txBody>
          <a:bodyPr spcFirstLastPara="1" wrap="square" lIns="34275" tIns="34275" rIns="34275" bIns="34275" anchor="t" anchorCtr="0">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97" name="Google Shape;97;p19"/>
          <p:cNvSpPr txBox="1">
            <a:spLocks noGrp="1"/>
          </p:cNvSpPr>
          <p:nvPr>
            <p:ph type="subTitle" idx="2"/>
          </p:nvPr>
        </p:nvSpPr>
        <p:spPr>
          <a:xfrm>
            <a:off x="3300470" y="3999056"/>
            <a:ext cx="2543100" cy="384600"/>
          </a:xfrm>
          <a:prstGeom prst="rect">
            <a:avLst/>
          </a:prstGeom>
        </p:spPr>
        <p:txBody>
          <a:bodyPr spcFirstLastPara="1" wrap="square" lIns="34275" tIns="34275" rIns="34275" bIns="34275" anchor="t" anchorCtr="0">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13_Title Slide">
  <p:cSld name="13_Title Slide">
    <p:spTree>
      <p:nvGrpSpPr>
        <p:cNvPr id="1" name="Shape 98"/>
        <p:cNvGrpSpPr/>
        <p:nvPr/>
      </p:nvGrpSpPr>
      <p:grpSpPr>
        <a:xfrm>
          <a:off x="0" y="0"/>
          <a:ext cx="0" cy="0"/>
          <a:chOff x="0" y="0"/>
          <a:chExt cx="0" cy="0"/>
        </a:xfrm>
      </p:grpSpPr>
      <p:sp>
        <p:nvSpPr>
          <p:cNvPr id="99" name="Google Shape;99;p20"/>
          <p:cNvSpPr>
            <a:spLocks noGrp="1"/>
          </p:cNvSpPr>
          <p:nvPr>
            <p:ph type="pic" idx="2"/>
          </p:nvPr>
        </p:nvSpPr>
        <p:spPr>
          <a:xfrm>
            <a:off x="192505" y="514350"/>
            <a:ext cx="1600200" cy="4629300"/>
          </a:xfrm>
          <a:prstGeom prst="rect">
            <a:avLst/>
          </a:prstGeom>
          <a:noFill/>
          <a:ln>
            <a:noFill/>
          </a:ln>
        </p:spPr>
      </p:sp>
      <p:sp>
        <p:nvSpPr>
          <p:cNvPr id="100" name="Google Shape;100;p20"/>
          <p:cNvSpPr>
            <a:spLocks noGrp="1"/>
          </p:cNvSpPr>
          <p:nvPr>
            <p:ph type="pic" idx="3"/>
          </p:nvPr>
        </p:nvSpPr>
        <p:spPr>
          <a:xfrm>
            <a:off x="1997242" y="0"/>
            <a:ext cx="1600200" cy="4629300"/>
          </a:xfrm>
          <a:prstGeom prst="rect">
            <a:avLst/>
          </a:prstGeom>
          <a:noFill/>
          <a:ln>
            <a:noFill/>
          </a:ln>
        </p:spPr>
      </p:sp>
      <p:sp>
        <p:nvSpPr>
          <p:cNvPr id="101" name="Google Shape;101;p20"/>
          <p:cNvSpPr>
            <a:spLocks noGrp="1"/>
          </p:cNvSpPr>
          <p:nvPr>
            <p:ph type="pic" idx="4"/>
          </p:nvPr>
        </p:nvSpPr>
        <p:spPr>
          <a:xfrm>
            <a:off x="3801980" y="514350"/>
            <a:ext cx="1600200" cy="4629300"/>
          </a:xfrm>
          <a:prstGeom prst="rect">
            <a:avLst/>
          </a:prstGeom>
          <a:noFill/>
          <a:ln>
            <a:noFill/>
          </a:ln>
        </p:spPr>
      </p:sp>
      <p:sp>
        <p:nvSpPr>
          <p:cNvPr id="102" name="Google Shape;102;p20"/>
          <p:cNvSpPr>
            <a:spLocks noGrp="1"/>
          </p:cNvSpPr>
          <p:nvPr>
            <p:ph type="pic" idx="5"/>
          </p:nvPr>
        </p:nvSpPr>
        <p:spPr>
          <a:xfrm>
            <a:off x="5606716" y="0"/>
            <a:ext cx="1600200" cy="4629300"/>
          </a:xfrm>
          <a:prstGeom prst="rect">
            <a:avLst/>
          </a:prstGeom>
          <a:noFill/>
          <a:ln>
            <a:noFill/>
          </a:ln>
        </p:spPr>
      </p:sp>
      <p:sp>
        <p:nvSpPr>
          <p:cNvPr id="103" name="Google Shape;103;p20"/>
          <p:cNvSpPr>
            <a:spLocks noGrp="1"/>
          </p:cNvSpPr>
          <p:nvPr>
            <p:ph type="pic" idx="6"/>
          </p:nvPr>
        </p:nvSpPr>
        <p:spPr>
          <a:xfrm>
            <a:off x="7411453" y="514350"/>
            <a:ext cx="1600200" cy="4629300"/>
          </a:xfrm>
          <a:prstGeom prst="rect">
            <a:avLst/>
          </a:prstGeom>
          <a:noFill/>
          <a:ln>
            <a:noFill/>
          </a:ln>
        </p:spPr>
      </p:sp>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1_Cover Page 1">
  <p:cSld name="1_Cover Page">
    <p:spTree>
      <p:nvGrpSpPr>
        <p:cNvPr id="1"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400" b="0" i="0" u="none" strike="noStrike" cap="non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t="43844" r="-563" b="13732"/>
          <a:stretch/>
        </p:blipFill>
        <p:spPr>
          <a:xfrm>
            <a:off x="-53437" y="-70462"/>
            <a:ext cx="9250875" cy="3460759"/>
          </a:xfrm>
          <a:prstGeom prst="rect">
            <a:avLst/>
          </a:prstGeom>
          <a:noFill/>
          <a:ln>
            <a:noFill/>
          </a:ln>
        </p:spPr>
      </p:pic>
      <p:sp>
        <p:nvSpPr>
          <p:cNvPr id="107" name="Google Shape;107;p21"/>
          <p:cNvSpPr txBox="1">
            <a:spLocks noGrp="1"/>
          </p:cNvSpPr>
          <p:nvPr>
            <p:ph type="title"/>
          </p:nvPr>
        </p:nvSpPr>
        <p:spPr>
          <a:xfrm>
            <a:off x="493923" y="976378"/>
            <a:ext cx="8005800" cy="1824300"/>
          </a:xfrm>
          <a:prstGeom prst="rect">
            <a:avLst/>
          </a:prstGeom>
          <a:noFill/>
          <a:ln>
            <a:noFill/>
          </a:ln>
        </p:spPr>
        <p:txBody>
          <a:bodyPr spcFirstLastPara="1" wrap="square" lIns="25700" tIns="25700" rIns="25700" bIns="25700" anchor="ctr" anchorCtr="0">
            <a:normAutofit/>
          </a:bodyPr>
          <a:lstStyle>
            <a:lvl1pPr marR="0" lvl="0" algn="l">
              <a:lnSpc>
                <a:spcPct val="90000"/>
              </a:lnSpc>
              <a:spcBef>
                <a:spcPts val="0"/>
              </a:spcBef>
              <a:spcAft>
                <a:spcPts val="0"/>
              </a:spcAft>
              <a:buClr>
                <a:srgbClr val="FFFFFF"/>
              </a:buClr>
              <a:buSzPts val="2700"/>
              <a:buFont typeface="Playfair Display"/>
              <a:buNone/>
              <a:defRPr sz="3600" i="0" u="none" strike="noStrike" cap="non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a:endParaRPr/>
          </a:p>
        </p:txBody>
      </p:sp>
      <p:sp>
        <p:nvSpPr>
          <p:cNvPr id="108" name="Google Shape;108;p21"/>
          <p:cNvSpPr txBox="1">
            <a:spLocks noGrp="1"/>
          </p:cNvSpPr>
          <p:nvPr>
            <p:ph type="subTitle" idx="1"/>
          </p:nvPr>
        </p:nvSpPr>
        <p:spPr>
          <a:xfrm>
            <a:off x="493926" y="3549825"/>
            <a:ext cx="7661100" cy="970800"/>
          </a:xfrm>
          <a:prstGeom prst="rect">
            <a:avLst/>
          </a:prstGeom>
          <a:noFill/>
          <a:ln>
            <a:noFill/>
          </a:ln>
        </p:spPr>
        <p:txBody>
          <a:bodyPr spcFirstLastPara="1" wrap="square" lIns="68575" tIns="68575" rIns="68575" bIns="68575" anchor="t" anchorCtr="0">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a:endParaRPr/>
          </a:p>
        </p:txBody>
      </p:sp>
      <p:sp>
        <p:nvSpPr>
          <p:cNvPr id="109" name="Google Shape;109;p21"/>
          <p:cNvSpPr txBox="1">
            <a:spLocks noGrp="1"/>
          </p:cNvSpPr>
          <p:nvPr>
            <p:ph type="subTitle" idx="2"/>
          </p:nvPr>
        </p:nvSpPr>
        <p:spPr>
          <a:xfrm>
            <a:off x="493923" y="4079316"/>
            <a:ext cx="7327800" cy="2987100"/>
          </a:xfrm>
          <a:prstGeom prst="rect">
            <a:avLst/>
          </a:prstGeom>
          <a:noFill/>
          <a:ln>
            <a:noFill/>
          </a:ln>
        </p:spPr>
        <p:txBody>
          <a:bodyPr spcFirstLastPara="1" wrap="square" lIns="68575" tIns="68575" rIns="68575" bIns="68575" anchor="t" anchorCtr="0">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7" name="Google Shape;7;p1"/>
          <p:cNvSpPr txBox="1">
            <a:spLocks noGrp="1"/>
          </p:cNvSpPr>
          <p:nvPr>
            <p:ph type="body" idx="1"/>
          </p:nvPr>
        </p:nvSpPr>
        <p:spPr>
          <a:xfrm>
            <a:off x="509577" y="1401113"/>
            <a:ext cx="80058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Clr>
                <a:schemeClr val="dk2"/>
              </a:buClr>
              <a:buSzPts val="2200"/>
              <a:buFont typeface="Roboto"/>
              <a:buNone/>
              <a:defRPr sz="2200" i="0" u="none" strike="noStrike" cap="none">
                <a:solidFill>
                  <a:schemeClr val="dk2"/>
                </a:solidFill>
                <a:latin typeface="Roboto"/>
                <a:ea typeface="Roboto"/>
                <a:cs typeface="Roboto"/>
                <a:sym typeface="Roboto"/>
              </a:defRPr>
            </a:lvl1pPr>
            <a:lvl2pPr marL="914400" marR="0" lvl="1" indent="-228600" algn="l">
              <a:lnSpc>
                <a:spcPct val="90000"/>
              </a:lnSpc>
              <a:spcBef>
                <a:spcPts val="400"/>
              </a:spcBef>
              <a:spcAft>
                <a:spcPts val="0"/>
              </a:spcAft>
              <a:buClr>
                <a:schemeClr val="dk2"/>
              </a:buClr>
              <a:buSzPts val="1800"/>
              <a:buFont typeface="Roboto"/>
              <a:buNone/>
              <a:defRPr sz="1800" i="0" u="none" strike="noStrike" cap="none">
                <a:solidFill>
                  <a:schemeClr val="dk2"/>
                </a:solidFill>
                <a:latin typeface="Roboto"/>
                <a:ea typeface="Roboto"/>
                <a:cs typeface="Roboto"/>
                <a:sym typeface="Roboto"/>
              </a:defRPr>
            </a:lvl2pPr>
            <a:lvl3pPr marL="1371600" marR="0" lvl="2" indent="-228600" algn="l">
              <a:lnSpc>
                <a:spcPct val="90000"/>
              </a:lnSpc>
              <a:spcBef>
                <a:spcPts val="400"/>
              </a:spcBef>
              <a:spcAft>
                <a:spcPts val="0"/>
              </a:spcAft>
              <a:buClr>
                <a:schemeClr val="dk2"/>
              </a:buClr>
              <a:buSzPts val="1500"/>
              <a:buFont typeface="Roboto"/>
              <a:buNone/>
              <a:defRPr sz="1500" i="0" u="none" strike="noStrike" cap="none">
                <a:solidFill>
                  <a:schemeClr val="dk2"/>
                </a:solidFill>
                <a:latin typeface="Roboto"/>
                <a:ea typeface="Roboto"/>
                <a:cs typeface="Roboto"/>
                <a:sym typeface="Roboto"/>
              </a:defRPr>
            </a:lvl3pPr>
            <a:lvl4pPr marL="1828800" marR="0" lvl="3" indent="-228600" algn="l">
              <a:lnSpc>
                <a:spcPct val="90000"/>
              </a:lnSpc>
              <a:spcBef>
                <a:spcPts val="400"/>
              </a:spcBef>
              <a:spcAft>
                <a:spcPts val="0"/>
              </a:spcAft>
              <a:buClr>
                <a:schemeClr val="dk2"/>
              </a:buClr>
              <a:buSzPts val="1300"/>
              <a:buFont typeface="Roboto"/>
              <a:buNone/>
              <a:defRPr sz="1300" i="0" u="none" strike="noStrike" cap="none">
                <a:solidFill>
                  <a:schemeClr val="dk2"/>
                </a:solidFill>
                <a:latin typeface="Roboto"/>
                <a:ea typeface="Roboto"/>
                <a:cs typeface="Roboto"/>
                <a:sym typeface="Roboto"/>
              </a:defRPr>
            </a:lvl4pPr>
            <a:lvl5pPr marL="2286000" marR="0" lvl="4" indent="-228600" algn="l">
              <a:lnSpc>
                <a:spcPct val="90000"/>
              </a:lnSpc>
              <a:spcBef>
                <a:spcPts val="400"/>
              </a:spcBef>
              <a:spcAft>
                <a:spcPts val="0"/>
              </a:spcAft>
              <a:buClr>
                <a:schemeClr val="dk2"/>
              </a:buClr>
              <a:buSzPts val="1100"/>
              <a:buFont typeface="Roboto"/>
              <a:buNone/>
              <a:defRPr sz="1100" i="0" u="none" strike="noStrike" cap="none">
                <a:solidFill>
                  <a:schemeClr val="dk2"/>
                </a:solidFill>
                <a:latin typeface="Roboto"/>
                <a:ea typeface="Roboto"/>
                <a:cs typeface="Roboto"/>
                <a:sym typeface="Roboto"/>
              </a:defRPr>
            </a:lvl5pPr>
            <a:lvl6pPr marL="2743200" marR="0" lvl="5" indent="-285750" algn="l">
              <a:lnSpc>
                <a:spcPct val="90000"/>
              </a:lnSpc>
              <a:spcBef>
                <a:spcPts val="400"/>
              </a:spcBef>
              <a:spcAft>
                <a:spcPts val="0"/>
              </a:spcAft>
              <a:buClr>
                <a:schemeClr val="dk1"/>
              </a:buClr>
              <a:buSzPts val="900"/>
              <a:buFont typeface="Roboto"/>
              <a:buChar char="•"/>
              <a:defRPr sz="900" i="0" u="none" strike="noStrike" cap="none">
                <a:solidFill>
                  <a:schemeClr val="dk1"/>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sz="500"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pic>
        <p:nvPicPr>
          <p:cNvPr id="8" name="Google Shape;8;p1"/>
          <p:cNvPicPr preferRelativeResize="0"/>
          <p:nvPr/>
        </p:nvPicPr>
        <p:blipFill rotWithShape="1">
          <a:blip r:embed="rId22">
            <a:alphaModFix/>
          </a:blip>
          <a:srcRect t="35296"/>
          <a:stretch/>
        </p:blipFill>
        <p:spPr>
          <a:xfrm>
            <a:off x="0" y="4794384"/>
            <a:ext cx="9144000" cy="349116"/>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image" Target="../media/image12.gif"/><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jpeg"/><Relationship Id="rId1" Type="http://schemas.openxmlformats.org/officeDocument/2006/relationships/slideLayout" Target="../slideLayouts/slideLayout14.xml"/><Relationship Id="rId6" Type="http://schemas.openxmlformats.org/officeDocument/2006/relationships/image" Target="../media/image19.png"/><Relationship Id="rId5" Type="http://schemas.openxmlformats.org/officeDocument/2006/relationships/image" Target="../media/image18.jpeg"/><Relationship Id="rId4" Type="http://schemas.openxmlformats.org/officeDocument/2006/relationships/image" Target="../media/image17.jpg"/></Relationships>
</file>

<file path=ppt/slides/_rels/slide4.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image" Target="../media/image20.jpe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jpg"/><Relationship Id="rId1" Type="http://schemas.openxmlformats.org/officeDocument/2006/relationships/slideLayout" Target="../slideLayouts/slideLayout14.xml"/><Relationship Id="rId4" Type="http://schemas.openxmlformats.org/officeDocument/2006/relationships/image" Target="../media/image24.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pPr marL="0" indent="0">
              <a:buNone/>
            </a:pPr>
            <a:r>
              <a:rPr dirty="0">
                <a:solidFill>
                  <a:schemeClr val="bg1"/>
                </a:solidFill>
              </a:rPr>
              <a:t>CSCI 3495</a:t>
            </a:r>
          </a:p>
          <a:p>
            <a:pPr marL="0" indent="0">
              <a:buNone/>
            </a:pPr>
            <a:r>
              <a:rPr dirty="0">
                <a:solidFill>
                  <a:schemeClr val="bg1"/>
                </a:solidFill>
              </a:rPr>
              <a:t>How scary is it?</a:t>
            </a:r>
            <a:br>
              <a:rPr lang="en-US" dirty="0">
                <a:solidFill>
                  <a:schemeClr val="bg1"/>
                </a:solidFill>
              </a:rPr>
            </a:br>
            <a:br>
              <a:rPr lang="en-US" dirty="0">
                <a:solidFill>
                  <a:schemeClr val="bg1"/>
                </a:solidFill>
              </a:rPr>
            </a:br>
            <a:r>
              <a:rPr lang="en-US" dirty="0">
                <a:solidFill>
                  <a:schemeClr val="bg1"/>
                </a:solidFill>
              </a:rPr>
              <a:t>Boo!</a:t>
            </a:r>
            <a:endParaRPr dirty="0">
              <a:solidFill>
                <a:schemeClr val="bg1"/>
              </a:solidFill>
            </a:endParaRPr>
          </a:p>
        </p:txBody>
      </p:sp>
      <p:sp>
        <p:nvSpPr>
          <p:cNvPr id="3" name="Subtitle 2"/>
          <p:cNvSpPr>
            <a:spLocks noGrp="1"/>
          </p:cNvSpPr>
          <p:nvPr>
            <p:ph type="subTitle" idx="1"/>
          </p:nvPr>
        </p:nvSpPr>
        <p:spPr>
          <a:xfrm>
            <a:off x="493926" y="3549825"/>
            <a:ext cx="5678121" cy="970800"/>
          </a:xfrm>
        </p:spPr>
        <p:txBody>
          <a:bodyPr wrap="square"/>
          <a:lstStyle/>
          <a:p>
            <a:pPr marL="0" indent="0">
              <a:buNone/>
            </a:pPr>
            <a:r>
              <a:rPr dirty="0">
                <a:solidFill/>
              </a:rPr>
              <a:t>Natural Language Processing &amp; Large Language Models</a:t>
            </a:r>
          </a:p>
          <a:p>
            <a:pPr marL="0" indent="0">
              <a:buNone/>
            </a:pPr>
            <a:r>
              <a:rPr dirty="0">
                <a:solidFill/>
              </a:rPr>
              <a:t>Week 4, Class 2  ·  Wed Sep 16, 2026</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rPr>
                <a:solidFill/>
              </a:rPr>
              <a:t>Source: original figure, the loss from the run we do in class</a:t>
            </a:r>
          </a:p>
        </p:txBody>
      </p:sp>
      <p:pic>
        <p:nvPicPr>
          <p:cNvPr id="7" name="Picture 6" descr="A person in a mask with a bloody knife&#10;&#10;AI-generated content may be incorrect.">
            <a:extLst>
              <a:ext uri="{FF2B5EF4-FFF2-40B4-BE49-F238E27FC236}">
                <a16:creationId xmlns:a16="http://schemas.microsoft.com/office/drawing/2014/main" id="{6C69D46E-B33F-7258-DC95-862B079A3E64}"/>
              </a:ext>
            </a:extLst>
          </p:cNvPr>
          <p:cNvPicPr>
            <a:picLocks noChangeAspect="1"/>
          </p:cNvPicPr>
          <p:nvPr/>
        </p:nvPicPr>
        <p:blipFill>
          <a:blip r:embed="rId3"/>
          <a:stretch>
            <a:fillRect/>
          </a:stretch>
        </p:blipFill>
        <p:spPr>
          <a:xfrm>
            <a:off x="5568436" y="3039505"/>
            <a:ext cx="3397611" cy="191501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at sitting on a couch with a computer&#10;&#10;AI-generated content may be incorrect.">
            <a:extLst>
              <a:ext uri="{FF2B5EF4-FFF2-40B4-BE49-F238E27FC236}">
                <a16:creationId xmlns:a16="http://schemas.microsoft.com/office/drawing/2014/main" id="{807DC22F-92B4-AFF0-72C4-9C9E89C00B38}"/>
              </a:ext>
            </a:extLst>
          </p:cNvPr>
          <p:cNvPicPr>
            <a:picLocks noChangeAspect="1"/>
          </p:cNvPicPr>
          <p:nvPr/>
        </p:nvPicPr>
        <p:blipFill>
          <a:blip r:embed="rId2"/>
          <a:stretch>
            <a:fillRect/>
          </a:stretch>
        </p:blipFill>
        <p:spPr>
          <a:xfrm>
            <a:off x="4007457" y="-1"/>
            <a:ext cx="5136543" cy="5136543"/>
          </a:xfrm>
          <a:prstGeom prst="rect">
            <a:avLst/>
          </a:prstGeom>
        </p:spPr>
      </p:pic>
      <p:pic>
        <p:nvPicPr>
          <p:cNvPr id="9" name="Picture 8">
            <a:extLst>
              <a:ext uri="{FF2B5EF4-FFF2-40B4-BE49-F238E27FC236}">
                <a16:creationId xmlns:a16="http://schemas.microsoft.com/office/drawing/2014/main" id="{D3081B9B-6730-D41A-7158-5DB1C3FC8287}"/>
              </a:ext>
            </a:extLst>
          </p:cNvPr>
          <p:cNvPicPr>
            <a:picLocks noChangeAspect="1"/>
          </p:cNvPicPr>
          <p:nvPr/>
        </p:nvPicPr>
        <p:blipFill>
          <a:blip r:embed="rId3"/>
          <a:stretch>
            <a:fillRect/>
          </a:stretch>
        </p:blipFill>
        <p:spPr>
          <a:xfrm>
            <a:off x="-2842" y="2893281"/>
            <a:ext cx="4010299" cy="2243261"/>
          </a:xfrm>
          <a:prstGeom prst="rect">
            <a:avLst/>
          </a:prstGeom>
        </p:spPr>
      </p:pic>
      <p:pic>
        <p:nvPicPr>
          <p:cNvPr id="11" name="Picture 10" descr="A black and white form with white text&#10;&#10;AI-generated content may be incorrect.">
            <a:extLst>
              <a:ext uri="{FF2B5EF4-FFF2-40B4-BE49-F238E27FC236}">
                <a16:creationId xmlns:a16="http://schemas.microsoft.com/office/drawing/2014/main" id="{8E3BFDFB-DB3B-4BAA-A5FB-41761F9EC588}"/>
              </a:ext>
            </a:extLst>
          </p:cNvPr>
          <p:cNvPicPr>
            <a:picLocks noChangeAspect="1"/>
          </p:cNvPicPr>
          <p:nvPr/>
        </p:nvPicPr>
        <p:blipFill>
          <a:blip r:embed="rId4"/>
          <a:stretch>
            <a:fillRect/>
          </a:stretch>
        </p:blipFill>
        <p:spPr>
          <a:xfrm>
            <a:off x="946088" y="78518"/>
            <a:ext cx="2112437" cy="2736244"/>
          </a:xfrm>
          <a:prstGeom prst="rect">
            <a:avLst/>
          </a:prstGeom>
        </p:spPr>
      </p:pic>
    </p:spTree>
    <p:extLst>
      <p:ext uri="{BB962C8B-B14F-4D97-AF65-F5344CB8AC3E}">
        <p14:creationId xmlns:p14="http://schemas.microsoft.com/office/powerpoint/2010/main" val="3453972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1EF038DD-1D8B-E409-6029-971396ADA4B5}"/>
              </a:ext>
            </a:extLst>
          </p:cNvPr>
          <p:cNvSpPr>
            <a:spLocks noGrp="1"/>
          </p:cNvSpPr>
          <p:nvPr>
            <p:ph type="subTitle" idx="1"/>
          </p:nvPr>
        </p:nvSpPr>
        <p:spPr/>
        <p:txBody>
          <a:bodyPr/>
          <a:lstStyle/>
          <a:p>
            <a:endParaRPr lang="en-US"/>
          </a:p>
        </p:txBody>
      </p:sp>
      <p:pic>
        <p:nvPicPr>
          <p:cNvPr id="6" name="Picture 5" descr="A group of people posing for a photo&#10;&#10;AI-generated content may be incorrect.">
            <a:extLst>
              <a:ext uri="{FF2B5EF4-FFF2-40B4-BE49-F238E27FC236}">
                <a16:creationId xmlns:a16="http://schemas.microsoft.com/office/drawing/2014/main" id="{9C1A5526-36A7-696F-5256-39F634E28A45}"/>
              </a:ext>
            </a:extLst>
          </p:cNvPr>
          <p:cNvPicPr>
            <a:picLocks noChangeAspect="1"/>
          </p:cNvPicPr>
          <p:nvPr/>
        </p:nvPicPr>
        <p:blipFill>
          <a:blip r:embed="rId2"/>
          <a:srcRect b="14503"/>
          <a:stretch/>
        </p:blipFill>
        <p:spPr>
          <a:xfrm>
            <a:off x="0" y="11430"/>
            <a:ext cx="9144000" cy="5120640"/>
          </a:xfrm>
          <a:prstGeom prst="rect">
            <a:avLst/>
          </a:prstGeom>
        </p:spPr>
      </p:pic>
      <p:pic>
        <p:nvPicPr>
          <p:cNvPr id="8" name="Picture 7">
            <a:extLst>
              <a:ext uri="{FF2B5EF4-FFF2-40B4-BE49-F238E27FC236}">
                <a16:creationId xmlns:a16="http://schemas.microsoft.com/office/drawing/2014/main" id="{D8429EA2-7B41-2521-008B-96E1AFDB5D4D}"/>
              </a:ext>
            </a:extLst>
          </p:cNvPr>
          <p:cNvPicPr>
            <a:picLocks noChangeAspect="1"/>
          </p:cNvPicPr>
          <p:nvPr/>
        </p:nvPicPr>
        <p:blipFill>
          <a:blip r:embed="rId3"/>
          <a:stretch>
            <a:fillRect/>
          </a:stretch>
        </p:blipFill>
        <p:spPr>
          <a:xfrm>
            <a:off x="7243638" y="0"/>
            <a:ext cx="1900362" cy="1900362"/>
          </a:xfrm>
          <a:prstGeom prst="rect">
            <a:avLst/>
          </a:prstGeom>
        </p:spPr>
      </p:pic>
      <p:pic>
        <p:nvPicPr>
          <p:cNvPr id="10" name="Picture 9" descr="A person and person in red shirts&#10;&#10;AI-generated content may be incorrect.">
            <a:extLst>
              <a:ext uri="{FF2B5EF4-FFF2-40B4-BE49-F238E27FC236}">
                <a16:creationId xmlns:a16="http://schemas.microsoft.com/office/drawing/2014/main" id="{0B8462C9-0D23-881B-21CD-779F300454E2}"/>
              </a:ext>
            </a:extLst>
          </p:cNvPr>
          <p:cNvPicPr>
            <a:picLocks noChangeAspect="1"/>
          </p:cNvPicPr>
          <p:nvPr/>
        </p:nvPicPr>
        <p:blipFill>
          <a:blip r:embed="rId4"/>
          <a:stretch>
            <a:fillRect/>
          </a:stretch>
        </p:blipFill>
        <p:spPr>
          <a:xfrm>
            <a:off x="0" y="0"/>
            <a:ext cx="1383527" cy="1383527"/>
          </a:xfrm>
          <a:prstGeom prst="rect">
            <a:avLst/>
          </a:prstGeom>
        </p:spPr>
      </p:pic>
      <p:pic>
        <p:nvPicPr>
          <p:cNvPr id="12" name="Picture 11" descr="A group of men in an office&#10;&#10;AI-generated content may be incorrect.">
            <a:extLst>
              <a:ext uri="{FF2B5EF4-FFF2-40B4-BE49-F238E27FC236}">
                <a16:creationId xmlns:a16="http://schemas.microsoft.com/office/drawing/2014/main" id="{7399F332-921E-42BB-3FB8-2D0BEC5741D1}"/>
              </a:ext>
            </a:extLst>
          </p:cNvPr>
          <p:cNvPicPr>
            <a:picLocks noChangeAspect="1"/>
          </p:cNvPicPr>
          <p:nvPr/>
        </p:nvPicPr>
        <p:blipFill>
          <a:blip r:embed="rId5"/>
          <a:stretch>
            <a:fillRect/>
          </a:stretch>
        </p:blipFill>
        <p:spPr>
          <a:xfrm>
            <a:off x="7808181" y="4252045"/>
            <a:ext cx="1335819" cy="891455"/>
          </a:xfrm>
          <a:prstGeom prst="rect">
            <a:avLst/>
          </a:prstGeom>
        </p:spPr>
      </p:pic>
      <p:sp>
        <p:nvSpPr>
          <p:cNvPr id="13" name="TextBox 12">
            <a:extLst>
              <a:ext uri="{FF2B5EF4-FFF2-40B4-BE49-F238E27FC236}">
                <a16:creationId xmlns:a16="http://schemas.microsoft.com/office/drawing/2014/main" id="{6764ACA0-4C04-571B-24EF-95636DC22E55}"/>
              </a:ext>
            </a:extLst>
          </p:cNvPr>
          <p:cNvSpPr txBox="1"/>
          <p:nvPr/>
        </p:nvSpPr>
        <p:spPr>
          <a:xfrm rot="345418">
            <a:off x="-604299" y="3699168"/>
            <a:ext cx="1208598" cy="2215991"/>
          </a:xfrm>
          <a:prstGeom prst="rect">
            <a:avLst/>
          </a:prstGeom>
          <a:noFill/>
        </p:spPr>
        <p:txBody>
          <a:bodyPr wrap="square" rtlCol="0">
            <a:spAutoFit/>
          </a:bodyPr>
          <a:lstStyle/>
          <a:p>
            <a:r>
              <a:rPr lang="en-US" sz="13800" dirty="0">
                <a:solidFill/>
              </a:rPr>
              <a:t>🎉</a:t>
            </a:r>
          </a:p>
        </p:txBody>
      </p:sp>
      <p:sp>
        <p:nvSpPr>
          <p:cNvPr id="15" name="TextBox 14">
            <a:extLst>
              <a:ext uri="{FF2B5EF4-FFF2-40B4-BE49-F238E27FC236}">
                <a16:creationId xmlns:a16="http://schemas.microsoft.com/office/drawing/2014/main" id="{24BC1196-CDE2-6616-FD08-77E67EE29CAD}"/>
              </a:ext>
            </a:extLst>
          </p:cNvPr>
          <p:cNvSpPr txBox="1"/>
          <p:nvPr/>
        </p:nvSpPr>
        <p:spPr>
          <a:xfrm rot="4016965">
            <a:off x="108093" y="1052027"/>
            <a:ext cx="1208598" cy="2215991"/>
          </a:xfrm>
          <a:prstGeom prst="rect">
            <a:avLst/>
          </a:prstGeom>
          <a:noFill/>
        </p:spPr>
        <p:txBody>
          <a:bodyPr wrap="square" rtlCol="0">
            <a:spAutoFit/>
          </a:bodyPr>
          <a:lstStyle/>
          <a:p>
            <a:r>
              <a:rPr lang="en-US" sz="13800" dirty="0">
                <a:solidFill/>
              </a:rPr>
              <a:t>🎉</a:t>
            </a:r>
          </a:p>
        </p:txBody>
      </p:sp>
      <p:sp>
        <p:nvSpPr>
          <p:cNvPr id="16" name="TextBox 15">
            <a:extLst>
              <a:ext uri="{FF2B5EF4-FFF2-40B4-BE49-F238E27FC236}">
                <a16:creationId xmlns:a16="http://schemas.microsoft.com/office/drawing/2014/main" id="{6A94C4B0-6AE7-C805-8C27-E45AFC07C525}"/>
              </a:ext>
            </a:extLst>
          </p:cNvPr>
          <p:cNvSpPr txBox="1"/>
          <p:nvPr/>
        </p:nvSpPr>
        <p:spPr>
          <a:xfrm rot="16356459">
            <a:off x="6249889" y="3589776"/>
            <a:ext cx="1208598" cy="2215991"/>
          </a:xfrm>
          <a:prstGeom prst="rect">
            <a:avLst/>
          </a:prstGeom>
          <a:noFill/>
        </p:spPr>
        <p:txBody>
          <a:bodyPr wrap="square" rtlCol="0">
            <a:spAutoFit/>
          </a:bodyPr>
          <a:lstStyle/>
          <a:p>
            <a:r>
              <a:rPr lang="en-US" sz="13800" dirty="0">
                <a:solidFill/>
              </a:rPr>
              <a:t>🎉</a:t>
            </a:r>
          </a:p>
        </p:txBody>
      </p:sp>
      <p:sp>
        <p:nvSpPr>
          <p:cNvPr id="17" name="TextBox 16">
            <a:extLst>
              <a:ext uri="{FF2B5EF4-FFF2-40B4-BE49-F238E27FC236}">
                <a16:creationId xmlns:a16="http://schemas.microsoft.com/office/drawing/2014/main" id="{70A05CFC-3EF5-26BE-5568-788D00239B6A}"/>
              </a:ext>
            </a:extLst>
          </p:cNvPr>
          <p:cNvSpPr txBox="1"/>
          <p:nvPr/>
        </p:nvSpPr>
        <p:spPr>
          <a:xfrm rot="21433344">
            <a:off x="5334247" y="49647"/>
            <a:ext cx="2102738" cy="2215991"/>
          </a:xfrm>
          <a:prstGeom prst="rect">
            <a:avLst/>
          </a:prstGeom>
          <a:noFill/>
        </p:spPr>
        <p:txBody>
          <a:bodyPr wrap="square" rtlCol="0">
            <a:spAutoFit/>
          </a:bodyPr>
          <a:lstStyle/>
          <a:p>
            <a:r>
              <a:rPr lang="en-US" sz="13800" dirty="0">
                <a:solidFill/>
              </a:rPr>
              <a:t>🎊</a:t>
            </a:r>
          </a:p>
        </p:txBody>
      </p:sp>
      <p:pic>
        <p:nvPicPr>
          <p:cNvPr id="22" name="Picture 21" descr="A yellow emoji giving a thumbs up&#10;&#10;AI-generated content may be incorrect.">
            <a:extLst>
              <a:ext uri="{FF2B5EF4-FFF2-40B4-BE49-F238E27FC236}">
                <a16:creationId xmlns:a16="http://schemas.microsoft.com/office/drawing/2014/main" id="{32842028-0FFD-14A3-EDEB-C26388D46383}"/>
              </a:ext>
            </a:extLst>
          </p:cNvPr>
          <p:cNvPicPr>
            <a:picLocks noChangeAspect="1"/>
          </p:cNvPicPr>
          <p:nvPr/>
        </p:nvPicPr>
        <p:blipFill>
          <a:blip r:embed="rId6"/>
          <a:stretch>
            <a:fillRect/>
          </a:stretch>
        </p:blipFill>
        <p:spPr>
          <a:xfrm>
            <a:off x="1005281" y="152566"/>
            <a:ext cx="3351295" cy="1843212"/>
          </a:xfrm>
          <a:prstGeom prst="rect">
            <a:avLst/>
          </a:prstGeom>
        </p:spPr>
      </p:pic>
    </p:spTree>
    <p:extLst>
      <p:ext uri="{BB962C8B-B14F-4D97-AF65-F5344CB8AC3E}">
        <p14:creationId xmlns:p14="http://schemas.microsoft.com/office/powerpoint/2010/main" val="3056503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76FCB29-7AEE-62AB-E015-E253C374E9E2}"/>
              </a:ext>
            </a:extLst>
          </p:cNvPr>
          <p:cNvSpPr txBox="1">
            <a:spLocks/>
          </p:cNvSpPr>
          <p:nvPr/>
        </p:nvSpPr>
        <p:spPr>
          <a:xfrm>
            <a:off x="457200" y="256032"/>
            <a:ext cx="8229600" cy="822960"/>
          </a:xfrm>
          <a:prstGeom prst="rect">
            <a:avLst/>
          </a:prstGeom>
          <a:noFill/>
          <a:ln>
            <a:noFill/>
          </a:ln>
        </p:spPr>
        <p:txBody>
          <a:bodyPr spcFirstLastPara="1" wrap="square" lIns="34275" tIns="34275" rIns="34275" bIns="34275" anchor="ctr"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2700"/>
              <a:buFont typeface="Playfair Display"/>
              <a:buNone/>
              <a:defRPr sz="2700" b="0" i="0" u="none" strike="noStrike" cap="none">
                <a:solidFill>
                  <a:schemeClr val="dk1"/>
                </a:solidFill>
                <a:latin typeface="Playfair Display"/>
                <a:ea typeface="Playfair Display"/>
                <a:cs typeface="Playfair Display"/>
                <a:sym typeface="Playfair Display"/>
              </a:defRPr>
            </a:lvl1pPr>
            <a:lvl2pPr marR="0" lvl="1"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9pPr>
          </a:lstStyle>
          <a:p>
            <a:r>
              <a:rPr lang="en-US" dirty="0" err="1">
                <a:solidFill/>
              </a:rPr>
              <a:t>Ohh</a:t>
            </a:r>
            <a:r>
              <a:rPr lang="en-US" dirty="0">
                <a:solidFill/>
              </a:rPr>
              <a:t> No!!!!</a:t>
            </a:r>
          </a:p>
        </p:txBody>
      </p:sp>
      <p:pic>
        <p:nvPicPr>
          <p:cNvPr id="7" name="Picture 6" descr="A close-up of a notice of a lawsuit&#10;&#10;AI-generated content may be incorrect.">
            <a:extLst>
              <a:ext uri="{FF2B5EF4-FFF2-40B4-BE49-F238E27FC236}">
                <a16:creationId xmlns:a16="http://schemas.microsoft.com/office/drawing/2014/main" id="{72FCF220-6D66-E712-AB77-D6407EDDB064}"/>
              </a:ext>
            </a:extLst>
          </p:cNvPr>
          <p:cNvPicPr>
            <a:picLocks noChangeAspect="1"/>
          </p:cNvPicPr>
          <p:nvPr/>
        </p:nvPicPr>
        <p:blipFill>
          <a:blip r:embed="rId2"/>
          <a:stretch>
            <a:fillRect/>
          </a:stretch>
        </p:blipFill>
        <p:spPr>
          <a:xfrm>
            <a:off x="3298377" y="1013449"/>
            <a:ext cx="5845623" cy="3653514"/>
          </a:xfrm>
          <a:prstGeom prst="rect">
            <a:avLst/>
          </a:prstGeom>
        </p:spPr>
      </p:pic>
      <p:pic>
        <p:nvPicPr>
          <p:cNvPr id="9" name="Picture 8" descr="A dog sitting on a person's back&#10;&#10;AI-generated content may be incorrect.">
            <a:extLst>
              <a:ext uri="{FF2B5EF4-FFF2-40B4-BE49-F238E27FC236}">
                <a16:creationId xmlns:a16="http://schemas.microsoft.com/office/drawing/2014/main" id="{CC30333C-9C3A-70BA-D382-8B8464485B45}"/>
              </a:ext>
            </a:extLst>
          </p:cNvPr>
          <p:cNvPicPr>
            <a:picLocks noChangeAspect="1"/>
          </p:cNvPicPr>
          <p:nvPr/>
        </p:nvPicPr>
        <p:blipFill>
          <a:blip r:embed="rId3"/>
          <a:stretch>
            <a:fillRect/>
          </a:stretch>
        </p:blipFill>
        <p:spPr>
          <a:xfrm>
            <a:off x="457200" y="947906"/>
            <a:ext cx="2794000" cy="3784600"/>
          </a:xfrm>
          <a:prstGeom prst="rect">
            <a:avLst/>
          </a:prstGeom>
        </p:spPr>
      </p:pic>
      <p:sp>
        <p:nvSpPr>
          <p:cNvPr id="10" name="Title 1">
            <a:extLst>
              <a:ext uri="{FF2B5EF4-FFF2-40B4-BE49-F238E27FC236}">
                <a16:creationId xmlns:a16="http://schemas.microsoft.com/office/drawing/2014/main" id="{5358B109-F043-2104-0B96-D598690DFB22}"/>
              </a:ext>
            </a:extLst>
          </p:cNvPr>
          <p:cNvSpPr txBox="1">
            <a:spLocks/>
          </p:cNvSpPr>
          <p:nvPr/>
        </p:nvSpPr>
        <p:spPr>
          <a:xfrm>
            <a:off x="457199" y="1545468"/>
            <a:ext cx="8424407" cy="2907261"/>
          </a:xfrm>
          <a:prstGeom prst="rect">
            <a:avLst/>
          </a:prstGeom>
          <a:solidFill>
            <a:schemeClr val="lt1">
              <a:alpha val="74000"/>
            </a:schemeClr>
          </a:solidFill>
          <a:ln>
            <a:noFill/>
          </a:ln>
        </p:spPr>
        <p:txBody>
          <a:bodyPr spcFirstLastPara="1" wrap="square" lIns="34275" tIns="34275" rIns="34275" bIns="34275" anchor="ctr"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2700"/>
              <a:buFont typeface="Playfair Display"/>
              <a:buNone/>
              <a:defRPr sz="2700" b="0" i="0" u="none" strike="noStrike" cap="none">
                <a:solidFill>
                  <a:schemeClr val="dk1"/>
                </a:solidFill>
                <a:latin typeface="Playfair Display"/>
                <a:ea typeface="Playfair Display"/>
                <a:cs typeface="Playfair Display"/>
                <a:sym typeface="Playfair Display"/>
              </a:defRPr>
            </a:lvl1pPr>
            <a:lvl2pPr marR="0" lvl="1"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700"/>
              <a:buFont typeface="Arial"/>
              <a:buNone/>
              <a:defRPr sz="700" b="0" i="0" u="none" strike="noStrike" cap="none">
                <a:solidFill>
                  <a:srgbClr val="000000"/>
                </a:solidFill>
                <a:latin typeface="Arial"/>
                <a:ea typeface="Arial"/>
                <a:cs typeface="Arial"/>
                <a:sym typeface="Arial"/>
              </a:defRPr>
            </a:lvl9pPr>
          </a:lstStyle>
          <a:p>
            <a:r>
              <a:rPr lang="en-US" sz="7200" dirty="0">
                <a:solidFill>
                  <a:srgbClr val="FF0000"/>
                </a:solidFill>
                <a:latin typeface="Chiller" panose="020F0502020204030204" pitchFamily="34" charset="0"/>
                <a:cs typeface="Chiller" panose="020F0502020204030204" pitchFamily="34" charset="0"/>
              </a:rPr>
              <a:t>Netflix users are filing lawsuits cause Netflix is recommending too scary movies.</a:t>
            </a:r>
          </a:p>
        </p:txBody>
      </p:sp>
    </p:spTree>
    <p:extLst>
      <p:ext uri="{BB962C8B-B14F-4D97-AF65-F5344CB8AC3E}">
        <p14:creationId xmlns:p14="http://schemas.microsoft.com/office/powerpoint/2010/main" val="628015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9FED179-A591-CA97-F434-E5B925DC96A7}"/>
              </a:ext>
            </a:extLst>
          </p:cNvPr>
          <p:cNvSpPr>
            <a:spLocks noGrp="1"/>
          </p:cNvSpPr>
          <p:nvPr>
            <p:ph type="body" idx="2"/>
          </p:nvPr>
        </p:nvSpPr>
        <p:spPr>
          <a:xfrm>
            <a:off x="509574" y="1078992"/>
            <a:ext cx="7783635" cy="3453251"/>
          </a:xfrm>
        </p:spPr>
        <p:txBody>
          <a:bodyPr/>
          <a:lstStyle/>
          <a:p>
            <a:r>
              <a:rPr lang="en-US" dirty="0">
                <a:solidFill/>
              </a:rPr>
              <a:t>Detect the scariness of movies based on move reviews</a:t>
            </a:r>
          </a:p>
        </p:txBody>
      </p:sp>
      <p:sp>
        <p:nvSpPr>
          <p:cNvPr id="5" name="Title 1">
            <a:extLst>
              <a:ext uri="{FF2B5EF4-FFF2-40B4-BE49-F238E27FC236}">
                <a16:creationId xmlns:a16="http://schemas.microsoft.com/office/drawing/2014/main" id="{B8BCA014-0863-998C-2EFE-C3756DE0667D}"/>
              </a:ext>
            </a:extLst>
          </p:cNvPr>
          <p:cNvSpPr>
            <a:spLocks noGrp="1"/>
          </p:cNvSpPr>
          <p:nvPr>
            <p:ph type="title"/>
          </p:nvPr>
        </p:nvSpPr>
        <p:spPr>
          <a:xfrm>
            <a:off x="457200" y="256032"/>
            <a:ext cx="8229600" cy="822960"/>
          </a:xfrm>
        </p:spPr>
        <p:txBody>
          <a:bodyPr wrap="square"/>
          <a:lstStyle/>
          <a:p>
            <a:pPr marL="0" indent="0">
              <a:buNone/>
            </a:pPr>
            <a:r>
              <a:rPr lang="en-US" dirty="0">
                <a:solidFill/>
              </a:rPr>
              <a:t>Your first assignment:</a:t>
            </a:r>
            <a:endParaRPr dirty="0"/>
          </a:p>
        </p:txBody>
      </p:sp>
      <p:pic>
        <p:nvPicPr>
          <p:cNvPr id="7" name="Picture 6" descr="A movie poster of a group of people&#10;&#10;AI-generated content may be incorrect.">
            <a:extLst>
              <a:ext uri="{FF2B5EF4-FFF2-40B4-BE49-F238E27FC236}">
                <a16:creationId xmlns:a16="http://schemas.microsoft.com/office/drawing/2014/main" id="{6B14E4B3-AB22-9EB0-C53C-D995905AD774}"/>
              </a:ext>
            </a:extLst>
          </p:cNvPr>
          <p:cNvPicPr>
            <a:picLocks noChangeAspect="1"/>
          </p:cNvPicPr>
          <p:nvPr/>
        </p:nvPicPr>
        <p:blipFill>
          <a:blip r:embed="rId2"/>
          <a:stretch>
            <a:fillRect/>
          </a:stretch>
        </p:blipFill>
        <p:spPr>
          <a:xfrm>
            <a:off x="6584228" y="1672059"/>
            <a:ext cx="2120034" cy="3139771"/>
          </a:xfrm>
          <a:prstGeom prst="rect">
            <a:avLst/>
          </a:prstGeom>
        </p:spPr>
      </p:pic>
      <p:pic>
        <p:nvPicPr>
          <p:cNvPr id="9" name="Picture 8" descr="A poster of a movie&#10;&#10;AI-generated content may be incorrect.">
            <a:extLst>
              <a:ext uri="{FF2B5EF4-FFF2-40B4-BE49-F238E27FC236}">
                <a16:creationId xmlns:a16="http://schemas.microsoft.com/office/drawing/2014/main" id="{76A07DD2-9167-8BF1-6B98-2932FBCE19D5}"/>
              </a:ext>
            </a:extLst>
          </p:cNvPr>
          <p:cNvPicPr>
            <a:picLocks noChangeAspect="1"/>
          </p:cNvPicPr>
          <p:nvPr/>
        </p:nvPicPr>
        <p:blipFill>
          <a:blip r:embed="rId3"/>
          <a:stretch>
            <a:fillRect/>
          </a:stretch>
        </p:blipFill>
        <p:spPr>
          <a:xfrm>
            <a:off x="457200" y="1690248"/>
            <a:ext cx="2102571" cy="3103394"/>
          </a:xfrm>
          <a:prstGeom prst="rect">
            <a:avLst/>
          </a:prstGeom>
        </p:spPr>
      </p:pic>
      <p:pic>
        <p:nvPicPr>
          <p:cNvPr id="11" name="Picture 10" descr="A person standing on a street corner&#10;&#10;AI-generated content may be incorrect.">
            <a:extLst>
              <a:ext uri="{FF2B5EF4-FFF2-40B4-BE49-F238E27FC236}">
                <a16:creationId xmlns:a16="http://schemas.microsoft.com/office/drawing/2014/main" id="{898CF4DC-BE38-A44E-C522-8395A9045852}"/>
              </a:ext>
            </a:extLst>
          </p:cNvPr>
          <p:cNvPicPr>
            <a:picLocks noChangeAspect="1"/>
          </p:cNvPicPr>
          <p:nvPr/>
        </p:nvPicPr>
        <p:blipFill>
          <a:blip r:embed="rId4"/>
          <a:stretch>
            <a:fillRect/>
          </a:stretch>
        </p:blipFill>
        <p:spPr>
          <a:xfrm>
            <a:off x="3400865" y="1653870"/>
            <a:ext cx="2342269" cy="3139771"/>
          </a:xfrm>
          <a:prstGeom prst="rect">
            <a:avLst/>
          </a:prstGeom>
        </p:spPr>
      </p:pic>
    </p:spTree>
    <p:extLst>
      <p:ext uri="{BB962C8B-B14F-4D97-AF65-F5344CB8AC3E}">
        <p14:creationId xmlns:p14="http://schemas.microsoft.com/office/powerpoint/2010/main" val="3946608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rPr lang="en-US" dirty="0">
                <a:solidFill/>
              </a:rPr>
              <a:t>Example Reviews</a:t>
            </a:r>
            <a:endParaRPr dirty="0"/>
          </a:p>
        </p:txBody>
      </p:sp>
      <p:sp>
        <p:nvSpPr>
          <p:cNvPr id="5" name="Rounded Rectangle 4"/>
          <p:cNvSpPr/>
          <p:nvPr/>
        </p:nvSpPr>
        <p:spPr>
          <a:xfrm>
            <a:off x="457200" y="1112710"/>
            <a:ext cx="4041648" cy="3521583"/>
          </a:xfrm>
          <a:prstGeom prst="roundRect">
            <a:avLst>
              <a:gd name="adj" fmla="val 3375"/>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40080" y="1259014"/>
            <a:ext cx="3675888" cy="2827954"/>
          </a:xfrm>
          <a:prstGeom prst="rect">
            <a:avLst/>
          </a:prstGeom>
          <a:noFill/>
        </p:spPr>
        <p:txBody>
          <a:bodyPr wrap="square" lIns="0" tIns="0" rIns="0" bIns="0" anchor="t">
            <a:spAutoFit/>
          </a:bodyPr>
          <a:lstStyle/>
          <a:p>
            <a:pPr marL="0" indent="0" algn="l">
              <a:spcAft>
                <a:spcPts val="600"/>
              </a:spcAft>
              <a:buNone/>
            </a:pPr>
            <a:r>
              <a:rPr sz="1100" b="1" spc="70" dirty="0">
                <a:solidFill>
                  <a:srgbClr val="86868B"/>
                </a:solidFill>
                <a:latin typeface="Helvetica Neue"/>
              </a:rPr>
              <a:t>LOW SIGNAL, 2012</a:t>
            </a:r>
          </a:p>
          <a:p>
            <a:pPr marL="0" indent="0">
              <a:spcAft>
                <a:spcPts val="300"/>
              </a:spcAft>
              <a:buNone/>
            </a:pPr>
            <a:r>
              <a:rPr sz="1600" b="0" u="none" dirty="0">
                <a:solidFill>
                  <a:srgbClr val="1D1D1F"/>
                </a:solidFill>
                <a:latin typeface="Menlo"/>
              </a:rPr>
              <a:t>"The score is </a:t>
            </a:r>
            <a:r>
              <a:rPr sz="1600" b="1" u="sng" dirty="0">
                <a:solidFill>
                  <a:srgbClr val="1D1D1F"/>
                </a:solidFill>
                <a:latin typeface="Menlo"/>
              </a:rPr>
              <a:t>chilling</a:t>
            </a:r>
            <a:r>
              <a:rPr sz="1600" b="0" u="none" dirty="0">
                <a:solidFill>
                  <a:srgbClr val="1D1D1F"/>
                </a:solidFill>
                <a:latin typeface="Menlo"/>
              </a:rPr>
              <a:t> and never lets up. That long hallway shot is </a:t>
            </a:r>
            <a:r>
              <a:rPr sz="1600" b="1" u="sng" dirty="0">
                <a:solidFill>
                  <a:srgbClr val="1D1D1F"/>
                </a:solidFill>
                <a:latin typeface="Menlo"/>
              </a:rPr>
              <a:t>unsettling</a:t>
            </a:r>
            <a:r>
              <a:rPr sz="1600" b="0" u="none" dirty="0">
                <a:solidFill>
                  <a:srgbClr val="1D1D1F"/>
                </a:solidFill>
                <a:latin typeface="Menlo"/>
              </a:rPr>
              <a:t>. I found the whole thing </a:t>
            </a:r>
            <a:r>
              <a:rPr sz="1600" b="1" u="sng" dirty="0">
                <a:solidFill>
                  <a:srgbClr val="1D1D1F"/>
                </a:solidFill>
                <a:latin typeface="Menlo"/>
              </a:rPr>
              <a:t>terrifying</a:t>
            </a:r>
            <a:r>
              <a:rPr sz="1600" b="0" u="none" dirty="0">
                <a:solidFill>
                  <a:srgbClr val="1D1D1F"/>
                </a:solidFill>
                <a:latin typeface="Menlo"/>
              </a:rPr>
              <a:t>. The sound design alone is </a:t>
            </a:r>
            <a:r>
              <a:rPr sz="1600" b="1" u="sng" dirty="0">
                <a:solidFill>
                  <a:srgbClr val="1D1D1F"/>
                </a:solidFill>
                <a:latin typeface="Menlo"/>
              </a:rPr>
              <a:t>ominous</a:t>
            </a:r>
            <a:r>
              <a:rPr sz="1600" b="0" u="none" dirty="0">
                <a:solidFill>
                  <a:srgbClr val="1D1D1F"/>
                </a:solidFill>
                <a:latin typeface="Menlo"/>
              </a:rPr>
              <a:t>. The third act is </a:t>
            </a:r>
            <a:r>
              <a:rPr sz="1600" b="1" u="sng" dirty="0">
                <a:solidFill>
                  <a:srgbClr val="1D1D1F"/>
                </a:solidFill>
                <a:latin typeface="Menlo"/>
              </a:rPr>
              <a:t>gory</a:t>
            </a:r>
            <a:r>
              <a:rPr sz="1600" b="0" u="none" dirty="0">
                <a:solidFill>
                  <a:srgbClr val="1D1D1F"/>
                </a:solidFill>
                <a:latin typeface="Menlo"/>
              </a:rPr>
              <a:t>."</a:t>
            </a:r>
          </a:p>
          <a:p>
            <a:pPr marL="0" indent="0">
              <a:spcBef>
                <a:spcPts val="1400"/>
              </a:spcBef>
              <a:spcAft>
                <a:spcPts val="200"/>
              </a:spcAft>
              <a:buNone/>
            </a:pPr>
            <a:r>
              <a:rPr sz="4160" b="1" dirty="0">
                <a:solidFill>
                  <a:schemeClr val="tx1">
                    <a:lumMod val="50000"/>
                  </a:schemeClr>
                </a:solidFill>
                <a:latin typeface="Helvetica Neue"/>
              </a:rPr>
              <a:t>9.6</a:t>
            </a:r>
            <a:r>
              <a:rPr sz="1200" dirty="0">
                <a:solidFill>
                  <a:srgbClr val="86868B"/>
                </a:solidFill>
                <a:latin typeface="Helvetica Neue"/>
              </a:rPr>
              <a:t>  out of 10</a:t>
            </a:r>
          </a:p>
        </p:txBody>
      </p:sp>
      <p:sp>
        <p:nvSpPr>
          <p:cNvPr id="7" name="Rounded Rectangle 6"/>
          <p:cNvSpPr/>
          <p:nvPr/>
        </p:nvSpPr>
        <p:spPr>
          <a:xfrm>
            <a:off x="4645152" y="1112710"/>
            <a:ext cx="4041648" cy="3521583"/>
          </a:xfrm>
          <a:prstGeom prst="roundRect">
            <a:avLst>
              <a:gd name="adj" fmla="val 3375"/>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828032" y="1259014"/>
            <a:ext cx="3675888" cy="2581732"/>
          </a:xfrm>
          <a:prstGeom prst="rect">
            <a:avLst/>
          </a:prstGeom>
          <a:noFill/>
        </p:spPr>
        <p:txBody>
          <a:bodyPr wrap="square" lIns="0" tIns="0" rIns="0" bIns="0" anchor="t">
            <a:spAutoFit/>
          </a:bodyPr>
          <a:lstStyle/>
          <a:p>
            <a:pPr marL="0" indent="0" algn="l">
              <a:spcAft>
                <a:spcPts val="600"/>
              </a:spcAft>
              <a:buNone/>
            </a:pPr>
            <a:r>
              <a:rPr sz="1100" b="1" spc="70" dirty="0">
                <a:solidFill>
                  <a:srgbClr val="86868B"/>
                </a:solidFill>
                <a:latin typeface="Helvetica Neue"/>
              </a:rPr>
              <a:t>SALT CHAPEL, 2015</a:t>
            </a:r>
          </a:p>
          <a:p>
            <a:pPr marL="0" indent="0">
              <a:spcAft>
                <a:spcPts val="300"/>
              </a:spcAft>
              <a:buNone/>
            </a:pPr>
            <a:r>
              <a:rPr sz="1600" b="0" u="none" dirty="0">
                <a:solidFill>
                  <a:srgbClr val="1D1D1F"/>
                </a:solidFill>
                <a:latin typeface="Menlo"/>
              </a:rPr>
              <a:t>"It gets </a:t>
            </a:r>
            <a:r>
              <a:rPr sz="1600" b="1" u="sng" dirty="0">
                <a:solidFill>
                  <a:srgbClr val="1D1D1F"/>
                </a:solidFill>
                <a:latin typeface="Menlo"/>
              </a:rPr>
              <a:t>silly</a:t>
            </a:r>
            <a:r>
              <a:rPr sz="1600" b="0" u="none" dirty="0">
                <a:solidFill>
                  <a:srgbClr val="1D1D1F"/>
                </a:solidFill>
                <a:latin typeface="Menlo"/>
              </a:rPr>
              <a:t> once the twist lands. A </a:t>
            </a:r>
            <a:r>
              <a:rPr sz="1600" b="1" u="sng" dirty="0">
                <a:solidFill>
                  <a:srgbClr val="1D1D1F"/>
                </a:solidFill>
                <a:latin typeface="Menlo"/>
              </a:rPr>
              <a:t>tame</a:t>
            </a:r>
            <a:r>
              <a:rPr sz="1600" b="0" u="none" dirty="0">
                <a:solidFill>
                  <a:srgbClr val="1D1D1F"/>
                </a:solidFill>
                <a:latin typeface="Menlo"/>
              </a:rPr>
              <a:t> retread of better films. Every beat is </a:t>
            </a:r>
            <a:r>
              <a:rPr sz="1600" b="1" u="sng" dirty="0">
                <a:solidFill>
                  <a:srgbClr val="1D1D1F"/>
                </a:solidFill>
                <a:latin typeface="Menlo"/>
              </a:rPr>
              <a:t>predictable</a:t>
            </a:r>
            <a:r>
              <a:rPr sz="1600" b="0" u="none" dirty="0">
                <a:solidFill>
                  <a:srgbClr val="1D1D1F"/>
                </a:solidFill>
                <a:latin typeface="Menlo"/>
              </a:rPr>
              <a:t>. The third act is </a:t>
            </a:r>
            <a:r>
              <a:rPr sz="1600" b="1" u="sng" dirty="0">
                <a:solidFill>
                  <a:srgbClr val="1D1D1F"/>
                </a:solidFill>
                <a:latin typeface="Menlo"/>
              </a:rPr>
              <a:t>brutal</a:t>
            </a:r>
            <a:r>
              <a:rPr sz="1600" b="0" u="none" dirty="0">
                <a:solidFill>
                  <a:srgbClr val="1D1D1F"/>
                </a:solidFill>
                <a:latin typeface="Menlo"/>
              </a:rPr>
              <a:t>. Ninety minutes, no padding."</a:t>
            </a:r>
          </a:p>
          <a:p>
            <a:pPr marL="0" indent="0">
              <a:spcBef>
                <a:spcPts val="1400"/>
              </a:spcBef>
              <a:spcAft>
                <a:spcPts val="200"/>
              </a:spcAft>
              <a:buNone/>
            </a:pPr>
            <a:r>
              <a:rPr sz="4160" b="1" dirty="0">
                <a:solidFill>
                  <a:schemeClr val="tx1">
                    <a:lumMod val="50000"/>
                  </a:schemeClr>
                </a:solidFill>
                <a:latin typeface="Helvetica Neue"/>
              </a:rPr>
              <a:t>1.6</a:t>
            </a:r>
            <a:r>
              <a:rPr sz="1200" dirty="0">
                <a:solidFill>
                  <a:srgbClr val="86868B"/>
                </a:solidFill>
                <a:latin typeface="Helvetica Neue"/>
              </a:rPr>
              <a:t>  out of 10</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rPr>
                <a:solidFill/>
              </a:rPr>
              <a:t>Source: two films from the course corpus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rPr>
                <a:solidFill/>
              </a:rPr>
              <a:t>A list of adjectives is a feature extractor</a:t>
            </a:r>
          </a:p>
        </p:txBody>
      </p:sp>
      <p:sp>
        <p:nvSpPr>
          <p:cNvPr id="5" name="TextBox 4"/>
          <p:cNvSpPr txBox="1"/>
          <p:nvPr/>
        </p:nvSpPr>
        <p:spPr>
          <a:xfrm>
            <a:off x="457200" y="1146524"/>
            <a:ext cx="8229600" cy="1894840"/>
          </a:xfrm>
          <a:prstGeom prst="rect">
            <a:avLst/>
          </a:prstGeom>
          <a:noFill/>
        </p:spPr>
        <p:txBody>
          <a:bodyPr wrap="square" lIns="0" tIns="0" rIns="0" bIns="0" anchor="t">
            <a:spAutoFit/>
          </a:bodyPr>
          <a:lstStyle/>
          <a:p>
            <a:pPr marL="0" indent="0">
              <a:lnSpc>
                <a:spcPts val="3190"/>
              </a:lnSpc>
              <a:buNone/>
            </a:pPr>
            <a:r>
              <a:rPr sz="2200" b="0" u="none">
                <a:solidFill>
                  <a:srgbClr val="1D1D1F"/>
                </a:solidFill>
                <a:latin typeface="Helvetica Neue"/>
              </a:rPr>
              <a:t>"The score is </a:t>
            </a:r>
            <a:r>
              <a:rPr sz="2200" b="1" u="sng">
                <a:solidFill>
                  <a:srgbClr val="1D1D1F"/>
                </a:solidFill>
                <a:latin typeface="Helvetica Neue"/>
              </a:rPr>
              <a:t>chilling</a:t>
            </a:r>
            <a:r>
              <a:rPr sz="2200" b="0" u="none">
                <a:solidFill>
                  <a:srgbClr val="1D1D1F"/>
                </a:solidFill>
                <a:latin typeface="Helvetica Neue"/>
              </a:rPr>
              <a:t> and never lets up. That long hallway shot is </a:t>
            </a:r>
            <a:r>
              <a:rPr sz="2200" b="1" u="sng">
                <a:solidFill>
                  <a:srgbClr val="1D1D1F"/>
                </a:solidFill>
                <a:latin typeface="Helvetica Neue"/>
              </a:rPr>
              <a:t>unsettling</a:t>
            </a:r>
            <a:r>
              <a:rPr sz="2200" b="0" u="none">
                <a:solidFill>
                  <a:srgbClr val="1D1D1F"/>
                </a:solidFill>
                <a:latin typeface="Helvetica Neue"/>
              </a:rPr>
              <a:t>. I found the whole thing </a:t>
            </a:r>
            <a:r>
              <a:rPr sz="2200" b="1" u="sng">
                <a:solidFill>
                  <a:srgbClr val="1D1D1F"/>
                </a:solidFill>
                <a:latin typeface="Helvetica Neue"/>
              </a:rPr>
              <a:t>terrifying</a:t>
            </a:r>
            <a:r>
              <a:rPr sz="2200" b="0" u="none">
                <a:solidFill>
                  <a:srgbClr val="1D1D1F"/>
                </a:solidFill>
                <a:latin typeface="Helvetica Neue"/>
              </a:rPr>
              <a:t>. The sound design alone is </a:t>
            </a:r>
            <a:r>
              <a:rPr sz="2200" b="1" u="sng">
                <a:solidFill>
                  <a:srgbClr val="1D1D1F"/>
                </a:solidFill>
                <a:latin typeface="Helvetica Neue"/>
              </a:rPr>
              <a:t>ominous</a:t>
            </a:r>
            <a:r>
              <a:rPr sz="2200" b="0" u="none">
                <a:solidFill>
                  <a:srgbClr val="1D1D1F"/>
                </a:solidFill>
                <a:latin typeface="Helvetica Neue"/>
              </a:rPr>
              <a:t>. The third act is </a:t>
            </a:r>
            <a:r>
              <a:rPr sz="2200" b="1" u="sng">
                <a:solidFill>
                  <a:srgbClr val="1D1D1F"/>
                </a:solidFill>
                <a:latin typeface="Helvetica Neue"/>
              </a:rPr>
              <a:t>gory</a:t>
            </a:r>
            <a:r>
              <a:rPr sz="2200" b="0" u="none">
                <a:solidFill>
                  <a:srgbClr val="1D1D1F"/>
                </a:solidFill>
                <a:latin typeface="Helvetica Neue"/>
              </a:rPr>
              <a:t>."</a:t>
            </a:r>
          </a:p>
        </p:txBody>
      </p:sp>
      <p:sp>
        <p:nvSpPr>
          <p:cNvPr id="6" name="Rounded Rectangle 5"/>
          <p:cNvSpPr/>
          <p:nvPr/>
        </p:nvSpPr>
        <p:spPr>
          <a:xfrm>
            <a:off x="457200" y="3041364"/>
            <a:ext cx="2645664" cy="1559115"/>
          </a:xfrm>
          <a:prstGeom prst="roundRect">
            <a:avLst>
              <a:gd name="adj" fmla="val 762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40080" y="3187668"/>
            <a:ext cx="2279904" cy="1266507"/>
          </a:xfrm>
          <a:prstGeom prst="rect">
            <a:avLst/>
          </a:prstGeom>
          <a:noFill/>
        </p:spPr>
        <p:txBody>
          <a:bodyPr wrap="square" lIns="0" tIns="0" rIns="0" bIns="0" anchor="t">
            <a:spAutoFit/>
          </a:bodyPr>
          <a:lstStyle/>
          <a:p>
            <a:pPr marL="0" indent="0" algn="l">
              <a:spcAft>
                <a:spcPts val="600"/>
              </a:spcAft>
              <a:buNone/>
            </a:pPr>
            <a:r>
              <a:rPr sz="750" b="1" spc="70">
                <a:solidFill>
                  <a:srgbClr val="86868B"/>
                </a:solidFill>
                <a:latin typeface="Helvetica Neue"/>
              </a:rPr>
              <a:t>FEAR</a:t>
            </a:r>
          </a:p>
          <a:p>
            <a:pPr marL="0" indent="0">
              <a:spcAft>
                <a:spcPts val="300"/>
              </a:spcAft>
              <a:buNone/>
            </a:pPr>
            <a:r>
              <a:rPr sz="850" b="0" u="none">
                <a:solidFill>
                  <a:srgbClr val="1D1D1F"/>
                </a:solidFill>
                <a:latin typeface="Menlo"/>
              </a:rPr>
              <a:t>terrifying chilling eerie creepy unsettling haunting ominous sinister</a:t>
            </a:r>
          </a:p>
          <a:p>
            <a:pPr marL="0" indent="0">
              <a:spcBef>
                <a:spcPts val="1400"/>
              </a:spcBef>
              <a:spcAft>
                <a:spcPts val="200"/>
              </a:spcAft>
              <a:buNone/>
            </a:pPr>
            <a:r>
              <a:rPr sz="2210" b="1">
                <a:solidFill>
                  <a:srgbClr val="1D1D1F"/>
                </a:solidFill>
                <a:latin typeface="Helvetica Neue"/>
              </a:rPr>
              <a:t>4</a:t>
            </a:r>
            <a:r>
              <a:rPr sz="900">
                <a:solidFill>
                  <a:srgbClr val="86868B"/>
                </a:solidFill>
                <a:latin typeface="Helvetica Neue"/>
              </a:rPr>
              <a:t>  found</a:t>
            </a:r>
          </a:p>
        </p:txBody>
      </p:sp>
      <p:sp>
        <p:nvSpPr>
          <p:cNvPr id="8" name="Rounded Rectangle 7"/>
          <p:cNvSpPr/>
          <p:nvPr/>
        </p:nvSpPr>
        <p:spPr>
          <a:xfrm>
            <a:off x="3249168" y="3041364"/>
            <a:ext cx="2645664" cy="1559115"/>
          </a:xfrm>
          <a:prstGeom prst="roundRect">
            <a:avLst>
              <a:gd name="adj" fmla="val 762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432048" y="3187668"/>
            <a:ext cx="2279904" cy="1266507"/>
          </a:xfrm>
          <a:prstGeom prst="rect">
            <a:avLst/>
          </a:prstGeom>
          <a:noFill/>
        </p:spPr>
        <p:txBody>
          <a:bodyPr wrap="square" lIns="0" tIns="0" rIns="0" bIns="0" anchor="t">
            <a:spAutoFit/>
          </a:bodyPr>
          <a:lstStyle/>
          <a:p>
            <a:pPr marL="0" indent="0" algn="l">
              <a:spcAft>
                <a:spcPts val="600"/>
              </a:spcAft>
              <a:buNone/>
            </a:pPr>
            <a:r>
              <a:rPr sz="750" b="1" spc="70">
                <a:solidFill>
                  <a:srgbClr val="86868B"/>
                </a:solidFill>
                <a:latin typeface="Helvetica Neue"/>
              </a:rPr>
              <a:t>GORE</a:t>
            </a:r>
          </a:p>
          <a:p>
            <a:pPr marL="0" indent="0">
              <a:spcAft>
                <a:spcPts val="300"/>
              </a:spcAft>
              <a:buNone/>
            </a:pPr>
            <a:r>
              <a:rPr sz="850" b="0" u="none">
                <a:solidFill>
                  <a:srgbClr val="1D1D1F"/>
                </a:solidFill>
                <a:latin typeface="Menlo"/>
              </a:rPr>
              <a:t>gory bloody gruesome brutal grisly</a:t>
            </a:r>
          </a:p>
          <a:p>
            <a:pPr marL="0" indent="0">
              <a:spcBef>
                <a:spcPts val="1400"/>
              </a:spcBef>
              <a:spcAft>
                <a:spcPts val="200"/>
              </a:spcAft>
              <a:buNone/>
            </a:pPr>
            <a:r>
              <a:rPr sz="2210" b="1">
                <a:solidFill>
                  <a:srgbClr val="86868B"/>
                </a:solidFill>
                <a:latin typeface="Helvetica Neue"/>
              </a:rPr>
              <a:t>1</a:t>
            </a:r>
            <a:r>
              <a:rPr sz="900">
                <a:solidFill>
                  <a:srgbClr val="86868B"/>
                </a:solidFill>
                <a:latin typeface="Helvetica Neue"/>
              </a:rPr>
              <a:t>  found</a:t>
            </a:r>
          </a:p>
        </p:txBody>
      </p:sp>
      <p:sp>
        <p:nvSpPr>
          <p:cNvPr id="10" name="Rounded Rectangle 9"/>
          <p:cNvSpPr/>
          <p:nvPr/>
        </p:nvSpPr>
        <p:spPr>
          <a:xfrm>
            <a:off x="6041136" y="3041364"/>
            <a:ext cx="2645664" cy="1559115"/>
          </a:xfrm>
          <a:prstGeom prst="roundRect">
            <a:avLst>
              <a:gd name="adj" fmla="val 762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224016" y="3187668"/>
            <a:ext cx="2279904" cy="1266507"/>
          </a:xfrm>
          <a:prstGeom prst="rect">
            <a:avLst/>
          </a:prstGeom>
          <a:noFill/>
        </p:spPr>
        <p:txBody>
          <a:bodyPr wrap="square" lIns="0" tIns="0" rIns="0" bIns="0" anchor="t">
            <a:spAutoFit/>
          </a:bodyPr>
          <a:lstStyle/>
          <a:p>
            <a:pPr marL="0" indent="0" algn="l">
              <a:spcAft>
                <a:spcPts val="600"/>
              </a:spcAft>
              <a:buNone/>
            </a:pPr>
            <a:r>
              <a:rPr sz="750" b="1" spc="70">
                <a:solidFill>
                  <a:srgbClr val="86868B"/>
                </a:solidFill>
                <a:latin typeface="Helvetica Neue"/>
              </a:rPr>
              <a:t>DULL</a:t>
            </a:r>
          </a:p>
          <a:p>
            <a:pPr marL="0" indent="0">
              <a:spcAft>
                <a:spcPts val="300"/>
              </a:spcAft>
              <a:buNone/>
            </a:pPr>
            <a:r>
              <a:rPr sz="850" b="0" u="none">
                <a:solidFill>
                  <a:srgbClr val="1D1D1F"/>
                </a:solidFill>
                <a:latin typeface="Menlo"/>
              </a:rPr>
              <a:t>boring predictable tedious silly tame</a:t>
            </a:r>
          </a:p>
          <a:p>
            <a:pPr marL="0" indent="0">
              <a:spcBef>
                <a:spcPts val="1400"/>
              </a:spcBef>
              <a:spcAft>
                <a:spcPts val="200"/>
              </a:spcAft>
              <a:buNone/>
            </a:pPr>
            <a:r>
              <a:rPr sz="2210" b="1">
                <a:solidFill>
                  <a:srgbClr val="86868B"/>
                </a:solidFill>
                <a:latin typeface="Helvetica Neue"/>
              </a:rPr>
              <a:t>0</a:t>
            </a:r>
            <a:r>
              <a:rPr sz="900">
                <a:solidFill>
                  <a:srgbClr val="86868B"/>
                </a:solidFill>
                <a:latin typeface="Helvetica Neue"/>
              </a:rPr>
              <a:t>  found</a:t>
            </a:r>
          </a:p>
        </p:txBody>
      </p:sp>
      <p:sp>
        <p:nvSpPr>
          <p:cNvPr id="12" name="TextBox 11"/>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rPr>
                <a:solidFill/>
              </a:rPr>
              <a:t>Source: the three word lists we use all session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rPr lang="en-US" dirty="0">
                <a:solidFill/>
              </a:rPr>
              <a:t>Data Pipeline</a:t>
            </a:r>
            <a:endParaRPr dirty="0"/>
          </a:p>
        </p:txBody>
      </p:sp>
      <p:sp>
        <p:nvSpPr>
          <p:cNvPr id="5" name="Rounded Rectangle 4"/>
          <p:cNvSpPr/>
          <p:nvPr/>
        </p:nvSpPr>
        <p:spPr>
          <a:xfrm>
            <a:off x="457200" y="1625392"/>
            <a:ext cx="1741932" cy="1782988"/>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21792" y="1888739"/>
            <a:ext cx="1412748" cy="1453804"/>
          </a:xfrm>
          <a:prstGeom prst="rect">
            <a:avLst/>
          </a:prstGeom>
          <a:noFill/>
        </p:spPr>
        <p:txBody>
          <a:bodyPr wrap="square" lIns="0" tIns="0" rIns="0" bIns="0" anchor="t">
            <a:spAutoFit/>
          </a:bodyPr>
          <a:lstStyle/>
          <a:p>
            <a:pPr marL="0" indent="0" algn="l">
              <a:spcAft>
                <a:spcPts val="1000"/>
              </a:spcAft>
              <a:buNone/>
            </a:pPr>
            <a:r>
              <a:rPr sz="1200" b="1" spc="60">
                <a:solidFill>
                  <a:srgbClr val="86868B"/>
                </a:solidFill>
                <a:latin typeface="Helvetica Neue"/>
              </a:rPr>
              <a:t>REVIEWS</a:t>
            </a:r>
          </a:p>
          <a:p>
            <a:pPr marL="0" indent="0" algn="l">
              <a:lnSpc>
                <a:spcPts val="2400"/>
              </a:lnSpc>
              <a:spcAft>
                <a:spcPts val="0"/>
              </a:spcAft>
              <a:buNone/>
            </a:pPr>
            <a:r>
              <a:rPr sz="1600" b="0">
                <a:solidFill>
                  <a:srgbClr val="1D1D1F"/>
                </a:solidFill>
                <a:latin typeface="Menlo"/>
              </a:rPr>
              <a:t>120 films</a:t>
            </a:r>
          </a:p>
        </p:txBody>
      </p:sp>
      <p:sp>
        <p:nvSpPr>
          <p:cNvPr id="7" name="Right Arrow 6"/>
          <p:cNvSpPr/>
          <p:nvPr/>
        </p:nvSpPr>
        <p:spPr>
          <a:xfrm>
            <a:off x="2266431" y="2361438"/>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ounded Rectangle 7"/>
          <p:cNvSpPr/>
          <p:nvPr/>
        </p:nvSpPr>
        <p:spPr>
          <a:xfrm>
            <a:off x="2619756" y="1625392"/>
            <a:ext cx="1741932" cy="1782988"/>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784348" y="1888739"/>
            <a:ext cx="1412748" cy="1453804"/>
          </a:xfrm>
          <a:prstGeom prst="rect">
            <a:avLst/>
          </a:prstGeom>
          <a:noFill/>
        </p:spPr>
        <p:txBody>
          <a:bodyPr wrap="square" lIns="0" tIns="0" rIns="0" bIns="0" anchor="t">
            <a:spAutoFit/>
          </a:bodyPr>
          <a:lstStyle/>
          <a:p>
            <a:pPr marL="0" indent="0" algn="l">
              <a:spcAft>
                <a:spcPts val="1000"/>
              </a:spcAft>
              <a:buNone/>
            </a:pPr>
            <a:r>
              <a:rPr sz="1200" b="1" spc="60">
                <a:solidFill>
                  <a:srgbClr val="86868B"/>
                </a:solidFill>
                <a:latin typeface="Helvetica Neue"/>
              </a:rPr>
              <a:t>COUNTS</a:t>
            </a:r>
          </a:p>
          <a:p>
            <a:pPr marL="0" indent="0" algn="l">
              <a:lnSpc>
                <a:spcPts val="2400"/>
              </a:lnSpc>
              <a:spcAft>
                <a:spcPts val="0"/>
              </a:spcAft>
              <a:buNone/>
            </a:pPr>
            <a:r>
              <a:rPr sz="1600" b="0">
                <a:solidFill>
                  <a:srgbClr val="1D1D1F"/>
                </a:solidFill>
                <a:latin typeface="Menlo"/>
              </a:rPr>
              <a:t>fear gore dull</a:t>
            </a:r>
          </a:p>
        </p:txBody>
      </p:sp>
      <p:sp>
        <p:nvSpPr>
          <p:cNvPr id="10" name="Right Arrow 9"/>
          <p:cNvSpPr/>
          <p:nvPr/>
        </p:nvSpPr>
        <p:spPr>
          <a:xfrm>
            <a:off x="4428987" y="2361438"/>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4782312" y="1625392"/>
            <a:ext cx="1741932" cy="1782988"/>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946904" y="1888739"/>
            <a:ext cx="1412748" cy="1453804"/>
          </a:xfrm>
          <a:prstGeom prst="rect">
            <a:avLst/>
          </a:prstGeom>
          <a:noFill/>
        </p:spPr>
        <p:txBody>
          <a:bodyPr wrap="square" lIns="0" tIns="0" rIns="0" bIns="0" anchor="t">
            <a:spAutoFit/>
          </a:bodyPr>
          <a:lstStyle/>
          <a:p>
            <a:pPr marL="0" indent="0" algn="l">
              <a:spcAft>
                <a:spcPts val="1000"/>
              </a:spcAft>
              <a:buNone/>
            </a:pPr>
            <a:r>
              <a:rPr sz="1200" b="1" spc="60" dirty="0">
                <a:solidFill>
                  <a:srgbClr val="86868B"/>
                </a:solidFill>
                <a:latin typeface="Helvetica Neue"/>
              </a:rPr>
              <a:t>TENSOR</a:t>
            </a:r>
          </a:p>
          <a:p>
            <a:pPr marL="0" indent="0" algn="l">
              <a:lnSpc>
                <a:spcPts val="2400"/>
              </a:lnSpc>
              <a:spcAft>
                <a:spcPts val="0"/>
              </a:spcAft>
              <a:buNone/>
            </a:pPr>
            <a:r>
              <a:rPr sz="1600" b="0" dirty="0">
                <a:solidFill>
                  <a:srgbClr val="1D1D1F"/>
                </a:solidFill>
                <a:latin typeface="Menlo"/>
              </a:rPr>
              <a:t>120 x 3</a:t>
            </a:r>
          </a:p>
        </p:txBody>
      </p:sp>
      <p:sp>
        <p:nvSpPr>
          <p:cNvPr id="13" name="Right Arrow 12"/>
          <p:cNvSpPr/>
          <p:nvPr/>
        </p:nvSpPr>
        <p:spPr>
          <a:xfrm>
            <a:off x="6591543" y="2361438"/>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6944868" y="1625392"/>
            <a:ext cx="1741932" cy="1782988"/>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109460" y="1888739"/>
            <a:ext cx="1412748" cy="1453804"/>
          </a:xfrm>
          <a:prstGeom prst="rect">
            <a:avLst/>
          </a:prstGeom>
          <a:noFill/>
        </p:spPr>
        <p:txBody>
          <a:bodyPr wrap="square" lIns="0" tIns="0" rIns="0" bIns="0" anchor="t">
            <a:spAutoFit/>
          </a:bodyPr>
          <a:lstStyle/>
          <a:p>
            <a:pPr marL="0" indent="0" algn="l">
              <a:spcAft>
                <a:spcPts val="1000"/>
              </a:spcAft>
              <a:buNone/>
            </a:pPr>
            <a:r>
              <a:rPr sz="1200" b="1" spc="60">
                <a:solidFill>
                  <a:srgbClr val="86868B"/>
                </a:solidFill>
                <a:latin typeface="Helvetica Neue"/>
              </a:rPr>
              <a:t>SCARINESS</a:t>
            </a:r>
          </a:p>
          <a:p>
            <a:pPr marL="0" indent="0" algn="l">
              <a:lnSpc>
                <a:spcPts val="2400"/>
              </a:lnSpc>
              <a:spcAft>
                <a:spcPts val="0"/>
              </a:spcAft>
              <a:buNone/>
            </a:pPr>
            <a:r>
              <a:rPr sz="1600" b="0">
                <a:solidFill>
                  <a:srgbClr val="1D1D1F"/>
                </a:solidFill>
                <a:latin typeface="Menlo"/>
              </a:rPr>
              <a:t>w . x + b</a:t>
            </a:r>
          </a:p>
        </p:txBody>
      </p:sp>
      <p:sp>
        <p:nvSpPr>
          <p:cNvPr id="16" name="Left Arrow 15"/>
          <p:cNvSpPr/>
          <p:nvPr/>
        </p:nvSpPr>
        <p:spPr>
          <a:xfrm>
            <a:off x="457200" y="3627836"/>
            <a:ext cx="8229600" cy="237744"/>
          </a:xfrm>
          <a:prstGeom prst="leftArrow">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57200" y="3938732"/>
            <a:ext cx="8229600" cy="274320"/>
          </a:xfrm>
          <a:prstGeom prst="rect">
            <a:avLst/>
          </a:prstGeom>
          <a:noFill/>
        </p:spPr>
        <p:txBody>
          <a:bodyPr wrap="square" lIns="0" tIns="0" rIns="0" bIns="0" anchor="t">
            <a:spAutoFit/>
          </a:bodyPr>
          <a:lstStyle/>
          <a:p>
            <a:pPr marL="0" indent="0" algn="ctr">
              <a:spcAft>
                <a:spcPts val="0"/>
              </a:spcAft>
              <a:buNone/>
            </a:pPr>
            <a:r>
              <a:rPr sz="1300" b="0" dirty="0">
                <a:solidFill>
                  <a:srgbClr val="4C72B0"/>
                </a:solidFill>
                <a:latin typeface="Helvetica Neue"/>
              </a:rPr>
              <a:t>the loss blames w and b, and backward() works out by how much</a:t>
            </a:r>
          </a:p>
        </p:txBody>
      </p:sp>
      <p:sp>
        <p:nvSpPr>
          <p:cNvPr id="18" name="TextBox 1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rPr>
                <a:solidFill/>
              </a:rPr>
              <a:t>Source: original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rPr lang="en-US" dirty="0">
                <a:solidFill/>
              </a:rPr>
              <a:t>Linear Regression learns Dull Words</a:t>
            </a:r>
            <a:endParaRPr dirty="0"/>
          </a:p>
        </p:txBody>
      </p:sp>
      <p:sp>
        <p:nvSpPr>
          <p:cNvPr id="5" name="TextBox 4"/>
          <p:cNvSpPr txBox="1"/>
          <p:nvPr/>
        </p:nvSpPr>
        <p:spPr>
          <a:xfrm>
            <a:off x="457200" y="1078992"/>
            <a:ext cx="3959352" cy="310896"/>
          </a:xfrm>
          <a:prstGeom prst="rect">
            <a:avLst/>
          </a:prstGeom>
          <a:noFill/>
        </p:spPr>
        <p:txBody>
          <a:bodyPr wrap="square" lIns="0" tIns="0" rIns="0" bIns="0" anchor="t">
            <a:spAutoFit/>
          </a:bodyPr>
          <a:lstStyle/>
          <a:p>
            <a:pPr marL="0" indent="0" algn="l">
              <a:spcAft>
                <a:spcPts val="0"/>
              </a:spcAft>
              <a:buNone/>
            </a:pPr>
            <a:r>
              <a:rPr sz="1300" b="0">
                <a:solidFill>
                  <a:srgbClr val="86868B"/>
                </a:solidFill>
                <a:latin typeface="Helvetica Neue"/>
              </a:rPr>
              <a:t>what one more word of each kind is worth</a:t>
            </a:r>
          </a:p>
        </p:txBody>
      </p:sp>
      <p:graphicFrame>
        <p:nvGraphicFramePr>
          <p:cNvPr id="6" name="Chart 5"/>
          <p:cNvGraphicFramePr>
            <a:graphicFrameLocks noGrp="1"/>
          </p:cNvGraphicFramePr>
          <p:nvPr/>
        </p:nvGraphicFramePr>
        <p:xfrm>
          <a:off x="457200" y="1389888"/>
          <a:ext cx="3959352" cy="3278124"/>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p:nvPr/>
        </p:nvSpPr>
        <p:spPr>
          <a:xfrm>
            <a:off x="4727448" y="1078992"/>
            <a:ext cx="3959352" cy="310896"/>
          </a:xfrm>
          <a:prstGeom prst="rect">
            <a:avLst/>
          </a:prstGeom>
          <a:noFill/>
        </p:spPr>
        <p:txBody>
          <a:bodyPr wrap="square" lIns="0" tIns="0" rIns="0" bIns="0" anchor="t">
            <a:spAutoFit/>
          </a:bodyPr>
          <a:lstStyle/>
          <a:p>
            <a:pPr marL="0" indent="0" algn="l">
              <a:spcAft>
                <a:spcPts val="0"/>
              </a:spcAft>
              <a:buNone/>
            </a:pPr>
            <a:r>
              <a:rPr sz="1300" b="0">
                <a:solidFill>
                  <a:srgbClr val="86868B"/>
                </a:solidFill>
                <a:latin typeface="Helvetica Neue"/>
              </a:rPr>
              <a:t>120 films, none of them held back</a:t>
            </a:r>
          </a:p>
        </p:txBody>
      </p:sp>
      <p:graphicFrame>
        <p:nvGraphicFramePr>
          <p:cNvPr id="8" name="Chart 7"/>
          <p:cNvGraphicFramePr>
            <a:graphicFrameLocks noGrp="1"/>
          </p:cNvGraphicFramePr>
          <p:nvPr/>
        </p:nvGraphicFramePr>
        <p:xfrm>
          <a:off x="4727448" y="1389888"/>
          <a:ext cx="3959352" cy="3278124"/>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rPr>
                <a:solidFill/>
              </a:rPr>
              <a:t>Source: the 200-step run in today's notebook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rPr>
                <a:solidFill/>
              </a:rPr>
              <a:t>Break</a:t>
            </a:r>
          </a:p>
        </p:txBody>
      </p:sp>
      <p:pic>
        <p:nvPicPr>
          <p:cNvPr id="5" name="Picture 4" descr="Five minutes. Then the notebook is your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rPr>
                <a:solidFill/>
              </a:rPr>
              <a:t>Source: course-standard break figure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rPr>
                <a:solidFill/>
              </a:rPr>
              <a:t>Your turn</a:t>
            </a:r>
          </a:p>
        </p:txBody>
      </p:sp>
      <p:sp>
        <p:nvSpPr>
          <p:cNvPr id="5" name="Rounded Rectangle 4"/>
          <p:cNvSpPr/>
          <p:nvPr/>
        </p:nvSpPr>
        <p:spPr>
          <a:xfrm>
            <a:off x="457200" y="2304447"/>
            <a:ext cx="4041648" cy="1138110"/>
          </a:xfrm>
          <a:prstGeom prst="roundRect">
            <a:avLst>
              <a:gd name="adj" fmla="val 1044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40080" y="2450751"/>
            <a:ext cx="3675888" cy="845502"/>
          </a:xfrm>
          <a:prstGeom prst="rect">
            <a:avLst/>
          </a:prstGeom>
          <a:noFill/>
        </p:spPr>
        <p:txBody>
          <a:bodyPr wrap="square" lIns="0" tIns="0" rIns="0" bIns="0" anchor="t">
            <a:spAutoFit/>
          </a:bodyPr>
          <a:lstStyle/>
          <a:p>
            <a:pPr marL="0" indent="0" algn="l">
              <a:spcAft>
                <a:spcPts val="600"/>
              </a:spcAft>
              <a:buNone/>
            </a:pPr>
            <a:r>
              <a:rPr sz="1100" b="1" spc="70">
                <a:solidFill>
                  <a:srgbClr val="86868B"/>
                </a:solidFill>
                <a:latin typeface="Helvetica Neue"/>
              </a:rPr>
              <a:t>THE TASK</a:t>
            </a:r>
          </a:p>
          <a:p>
            <a:pPr marL="0" indent="0">
              <a:spcAft>
                <a:spcPts val="300"/>
              </a:spcAft>
              <a:buNone/>
            </a:pPr>
            <a:r>
              <a:rPr sz="1650" b="0" u="none">
                <a:solidFill>
                  <a:srgbClr val="1D1D1F"/>
                </a:solidFill>
                <a:latin typeface="Menlo"/>
              </a:rPr>
              <a:t>comedy_reviews.csv</a:t>
            </a:r>
          </a:p>
          <a:p>
            <a:pPr marL="0" indent="0" algn="l">
              <a:spcAft>
                <a:spcPts val="200"/>
              </a:spcAft>
              <a:buNone/>
            </a:pPr>
            <a:r>
              <a:rPr sz="1200" b="0">
                <a:solidFill>
                  <a:srgbClr val="86868B"/>
                </a:solidFill>
                <a:latin typeface="Helvetica Neue"/>
              </a:rPr>
              <a:t>140 films, predict funniness.</a:t>
            </a:r>
          </a:p>
        </p:txBody>
      </p:sp>
      <p:sp>
        <p:nvSpPr>
          <p:cNvPr id="7" name="Rounded Rectangle 6"/>
          <p:cNvSpPr/>
          <p:nvPr/>
        </p:nvSpPr>
        <p:spPr>
          <a:xfrm>
            <a:off x="4645152" y="2304447"/>
            <a:ext cx="4041648" cy="1138110"/>
          </a:xfrm>
          <a:prstGeom prst="roundRect">
            <a:avLst>
              <a:gd name="adj" fmla="val 1044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828032" y="2450751"/>
            <a:ext cx="3675888" cy="845502"/>
          </a:xfrm>
          <a:prstGeom prst="rect">
            <a:avLst/>
          </a:prstGeom>
          <a:noFill/>
        </p:spPr>
        <p:txBody>
          <a:bodyPr wrap="square" lIns="0" tIns="0" rIns="0" bIns="0" anchor="t">
            <a:spAutoFit/>
          </a:bodyPr>
          <a:lstStyle/>
          <a:p>
            <a:pPr marL="0" indent="0" algn="l">
              <a:spcAft>
                <a:spcPts val="600"/>
              </a:spcAft>
              <a:buNone/>
            </a:pPr>
            <a:r>
              <a:rPr sz="1100" b="1" spc="70">
                <a:solidFill>
                  <a:srgbClr val="86868B"/>
                </a:solidFill>
                <a:latin typeface="Helvetica Neue"/>
              </a:rPr>
              <a:t>THE RULE</a:t>
            </a:r>
          </a:p>
          <a:p>
            <a:pPr marL="0" indent="0">
              <a:spcAft>
                <a:spcPts val="300"/>
              </a:spcAft>
              <a:buNone/>
            </a:pPr>
            <a:r>
              <a:rPr sz="1400" b="0" u="none">
                <a:solidFill>
                  <a:srgbClr val="1D1D1F"/>
                </a:solidFill>
                <a:latin typeface="Menlo"/>
              </a:rPr>
              <a:t>funny.txt crude.txt flat.txt</a:t>
            </a:r>
          </a:p>
          <a:p>
            <a:pPr marL="0" indent="0" algn="l">
              <a:spcAft>
                <a:spcPts val="200"/>
              </a:spcAft>
              <a:buNone/>
            </a:pPr>
            <a:r>
              <a:rPr sz="1200" b="0">
                <a:solidFill>
                  <a:srgbClr val="86868B"/>
                </a:solidFill>
                <a:latin typeface="Helvetica Neue"/>
              </a:rPr>
              <a:t>Loss near 0.80. Judge it against 3.135.</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rPr>
                <a:solidFill/>
              </a:rPr>
              <a:t>Source: original</a:t>
            </a:r>
          </a:p>
        </p:txBody>
      </p:sp>
    </p:spTree>
  </p:cSld>
  <p:clrMapOvr>
    <a:masterClrMapping/>
  </p:clrMapOvr>
</p:sld>
</file>

<file path=ppt/theme/theme1.xml><?xml version="1.0" encoding="utf-8"?>
<a:theme xmlns:a="http://schemas.openxmlformats.org/drawingml/2006/main"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1111</Words>
  <Application>Microsoft Macintosh PowerPoint</Application>
  <PresentationFormat>On-screen Show (16:9)</PresentationFormat>
  <Paragraphs>64</Paragraphs>
  <Slides>11</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Helvetica Neue</vt:lpstr>
      <vt:lpstr>Playfair Display</vt:lpstr>
      <vt:lpstr>Menlo</vt:lpstr>
      <vt:lpstr>Arial</vt:lpstr>
      <vt:lpstr>Roboto</vt:lpstr>
      <vt:lpstr>Chiller</vt:lpstr>
      <vt:lpstr>Roboto Light</vt:lpstr>
      <vt:lpstr>Office Theme</vt:lpstr>
      <vt:lpstr>CSCI 3495 How scary is it?  Boo!</vt:lpstr>
      <vt:lpstr>PowerPoint Presentation</vt:lpstr>
      <vt:lpstr>PowerPoint Presentation</vt:lpstr>
      <vt:lpstr>PowerPoint Presentation</vt:lpstr>
      <vt:lpstr>Your first assignment:</vt:lpstr>
      <vt:lpstr>Example Reviews</vt:lpstr>
      <vt:lpstr>A list of adjectives is a feature extractor</vt:lpstr>
      <vt:lpstr>Data Pipeline</vt:lpstr>
      <vt:lpstr>Linear Regression learns Dull Words</vt:lpstr>
      <vt:lpstr>Break</vt:lpstr>
      <vt:lpstr>Your turn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Davalos Anaya, Eduardo</cp:lastModifiedBy>
  <cp:revision>4</cp:revision>
  <dcterms:modified xsi:type="dcterms:W3CDTF">2026-09-12T19:33:10Z</dcterms:modified>
</cp:coreProperties>
</file>