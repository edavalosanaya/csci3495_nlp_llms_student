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Laptops open the whole period. The counting from the last session found numbers by dividing; today we find numbers by rolling downhill, and we point the machinery at the simplest model there is, a straight line. That curve is the loss from the run they are about to do themselves. Start the setup cell before you say any of this.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Everything about a NumPy array transfers: shape, dtype, broadcasting, axis reductions, all identical. The two rows that matter are the last ones. A tensor can record the operations performed on it, and that recording is what makes it differentiable. Also flag dtype: networks want float32 and labels stay int64, and that mismatch is the first error most people hit.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today's lab.ipynb. Same repository, the same 240 movie reviews. The TRY IT at the end of the part is the reshape they will need again in Part 3, so do not rush past it.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Set requires_grad and PyTorch keeps a note of every operation. Calling backward walks that note in reverse, applying the chain rule, the same chain rule they used on the whiteboard last session, and leaves the slope in x.grad. Here the answer is 6, which is 2x at x equal to 3, and checking it by hand is what stops it feeling like magic.</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loss curve at the end of this part is the cover slide. Ask them to predict what a bigger step size would do before the task shows them.</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simplest model there is: one slope, one height, two trainable numbers, and you can hold both in your head. The loss is mean squared error, which squares every vertical gap between the line and a point and averages them. Squaring is what makes a big miss hurt much more than a small one, and it is why the line ends up in the middle of the cloud rather than through the easiest points.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Clear, measure, blame, step. That loop is the same whether there is one weight or a hundred billion; only the time per pass changes. The optimiser is bookkeeping: it holds the list of parameters so you do not update each one by hand. Say plainly that this slide is the one to photograph, because every model for the rest of the course is trained by these four lines.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240 reviews, now as two numeric columns: how many words a review has, and how many characters. Scatter them first and let someone say out loud that there is obviously a line in there.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thousand steps take the error from 9716 to 49.2, and the numbers it lands on, 4.42 and 17.7, are exactly what the least-squares formula gives. That is the point of the slide: for a straight line you never needed gradient descent, because algebra hands you the answer. Every model after this has no formula, and the loop is all there is. Also flag the intercept: 17.7 characters for a review of no words is nonsense, and nobody should read a fitted parameter as a measurement.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Individually or in pairs, about thirty minutes. The first task asks how few epochs are enough, and the answer is interesting: the slope settles by 500 and the intercept crawls for another 1500. The second fits a line to two columns with almost nothing between them, and the loss barely beats predicting the average. Make them say what that means before they leave, that a fitted line is not evidence of a relationship, because it is the one idea here they will misuse if they do not say it out loud once.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PyTorch</a:t>
            </a:r>
          </a:p>
        </p:txBody>
      </p:sp>
      <p:sp>
        <p:nvSpPr>
          <p:cNvPr id="3" name="Subtitle 2"/>
          <p:cNvSpPr>
            <a:spLocks noGrp="1"/>
          </p:cNvSpPr>
          <p:nvPr>
            <p:ph type="subTitle" idx="1"/>
          </p:nvPr>
        </p:nvSpPr>
        <p:spPr>
          <a:xfrm>
            <a:off x="493926" y="3549825"/>
            <a:ext cx="5877394" cy="970800"/>
          </a:xfrm>
        </p:spPr>
        <p:txBody>
          <a:bodyPr wrap="square"/>
          <a:lstStyle/>
          <a:p>
            <a:pPr marL="0" indent="0">
              <a:buNone/>
            </a:pPr>
            <a:r>
              <a:t>Natural Language Processing &amp; Large Language Models</a:t>
            </a:r>
          </a:p>
          <a:p>
            <a:pPr marL="0" indent="0">
              <a:buNone/>
            </a:pPr>
            <a:r>
              <a:t>Week 4, Class 2  ·  Wed Sep 16, 2026</a:t>
            </a:r>
          </a:p>
        </p:txBody>
      </p:sp>
      <p:pic>
        <p:nvPicPr>
          <p:cNvPr id="5" name="Picture 4" descr="PyTorch"/>
          <p:cNvPicPr>
            <a:picLocks noChangeAspect="1"/>
          </p:cNvPicPr>
          <p:nvPr/>
        </p:nvPicPr>
        <p:blipFill>
          <a:blip r:embed="rId3"/>
          <a:stretch>
            <a:fillRect/>
          </a:stretch>
        </p:blipFill>
        <p:spPr>
          <a:xfrm>
            <a:off x="6599920" y="3474720"/>
            <a:ext cx="2178320"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original figure, produced by the notebook's own descent loop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tensor is an array that remembers</a:t>
            </a:r>
          </a:p>
        </p:txBody>
      </p:sp>
      <p:pic>
        <p:nvPicPr>
          <p:cNvPr id="5" name="Picture 4" descr="A tensor is an array that remembers"/>
          <p:cNvPicPr>
            <a:picLocks noChangeAspect="1"/>
          </p:cNvPicPr>
          <p:nvPr/>
        </p:nvPicPr>
        <p:blipFill>
          <a:blip r:embed="rId3"/>
          <a:stretch>
            <a:fillRect/>
          </a:stretch>
        </p:blipFill>
        <p:spPr>
          <a:xfrm>
            <a:off x="274320" y="1125293"/>
            <a:ext cx="8595360" cy="349641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NumPy 2.5, PyTorch 2.12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1 in the notebook</a:t>
            </a:r>
          </a:p>
          <a:p>
            <a:pPr algn="ctr" marL="0" indent="0">
              <a:buNone/>
            </a:pPr>
            <a:r>
              <a:rPr sz="2000">
                <a:solidFill>
                  <a:srgbClr val="222222"/>
                </a:solidFill>
              </a:rPr>
              <a:t>Tensors, dtype, reshape, and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Record forwards, replay backwards</a:t>
            </a:r>
          </a:p>
        </p:txBody>
      </p:sp>
      <p:pic>
        <p:nvPicPr>
          <p:cNvPr id="5" name="Picture 4" descr="Record forwards, replay backwards"/>
          <p:cNvPicPr>
            <a:picLocks noChangeAspect="1"/>
          </p:cNvPicPr>
          <p:nvPr/>
        </p:nvPicPr>
        <p:blipFill>
          <a:blip r:embed="rId3"/>
          <a:stretch>
            <a:fillRect/>
          </a:stretch>
        </p:blipFill>
        <p:spPr>
          <a:xfrm>
            <a:off x="274320" y="1842787"/>
            <a:ext cx="8595360" cy="206142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2 in the notebook</a:t>
            </a:r>
          </a:p>
          <a:p>
            <a:pPr algn="ctr" marL="0" indent="0">
              <a:buNone/>
            </a:pPr>
            <a:r>
              <a:rPr sz="2000">
                <a:solidFill>
                  <a:srgbClr val="222222"/>
                </a:solidFill>
              </a:rPr>
              <a:t>One gradient, then twenty steps downhill.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line has two numbers</a:t>
            </a:r>
          </a:p>
        </p:txBody>
      </p:sp>
      <p:pic>
        <p:nvPicPr>
          <p:cNvPr id="5" name="Picture 4" descr="A line has two numbers"/>
          <p:cNvPicPr>
            <a:picLocks noChangeAspect="1"/>
          </p:cNvPicPr>
          <p:nvPr/>
        </p:nvPicPr>
        <p:blipFill>
          <a:blip r:embed="rId3"/>
          <a:stretch>
            <a:fillRect/>
          </a:stretch>
        </p:blipFill>
        <p:spPr>
          <a:xfrm>
            <a:off x="274320" y="1591482"/>
            <a:ext cx="8595360" cy="25640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model built in today's notebook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Four lines train everything</a:t>
            </a:r>
          </a:p>
        </p:txBody>
      </p:sp>
      <p:pic>
        <p:nvPicPr>
          <p:cNvPr id="5" name="Picture 4" descr="Four lines train everything"/>
          <p:cNvPicPr>
            <a:picLocks noChangeAspect="1"/>
          </p:cNvPicPr>
          <p:nvPr/>
        </p:nvPicPr>
        <p:blipFill>
          <a:blip r:embed="rId3"/>
          <a:stretch>
            <a:fillRect/>
          </a:stretch>
        </p:blipFill>
        <p:spPr>
          <a:xfrm>
            <a:off x="274320" y="1576914"/>
            <a:ext cx="8595360" cy="25931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The scatter, the model, then two thousand steps.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It found the line algebra would have given you</a:t>
            </a:r>
          </a:p>
        </p:txBody>
      </p:sp>
      <p:pic>
        <p:nvPicPr>
          <p:cNvPr id="5" name="Picture 4" descr="It found the line algebra would have given you"/>
          <p:cNvPicPr>
            <a:picLocks noChangeAspect="1"/>
          </p:cNvPicPr>
          <p:nvPr/>
        </p:nvPicPr>
        <p:blipFill>
          <a:blip r:embed="rId3"/>
          <a:stretch>
            <a:fillRect/>
          </a:stretch>
        </p:blipFill>
        <p:spPr>
          <a:xfrm>
            <a:off x="274320" y="1406515"/>
            <a:ext cx="8595360" cy="293397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from the 2000-epoch run in today's notebook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Then the notebook is yours."/>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course-standard break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Your turn</a:t>
            </a:r>
          </a:p>
        </p:txBody>
      </p:sp>
      <p:pic>
        <p:nvPicPr>
          <p:cNvPr id="5" name="Picture 4" descr="Your turn"/>
          <p:cNvPicPr>
            <a:picLocks noChangeAspect="1"/>
          </p:cNvPicPr>
          <p:nvPr/>
        </p:nvPicPr>
        <p:blipFill>
          <a:blip r:embed="rId3"/>
          <a:stretch>
            <a:fillRect/>
          </a:stretch>
        </p:blipFill>
        <p:spPr>
          <a:xfrm>
            <a:off x="274320" y="1646114"/>
            <a:ext cx="8595360" cy="24547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