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King minus man plus woman equals queen. Today they do that arithmetic themselves, on real vectors, and then they run the same line with doctor in it and see what comes back. The second half of the class is what to do about it, on a budget.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dot is a word, and nearness is meaning. Nothing here was hand labelled: the positions came out of reading text. Ask them what would sit near coffee, then near Tuesday.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a sparse representation a word is a 50,000-long mostly-zero vector, and good and great share no dimension at all, so they are exactly as unrelated as good and asparagus. Today the vector is about 300 numbers, every one of them used, and it is learned rather than counted. That is the whole move.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Twenty thousand real GloVe words, fifty numbers each, and none of the numbers were chosen by a person. Part 1 opens one vector, Part 2 finds a word's neighbours with cosine similarity. Pause on october: its five nearest words are the other months, all above 0.99, because months are used in near-identical sentences. Nobody told it what a month 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Instead of counting neighbors, train a yes/no classifier on a fake task. The quiz is a means to an end. We never actually use this classifier. We train it, throw it away, and keep its learned weights: those are the embeddings.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window of running text hands us 4 positive pairs; k random noise words per real pair supply the negatives. This is skip-gram with negative sampling (SGNS). K = 2 noise words per real pair , no human labeled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we just built is skip-gram (right): the center word predicts each neighbor. CBOW (left) flips the arrows. The trained projection weights ARE the word vectors.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this left to right with CBOW, which is the easier direction: the context predicts the missing middle word. Three context words come in as one-hot vectors over a five-word vocabulary, so each is a column of zeros with a single one. Multiplying a one-hot by W does not compute anything, it selects a row, so this step is a lookup. CBOW then averages the three rows, and that average is h, the latent vector, the actual numbers on the slide. Then W-prime and a softmax turn h into a probability over the vocabulary, and apricot wins with 0.62. Two things to say out loud. First, there are no biases anywhere in this network and no activation function on the hidden layer, which is unusual for a neural net and is a large part of why it trains on billions of words so cheaply. Second, and this is the punchline: we do not want the prediction. We train the whole thing, throw away W-prime and the softmax, and keep W. Every row of W is one word's embedding. Skip-gram is the same picture with the arrows reversed, and the sigmoid version from three slides ago is skip-gram with negative sampling, which replaces this softmax over the whole vocabulary with k plus one yes-or-no decisions.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offset between man and woman is the same vector that joins king to queen. A 2D schematic.</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They write the analogy line themselves: target equals vector b minus vector a plus vector c. King minus man plus woman gives queen at 0.861, clear of daughter at 0.768. Then run the three that do not work, because that is the half nobody shows: brother minus man plus woman gives daughter, and washington minus usa plus france gives Chirac. The famous example is real and it is also cherry-picked.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beats, and the slide only shows the shape, so this is the talking. Before 2013, a word was an index into a vocabulary. Everything a model knew about language came from tf-idf over tens of thousands of sparse dimensions plus feature templates a person wrote by hand and rebuilt for every new task, and good and great shared no dimension at all, so they were as unrelated as good and asparagus. Then word2vec in 2013 and GloVe in 2014 made it practical to learn meaning once from raw unlabeled text and hand it to any model as geometry, something you can add, subtract and measure. That is the shift from counting to representation, and it is why the field pivoted to neural networks between roughly 2013 and 2015. Be fair about the history if anyone asks: the idea was not new, Bengio's neural language model in 2003 and Collobert and Weston in 2008 both learned word vectors. What changed was the cost, from a research project to a free download you could train over a weekend. Ubiquity, not novelty. And it never went away. Every LLM in this course still begins with an embedding matrix, just over subword tokens rather than whole words, and it is the same row-of-a-matrix lookup we drew seven slides ago. Week 7 makes those vectors depend on context, Week 12 uses them for retrieval.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answer this one yet. The vectors are about to say something uncomfortable, and it is better if they see it in the numbers first.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changes except the words going in. Doctor minus man plus woman returns nurse at 0.842. Then they measure it properly against the she minus he direction and get a table: nurse plus 0.381 at the top, captain minus 0.316 at the bottom. Make them read the bottom of that table, because secretary lands at minus 0.216, the male end, and that is the opposite of the stereotype. These vectors are news text, and in news a secretary is a Secretary of State. The corpus decided, which is exactly the question they get next.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four, nine minutes to decide, then we compare. You are the team that has to ship the next version of these vectors. Every option is real and every one is something a lab has actually done. You cannot afford them all, so the budget is the point: say what you bought, and say what you gave up to buy it. Two rules, one sentence per choice on what it buys, and no team may spend more than ten.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Round the room, one person per team, thirty seconds each. Budget on the board, then the sentence. Do not grade the answers; the useful move is to ask the next team whether they bought the same thing for a different reason. If a team bought the projection, ask what it changes and what it only hides. If a team never bought measurement, ask how they would know their other points worked.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Word Embeddings</a:t>
            </a:r>
          </a:p>
        </p:txBody>
      </p:sp>
      <p:sp>
        <p:nvSpPr>
          <p:cNvPr id="3" name="Subtitle 2"/>
          <p:cNvSpPr>
            <a:spLocks noGrp="1"/>
          </p:cNvSpPr>
          <p:nvPr>
            <p:ph type="subTitle" idx="1"/>
          </p:nvPr>
        </p:nvSpPr>
        <p:spPr>
          <a:xfrm>
            <a:off x="493926" y="3549825"/>
            <a:ext cx="5937922" cy="970800"/>
          </a:xfrm>
        </p:spPr>
        <p:txBody>
          <a:bodyPr wrap="square"/>
          <a:lstStyle/>
          <a:p>
            <a:pPr marL="0" indent="0">
              <a:buNone/>
            </a:pPr>
            <a:r>
              <a:t>Natural Language Processing &amp; Large Language Models</a:t>
            </a:r>
          </a:p>
          <a:p>
            <a:pPr marL="0" indent="0">
              <a:buNone/>
            </a:pPr>
            <a:r>
              <a:t>Week 4, Class 2  ·  Mon Sep 21, 2026</a:t>
            </a:r>
          </a:p>
        </p:txBody>
      </p:sp>
      <p:pic>
        <p:nvPicPr>
          <p:cNvPr id="5" name="Picture 4" descr="Word Embeddings"/>
          <p:cNvPicPr>
            <a:picLocks noChangeAspect="1"/>
          </p:cNvPicPr>
          <p:nvPr/>
        </p:nvPicPr>
        <p:blipFill>
          <a:blip r:embed="rId3"/>
          <a:stretch>
            <a:fillRect/>
          </a:stretch>
        </p:blipFill>
        <p:spPr>
          <a:xfrm>
            <a:off x="6660448" y="3474720"/>
            <a:ext cx="21177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Bubba73 (Jud McCranie),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scatter words like stars; nearby points share meaning."/>
          <p:cNvPicPr>
            <a:picLocks noChangeAspect="1"/>
          </p:cNvPicPr>
          <p:nvPr/>
        </p:nvPicPr>
        <p:blipFill>
          <a:blip r:embed="rId3"/>
          <a:stretch>
            <a:fillRect/>
          </a:stretch>
        </p:blipFill>
        <p:spPr>
          <a:xfrm>
            <a:off x="0" y="-334328"/>
            <a:ext cx="9144000" cy="581215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Every word gets a place in one shared space</a:t>
            </a:r>
          </a:p>
          <a:p>
            <a:pPr algn="ctr" marL="0" indent="0">
              <a:buNone/>
            </a:pPr>
            <a:r>
              <a:rPr sz="2000">
                <a:solidFill>
                  <a:srgbClr val="FFFFFF"/>
                </a:solidFill>
              </a:rPr>
              <a:t>Embeddings scatter words like stars; nearby points share meaning.</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https://unsplash.com/photos/Y20JJ_ddy9M (Vincentiu Solomon)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sparse counts to dense vectors</a:t>
            </a:r>
          </a:p>
        </p:txBody>
      </p:sp>
      <p:pic>
        <p:nvPicPr>
          <p:cNvPr id="5" name="Picture 4" descr="From sparse counts to dense vectors"/>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Open a real embedding and look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word2vec's trick: turn counting into a quiz</a:t>
            </a:r>
          </a:p>
        </p:txBody>
      </p:sp>
      <p:pic>
        <p:nvPicPr>
          <p:cNvPr id="5" name="Picture 4" descr="word2vec's trick: turn counting into a quiz"/>
          <p:cNvPicPr>
            <a:picLocks noChangeAspect="1"/>
          </p:cNvPicPr>
          <p:nvPr/>
        </p:nvPicPr>
        <p:blipFill>
          <a:blip r:embed="rId3"/>
          <a:stretch>
            <a:fillRect/>
          </a:stretch>
        </p:blipFill>
        <p:spPr>
          <a:xfrm>
            <a:off x="274320" y="1595124"/>
            <a:ext cx="8595360" cy="25567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 running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labels are free: self-supervision</a:t>
            </a:r>
          </a:p>
        </p:txBody>
      </p:sp>
      <p:pic>
        <p:nvPicPr>
          <p:cNvPr id="5" name="Picture 4" descr="The labels are free: self-supervision"/>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5.5.2 training example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word2vec family: skip-gram and CBOW</a:t>
            </a:r>
          </a:p>
        </p:txBody>
      </p:sp>
      <p:pic>
        <p:nvPicPr>
          <p:cNvPr id="5" name="Picture 4" descr="The word2vec family: skip-gram and CBOW"/>
          <p:cNvPicPr>
            <a:picLocks noChangeAspect="1"/>
          </p:cNvPicPr>
          <p:nvPr/>
        </p:nvPicPr>
        <p:blipFill>
          <a:blip r:embed="rId3"/>
          <a:stretch>
            <a:fillRect/>
          </a:stretch>
        </p:blipFill>
        <p:spPr>
          <a:xfrm>
            <a:off x="2189024" y="1078992"/>
            <a:ext cx="47659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Mikolov et al. 2013 (arXiv:1301.3781), Fig.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a network, then keep only its first layer</a:t>
            </a:r>
          </a:p>
        </p:txBody>
      </p:sp>
      <p:pic>
        <p:nvPicPr>
          <p:cNvPr id="5" name="Picture 4" descr="Train a network, then keep only its first layer"/>
          <p:cNvPicPr>
            <a:picLocks noChangeAspect="1"/>
          </p:cNvPicPr>
          <p:nvPr/>
        </p:nvPicPr>
        <p:blipFill>
          <a:blip r:embed="rId3"/>
          <a:stretch>
            <a:fillRect/>
          </a:stretch>
        </p:blipFill>
        <p:spPr>
          <a:xfrm>
            <a:off x="274320" y="1576914"/>
            <a:ext cx="8595360" cy="25931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Mikolov et al. 2013 (arXiv:1301.3781), CBOW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famous result: analogies</a:t>
            </a:r>
          </a:p>
        </p:txBody>
      </p:sp>
      <p:pic>
        <p:nvPicPr>
          <p:cNvPr id="5" name="Picture 4" descr="The famous result: analogie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Mikolov et al., 2013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line of arithmetic, and then the ones that fail.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turn that made modern NLP possible</a:t>
            </a:r>
          </a:p>
        </p:txBody>
      </p:sp>
      <p:pic>
        <p:nvPicPr>
          <p:cNvPr id="5" name="Picture 4" descr="The turn that made modern NLP possible"/>
          <p:cNvPicPr>
            <a:picLocks noChangeAspect="1"/>
          </p:cNvPicPr>
          <p:nvPr/>
        </p:nvPicPr>
        <p:blipFill>
          <a:blip r:embed="rId3"/>
          <a:stretch>
            <a:fillRect/>
          </a:stretch>
        </p:blipFill>
        <p:spPr>
          <a:xfrm>
            <a:off x="274320" y="1729882"/>
            <a:ext cx="8595360" cy="2287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learn whatever the text assumes, including who belongs wher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Should a machine learn that "programmer" means a man?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Embeddings learn whatever the text assumes, including who belongs 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https://unsplash.com/photos/iFgRcqHznqg (Helena Lopes)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4 in the notebook</a:t>
            </a:r>
          </a:p>
          <a:p>
            <a:pPr algn="ctr" marL="0" indent="0">
              <a:buNone/>
            </a:pPr>
            <a:r>
              <a:rPr sz="2000">
                <a:solidFill>
                  <a:srgbClr val="222222"/>
                </a:solidFill>
              </a:rPr>
              <a:t>The same line, with doctor in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get ten points to sp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Ten points to spend</a:t>
            </a:r>
          </a:p>
        </p:txBody>
      </p:sp>
      <p:pic>
        <p:nvPicPr>
          <p:cNvPr id="5" name="Picture 4" descr="Ten points to spen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One volunteer per team</a:t>
            </a:r>
          </a:p>
          <a:p>
            <a:pPr algn="ctr" marL="0" indent="0">
              <a:buNone/>
            </a:pPr>
            <a:r>
              <a:rPr sz="2000">
                <a:solidFill>
                  <a:srgbClr val="222222"/>
                </a:solidFill>
              </a:rPr>
              <a:t>What did you buy, and what did you give up?</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