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6" r:id="rId2"/>
    <p:sldId id="264" r:id="rId3"/>
    <p:sldId id="263" r:id="rId4"/>
    <p:sldId id="266" r:id="rId5"/>
    <p:sldId id="265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 type="screen16x9"/>
  <p:notesSz cx="6858000" cy="9144000"/>
  <p:embeddedFontLst>
    <p:embeddedFont>
      <p:font typeface="Chiller" pitchFamily="82" charset="77"/>
      <p:regular r:id="rId14"/>
    </p:embeddedFont>
    <p:embeddedFont>
      <p:font typeface="Playfair Display" pitchFamily="2" charset="77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Light" panose="020F03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58"/>
  </p:normalViewPr>
  <p:slideViewPr>
    <p:cSldViewPr snapToGrid="0">
      <p:cViewPr varScale="1">
        <p:scale>
          <a:sx n="160" d="100"/>
          <a:sy n="160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C72B0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4C72B0"/>
              </a:solidFill>
            </c:spPr>
            <c:extLst>
              <c:ext xmlns:c16="http://schemas.microsoft.com/office/drawing/2014/chart" uri="{C3380CC4-5D6E-409C-BE32-E72D297353CC}">
                <c16:uniqueId val="{00000001-B0B6-7D4B-8504-4AA4EEC23ABF}"/>
              </c:ext>
            </c:extLst>
          </c:dPt>
          <c:dPt>
            <c:idx val="1"/>
            <c:invertIfNegative val="1"/>
            <c:bubble3D val="0"/>
            <c:spPr>
              <a:solidFill>
                <a:srgbClr val="4C72B0"/>
              </a:solidFill>
            </c:spPr>
            <c:extLst>
              <c:ext xmlns:c16="http://schemas.microsoft.com/office/drawing/2014/chart" uri="{C3380CC4-5D6E-409C-BE32-E72D297353CC}">
                <c16:uniqueId val="{00000003-B0B6-7D4B-8504-4AA4EEC23ABF}"/>
              </c:ext>
            </c:extLst>
          </c:dPt>
          <c:dPt>
            <c:idx val="2"/>
            <c:invertIfNegative val="1"/>
            <c:bubble3D val="0"/>
            <c:spPr>
              <a:solidFill>
                <a:srgbClr val="DD8452"/>
              </a:solidFill>
            </c:spPr>
            <c:extLst>
              <c:ext xmlns:c16="http://schemas.microsoft.com/office/drawing/2014/chart" uri="{C3380CC4-5D6E-409C-BE32-E72D297353CC}">
                <c16:uniqueId val="{00000005-B0B6-7D4B-8504-4AA4EEC23ABF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D1D1F"/>
                    </a:solidFill>
                    <a:latin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fear words</c:v>
                </c:pt>
                <c:pt idx="1">
                  <c:v>gore words</c:v>
                </c:pt>
                <c:pt idx="2">
                  <c:v>dull words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1.2829999999999999</c:v>
                </c:pt>
                <c:pt idx="1">
                  <c:v>0.33400000000000002</c:v>
                </c:pt>
                <c:pt idx="2">
                  <c:v>-0.58699999999999997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B0B6-7D4B-8504-4AA4EEC23A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D2D2D7"/>
            </a:solidFill>
          </a:ln>
        </c:spPr>
        <c:txPr>
          <a:bodyPr/>
          <a:lstStyle/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x</c:v>
                </c:pt>
              </c:strCache>
            </c:strRef>
          </c:tx>
          <c:spPr>
            <a:ln w="28575">
              <a:solidFill>
                <a:srgbClr val="C6C6CB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059-954C-84B4-0D32BF856D6A}"/>
            </c:ext>
          </c:extLst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films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4C72B0"/>
              </a:solidFill>
              <a:ln>
                <a:noFill/>
              </a:ln>
            </c:spPr>
          </c:marker>
          <c:xVal>
            <c:numRef>
              <c:f>Sheet1!$A$6:$A$125</c:f>
              <c:numCache>
                <c:formatCode>General</c:formatCode>
                <c:ptCount val="120"/>
                <c:pt idx="0">
                  <c:v>4.5</c:v>
                </c:pt>
                <c:pt idx="1">
                  <c:v>5.0999999999999996</c:v>
                </c:pt>
                <c:pt idx="2">
                  <c:v>2.5</c:v>
                </c:pt>
                <c:pt idx="3">
                  <c:v>2.5</c:v>
                </c:pt>
                <c:pt idx="4">
                  <c:v>9.3000000000000007</c:v>
                </c:pt>
                <c:pt idx="5">
                  <c:v>4.4000000000000004</c:v>
                </c:pt>
                <c:pt idx="6">
                  <c:v>6.5</c:v>
                </c:pt>
                <c:pt idx="7">
                  <c:v>5.7</c:v>
                </c:pt>
                <c:pt idx="8">
                  <c:v>3.4</c:v>
                </c:pt>
                <c:pt idx="9">
                  <c:v>4.5</c:v>
                </c:pt>
                <c:pt idx="10">
                  <c:v>5</c:v>
                </c:pt>
                <c:pt idx="11">
                  <c:v>8.1</c:v>
                </c:pt>
                <c:pt idx="12">
                  <c:v>2.8</c:v>
                </c:pt>
                <c:pt idx="13">
                  <c:v>6.1</c:v>
                </c:pt>
                <c:pt idx="14">
                  <c:v>7.1</c:v>
                </c:pt>
                <c:pt idx="15">
                  <c:v>3.9</c:v>
                </c:pt>
                <c:pt idx="16">
                  <c:v>4</c:v>
                </c:pt>
                <c:pt idx="17">
                  <c:v>2.2999999999999998</c:v>
                </c:pt>
                <c:pt idx="18">
                  <c:v>5.5</c:v>
                </c:pt>
                <c:pt idx="19">
                  <c:v>4.2</c:v>
                </c:pt>
                <c:pt idx="20">
                  <c:v>9.1999999999999993</c:v>
                </c:pt>
                <c:pt idx="21">
                  <c:v>4</c:v>
                </c:pt>
                <c:pt idx="22">
                  <c:v>4.2</c:v>
                </c:pt>
                <c:pt idx="23">
                  <c:v>7.1</c:v>
                </c:pt>
                <c:pt idx="24">
                  <c:v>3.3</c:v>
                </c:pt>
                <c:pt idx="25">
                  <c:v>6.1</c:v>
                </c:pt>
                <c:pt idx="26">
                  <c:v>5.9</c:v>
                </c:pt>
                <c:pt idx="27">
                  <c:v>3.8</c:v>
                </c:pt>
                <c:pt idx="28">
                  <c:v>8.6</c:v>
                </c:pt>
                <c:pt idx="29">
                  <c:v>3.5</c:v>
                </c:pt>
                <c:pt idx="30">
                  <c:v>3.8</c:v>
                </c:pt>
                <c:pt idx="31">
                  <c:v>4.2</c:v>
                </c:pt>
                <c:pt idx="32">
                  <c:v>3.1</c:v>
                </c:pt>
                <c:pt idx="33">
                  <c:v>3.6</c:v>
                </c:pt>
                <c:pt idx="34">
                  <c:v>6.1</c:v>
                </c:pt>
                <c:pt idx="35">
                  <c:v>5.4</c:v>
                </c:pt>
                <c:pt idx="36">
                  <c:v>8.1</c:v>
                </c:pt>
                <c:pt idx="37">
                  <c:v>5</c:v>
                </c:pt>
                <c:pt idx="38">
                  <c:v>5.7</c:v>
                </c:pt>
                <c:pt idx="39">
                  <c:v>6</c:v>
                </c:pt>
                <c:pt idx="40">
                  <c:v>5.2</c:v>
                </c:pt>
                <c:pt idx="41">
                  <c:v>4.3</c:v>
                </c:pt>
                <c:pt idx="42">
                  <c:v>3.9</c:v>
                </c:pt>
                <c:pt idx="43">
                  <c:v>5</c:v>
                </c:pt>
                <c:pt idx="44">
                  <c:v>5.8</c:v>
                </c:pt>
                <c:pt idx="45">
                  <c:v>6.4</c:v>
                </c:pt>
                <c:pt idx="46">
                  <c:v>4</c:v>
                </c:pt>
                <c:pt idx="47">
                  <c:v>6.4</c:v>
                </c:pt>
                <c:pt idx="48">
                  <c:v>8.8000000000000007</c:v>
                </c:pt>
                <c:pt idx="49">
                  <c:v>8.4</c:v>
                </c:pt>
                <c:pt idx="50">
                  <c:v>7.2</c:v>
                </c:pt>
                <c:pt idx="51">
                  <c:v>6.5</c:v>
                </c:pt>
                <c:pt idx="52">
                  <c:v>7.2</c:v>
                </c:pt>
                <c:pt idx="53">
                  <c:v>5.6</c:v>
                </c:pt>
                <c:pt idx="54">
                  <c:v>5</c:v>
                </c:pt>
                <c:pt idx="55">
                  <c:v>4.5</c:v>
                </c:pt>
                <c:pt idx="56">
                  <c:v>9.6</c:v>
                </c:pt>
                <c:pt idx="57">
                  <c:v>5</c:v>
                </c:pt>
                <c:pt idx="58">
                  <c:v>6.3</c:v>
                </c:pt>
                <c:pt idx="59">
                  <c:v>4.3</c:v>
                </c:pt>
                <c:pt idx="60">
                  <c:v>4.5999999999999996</c:v>
                </c:pt>
                <c:pt idx="61">
                  <c:v>2.9</c:v>
                </c:pt>
                <c:pt idx="62">
                  <c:v>4.0999999999999996</c:v>
                </c:pt>
                <c:pt idx="63">
                  <c:v>6.4</c:v>
                </c:pt>
                <c:pt idx="64">
                  <c:v>7.1</c:v>
                </c:pt>
                <c:pt idx="65">
                  <c:v>5.0999999999999996</c:v>
                </c:pt>
                <c:pt idx="66">
                  <c:v>2.8</c:v>
                </c:pt>
                <c:pt idx="67">
                  <c:v>3.4</c:v>
                </c:pt>
                <c:pt idx="68">
                  <c:v>8.6</c:v>
                </c:pt>
                <c:pt idx="69">
                  <c:v>3.2</c:v>
                </c:pt>
                <c:pt idx="70">
                  <c:v>3.5</c:v>
                </c:pt>
                <c:pt idx="71">
                  <c:v>8.5</c:v>
                </c:pt>
                <c:pt idx="72">
                  <c:v>8</c:v>
                </c:pt>
                <c:pt idx="73">
                  <c:v>5.2</c:v>
                </c:pt>
                <c:pt idx="74">
                  <c:v>6.2</c:v>
                </c:pt>
                <c:pt idx="75">
                  <c:v>4.5999999999999996</c:v>
                </c:pt>
                <c:pt idx="76">
                  <c:v>2</c:v>
                </c:pt>
                <c:pt idx="77">
                  <c:v>3.1</c:v>
                </c:pt>
                <c:pt idx="78">
                  <c:v>7.4</c:v>
                </c:pt>
                <c:pt idx="79">
                  <c:v>6.1</c:v>
                </c:pt>
                <c:pt idx="80">
                  <c:v>7.5</c:v>
                </c:pt>
                <c:pt idx="81">
                  <c:v>3.4</c:v>
                </c:pt>
                <c:pt idx="82">
                  <c:v>6</c:v>
                </c:pt>
                <c:pt idx="83">
                  <c:v>5.7</c:v>
                </c:pt>
                <c:pt idx="84">
                  <c:v>5.4</c:v>
                </c:pt>
                <c:pt idx="85">
                  <c:v>7.8</c:v>
                </c:pt>
                <c:pt idx="86">
                  <c:v>4.9000000000000004</c:v>
                </c:pt>
                <c:pt idx="87">
                  <c:v>7.4</c:v>
                </c:pt>
                <c:pt idx="88">
                  <c:v>2.6</c:v>
                </c:pt>
                <c:pt idx="89">
                  <c:v>6</c:v>
                </c:pt>
                <c:pt idx="90">
                  <c:v>1.6</c:v>
                </c:pt>
                <c:pt idx="91">
                  <c:v>7.4</c:v>
                </c:pt>
                <c:pt idx="92">
                  <c:v>7.3</c:v>
                </c:pt>
                <c:pt idx="93">
                  <c:v>5.0999999999999996</c:v>
                </c:pt>
                <c:pt idx="94">
                  <c:v>8.1</c:v>
                </c:pt>
                <c:pt idx="95">
                  <c:v>5.9</c:v>
                </c:pt>
                <c:pt idx="96">
                  <c:v>4.7</c:v>
                </c:pt>
                <c:pt idx="97">
                  <c:v>4.8</c:v>
                </c:pt>
                <c:pt idx="98">
                  <c:v>4.9000000000000004</c:v>
                </c:pt>
                <c:pt idx="99">
                  <c:v>5.3</c:v>
                </c:pt>
                <c:pt idx="100">
                  <c:v>8.6999999999999993</c:v>
                </c:pt>
                <c:pt idx="101">
                  <c:v>4.0999999999999996</c:v>
                </c:pt>
                <c:pt idx="102">
                  <c:v>4.4000000000000004</c:v>
                </c:pt>
                <c:pt idx="103">
                  <c:v>5</c:v>
                </c:pt>
                <c:pt idx="104">
                  <c:v>3</c:v>
                </c:pt>
                <c:pt idx="105">
                  <c:v>4.3</c:v>
                </c:pt>
                <c:pt idx="106">
                  <c:v>6.2</c:v>
                </c:pt>
                <c:pt idx="107">
                  <c:v>4.7</c:v>
                </c:pt>
                <c:pt idx="108">
                  <c:v>6.4</c:v>
                </c:pt>
                <c:pt idx="109">
                  <c:v>4.9000000000000004</c:v>
                </c:pt>
                <c:pt idx="110">
                  <c:v>4.7</c:v>
                </c:pt>
                <c:pt idx="111">
                  <c:v>3.7</c:v>
                </c:pt>
                <c:pt idx="112">
                  <c:v>3.7</c:v>
                </c:pt>
                <c:pt idx="113">
                  <c:v>4</c:v>
                </c:pt>
                <c:pt idx="114">
                  <c:v>9.3000000000000007</c:v>
                </c:pt>
                <c:pt idx="115">
                  <c:v>3.9</c:v>
                </c:pt>
                <c:pt idx="116">
                  <c:v>5.5</c:v>
                </c:pt>
                <c:pt idx="117">
                  <c:v>7.9</c:v>
                </c:pt>
                <c:pt idx="118">
                  <c:v>6.7</c:v>
                </c:pt>
                <c:pt idx="119">
                  <c:v>4.8</c:v>
                </c:pt>
              </c:numCache>
            </c:numRef>
          </c:xVal>
          <c:yVal>
            <c:numRef>
              <c:f>Sheet1!$B$6:$B$125</c:f>
              <c:numCache>
                <c:formatCode>General</c:formatCode>
                <c:ptCount val="120"/>
                <c:pt idx="0">
                  <c:v>4.649</c:v>
                </c:pt>
                <c:pt idx="1">
                  <c:v>4.7290000000000001</c:v>
                </c:pt>
                <c:pt idx="2">
                  <c:v>2.8860000000000001</c:v>
                </c:pt>
                <c:pt idx="3">
                  <c:v>2.524</c:v>
                </c:pt>
                <c:pt idx="4">
                  <c:v>9.1660000000000004</c:v>
                </c:pt>
                <c:pt idx="5">
                  <c:v>4.5030000000000001</c:v>
                </c:pt>
                <c:pt idx="6">
                  <c:v>6.3739999999999997</c:v>
                </c:pt>
                <c:pt idx="7">
                  <c:v>5.3440000000000003</c:v>
                </c:pt>
                <c:pt idx="8">
                  <c:v>3.8079999999999998</c:v>
                </c:pt>
                <c:pt idx="9">
                  <c:v>4.649</c:v>
                </c:pt>
                <c:pt idx="10">
                  <c:v>4.9829999999999997</c:v>
                </c:pt>
                <c:pt idx="11">
                  <c:v>7.069</c:v>
                </c:pt>
                <c:pt idx="12">
                  <c:v>3.22</c:v>
                </c:pt>
                <c:pt idx="13">
                  <c:v>5.9320000000000004</c:v>
                </c:pt>
                <c:pt idx="14">
                  <c:v>7.2949999999999999</c:v>
                </c:pt>
                <c:pt idx="15">
                  <c:v>3.6989999999999998</c:v>
                </c:pt>
                <c:pt idx="16">
                  <c:v>3.5539999999999998</c:v>
                </c:pt>
                <c:pt idx="17">
                  <c:v>2.1909999999999998</c:v>
                </c:pt>
                <c:pt idx="18">
                  <c:v>5.3440000000000003</c:v>
                </c:pt>
                <c:pt idx="19">
                  <c:v>3.4460000000000002</c:v>
                </c:pt>
                <c:pt idx="20">
                  <c:v>9.1660000000000004</c:v>
                </c:pt>
                <c:pt idx="21">
                  <c:v>4.3949999999999996</c:v>
                </c:pt>
                <c:pt idx="22">
                  <c:v>4.9829999999999997</c:v>
                </c:pt>
                <c:pt idx="23">
                  <c:v>5.758</c:v>
                </c:pt>
                <c:pt idx="24">
                  <c:v>4.141</c:v>
                </c:pt>
                <c:pt idx="25">
                  <c:v>6.6269999999999998</c:v>
                </c:pt>
                <c:pt idx="26">
                  <c:v>5.3440000000000003</c:v>
                </c:pt>
                <c:pt idx="27">
                  <c:v>3.4740000000000002</c:v>
                </c:pt>
                <c:pt idx="28">
                  <c:v>8.2439999999999998</c:v>
                </c:pt>
                <c:pt idx="29">
                  <c:v>4.0330000000000004</c:v>
                </c:pt>
                <c:pt idx="30">
                  <c:v>4.0609999999999999</c:v>
                </c:pt>
                <c:pt idx="31">
                  <c:v>4.0609999999999999</c:v>
                </c:pt>
                <c:pt idx="32">
                  <c:v>3.8879999999999999</c:v>
                </c:pt>
                <c:pt idx="33">
                  <c:v>3.78</c:v>
                </c:pt>
                <c:pt idx="34">
                  <c:v>5.3159999999999998</c:v>
                </c:pt>
                <c:pt idx="35">
                  <c:v>5.3440000000000003</c:v>
                </c:pt>
                <c:pt idx="36">
                  <c:v>7.5490000000000004</c:v>
                </c:pt>
                <c:pt idx="37">
                  <c:v>5.3159999999999998</c:v>
                </c:pt>
                <c:pt idx="38">
                  <c:v>5.3440000000000003</c:v>
                </c:pt>
                <c:pt idx="39">
                  <c:v>5.9320000000000004</c:v>
                </c:pt>
                <c:pt idx="40">
                  <c:v>4.649</c:v>
                </c:pt>
                <c:pt idx="41">
                  <c:v>4.649</c:v>
                </c:pt>
                <c:pt idx="42">
                  <c:v>4.649</c:v>
                </c:pt>
                <c:pt idx="43">
                  <c:v>4.7290000000000001</c:v>
                </c:pt>
                <c:pt idx="44">
                  <c:v>6.266</c:v>
                </c:pt>
                <c:pt idx="45">
                  <c:v>5.6779999999999999</c:v>
                </c:pt>
                <c:pt idx="46">
                  <c:v>4.0609999999999999</c:v>
                </c:pt>
                <c:pt idx="47">
                  <c:v>6.3739999999999997</c:v>
                </c:pt>
                <c:pt idx="48">
                  <c:v>8.8320000000000007</c:v>
                </c:pt>
                <c:pt idx="49">
                  <c:v>8.8320000000000007</c:v>
                </c:pt>
                <c:pt idx="50">
                  <c:v>6.9610000000000003</c:v>
                </c:pt>
                <c:pt idx="51">
                  <c:v>5.9320000000000004</c:v>
                </c:pt>
                <c:pt idx="52">
                  <c:v>7.2949999999999999</c:v>
                </c:pt>
                <c:pt idx="53">
                  <c:v>5.6779999999999999</c:v>
                </c:pt>
                <c:pt idx="54">
                  <c:v>5.3440000000000003</c:v>
                </c:pt>
                <c:pt idx="55">
                  <c:v>4.9829999999999997</c:v>
                </c:pt>
                <c:pt idx="56">
                  <c:v>9.1660000000000004</c:v>
                </c:pt>
                <c:pt idx="57">
                  <c:v>5.6779999999999999</c:v>
                </c:pt>
                <c:pt idx="58">
                  <c:v>6.3739999999999997</c:v>
                </c:pt>
                <c:pt idx="59">
                  <c:v>3.3660000000000001</c:v>
                </c:pt>
                <c:pt idx="60">
                  <c:v>4.649</c:v>
                </c:pt>
                <c:pt idx="61">
                  <c:v>3.4460000000000002</c:v>
                </c:pt>
                <c:pt idx="62">
                  <c:v>4.3949999999999996</c:v>
                </c:pt>
                <c:pt idx="63">
                  <c:v>5.9320000000000004</c:v>
                </c:pt>
                <c:pt idx="64">
                  <c:v>7.3230000000000004</c:v>
                </c:pt>
                <c:pt idx="65">
                  <c:v>4.9829999999999997</c:v>
                </c:pt>
                <c:pt idx="66">
                  <c:v>2.778</c:v>
                </c:pt>
                <c:pt idx="67">
                  <c:v>3.6989999999999998</c:v>
                </c:pt>
                <c:pt idx="68">
                  <c:v>8.3249999999999993</c:v>
                </c:pt>
                <c:pt idx="69">
                  <c:v>3.1120000000000001</c:v>
                </c:pt>
                <c:pt idx="70">
                  <c:v>3.78</c:v>
                </c:pt>
                <c:pt idx="71">
                  <c:v>8.4979999999999993</c:v>
                </c:pt>
                <c:pt idx="72">
                  <c:v>7.883</c:v>
                </c:pt>
                <c:pt idx="73">
                  <c:v>4.9829999999999997</c:v>
                </c:pt>
                <c:pt idx="74">
                  <c:v>5.3159999999999998</c:v>
                </c:pt>
                <c:pt idx="75">
                  <c:v>5.0629999999999997</c:v>
                </c:pt>
                <c:pt idx="76">
                  <c:v>2.1909999999999998</c:v>
                </c:pt>
                <c:pt idx="77">
                  <c:v>3.1120000000000001</c:v>
                </c:pt>
                <c:pt idx="78">
                  <c:v>7.5490000000000004</c:v>
                </c:pt>
                <c:pt idx="79">
                  <c:v>6.04</c:v>
                </c:pt>
                <c:pt idx="80">
                  <c:v>7.2949999999999999</c:v>
                </c:pt>
                <c:pt idx="81">
                  <c:v>3.5539999999999998</c:v>
                </c:pt>
                <c:pt idx="82">
                  <c:v>6.04</c:v>
                </c:pt>
                <c:pt idx="83">
                  <c:v>5.7859999999999996</c:v>
                </c:pt>
                <c:pt idx="84">
                  <c:v>5.9320000000000004</c:v>
                </c:pt>
                <c:pt idx="85">
                  <c:v>7.2149999999999999</c:v>
                </c:pt>
                <c:pt idx="86">
                  <c:v>4.649</c:v>
                </c:pt>
                <c:pt idx="87">
                  <c:v>7.069</c:v>
                </c:pt>
                <c:pt idx="88">
                  <c:v>1.9370000000000001</c:v>
                </c:pt>
                <c:pt idx="89">
                  <c:v>5.9320000000000004</c:v>
                </c:pt>
                <c:pt idx="90">
                  <c:v>1.9370000000000001</c:v>
                </c:pt>
                <c:pt idx="91">
                  <c:v>7.5490000000000004</c:v>
                </c:pt>
                <c:pt idx="92">
                  <c:v>7.5490000000000004</c:v>
                </c:pt>
                <c:pt idx="93">
                  <c:v>5.6779999999999999</c:v>
                </c:pt>
                <c:pt idx="94">
                  <c:v>7.883</c:v>
                </c:pt>
                <c:pt idx="95">
                  <c:v>5.3159999999999998</c:v>
                </c:pt>
                <c:pt idx="96">
                  <c:v>4.9829999999999997</c:v>
                </c:pt>
                <c:pt idx="97">
                  <c:v>5.3159999999999998</c:v>
                </c:pt>
                <c:pt idx="98">
                  <c:v>4.3949999999999996</c:v>
                </c:pt>
                <c:pt idx="99">
                  <c:v>6.3739999999999997</c:v>
                </c:pt>
                <c:pt idx="100">
                  <c:v>8.8320000000000007</c:v>
                </c:pt>
                <c:pt idx="101">
                  <c:v>4.9829999999999997</c:v>
                </c:pt>
                <c:pt idx="102">
                  <c:v>4.0330000000000004</c:v>
                </c:pt>
                <c:pt idx="103">
                  <c:v>5.9320000000000004</c:v>
                </c:pt>
                <c:pt idx="104">
                  <c:v>3.22</c:v>
                </c:pt>
                <c:pt idx="105">
                  <c:v>3.6989999999999998</c:v>
                </c:pt>
                <c:pt idx="106">
                  <c:v>6.0119999999999996</c:v>
                </c:pt>
                <c:pt idx="107">
                  <c:v>4.3949999999999996</c:v>
                </c:pt>
                <c:pt idx="108">
                  <c:v>6.266</c:v>
                </c:pt>
                <c:pt idx="109">
                  <c:v>4.649</c:v>
                </c:pt>
                <c:pt idx="110">
                  <c:v>4.3949999999999996</c:v>
                </c:pt>
                <c:pt idx="111">
                  <c:v>3.1120000000000001</c:v>
                </c:pt>
                <c:pt idx="112">
                  <c:v>3.3660000000000001</c:v>
                </c:pt>
                <c:pt idx="113">
                  <c:v>4.3949999999999996</c:v>
                </c:pt>
                <c:pt idx="114">
                  <c:v>9.1660000000000004</c:v>
                </c:pt>
                <c:pt idx="115">
                  <c:v>3.6989999999999998</c:v>
                </c:pt>
                <c:pt idx="116">
                  <c:v>6.5990000000000002</c:v>
                </c:pt>
                <c:pt idx="117">
                  <c:v>8.8320000000000007</c:v>
                </c:pt>
                <c:pt idx="118">
                  <c:v>6.6269999999999998</c:v>
                </c:pt>
                <c:pt idx="119">
                  <c:v>4.7290000000000001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059-954C-84B4-0D32BF856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"/>
          <c:min val="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solidFill>
              <a:srgbClr val="D2D2D7"/>
            </a:solidFill>
          </a:ln>
        </c:spPr>
        <c:txPr>
          <a:bodyPr/>
          <a:lstStyle/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"/>
          <c:min val="1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>
            <a:solidFill>
              <a:srgbClr val="D2D2D7"/>
            </a:solidFill>
          </a:ln>
        </c:spPr>
        <c:txPr>
          <a:bodyPr/>
          <a:lstStyle/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CSCI 3495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How scary is it?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Boo!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678121" cy="970800"/>
          </a:xfrm>
        </p:spPr>
        <p:txBody>
          <a:bodyPr wrap="square"/>
          <a:lstStyle/>
          <a:p>
            <a:pPr marL="0" indent="0">
              <a:buNone/>
            </a:pPr>
            <a:r>
              <a:rPr dirty="0">
                <a:solidFill/>
              </a:rPr>
              <a:t>Natural Language Processing &amp; Large Language Models</a:t>
            </a:r>
          </a:p>
          <a:p>
            <a:pPr marL="0" indent="0">
              <a:buNone/>
            </a:pPr>
            <a:r>
              <a:rPr dirty="0">
                <a:solidFill/>
              </a:rPr>
              <a:t>Week 4, Class 2  ·  Wed Sep 16,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rPr>
                <a:solidFill/>
              </a:rPr>
              <a:t>Source: original figure, the loss from the run we do in class</a:t>
            </a:r>
          </a:p>
        </p:txBody>
      </p:sp>
      <p:pic>
        <p:nvPicPr>
          <p:cNvPr id="7" name="Picture 6" descr="A person in a mask with a bloody knife&#10;&#10;AI-generated content may be incorrect.">
            <a:extLst>
              <a:ext uri="{FF2B5EF4-FFF2-40B4-BE49-F238E27FC236}">
                <a16:creationId xmlns:a16="http://schemas.microsoft.com/office/drawing/2014/main" id="{6C69D46E-B33F-7258-DC95-862B079A3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36" y="3039505"/>
            <a:ext cx="3397611" cy="1915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t sitting on a couch with a computer&#10;&#10;AI-generated content may be incorrect.">
            <a:extLst>
              <a:ext uri="{FF2B5EF4-FFF2-40B4-BE49-F238E27FC236}">
                <a16:creationId xmlns:a16="http://schemas.microsoft.com/office/drawing/2014/main" id="{807DC22F-92B4-AFF0-72C4-9C9E89C00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57" y="-1"/>
            <a:ext cx="5136543" cy="5136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081B9B-6730-D41A-7158-5DB1C3FC8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42" y="2893281"/>
            <a:ext cx="4010299" cy="2243261"/>
          </a:xfrm>
          <a:prstGeom prst="rect">
            <a:avLst/>
          </a:prstGeom>
        </p:spPr>
      </p:pic>
      <p:pic>
        <p:nvPicPr>
          <p:cNvPr id="11" name="Picture 10" descr="A black and white form with white text&#10;&#10;AI-generated content may be incorrect.">
            <a:extLst>
              <a:ext uri="{FF2B5EF4-FFF2-40B4-BE49-F238E27FC236}">
                <a16:creationId xmlns:a16="http://schemas.microsoft.com/office/drawing/2014/main" id="{8E3BFDFB-DB3B-4BAA-A5FB-41761F9EC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88" y="78518"/>
            <a:ext cx="2112437" cy="273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7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F038DD-1D8B-E409-6029-971396ADA4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9C1A5526-36A7-696F-5256-39F634E2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03"/>
          <a:stretch/>
        </p:blipFill>
        <p:spPr>
          <a:xfrm>
            <a:off x="0" y="11430"/>
            <a:ext cx="9144000" cy="5120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429EA2-7B41-2521-008B-96E1AFDB5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638" y="0"/>
            <a:ext cx="1900362" cy="1900362"/>
          </a:xfrm>
          <a:prstGeom prst="rect">
            <a:avLst/>
          </a:prstGeom>
        </p:spPr>
      </p:pic>
      <p:pic>
        <p:nvPicPr>
          <p:cNvPr id="10" name="Picture 9" descr="A person and person in red shirts&#10;&#10;AI-generated content may be incorrect.">
            <a:extLst>
              <a:ext uri="{FF2B5EF4-FFF2-40B4-BE49-F238E27FC236}">
                <a16:creationId xmlns:a16="http://schemas.microsoft.com/office/drawing/2014/main" id="{0B8462C9-0D23-881B-21CD-779F30045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83527" cy="1383527"/>
          </a:xfrm>
          <a:prstGeom prst="rect">
            <a:avLst/>
          </a:prstGeom>
        </p:spPr>
      </p:pic>
      <p:pic>
        <p:nvPicPr>
          <p:cNvPr id="12" name="Picture 11" descr="A group of men in an office&#10;&#10;AI-generated content may be incorrect.">
            <a:extLst>
              <a:ext uri="{FF2B5EF4-FFF2-40B4-BE49-F238E27FC236}">
                <a16:creationId xmlns:a16="http://schemas.microsoft.com/office/drawing/2014/main" id="{7399F332-921E-42BB-3FB8-2D0BEC574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181" y="4252045"/>
            <a:ext cx="1335819" cy="891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64ACA0-4C04-571B-24EF-95636DC22E55}"/>
              </a:ext>
            </a:extLst>
          </p:cNvPr>
          <p:cNvSpPr txBox="1"/>
          <p:nvPr/>
        </p:nvSpPr>
        <p:spPr>
          <a:xfrm rot="345418">
            <a:off x="-604299" y="3699168"/>
            <a:ext cx="12085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/>
              </a:rPr>
              <a:t>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BC1196-CDE2-6616-FD08-77E67EE29CAD}"/>
              </a:ext>
            </a:extLst>
          </p:cNvPr>
          <p:cNvSpPr txBox="1"/>
          <p:nvPr/>
        </p:nvSpPr>
        <p:spPr>
          <a:xfrm rot="4016965">
            <a:off x="108093" y="1052027"/>
            <a:ext cx="12085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/>
              </a:rPr>
              <a:t>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4C4B0-6AE7-C805-8C27-E45AFC07C525}"/>
              </a:ext>
            </a:extLst>
          </p:cNvPr>
          <p:cNvSpPr txBox="1"/>
          <p:nvPr/>
        </p:nvSpPr>
        <p:spPr>
          <a:xfrm rot="16356459">
            <a:off x="6249889" y="3589776"/>
            <a:ext cx="12085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/>
              </a:rPr>
              <a:t>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05CFC-3EF5-26BE-5568-788D00239B6A}"/>
              </a:ext>
            </a:extLst>
          </p:cNvPr>
          <p:cNvSpPr txBox="1"/>
          <p:nvPr/>
        </p:nvSpPr>
        <p:spPr>
          <a:xfrm rot="21433344">
            <a:off x="5334247" y="49647"/>
            <a:ext cx="21027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/>
              </a:rPr>
              <a:t>🎊</a:t>
            </a:r>
          </a:p>
        </p:txBody>
      </p:sp>
      <p:pic>
        <p:nvPicPr>
          <p:cNvPr id="22" name="Picture 21" descr="A yellow emoji giving a thumbs up&#10;&#10;AI-generated content may be incorrect.">
            <a:extLst>
              <a:ext uri="{FF2B5EF4-FFF2-40B4-BE49-F238E27FC236}">
                <a16:creationId xmlns:a16="http://schemas.microsoft.com/office/drawing/2014/main" id="{32842028-0FFD-14A3-EDEB-C26388D46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81" y="152566"/>
            <a:ext cx="3351295" cy="1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6FCB29-7AEE-62AB-E015-E253C374E9E2}"/>
              </a:ext>
            </a:extLst>
          </p:cNvPr>
          <p:cNvSpPr txBox="1">
            <a:spLocks/>
          </p:cNvSpPr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/>
              </a:rPr>
              <a:t>Ohh</a:t>
            </a:r>
            <a:r>
              <a:rPr lang="en-US" dirty="0">
                <a:solidFill/>
              </a:rPr>
              <a:t> No!!!!</a:t>
            </a:r>
          </a:p>
        </p:txBody>
      </p:sp>
      <p:pic>
        <p:nvPicPr>
          <p:cNvPr id="7" name="Picture 6" descr="A close-up of a notice of a lawsuit&#10;&#10;AI-generated content may be incorrect.">
            <a:extLst>
              <a:ext uri="{FF2B5EF4-FFF2-40B4-BE49-F238E27FC236}">
                <a16:creationId xmlns:a16="http://schemas.microsoft.com/office/drawing/2014/main" id="{72FCF220-6D66-E712-AB77-D6407EDD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377" y="1013449"/>
            <a:ext cx="5845623" cy="3653514"/>
          </a:xfrm>
          <a:prstGeom prst="rect">
            <a:avLst/>
          </a:prstGeom>
        </p:spPr>
      </p:pic>
      <p:pic>
        <p:nvPicPr>
          <p:cNvPr id="9" name="Picture 8" descr="A dog sitting on a person's back&#10;&#10;AI-generated content may be incorrect.">
            <a:extLst>
              <a:ext uri="{FF2B5EF4-FFF2-40B4-BE49-F238E27FC236}">
                <a16:creationId xmlns:a16="http://schemas.microsoft.com/office/drawing/2014/main" id="{CC30333C-9C3A-70BA-D382-8B8464485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47906"/>
            <a:ext cx="2794000" cy="37846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358B109-F043-2104-0B96-D598690DFB22}"/>
              </a:ext>
            </a:extLst>
          </p:cNvPr>
          <p:cNvSpPr txBox="1">
            <a:spLocks/>
          </p:cNvSpPr>
          <p:nvPr/>
        </p:nvSpPr>
        <p:spPr>
          <a:xfrm>
            <a:off x="457199" y="1545468"/>
            <a:ext cx="8424407" cy="2907261"/>
          </a:xfrm>
          <a:prstGeom prst="rect">
            <a:avLst/>
          </a:prstGeom>
          <a:solidFill>
            <a:schemeClr val="lt1">
              <a:alpha val="74000"/>
            </a:scheme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7200" dirty="0">
                <a:solidFill>
                  <a:srgbClr val="FF0000"/>
                </a:solidFill>
                <a:latin typeface="Chiller" panose="020F0502020204030204" pitchFamily="34" charset="0"/>
                <a:cs typeface="Chiller" panose="020F0502020204030204" pitchFamily="34" charset="0"/>
              </a:rPr>
              <a:t>Netflix users are filing lawsuits cause Netflix is recommending too scary movies.</a:t>
            </a:r>
          </a:p>
        </p:txBody>
      </p:sp>
    </p:spTree>
    <p:extLst>
      <p:ext uri="{BB962C8B-B14F-4D97-AF65-F5344CB8AC3E}">
        <p14:creationId xmlns:p14="http://schemas.microsoft.com/office/powerpoint/2010/main" val="62801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ED179-A591-CA97-F434-E5B925DC96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9574" y="1078992"/>
            <a:ext cx="7783635" cy="3453251"/>
          </a:xfrm>
        </p:spPr>
        <p:txBody>
          <a:bodyPr/>
          <a:lstStyle/>
          <a:p>
            <a:r>
              <a:rPr lang="en-US" dirty="0">
                <a:solidFill/>
              </a:rPr>
              <a:t>Detect the scariness of movies based on move reviews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BCA014-0863-998C-2EFE-C3756DE0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>
                <a:solidFill/>
              </a:rPr>
              <a:t>Your first assignment:</a:t>
            </a:r>
            <a:endParaRPr dirty="0"/>
          </a:p>
        </p:txBody>
      </p:sp>
      <p:pic>
        <p:nvPicPr>
          <p:cNvPr id="7" name="Picture 6" descr="A movie poster of a group of people&#10;&#10;AI-generated content may be incorrect.">
            <a:extLst>
              <a:ext uri="{FF2B5EF4-FFF2-40B4-BE49-F238E27FC236}">
                <a16:creationId xmlns:a16="http://schemas.microsoft.com/office/drawing/2014/main" id="{6B14E4B3-AB22-9EB0-C53C-D995905A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228" y="1672059"/>
            <a:ext cx="2120034" cy="3139771"/>
          </a:xfrm>
          <a:prstGeom prst="rect">
            <a:avLst/>
          </a:prstGeom>
        </p:spPr>
      </p:pic>
      <p:pic>
        <p:nvPicPr>
          <p:cNvPr id="9" name="Picture 8" descr="A poster of a movie&#10;&#10;AI-generated content may be incorrect.">
            <a:extLst>
              <a:ext uri="{FF2B5EF4-FFF2-40B4-BE49-F238E27FC236}">
                <a16:creationId xmlns:a16="http://schemas.microsoft.com/office/drawing/2014/main" id="{76A07DD2-9167-8BF1-6B98-2932FBCE1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0248"/>
            <a:ext cx="2102571" cy="3103394"/>
          </a:xfrm>
          <a:prstGeom prst="rect">
            <a:avLst/>
          </a:prstGeom>
        </p:spPr>
      </p:pic>
      <p:pic>
        <p:nvPicPr>
          <p:cNvPr id="11" name="Picture 10" descr="A person standing on a street corner&#10;&#10;AI-generated content may be incorrect.">
            <a:extLst>
              <a:ext uri="{FF2B5EF4-FFF2-40B4-BE49-F238E27FC236}">
                <a16:creationId xmlns:a16="http://schemas.microsoft.com/office/drawing/2014/main" id="{898CF4DC-BE38-A44E-C522-8395A9045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865" y="1653870"/>
            <a:ext cx="2342269" cy="313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0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>
                <a:solidFill/>
              </a:rPr>
              <a:t>Example Reviews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112710"/>
            <a:ext cx="4041648" cy="3521583"/>
          </a:xfrm>
          <a:prstGeom prst="roundRect">
            <a:avLst>
              <a:gd name="adj" fmla="val 337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59014"/>
            <a:ext cx="3675888" cy="2827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 dirty="0">
                <a:solidFill>
                  <a:srgbClr val="86868B"/>
                </a:solidFill>
                <a:latin typeface="Helvetica Neue"/>
              </a:rPr>
              <a:t>LOW SIGNAL, 2012</a:t>
            </a:r>
          </a:p>
          <a:p>
            <a:pPr marL="0" indent="0">
              <a:spcAft>
                <a:spcPts val="300"/>
              </a:spcAft>
              <a:buNone/>
            </a:pPr>
            <a:r>
              <a:rPr sz="1600" b="0" u="none" dirty="0">
                <a:solidFill>
                  <a:srgbClr val="1D1D1F"/>
                </a:solidFill>
                <a:latin typeface="Menlo"/>
              </a:rPr>
              <a:t>"The score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chilling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 and never lets up. That long hallway shot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unsettling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 I found the whole thing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terrifying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 The sound design alone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ominous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 The third act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gory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."</a:t>
            </a:r>
          </a:p>
          <a:p>
            <a:pPr marL="0" indent="0">
              <a:spcBef>
                <a:spcPts val="1400"/>
              </a:spcBef>
              <a:spcAft>
                <a:spcPts val="200"/>
              </a:spcAft>
              <a:buNone/>
            </a:pPr>
            <a:r>
              <a:rPr sz="4160" b="1" dirty="0">
                <a:solidFill>
                  <a:schemeClr val="tx1">
                    <a:lumMod val="50000"/>
                  </a:schemeClr>
                </a:solidFill>
                <a:latin typeface="Helvetica Neue"/>
              </a:rPr>
              <a:t>9.6</a:t>
            </a:r>
            <a:r>
              <a:rPr sz="1200" dirty="0">
                <a:solidFill>
                  <a:srgbClr val="86868B"/>
                </a:solidFill>
                <a:latin typeface="Helvetica Neue"/>
              </a:rPr>
              <a:t>  out of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1112710"/>
            <a:ext cx="4041648" cy="3521583"/>
          </a:xfrm>
          <a:prstGeom prst="roundRect">
            <a:avLst>
              <a:gd name="adj" fmla="val 337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28032" y="1259014"/>
            <a:ext cx="3675888" cy="2581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 dirty="0">
                <a:solidFill>
                  <a:srgbClr val="86868B"/>
                </a:solidFill>
                <a:latin typeface="Helvetica Neue"/>
              </a:rPr>
              <a:t>SALT CHAPEL, 2015</a:t>
            </a:r>
          </a:p>
          <a:p>
            <a:pPr marL="0" indent="0">
              <a:spcAft>
                <a:spcPts val="300"/>
              </a:spcAft>
              <a:buNone/>
            </a:pPr>
            <a:r>
              <a:rPr sz="1600" b="0" u="none" dirty="0">
                <a:solidFill>
                  <a:srgbClr val="1D1D1F"/>
                </a:solidFill>
                <a:latin typeface="Menlo"/>
              </a:rPr>
              <a:t>"It gets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silly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 once the twist lands. A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tame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 retread of better films. Every beat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predictable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 The third act is </a:t>
            </a:r>
            <a:r>
              <a:rPr sz="1600" b="1" u="sng" dirty="0">
                <a:solidFill>
                  <a:srgbClr val="1D1D1F"/>
                </a:solidFill>
                <a:latin typeface="Menlo"/>
              </a:rPr>
              <a:t>brutal</a:t>
            </a:r>
            <a:r>
              <a:rPr sz="1600" b="0" u="none" dirty="0">
                <a:solidFill>
                  <a:srgbClr val="1D1D1F"/>
                </a:solidFill>
                <a:latin typeface="Menlo"/>
              </a:rPr>
              <a:t>. Ninety minutes, no padding."</a:t>
            </a:r>
          </a:p>
          <a:p>
            <a:pPr marL="0" indent="0">
              <a:spcBef>
                <a:spcPts val="1400"/>
              </a:spcBef>
              <a:spcAft>
                <a:spcPts val="200"/>
              </a:spcAft>
              <a:buNone/>
            </a:pPr>
            <a:r>
              <a:rPr sz="4160" b="1" dirty="0">
                <a:solidFill>
                  <a:schemeClr val="tx1">
                    <a:lumMod val="50000"/>
                  </a:schemeClr>
                </a:solidFill>
                <a:latin typeface="Helvetica Neue"/>
              </a:rPr>
              <a:t>1.6</a:t>
            </a:r>
            <a:r>
              <a:rPr sz="1200" dirty="0">
                <a:solidFill>
                  <a:srgbClr val="86868B"/>
                </a:solidFill>
                <a:latin typeface="Helvetica Neue"/>
              </a:rPr>
              <a:t>  out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two films from the course corpus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>
                <a:solidFill/>
              </a:rPr>
              <a:t>A list of adjectives is a feature 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6524"/>
            <a:ext cx="8229600" cy="189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ts val="3190"/>
              </a:lnSpc>
              <a:buNone/>
            </a:pPr>
            <a:r>
              <a:rPr sz="2200" b="0" u="none">
                <a:solidFill>
                  <a:srgbClr val="1D1D1F"/>
                </a:solidFill>
                <a:latin typeface="Helvetica Neue"/>
              </a:rPr>
              <a:t>"The score is </a:t>
            </a:r>
            <a:r>
              <a:rPr sz="2200" b="1" u="sng">
                <a:solidFill>
                  <a:srgbClr val="1D1D1F"/>
                </a:solidFill>
                <a:latin typeface="Helvetica Neue"/>
              </a:rPr>
              <a:t>chilling</a:t>
            </a:r>
            <a:r>
              <a:rPr sz="2200" b="0" u="none">
                <a:solidFill>
                  <a:srgbClr val="1D1D1F"/>
                </a:solidFill>
                <a:latin typeface="Helvetica Neue"/>
              </a:rPr>
              <a:t> and never lets up. That long hallway shot is </a:t>
            </a:r>
            <a:r>
              <a:rPr sz="2200" b="1" u="sng">
                <a:solidFill>
                  <a:srgbClr val="1D1D1F"/>
                </a:solidFill>
                <a:latin typeface="Helvetica Neue"/>
              </a:rPr>
              <a:t>unsettling</a:t>
            </a:r>
            <a:r>
              <a:rPr sz="2200" b="0" u="none">
                <a:solidFill>
                  <a:srgbClr val="1D1D1F"/>
                </a:solidFill>
                <a:latin typeface="Helvetica Neue"/>
              </a:rPr>
              <a:t>. I found the whole thing </a:t>
            </a:r>
            <a:r>
              <a:rPr sz="2200" b="1" u="sng">
                <a:solidFill>
                  <a:srgbClr val="1D1D1F"/>
                </a:solidFill>
                <a:latin typeface="Helvetica Neue"/>
              </a:rPr>
              <a:t>terrifying</a:t>
            </a:r>
            <a:r>
              <a:rPr sz="2200" b="0" u="none">
                <a:solidFill>
                  <a:srgbClr val="1D1D1F"/>
                </a:solidFill>
                <a:latin typeface="Helvetica Neue"/>
              </a:rPr>
              <a:t>. The sound design alone is </a:t>
            </a:r>
            <a:r>
              <a:rPr sz="2200" b="1" u="sng">
                <a:solidFill>
                  <a:srgbClr val="1D1D1F"/>
                </a:solidFill>
                <a:latin typeface="Helvetica Neue"/>
              </a:rPr>
              <a:t>ominous</a:t>
            </a:r>
            <a:r>
              <a:rPr sz="2200" b="0" u="none">
                <a:solidFill>
                  <a:srgbClr val="1D1D1F"/>
                </a:solidFill>
                <a:latin typeface="Helvetica Neue"/>
              </a:rPr>
              <a:t>. The third act is </a:t>
            </a:r>
            <a:r>
              <a:rPr sz="2200" b="1" u="sng">
                <a:solidFill>
                  <a:srgbClr val="1D1D1F"/>
                </a:solidFill>
                <a:latin typeface="Helvetica Neue"/>
              </a:rPr>
              <a:t>gory</a:t>
            </a:r>
            <a:r>
              <a:rPr sz="2200" b="0" u="none">
                <a:solidFill>
                  <a:srgbClr val="1D1D1F"/>
                </a:solidFill>
                <a:latin typeface="Helvetica Neue"/>
              </a:rPr>
              <a:t>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41364"/>
            <a:ext cx="2645664" cy="1559115"/>
          </a:xfrm>
          <a:prstGeom prst="roundRect">
            <a:avLst>
              <a:gd name="adj" fmla="val 762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187668"/>
            <a:ext cx="2279904" cy="1266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750" b="1" spc="70">
                <a:solidFill>
                  <a:srgbClr val="86868B"/>
                </a:solidFill>
                <a:latin typeface="Helvetica Neue"/>
              </a:rPr>
              <a:t>FEAR</a:t>
            </a:r>
          </a:p>
          <a:p>
            <a:pPr marL="0" indent="0">
              <a:spcAft>
                <a:spcPts val="300"/>
              </a:spcAft>
              <a:buNone/>
            </a:pPr>
            <a:r>
              <a:rPr sz="850" b="0" u="none">
                <a:solidFill>
                  <a:srgbClr val="1D1D1F"/>
                </a:solidFill>
                <a:latin typeface="Menlo"/>
              </a:rPr>
              <a:t>terrifying chilling eerie creepy unsettling haunting ominous sinister</a:t>
            </a:r>
          </a:p>
          <a:p>
            <a:pPr marL="0" indent="0">
              <a:spcBef>
                <a:spcPts val="1400"/>
              </a:spcBef>
              <a:spcAft>
                <a:spcPts val="200"/>
              </a:spcAft>
              <a:buNone/>
            </a:pPr>
            <a:r>
              <a:rPr sz="2210" b="1">
                <a:solidFill>
                  <a:srgbClr val="1D1D1F"/>
                </a:solidFill>
                <a:latin typeface="Helvetica Neue"/>
              </a:rPr>
              <a:t>4</a:t>
            </a:r>
            <a:r>
              <a:rPr sz="900">
                <a:solidFill>
                  <a:srgbClr val="86868B"/>
                </a:solidFill>
                <a:latin typeface="Helvetica Neue"/>
              </a:rPr>
              <a:t> 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9168" y="3041364"/>
            <a:ext cx="2645664" cy="1559115"/>
          </a:xfrm>
          <a:prstGeom prst="roundRect">
            <a:avLst>
              <a:gd name="adj" fmla="val 762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2048" y="3187668"/>
            <a:ext cx="2279904" cy="1266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750" b="1" spc="70">
                <a:solidFill>
                  <a:srgbClr val="86868B"/>
                </a:solidFill>
                <a:latin typeface="Helvetica Neue"/>
              </a:rPr>
              <a:t>GORE</a:t>
            </a:r>
          </a:p>
          <a:p>
            <a:pPr marL="0" indent="0">
              <a:spcAft>
                <a:spcPts val="300"/>
              </a:spcAft>
              <a:buNone/>
            </a:pPr>
            <a:r>
              <a:rPr sz="850" b="0" u="none">
                <a:solidFill>
                  <a:srgbClr val="1D1D1F"/>
                </a:solidFill>
                <a:latin typeface="Menlo"/>
              </a:rPr>
              <a:t>gory bloody gruesome brutal grisly</a:t>
            </a:r>
          </a:p>
          <a:p>
            <a:pPr marL="0" indent="0">
              <a:spcBef>
                <a:spcPts val="1400"/>
              </a:spcBef>
              <a:spcAft>
                <a:spcPts val="200"/>
              </a:spcAft>
              <a:buNone/>
            </a:pPr>
            <a:r>
              <a:rPr sz="2210" b="1">
                <a:solidFill>
                  <a:srgbClr val="86868B"/>
                </a:solidFill>
                <a:latin typeface="Helvetica Neue"/>
              </a:rPr>
              <a:t>1</a:t>
            </a:r>
            <a:r>
              <a:rPr sz="900">
                <a:solidFill>
                  <a:srgbClr val="86868B"/>
                </a:solidFill>
                <a:latin typeface="Helvetica Neue"/>
              </a:rPr>
              <a:t>  found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1136" y="3041364"/>
            <a:ext cx="2645664" cy="1559115"/>
          </a:xfrm>
          <a:prstGeom prst="roundRect">
            <a:avLst>
              <a:gd name="adj" fmla="val 762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24016" y="3187668"/>
            <a:ext cx="2279904" cy="1266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750" b="1" spc="70">
                <a:solidFill>
                  <a:srgbClr val="86868B"/>
                </a:solidFill>
                <a:latin typeface="Helvetica Neue"/>
              </a:rPr>
              <a:t>DULL</a:t>
            </a:r>
          </a:p>
          <a:p>
            <a:pPr marL="0" indent="0">
              <a:spcAft>
                <a:spcPts val="300"/>
              </a:spcAft>
              <a:buNone/>
            </a:pPr>
            <a:r>
              <a:rPr sz="850" b="0" u="none">
                <a:solidFill>
                  <a:srgbClr val="1D1D1F"/>
                </a:solidFill>
                <a:latin typeface="Menlo"/>
              </a:rPr>
              <a:t>boring predictable tedious silly tame</a:t>
            </a:r>
          </a:p>
          <a:p>
            <a:pPr marL="0" indent="0">
              <a:spcBef>
                <a:spcPts val="1400"/>
              </a:spcBef>
              <a:spcAft>
                <a:spcPts val="200"/>
              </a:spcAft>
              <a:buNone/>
            </a:pPr>
            <a:r>
              <a:rPr sz="2210" b="1">
                <a:solidFill>
                  <a:srgbClr val="86868B"/>
                </a:solidFill>
                <a:latin typeface="Helvetica Neue"/>
              </a:rPr>
              <a:t>0</a:t>
            </a:r>
            <a:r>
              <a:rPr sz="900">
                <a:solidFill>
                  <a:srgbClr val="86868B"/>
                </a:solidFill>
                <a:latin typeface="Helvetica Neue"/>
              </a:rPr>
              <a:t> 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the three word lists we use all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>
                <a:solidFill/>
              </a:rPr>
              <a:t>Data Pipeline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625392"/>
            <a:ext cx="1741932" cy="1782988"/>
          </a:xfrm>
          <a:prstGeom prst="roundRect">
            <a:avLst>
              <a:gd name="adj" fmla="val 62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888739"/>
            <a:ext cx="1412748" cy="1453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REVIEWS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120 films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6431" y="2361438"/>
            <a:ext cx="286024" cy="310896"/>
          </a:xfrm>
          <a:prstGeom prst="rightArrow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19756" y="1625392"/>
            <a:ext cx="1741932" cy="1782988"/>
          </a:xfrm>
          <a:prstGeom prst="roundRect">
            <a:avLst>
              <a:gd name="adj" fmla="val 62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4348" y="1888739"/>
            <a:ext cx="1412748" cy="1453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COUNTS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fear gore dull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28987" y="2361438"/>
            <a:ext cx="286024" cy="310896"/>
          </a:xfrm>
          <a:prstGeom prst="rightArrow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82312" y="1625392"/>
            <a:ext cx="1741932" cy="1782988"/>
          </a:xfrm>
          <a:prstGeom prst="roundRect">
            <a:avLst>
              <a:gd name="adj" fmla="val 62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46904" y="1888739"/>
            <a:ext cx="1412748" cy="1453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 dirty="0">
                <a:solidFill>
                  <a:srgbClr val="86868B"/>
                </a:solidFill>
                <a:latin typeface="Helvetica Neue"/>
              </a:rPr>
              <a:t>TENSOR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sz="1600" b="0" dirty="0">
                <a:solidFill>
                  <a:srgbClr val="1D1D1F"/>
                </a:solidFill>
                <a:latin typeface="Menlo"/>
              </a:rPr>
              <a:t>120 x 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91543" y="2361438"/>
            <a:ext cx="286024" cy="310896"/>
          </a:xfrm>
          <a:prstGeom prst="rightArrow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4868" y="1625392"/>
            <a:ext cx="1741932" cy="1782988"/>
          </a:xfrm>
          <a:prstGeom prst="roundRect">
            <a:avLst>
              <a:gd name="adj" fmla="val 629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9460" y="1888739"/>
            <a:ext cx="1412748" cy="1453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SCARINESS</a:t>
            </a:r>
          </a:p>
          <a:p>
            <a:pPr marL="0" indent="0" algn="l">
              <a:lnSpc>
                <a:spcPts val="2400"/>
              </a:lnSpc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w . x + b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457200" y="3627836"/>
            <a:ext cx="8229600" cy="237744"/>
          </a:xfrm>
          <a:prstGeom prst="leftArrow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387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0" dirty="0">
                <a:solidFill>
                  <a:srgbClr val="4C72B0"/>
                </a:solidFill>
                <a:latin typeface="Helvetica Neue"/>
              </a:rPr>
              <a:t>the loss blames w and b, and backward() works out by how much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original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>
                <a:solidFill/>
              </a:rPr>
              <a:t>Linear Regression learns Dull Words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3959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Helvetica Neue"/>
              </a:rPr>
              <a:t>what one more word of each kind is worth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89888"/>
          <a:ext cx="3959352" cy="3278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27448" y="1078992"/>
            <a:ext cx="39593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Helvetica Neue"/>
              </a:rPr>
              <a:t>120 films, none of them held back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27448" y="1389888"/>
          <a:ext cx="3959352" cy="3278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the 200-step run in today's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>
                <a:solidFill/>
              </a:rPr>
              <a:t>Break</a:t>
            </a:r>
          </a:p>
        </p:txBody>
      </p:sp>
      <p:pic>
        <p:nvPicPr>
          <p:cNvPr id="5" name="Picture 4" descr="Five minutes. Then the notebook is you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course-standard break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>
                <a:solidFill/>
              </a:rPr>
              <a:t>Your 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04447"/>
            <a:ext cx="4041648" cy="1138110"/>
          </a:xfrm>
          <a:prstGeom prst="roundRect">
            <a:avLst>
              <a:gd name="adj" fmla="val 104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50751"/>
            <a:ext cx="3675888" cy="845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THE TASK</a:t>
            </a:r>
          </a:p>
          <a:p>
            <a:pPr marL="0" indent="0">
              <a:spcAft>
                <a:spcPts val="300"/>
              </a:spcAft>
              <a:buNone/>
            </a:pPr>
            <a:r>
              <a:rPr sz="1650" b="0" u="none">
                <a:solidFill>
                  <a:srgbClr val="1D1D1F"/>
                </a:solidFill>
                <a:latin typeface="Menlo"/>
              </a:rPr>
              <a:t>comedy_reviews.csv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140 films, predict funniness.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04447"/>
            <a:ext cx="4041648" cy="1138110"/>
          </a:xfrm>
          <a:prstGeom prst="roundRect">
            <a:avLst>
              <a:gd name="adj" fmla="val 104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28032" y="2450751"/>
            <a:ext cx="3675888" cy="8455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THE RULE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400" b="0" u="none">
                <a:solidFill>
                  <a:srgbClr val="1D1D1F"/>
                </a:solidFill>
                <a:latin typeface="Menlo"/>
              </a:rPr>
              <a:t>funny.txt crude.txt flat.txt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Loss near 0.80. Judge it against 3.135.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>
                <a:solidFill/>
              </a:rPr>
              <a:t>Source: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1111</Words>
  <Application>Microsoft Macintosh PowerPoint</Application>
  <PresentationFormat>On-screen Show (16:9)</PresentationFormat>
  <Paragraphs>64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Helvetica Neue</vt:lpstr>
      <vt:lpstr>Playfair Display</vt:lpstr>
      <vt:lpstr>Menlo</vt:lpstr>
      <vt:lpstr>Arial</vt:lpstr>
      <vt:lpstr>Roboto</vt:lpstr>
      <vt:lpstr>Chiller</vt:lpstr>
      <vt:lpstr>Roboto Light</vt:lpstr>
      <vt:lpstr>Office Theme</vt:lpstr>
      <vt:lpstr>CSCI 3495 How scary is it?  Boo!</vt:lpstr>
      <vt:lpstr>PowerPoint Presentation</vt:lpstr>
      <vt:lpstr>PowerPoint Presentation</vt:lpstr>
      <vt:lpstr>PowerPoint Presentation</vt:lpstr>
      <vt:lpstr>Your first assignment:</vt:lpstr>
      <vt:lpstr>Example Reviews</vt:lpstr>
      <vt:lpstr>A list of adjectives is a feature extractor</vt:lpstr>
      <vt:lpstr>Data Pipeline</vt:lpstr>
      <vt:lpstr>Linear Regression learns Dull Words</vt:lpstr>
      <vt:lpstr>Break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4</cp:revision>
  <dcterms:modified xsi:type="dcterms:W3CDTF">2026-09-12T19:33:10Z</dcterms:modified>
</cp:coreProperties>
</file>