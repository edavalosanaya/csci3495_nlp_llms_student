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Relationship Id="rId48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canal lock moves a boat one gated chamber at a time, and each gate decides what flows through. Ask the class what plays the part of the water once we call this an LSTM.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Monday we averaged the word vectors, which threw the order away. Today the model reads one token at a time and carries a memory forward, so not good and good not can finally differ.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six tokens; only the model on the right can tell who sat on what.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Watch one time step at a time: read the next character plus the incoming memory, update the memory, emit a prediction. Every box is the SAME network; the animation loops in slideshow mode.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whole animation collapses to this: the hidden layer's activation feeds back as part of its own next input. That single dashed loop is the memory.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H_t is a running summary of everything seen so far; the prediction at step t is a function of h_t. It carries subject-verb agreement, an open quote, sentiment so far, whatever the task needs.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Autoregressive generation: sample a word, feed it back in as the next input, repeat. Exactly what your char-RNN dinosaur lab does after the break.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loop, different head: emit one output PER time step and you get sequence labeling, here part-of-speech tags for "Janet will back the bill".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Or keep ONLY the last hidden state, which has read everything, and hand it to last class's feedforward classifier. Spam filter, sentiment, topic: one vector in, one label out.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Backprop through time multiplies many Jacobians; factors &lt; 1 shrink the gradient to zero, &gt; 1 explode it. Factors &lt; 1 the gradient vanishes (no long-range learning); factors &gt; 1 it explodes (unstable).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LSTM (Hochreiter &amp; Schmidhuber, 1997): a cell-state conveyor belt guarded by three sigmoid gates. Forget erases, input admits the tanh candidate, output reveals a filtered copy as h_t. Why it helps: the cell state is updated mostly by addition, and only where the gates allow it. Gradients flow back along the maroon belt without vanishing, so the LSTM remembers long-range context far better than a vanilla RNN.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conveyor belt from the last slide is the top c path. Find the three sigmoid gates guarding it: f (forget old memory), i (admit the tanh candidate g), o (expose h_t).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reference, not memorization: eight lines, one per arrow of Fig. 13.13. Notice the pattern repeating: every gate is a sigmoid mask followed by an element-wise product. Every gate is the same recipe: (U ht-1 + W xt), a soft 0..1 mask, then (element-wise product). Names match the gate diagram two slides back.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From the outside, barely at all: a feedforward unit (a) takes x, an RNN unit (b) adds h_t-1, an LSTM unit (c) just adds the context line c. Same socket, smarter unit; the rest of the network never notices.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Gates plus recurrence give you an encoder that reads a sequence into a state and a decoder that writes one back out. That shape is the direct ancestor of everything in Week 5.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today on one slide: the three jobs you already saw (a, b, c) plus the new one, (d) encoder-decoder: one RNN squeezes the input into a context, another unrolls the output. That is your reading.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 13.15's panel (d) with real words: read "the green witch arrived", hand over ONE hidden state (the green h_n), and unroll Spanish from it. Your reading (Sutskever et al. 2014) built exactly this with LSTMs; feeding the source reversed lifted BLEU from 25.9 to 30.6.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PCA of the encoder's final hidden states. Swap John and Mary and the point changes cluster (left); rewriting active as passive barely moves it (right). Word order matters, a bag of words could not do this.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fixed vector must hold the whole input; translation quality measurably drops on long sentences. The Transformer drops recurrence entirely, attention everywhere. That is Week 5.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read step by step with limited parallelism; Transformers attend all at once and dominate LLMs. RNNs are the conceptual bridge from MLPs to attention, the ideas carry straight into the Transformer.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Clear your desk: closed-book quiz over Week 4 lecture + seq2seq (Sutskever et al., 2014), ~10 minutes.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It can, and some of them are good. This is the lab: a character-level RNN with nothing but a list of real names, generating names that were never in it.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Fill in three TODOs, the RNN forward pass, training pairs, and autoregressive sampling.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Loss drops and the RNN invents new dinosaur-shaped names, some real, some delightfully made up. Seeded (torch.manual_seed(1)). Your samples will match, some real, some delightfully made up.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5 min. Trade your favorite generated names and vote on the most plausible dinosaur.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RNNs loop a shared-weight cell with a hidden memory; LSTMs gate it; seq2seq motivates attention. One loop, one memory: gates rescued it, seq2seq stretched it, and the bottleneck sets up next week.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week: attention lets the decoder look back at all encoder states, and the Transformer drops recurrence.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jpg"/><Relationship Id="rId4" Type="http://schemas.openxmlformats.org/officeDocument/2006/relationships/hyperlink" Target="https://www.youtube.com/watch?v=5dMXyiWddYs" TargetMode="Externa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Sequence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4, Class 2</a:t>
            </a:r>
          </a:p>
        </p:txBody>
      </p:sp>
      <p:pic>
        <p:nvPicPr>
          <p:cNvPr id="5" name="Picture 4" descr="Sequence Mod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oday we read a sequence one step at a time, keeping a memor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79106"/>
            <a:ext cx="9144000" cy="13701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From averaging to reading in order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Today we read a sequence one step at a time, keeping a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https://images.unsplash.com/photo-1541963463532-d68292c34b19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Last class threw away order</a:t>
            </a:r>
          </a:p>
        </p:txBody>
      </p:sp>
      <p:pic>
        <p:nvPicPr>
          <p:cNvPr id="5" name="Picture 4" descr="Last class threw away 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7" y="1078992"/>
            <a:ext cx="77850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recurrent idea</a:t>
            </a:r>
          </a:p>
        </p:txBody>
      </p:sp>
      <p:pic>
        <p:nvPicPr>
          <p:cNvPr id="5" name="Picture 4" descr="The recurrent ide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(visuals/_gen_rnn_gif.py)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book's formal view: one loop</a:t>
            </a:r>
          </a:p>
        </p:txBody>
      </p:sp>
      <p:pic>
        <p:nvPicPr>
          <p:cNvPr id="5" name="Picture 4" descr="The book's formal view: one 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129"/>
            <a:ext cx="8595360" cy="3186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 (after Elman 1990)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the hidden state is for</a:t>
            </a:r>
          </a:p>
        </p:txBody>
      </p:sp>
      <p:pic>
        <p:nvPicPr>
          <p:cNvPr id="5" name="Picture 4" descr="What the hidden state is f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68177"/>
            <a:ext cx="8595360" cy="2810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1: language modeling and generation</a:t>
            </a:r>
          </a:p>
        </p:txBody>
      </p:sp>
      <p:pic>
        <p:nvPicPr>
          <p:cNvPr id="5" name="Picture 4" descr="Job 1: language modeling and gene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042" y="1078992"/>
            <a:ext cx="608191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2: label every token</a:t>
            </a:r>
          </a:p>
        </p:txBody>
      </p:sp>
      <p:pic>
        <p:nvPicPr>
          <p:cNvPr id="5" name="Picture 4" descr="Job 2: label every 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1567" y="1078992"/>
            <a:ext cx="48808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Job 3: classify the whole sequence</a:t>
            </a:r>
          </a:p>
        </p:txBody>
      </p:sp>
      <p:pic>
        <p:nvPicPr>
          <p:cNvPr id="5" name="Picture 4" descr="Job 3: classify the whole seque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061" y="1078992"/>
            <a:ext cx="630187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vanilla RNNs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vanishing gradient problem</a:t>
            </a:r>
          </a:p>
        </p:txBody>
      </p:sp>
      <p:pic>
        <p:nvPicPr>
          <p:cNvPr id="5" name="Picture 4" descr="The vanishing gradient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15740"/>
            <a:ext cx="8595360" cy="2115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Gating: the fix behind LSTMs</a:t>
            </a:r>
          </a:p>
        </p:txBody>
      </p:sp>
      <p:pic>
        <p:nvPicPr>
          <p:cNvPr id="5" name="Picture 4" descr="Video: LSTM networks (MATLAB). Opens https://www.youtube.com/watch?v=5dMXyiWddYs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LSTM networks (MATLAB)</a:t>
            </a:r>
          </a:p>
        </p:txBody>
      </p:sp>
      <p:pic>
        <p:nvPicPr>
          <p:cNvPr id="7" name="Picture 6" descr="Gating: the fix behind LSTM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30212"/>
            <a:ext cx="8595360" cy="34145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Inside the LSTM cell</a:t>
            </a:r>
          </a:p>
        </p:txBody>
      </p:sp>
      <p:pic>
        <p:nvPicPr>
          <p:cNvPr id="5" name="Picture 4" descr="Inside the LSTM ce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968" y="1078992"/>
            <a:ext cx="686206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LSTM, in equations</a:t>
            </a:r>
          </a:p>
        </p:txBody>
      </p:sp>
      <p:pic>
        <p:nvPicPr>
          <p:cNvPr id="5" name="Picture 4" descr="The LSTM, in equati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3921"/>
            <a:ext cx="8595360" cy="3579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13.20-13.27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different is an LSTM, really?</a:t>
            </a:r>
          </a:p>
        </p:txBody>
      </p:sp>
      <p:pic>
        <p:nvPicPr>
          <p:cNvPr id="5" name="Picture 4" descr="How different is an LSTM, really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098" y="1078992"/>
            <a:ext cx="67018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ates and recurrence combine into encoder-decoder sequence model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286250"/>
            <a:ext cx="9144000" cy="1371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Putting it together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Gates and recurrence combine into encoder-decoder sequence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https://images.unsplash.com/photo-1612611741189-a9b9eb01d515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family, four architectures</a:t>
            </a:r>
          </a:p>
        </p:txBody>
      </p:sp>
      <p:pic>
        <p:nvPicPr>
          <p:cNvPr id="5" name="Picture 4" descr="One family, four architectu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862" y="1078992"/>
            <a:ext cx="46942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matters: seq2seq</a:t>
            </a:r>
          </a:p>
        </p:txBody>
      </p:sp>
      <p:pic>
        <p:nvPicPr>
          <p:cNvPr id="5" name="Picture 4" descr="Why this matters: seq2seq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context vector means something</a:t>
            </a:r>
          </a:p>
        </p:txBody>
      </p:sp>
      <p:pic>
        <p:nvPicPr>
          <p:cNvPr id="5" name="Picture 4" descr="The context vector means some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409" y="1078992"/>
            <a:ext cx="7203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Sutskever, Vinyals &amp; Le 2014 (arXiv:1409.3215), Fig.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bottleneck (and a teaser)</a:t>
            </a:r>
          </a:p>
        </p:txBody>
      </p:sp>
      <p:pic>
        <p:nvPicPr>
          <p:cNvPr id="5" name="Picture 4" descr="The bottleneck (and a teas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82586"/>
            <a:ext cx="8595360" cy="27818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RNNs vs. what's coming</a:t>
            </a:r>
          </a:p>
        </p:txBody>
      </p:sp>
      <p:pic>
        <p:nvPicPr>
          <p:cNvPr id="5" name="Picture 4" descr="RNNs vs. what's com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6" y="1078992"/>
            <a:ext cx="791166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4</a:t>
            </a:r>
          </a:p>
        </p:txBody>
      </p:sp>
      <p:pic>
        <p:nvPicPr>
          <p:cNvPr id="5" name="Picture 4" descr="Quiz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quizzes/quiz-04.md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har-RNN dinosaur name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Your char-level RNN is about to find 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Can a network trained only on real dinosaur names invent brand-new ones?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Your char-level RNN is about to find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https://images.unsplash.com/photo-1606856110002-d0991ce78250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char-level RNN</a:t>
            </a:r>
          </a:p>
        </p:txBody>
      </p:sp>
      <p:pic>
        <p:nvPicPr>
          <p:cNvPr id="5" name="Picture 4" descr="A char-level RN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613" y="1078992"/>
            <a:ext cx="58487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weeks/week-04/class-02/exercise/char_rnn.py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20" y="1078992"/>
            <a:ext cx="7701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seeded (torch.manual_seed(1))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Vote on the best invented name</a:t>
            </a:r>
          </a:p>
        </p:txBody>
      </p:sp>
      <p:pic>
        <p:nvPicPr>
          <p:cNvPr id="5" name="Picture 4" descr="Vote on the best invented na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63" y="1078992"/>
            <a:ext cx="772587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49" y="1078992"/>
            <a:ext cx="80217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Next class</a:t>
            </a:r>
          </a:p>
        </p:txBody>
      </p:sp>
      <p:pic>
        <p:nvPicPr>
          <p:cNvPr id="5" name="Picture 4" descr="Next c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15" y="1078992"/>
            <a:ext cx="8419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