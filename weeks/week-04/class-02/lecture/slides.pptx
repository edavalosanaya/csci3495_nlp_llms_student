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3"/>
  </p:sldMasterIdLst>
  <p:notesMasterIdLst>
    <p:notesMasterId r:id="rId4"/>
  </p:notesMasterIdLst>
  <p:sldIdLst>
    <p:sldId id="256" r:id="rId21"/>
    <p:sldId id="257" r:id="rId22"/>
    <p:sldId id="258" r:id="rId20"/>
    <p:sldId id="259" r:id="rId19"/>
    <p:sldId id="260" r:id="rId18"/>
    <p:sldId id="261" r:id="rId17"/>
    <p:sldId id="262" r:id="rId16"/>
    <p:sldId id="263" r:id="rId15"/>
    <p:sldId id="264" r:id="rId14"/>
    <p:sldId id="265" r:id="rId13"/>
    <p:sldId id="266" r:id="rId12"/>
    <p:sldId id="267" r:id="rId11"/>
    <p:sldId id="268" r:id="rId10"/>
    <p:sldId id="269" r:id="rId9"/>
    <p:sldId id="270" r:id="rId8"/>
    <p:sldId id="271" r:id="rId7"/>
    <p:sldId id="272" r:id="rId6"/>
    <p:sldId id="273" r:id="rId5"/>
    <p:sldId id="274" r:id="rId39"/>
    <p:sldId id="275" r:id="rId40"/>
    <p:sldId id="276" r:id="rId41"/>
    <p:sldId id="277" r:id="rId42"/>
    <p:sldId id="278" r:id="rId43"/>
    <p:sldId id="279" r:id="rId44"/>
    <p:sldId id="280" r:id="rId45"/>
    <p:sldId id="281" r:id="rId46"/>
    <p:sldId id="282" r:id="rId47"/>
    <p:sldId id="283" r:id="rId48"/>
    <p:sldId id="284" r:id="rId49"/>
    <p:sldId id="285" r:id="rId50"/>
  </p:sldIdLst>
  <p:sldSz cy="5143500" cx="9144000"/>
  <p:notesSz cx="6858000" cy="9144000"/>
  <p:embeddedFontLst>
    <p:embeddedFont>
      <p:font typeface="Roboto"/>
      <p:regular r:id="rId23"/>
      <p:bold r:id="rId24"/>
      <p:italic r:id="rId25"/>
      <p:boldItalic r:id="rId26"/>
    </p:embeddedFont>
    <p:embeddedFont>
      <p:font typeface="Playfair Display"/>
      <p:regular r:id="rId27"/>
      <p:bold r:id="rId28"/>
      <p:italic r:id="rId29"/>
      <p:boldItalic r:id="rId30"/>
    </p:embeddedFont>
    <p:embeddedFont>
      <p:font typeface="Roboto Mono Light"/>
      <p:regular r:id="rId31"/>
      <p:bold r:id="rId32"/>
      <p:italic r:id="rId33"/>
      <p:boldItalic r:id="rId34"/>
    </p:embeddedFont>
    <p:embeddedFont>
      <p:font typeface="Roboto Light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8.xml"/><Relationship Id="rId6" Type="http://schemas.openxmlformats.org/officeDocument/2006/relationships/slide" Target="slides/slide17.xml"/><Relationship Id="rId7" Type="http://schemas.openxmlformats.org/officeDocument/2006/relationships/slide" Target="slides/slide16.xml"/><Relationship Id="rId8" Type="http://schemas.openxmlformats.org/officeDocument/2006/relationships/slide" Target="slides/slide15.xml"/><Relationship Id="rId9" Type="http://schemas.openxmlformats.org/officeDocument/2006/relationships/slide" Target="slides/slide14.xml"/><Relationship Id="rId10" Type="http://schemas.openxmlformats.org/officeDocument/2006/relationships/slide" Target="slides/slide13.xml"/><Relationship Id="rId11" Type="http://schemas.openxmlformats.org/officeDocument/2006/relationships/slide" Target="slides/slide12.xml"/><Relationship Id="rId12" Type="http://schemas.openxmlformats.org/officeDocument/2006/relationships/slide" Target="slides/slide11.xml"/><Relationship Id="rId13" Type="http://schemas.openxmlformats.org/officeDocument/2006/relationships/slide" Target="slides/slide10.xml"/><Relationship Id="rId14" Type="http://schemas.openxmlformats.org/officeDocument/2006/relationships/slide" Target="slides/slide9.xml"/><Relationship Id="rId15" Type="http://schemas.openxmlformats.org/officeDocument/2006/relationships/slide" Target="slides/slide8.xml"/><Relationship Id="rId16" Type="http://schemas.openxmlformats.org/officeDocument/2006/relationships/slide" Target="slides/slide7.xml"/><Relationship Id="rId17" Type="http://schemas.openxmlformats.org/officeDocument/2006/relationships/slide" Target="slides/slide6.xml"/><Relationship Id="rId18" Type="http://schemas.openxmlformats.org/officeDocument/2006/relationships/slide" Target="slides/slide5.xml"/><Relationship Id="rId19" Type="http://schemas.openxmlformats.org/officeDocument/2006/relationships/slide" Target="slides/slide4.xml"/><Relationship Id="rId20" Type="http://schemas.openxmlformats.org/officeDocument/2006/relationships/slide" Target="slides/slide3.xml"/><Relationship Id="rId21" Type="http://schemas.openxmlformats.org/officeDocument/2006/relationships/slide" Target="slides/slide1.xml"/><Relationship Id="rId22" Type="http://schemas.openxmlformats.org/officeDocument/2006/relationships/slide" Target="slides/slide2.xml"/><Relationship Id="rId23" Type="http://schemas.openxmlformats.org/officeDocument/2006/relationships/font" Target="fonts/Roboto-regular.fntdata"/><Relationship Id="rId24" Type="http://schemas.openxmlformats.org/officeDocument/2006/relationships/font" Target="fonts/Roboto-bold.fntdata"/><Relationship Id="rId25" Type="http://schemas.openxmlformats.org/officeDocument/2006/relationships/font" Target="fonts/Roboto-italic.fntdata"/><Relationship Id="rId26" Type="http://schemas.openxmlformats.org/officeDocument/2006/relationships/font" Target="fonts/Roboto-boldItalic.fntdata"/><Relationship Id="rId27" Type="http://schemas.openxmlformats.org/officeDocument/2006/relationships/font" Target="fonts/PlayfairDisplay-regular.fntdata"/><Relationship Id="rId28" Type="http://schemas.openxmlformats.org/officeDocument/2006/relationships/font" Target="fonts/PlayfairDisplay-bold.fntdata"/><Relationship Id="rId29" Type="http://schemas.openxmlformats.org/officeDocument/2006/relationships/font" Target="fonts/PlayfairDisplay-italic.fntdata"/><Relationship Id="rId30" Type="http://schemas.openxmlformats.org/officeDocument/2006/relationships/font" Target="fonts/PlayfairDisplay-boldItalic.fntdata"/><Relationship Id="rId31" Type="http://schemas.openxmlformats.org/officeDocument/2006/relationships/font" Target="fonts/RobotoMonoLight-regular.fntdata"/><Relationship Id="rId32" Type="http://schemas.openxmlformats.org/officeDocument/2006/relationships/font" Target="fonts/RobotoMonoLight-bold.fntdata"/><Relationship Id="rId33" Type="http://schemas.openxmlformats.org/officeDocument/2006/relationships/font" Target="fonts/RobotoMonoLight-italic.fntdata"/><Relationship Id="rId34" Type="http://schemas.openxmlformats.org/officeDocument/2006/relationships/font" Target="fonts/RobotoMonoLight-boldItalic.fntdata"/><Relationship Id="rId35" Type="http://schemas.openxmlformats.org/officeDocument/2006/relationships/font" Target="fonts/RobotoLight-regular.fntdata"/><Relationship Id="rId36" Type="http://schemas.openxmlformats.org/officeDocument/2006/relationships/font" Target="fonts/RobotoLight-bold.fntdata"/><Relationship Id="rId37" Type="http://schemas.openxmlformats.org/officeDocument/2006/relationships/font" Target="fonts/RobotoLight-italic.fntdata"/><Relationship Id="rId38" Type="http://schemas.openxmlformats.org/officeDocument/2006/relationships/font" Target="fonts/RobotoLight-boldItalic.fntdata"/><Relationship Id="rId39" Type="http://schemas.openxmlformats.org/officeDocument/2006/relationships/slide" Target="slides/slide19.xml"/><Relationship Id="rId40" Type="http://schemas.openxmlformats.org/officeDocument/2006/relationships/slide" Target="slides/slide20.xml"/><Relationship Id="rId41" Type="http://schemas.openxmlformats.org/officeDocument/2006/relationships/slide" Target="slides/slide21.xml"/><Relationship Id="rId42" Type="http://schemas.openxmlformats.org/officeDocument/2006/relationships/slide" Target="slides/slide22.xml"/><Relationship Id="rId43" Type="http://schemas.openxmlformats.org/officeDocument/2006/relationships/slide" Target="slides/slide23.xml"/><Relationship Id="rId44" Type="http://schemas.openxmlformats.org/officeDocument/2006/relationships/slide" Target="slides/slide24.xml"/><Relationship Id="rId45" Type="http://schemas.openxmlformats.org/officeDocument/2006/relationships/slide" Target="slides/slide25.xml"/><Relationship Id="rId46" Type="http://schemas.openxmlformats.org/officeDocument/2006/relationships/slide" Target="slides/slide26.xml"/><Relationship Id="rId47" Type="http://schemas.openxmlformats.org/officeDocument/2006/relationships/slide" Target="slides/slide27.xml"/><Relationship Id="rId48" Type="http://schemas.openxmlformats.org/officeDocument/2006/relationships/slide" Target="slides/slide28.xml"/><Relationship Id="rId49" Type="http://schemas.openxmlformats.org/officeDocument/2006/relationships/slide" Target="slides/slide29.xml"/><Relationship Id="rId50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523" y="685800"/>
            <a:ext cx="4571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3390300"/>
            <a:ext cx="91440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b="13732" l="600" r="-600" t="43847"/>
          <a:stretch/>
        </p:blipFill>
        <p:spPr>
          <a:xfrm>
            <a:off x="0" y="-70472"/>
            <a:ext cx="9198797" cy="346077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2 Columns">
  <p:cSld name="2_Portfolio Thre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idx="1" type="body"/>
          </p:nvPr>
        </p:nvSpPr>
        <p:spPr>
          <a:xfrm>
            <a:off x="50957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8" name="Google Shape;18;p3"/>
          <p:cNvSpPr txBox="1"/>
          <p:nvPr>
            <p:ph idx="2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3" type="body"/>
          </p:nvPr>
        </p:nvSpPr>
        <p:spPr>
          <a:xfrm>
            <a:off x="482712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3 Columns">
  <p:cSld name="1_Slide with Placeholder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22" name="Google Shape;22;p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2" type="body"/>
          </p:nvPr>
        </p:nvSpPr>
        <p:spPr>
          <a:xfrm>
            <a:off x="5521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3" type="body"/>
          </p:nvPr>
        </p:nvSpPr>
        <p:spPr>
          <a:xfrm>
            <a:off x="33374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5" name="Google Shape;25;p4"/>
          <p:cNvSpPr txBox="1"/>
          <p:nvPr>
            <p:ph idx="4" type="body"/>
          </p:nvPr>
        </p:nvSpPr>
        <p:spPr>
          <a:xfrm>
            <a:off x="6160800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">
  <p:cSld name="Cover Slide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 with Logo">
  <p:cSld name="Cover Slide_2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3514" y="628706"/>
            <a:ext cx="4936973" cy="3885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Acknowledgments Slide">
  <p:cSld name="Cover Slide_1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Font typeface="Playfair Display"/>
              <a:buNone/>
              <a:defRPr i="0" sz="5600" u="none" cap="none" strike="noStrik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4" name="Google Shape;34;p7"/>
          <p:cNvSpPr txBox="1"/>
          <p:nvPr>
            <p:ph idx="1" type="subTitle"/>
          </p:nvPr>
        </p:nvSpPr>
        <p:spPr>
          <a:xfrm>
            <a:off x="509521" y="1401113"/>
            <a:ext cx="5120100" cy="1558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27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 only">
  <p:cSld name="Custom Layou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7" name="Google Shape;37;p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Big Concept Slide">
  <p:cSld name="Slide with Placehold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title"/>
          </p:nvPr>
        </p:nvSpPr>
        <p:spPr>
          <a:xfrm>
            <a:off x="509577" y="2245519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509577" y="3154509"/>
            <a:ext cx="6737700" cy="953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">
  <p:cSld name="Large Picture with Logo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3" name="Google Shape;43;p10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44" name="Google Shape;44;p10"/>
          <p:cNvPicPr preferRelativeResize="0"/>
          <p:nvPr/>
        </p:nvPicPr>
        <p:blipFill rotWithShape="1">
          <a:blip r:embed="rId2">
            <a:alphaModFix/>
          </a:blip>
          <a:srcRect b="2009" l="27412" r="6551" t="0"/>
          <a:stretch/>
        </p:blipFill>
        <p:spPr>
          <a:xfrm>
            <a:off x="7006675" y="-56025"/>
            <a:ext cx="2176574" cy="484604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0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1">
  <p:cSld name="Large Picture with Logo_1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8" name="Google Shape;48;p11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2">
  <p:cSld name="Large Picture with Logo_1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2" name="Google Shape;52;p12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53" name="Google Shape;53;p12"/>
          <p:cNvPicPr preferRelativeResize="0"/>
          <p:nvPr/>
        </p:nvPicPr>
        <p:blipFill rotWithShape="1">
          <a:blip r:embed="rId2">
            <a:alphaModFix/>
          </a:blip>
          <a:srcRect b="0" l="27412" r="6551" t="0"/>
          <a:stretch/>
        </p:blipFill>
        <p:spPr>
          <a:xfrm>
            <a:off x="7006675" y="-57150"/>
            <a:ext cx="2137324" cy="4856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12"/>
          <p:cNvPicPr preferRelativeResize="0"/>
          <p:nvPr/>
        </p:nvPicPr>
        <p:blipFill rotWithShape="1">
          <a:blip r:embed="rId3">
            <a:alphaModFix/>
          </a:blip>
          <a:srcRect b="0" l="8950" r="0" t="0"/>
          <a:stretch/>
        </p:blipFill>
        <p:spPr>
          <a:xfrm>
            <a:off x="7006665" y="-57150"/>
            <a:ext cx="6633784" cy="4856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2"/>
          <p:cNvPicPr preferRelativeResize="0"/>
          <p:nvPr/>
        </p:nvPicPr>
        <p:blipFill rotWithShape="1">
          <a:blip r:embed="rId4">
            <a:alphaModFix/>
          </a:blip>
          <a:srcRect b="0" l="39028" r="0" t="0"/>
          <a:stretch/>
        </p:blipFill>
        <p:spPr>
          <a:xfrm>
            <a:off x="7006676" y="-57150"/>
            <a:ext cx="4442373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2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3">
  <p:cSld name="Large Picture with Logo_1_1_1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9" name="Google Shape;59;p13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 b="0" l="24210" r="1252" t="0"/>
          <a:stretch/>
        </p:blipFill>
        <p:spPr>
          <a:xfrm>
            <a:off x="7006675" y="-57150"/>
            <a:ext cx="5430948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4">
  <p:cSld name="Large Picture with Logo_1_1_1_1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4" name="Google Shape;64;p1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2">
            <a:alphaModFix/>
          </a:blip>
          <a:srcRect b="0" l="34525" r="0" t="0"/>
          <a:stretch/>
        </p:blipFill>
        <p:spPr>
          <a:xfrm>
            <a:off x="7010075" y="-57150"/>
            <a:ext cx="2543048" cy="4856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">
  <p:cSld name="3_Placeholder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9" name="Google Shape;69;p15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0" name="Google Shape;70;p15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 1">
  <p:cSld name="3_Placeholder_1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3" name="Google Shape;73;p16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Single Statistic">
  <p:cSld name="1_Placeholder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type="title"/>
          </p:nvPr>
        </p:nvSpPr>
        <p:spPr>
          <a:xfrm>
            <a:off x="454066" y="182433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4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8" name="Google Shape;78;p17"/>
          <p:cNvSpPr txBox="1"/>
          <p:nvPr>
            <p:ph idx="2" type="subTitle"/>
          </p:nvPr>
        </p:nvSpPr>
        <p:spPr>
          <a:xfrm>
            <a:off x="454066" y="3127509"/>
            <a:ext cx="8353200" cy="715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3" type="subTitle"/>
          </p:nvPr>
        </p:nvSpPr>
        <p:spPr>
          <a:xfrm>
            <a:off x="4838166" y="1824350"/>
            <a:ext cx="38664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4" type="title"/>
          </p:nvPr>
        </p:nvSpPr>
        <p:spPr>
          <a:xfrm>
            <a:off x="509577" y="837514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Multiple Statistics">
  <p:cSld name="1_Placeholder_1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type="title"/>
          </p:nvPr>
        </p:nvSpPr>
        <p:spPr>
          <a:xfrm>
            <a:off x="454066" y="75948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4" name="Google Shape;84;p18"/>
          <p:cNvSpPr txBox="1"/>
          <p:nvPr>
            <p:ph idx="2" type="subTitle"/>
          </p:nvPr>
        </p:nvSpPr>
        <p:spPr>
          <a:xfrm>
            <a:off x="4759893" y="759488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3" type="title"/>
          </p:nvPr>
        </p:nvSpPr>
        <p:spPr>
          <a:xfrm>
            <a:off x="454066" y="2037533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5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6" name="Google Shape;86;p18"/>
          <p:cNvSpPr txBox="1"/>
          <p:nvPr>
            <p:ph idx="4" type="subTitle"/>
          </p:nvPr>
        </p:nvSpPr>
        <p:spPr>
          <a:xfrm>
            <a:off x="4759893" y="2037533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5" type="title"/>
          </p:nvPr>
        </p:nvSpPr>
        <p:spPr>
          <a:xfrm>
            <a:off x="454066" y="343770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6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6" type="subTitle"/>
          </p:nvPr>
        </p:nvSpPr>
        <p:spPr>
          <a:xfrm>
            <a:off x="4759893" y="3437709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Quote">
  <p:cSld name="CUSTOM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91" name="Google Shape;91;p19"/>
          <p:cNvSpPr/>
          <p:nvPr/>
        </p:nvSpPr>
        <p:spPr>
          <a:xfrm>
            <a:off x="5748887" y="1561152"/>
            <a:ext cx="1718100" cy="219300"/>
          </a:xfrm>
          <a:prstGeom prst="rect">
            <a:avLst/>
          </a:prstGeom>
          <a:solidFill>
            <a:srgbClr val="738D33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9"/>
          <p:cNvSpPr/>
          <p:nvPr/>
        </p:nvSpPr>
        <p:spPr>
          <a:xfrm>
            <a:off x="7467434" y="1561152"/>
            <a:ext cx="1718100" cy="219300"/>
          </a:xfrm>
          <a:prstGeom prst="rect">
            <a:avLst/>
          </a:prstGeom>
          <a:solidFill>
            <a:srgbClr val="625578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9"/>
          <p:cNvSpPr/>
          <p:nvPr/>
        </p:nvSpPr>
        <p:spPr>
          <a:xfrm>
            <a:off x="0" y="1561152"/>
            <a:ext cx="1718100" cy="219300"/>
          </a:xfrm>
          <a:prstGeom prst="rect">
            <a:avLst/>
          </a:prstGeom>
          <a:solidFill>
            <a:srgbClr val="FFB60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9"/>
          <p:cNvSpPr/>
          <p:nvPr/>
        </p:nvSpPr>
        <p:spPr>
          <a:xfrm>
            <a:off x="1718076" y="1561152"/>
            <a:ext cx="1718100" cy="219300"/>
          </a:xfrm>
          <a:prstGeom prst="rect">
            <a:avLst/>
          </a:prstGeom>
          <a:solidFill>
            <a:srgbClr val="498DA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9"/>
          <p:cNvSpPr txBox="1"/>
          <p:nvPr/>
        </p:nvSpPr>
        <p:spPr>
          <a:xfrm>
            <a:off x="3589051" y="975950"/>
            <a:ext cx="1965900" cy="8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0">
                <a:solidFill>
                  <a:srgbClr val="818387"/>
                </a:solidFill>
              </a:rPr>
              <a:t>“</a:t>
            </a:r>
            <a:endParaRPr b="1" sz="12000">
              <a:solidFill>
                <a:srgbClr val="818387"/>
              </a:solidFill>
            </a:endParaRPr>
          </a:p>
        </p:txBody>
      </p:sp>
      <p:sp>
        <p:nvSpPr>
          <p:cNvPr id="96" name="Google Shape;96;p19"/>
          <p:cNvSpPr txBox="1"/>
          <p:nvPr>
            <p:ph type="title"/>
          </p:nvPr>
        </p:nvSpPr>
        <p:spPr>
          <a:xfrm>
            <a:off x="1682308" y="2130769"/>
            <a:ext cx="5779500" cy="1962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7" name="Google Shape;97;p19"/>
          <p:cNvSpPr txBox="1"/>
          <p:nvPr>
            <p:ph idx="2" type="subTitle"/>
          </p:nvPr>
        </p:nvSpPr>
        <p:spPr>
          <a:xfrm>
            <a:off x="3300470" y="3999056"/>
            <a:ext cx="2543100" cy="384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700"/>
              </a:spcBef>
              <a:spcAft>
                <a:spcPts val="0"/>
              </a:spcAft>
              <a:buNone/>
              <a:defRPr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Title Slide" showMasterSp="0">
  <p:cSld name="13_Title Slide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/>
          <p:nvPr>
            <p:ph idx="2" type="pic"/>
          </p:nvPr>
        </p:nvSpPr>
        <p:spPr>
          <a:xfrm>
            <a:off x="192505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20"/>
          <p:cNvSpPr/>
          <p:nvPr>
            <p:ph idx="3" type="pic"/>
          </p:nvPr>
        </p:nvSpPr>
        <p:spPr>
          <a:xfrm>
            <a:off x="1997242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20"/>
          <p:cNvSpPr/>
          <p:nvPr>
            <p:ph idx="4" type="pic"/>
          </p:nvPr>
        </p:nvSpPr>
        <p:spPr>
          <a:xfrm>
            <a:off x="3801980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2" name="Google Shape;102;p20"/>
          <p:cNvSpPr/>
          <p:nvPr>
            <p:ph idx="5" type="pic"/>
          </p:nvPr>
        </p:nvSpPr>
        <p:spPr>
          <a:xfrm>
            <a:off x="5606716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20"/>
          <p:cNvSpPr/>
          <p:nvPr>
            <p:ph idx="6" type="pic"/>
          </p:nvPr>
        </p:nvSpPr>
        <p:spPr>
          <a:xfrm>
            <a:off x="7411453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 1">
  <p:cSld name="1_Cover Page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/>
          <p:nvPr/>
        </p:nvSpPr>
        <p:spPr>
          <a:xfrm>
            <a:off x="-53437" y="3390300"/>
            <a:ext cx="91974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" name="Google Shape;106;p21"/>
          <p:cNvPicPr preferRelativeResize="0"/>
          <p:nvPr/>
        </p:nvPicPr>
        <p:blipFill rotWithShape="1">
          <a:blip r:embed="rId2">
            <a:alphaModFix/>
          </a:blip>
          <a:srcRect b="13732" l="0" r="-563" t="43844"/>
          <a:stretch/>
        </p:blipFill>
        <p:spPr>
          <a:xfrm>
            <a:off x="-53437" y="-70462"/>
            <a:ext cx="9250875" cy="3460759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1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700" lIns="25700" spcFirstLastPara="1" rIns="25700" wrap="square" tIns="25700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9pPr>
          </a:lstStyle>
          <a:p/>
        </p:txBody>
      </p:sp>
      <p:sp>
        <p:nvSpPr>
          <p:cNvPr id="108" name="Google Shape;108;p21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  <p:sp>
        <p:nvSpPr>
          <p:cNvPr id="109" name="Google Shape;109;p21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800"/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09577" y="1401113"/>
            <a:ext cx="80058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Roboto"/>
              <a:buNone/>
              <a:defRPr i="0" sz="22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None/>
              <a:defRPr i="0" sz="15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None/>
              <a:defRPr i="0" sz="13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None/>
              <a:defRPr i="0" sz="11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sz="5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1">
            <a:alphaModFix/>
          </a:blip>
          <a:srcRect b="0" l="0" r="0" t="35296"/>
          <a:stretch/>
        </p:blipFill>
        <p:spPr>
          <a:xfrm>
            <a:off x="0" y="4794384"/>
            <a:ext cx="9144000" cy="34911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5.gif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4.jpg"/><Relationship Id="rId3" Type="http://schemas.openxmlformats.org/officeDocument/2006/relationships/hyperlink" Target="https://www.youtube.com/watch?v=5dMXyiWddYs" TargetMode="External"/><Relationship Id="rId4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9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4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marL="0" indent="0">
              <a:buNone/>
            </a:pPr>
            <a:r>
              <a:t>CSCI 3495</a:t>
            </a:r>
          </a:p>
          <a:p>
            <a:pPr marL="0" indent="0">
              <a:buNone/>
            </a:pPr>
            <a:r>
              <a:t>Sequence Models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926" y="3549825"/>
            <a:ext cx="6080610" cy="970800"/>
          </a:xfrm>
        </p:spPr>
        <p:txBody>
          <a:bodyPr wrap="square"/>
          <a:lstStyle/>
          <a:p>
            <a:pPr marL="0" indent="0">
              <a:buNone/>
            </a:pPr>
            <a:r>
              <a:t>Natural Language Processing &amp; Large Language Models</a:t>
            </a:r>
          </a:p>
          <a:p>
            <a:pPr marL="0" indent="0">
              <a:buNone/>
            </a:pPr>
            <a:r>
              <a:t>Week 4, Class 2</a:t>
            </a:r>
          </a:p>
        </p:txBody>
      </p:sp>
      <p:pic>
        <p:nvPicPr>
          <p:cNvPr id="5" name="Picture 4" descr="A canal lock moves a boat one gated chamber at a time, and each gate decides what flows through. Ask the class what plays the part of the water once we call this an LSTM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36" y="3474720"/>
            <a:ext cx="1975104" cy="14813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777777"/>
                </a:solidFill>
              </a:defRPr>
            </a:pPr>
            <a:r>
              <a:t>Source: Jaggery, Geograph Britain and Ireland, CC BY-SA 2.0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Today we read a sequence one step at a time, keeping a memory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4279106"/>
            <a:ext cx="9144000" cy="1370171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4000" b="1">
                <a:solidFill>
                  <a:srgbClr val="FFFFFF"/>
                </a:solidFill>
              </a:rPr>
              <a:t>From averaging to reading in order</a:t>
            </a:r>
          </a:p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Today we read a sequence one step at a time, keeping a memory.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https://images.unsplash.com/photo-1541963463532-d68292c34b19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Last class threw away order</a:t>
            </a:r>
          </a:p>
        </p:txBody>
      </p:sp>
      <p:pic>
        <p:nvPicPr>
          <p:cNvPr id="5" name="Picture 4" descr="Same six tokens; only the model on the right can tell who sat on wha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51419"/>
            <a:ext cx="8595360" cy="264416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recurrent idea</a:t>
            </a:r>
          </a:p>
        </p:txBody>
      </p:sp>
      <p:pic>
        <p:nvPicPr>
          <p:cNvPr id="5" name="Picture 4" descr="Watch one time step at a time: read the next character plus the incoming memory, update the memory, emit a prediction. Every box is the SAME network; the animation loops in slideshow mod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843" y="1078992"/>
            <a:ext cx="8144314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animation (visuals/_gen_rnn_gif.py)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book's formal view: one loop</a:t>
            </a:r>
          </a:p>
        </p:txBody>
      </p:sp>
      <p:pic>
        <p:nvPicPr>
          <p:cNvPr id="5" name="Picture 4" descr="The whole animation collapses to this: the hidden layer's activation feeds back as part of its own next input. That single dashed loop is the memory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29"/>
            <a:ext cx="8595360" cy="318674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Jurafsky &amp; Martin, SLP3 (Jan 2026 draft), Fig. 13.1 (after Elman 1990)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the hidden state is for</a:t>
            </a:r>
          </a:p>
        </p:txBody>
      </p:sp>
      <p:pic>
        <p:nvPicPr>
          <p:cNvPr id="5" name="Picture 4" descr="h_t is a running summary of everything seen so far; the prediction at step t is a function of h_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72085"/>
            <a:ext cx="8595360" cy="32028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Job 1: language modeling and generation</a:t>
            </a:r>
          </a:p>
        </p:txBody>
      </p:sp>
      <p:pic>
        <p:nvPicPr>
          <p:cNvPr id="5" name="Picture 4" descr="Autoregressive generation: sample a word, feed it back in as the next input, repeat. Exactly what your char-RNN dinosaur lab does after the break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1042" y="1078992"/>
            <a:ext cx="6081916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Jurafsky &amp; Martin, SLP3 (Jan 2026 draft), Fig. 13.9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Job 2: label every token</a:t>
            </a:r>
          </a:p>
        </p:txBody>
      </p:sp>
      <p:pic>
        <p:nvPicPr>
          <p:cNvPr id="5" name="Picture 4" descr="Same loop, different head: emit one output PER time step and you get sequence labeling, here part-of-speech tags for &quot;Janet will back the bill&quot;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1567" y="1078992"/>
            <a:ext cx="4880866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Jurafsky &amp; Martin, SLP3 (Jan 2026 draft), Fig. 13.7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Job 3: classify the whole sequence</a:t>
            </a:r>
          </a:p>
        </p:txBody>
      </p:sp>
      <p:pic>
        <p:nvPicPr>
          <p:cNvPr id="5" name="Picture 4" descr="Or keep ONLY the last hidden state, which has read everything, and hand it to last class's feedforward classifier. Spam filter, sentiment, topic: one vector in, one label ou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1061" y="1078992"/>
            <a:ext cx="6301877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Jurafsky &amp; Martin, SLP3 (Jan 2026 draft), Fig. 13.8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74650"/>
            <a:ext cx="8229600" cy="994200"/>
          </a:xfrm>
        </p:spPr>
        <p:txBody>
          <a:bodyPr wrap="square"/>
          <a:lstStyle/>
          <a:p>
            <a:pPr marL="0" indent="0" algn="ctr">
              <a:buNone/>
            </a:pPr>
            <a:r>
              <a:t>The problem with vanilla RNNs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vanishing gradient problem</a:t>
            </a:r>
          </a:p>
        </p:txBody>
      </p:sp>
      <p:pic>
        <p:nvPicPr>
          <p:cNvPr id="5" name="Picture 4" descr="Backprop through time multiplies many Jacobians; factors &lt; 1 shrink the gradient to zero, &gt; 1 explode i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15848"/>
            <a:ext cx="8595360" cy="25153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6537960" cy="822960"/>
          </a:xfrm>
        </p:spPr>
        <p:txBody>
          <a:bodyPr wrap="square"/>
          <a:lstStyle/>
          <a:p>
            <a:pPr marL="0" indent="0">
              <a:buNone/>
            </a:pPr>
            <a:r>
              <a:t>Gating: the fix behind LSTMs</a:t>
            </a:r>
          </a:p>
        </p:txBody>
      </p:sp>
      <p:pic>
        <p:nvPicPr>
          <p:cNvPr id="5" name="Picture 4" descr="Video: LSTM networks (MATLAB). Opens https://www.youtube.com/watch?v=5dMXyiWddYs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109728"/>
            <a:ext cx="1554480" cy="87416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31152" y="993038"/>
            <a:ext cx="1956816" cy="1737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marL="0" indent="0">
              <a:buNone/>
            </a:pPr>
            <a:r>
              <a:rPr sz="850" b="1">
                <a:solidFill>
                  <a:srgbClr val="7C2529"/>
                </a:solidFill>
              </a:rPr>
              <a:t>LSTM networks (MATLAB)</a:t>
            </a:r>
          </a:p>
        </p:txBody>
      </p:sp>
      <p:pic>
        <p:nvPicPr>
          <p:cNvPr id="7" name="Picture 6" descr="The LSTM (Hochreiter &amp; Schmidhuber, 1997): a cell-state conveyor belt guarded by three sigmoid gates. Forget erases, input admits the tanh candidate, output reveals a filtered copy as h_t.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078" y="1207008"/>
            <a:ext cx="7527844" cy="34610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Inside the LSTM cell</a:t>
            </a:r>
          </a:p>
        </p:txBody>
      </p:sp>
      <p:pic>
        <p:nvPicPr>
          <p:cNvPr id="5" name="Picture 4" descr="The conveyor belt from the last slide is the top c path. Find the three sigmoid gates guarding it: f (forget old memory), i (admit the tanh candidate g), o (expose h_t)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968" y="1078992"/>
            <a:ext cx="6862063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Jurafsky &amp; Martin, SLP3 (Jan 2026 draft), Fig. 13.13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LSTM, in equations</a:t>
            </a:r>
          </a:p>
        </p:txBody>
      </p:sp>
      <p:pic>
        <p:nvPicPr>
          <p:cNvPr id="5" name="Picture 4" descr="For reference, not memorization: eight lines, one per arrow of Fig. 13.13. Notice the pattern repeating: every gate is a sigmoid mask followed by an element-wise produc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94605"/>
            <a:ext cx="8595360" cy="275779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Jurafsky &amp; Martin, SLP3 (Jan 2026 draft), Eqs. 13.20-13.27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How different is an LSTM, really?</a:t>
            </a:r>
          </a:p>
        </p:txBody>
      </p:sp>
      <p:pic>
        <p:nvPicPr>
          <p:cNvPr id="5" name="Picture 4" descr="From the outside, barely at all: a feedforward unit (a) takes x, an RNN unit (b) adds h_t-1, an LSTM unit (c) just adds the context line c. Same socket, smarter unit; the rest of the network never notice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1098" y="1078992"/>
            <a:ext cx="6701804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Jurafsky &amp; Martin, SLP3 (Jan 2026 draft), Fig. 13.14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Gates and recurrence combine into encoder-decoder sequence model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4286250"/>
            <a:ext cx="9144000" cy="13716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4000" b="1">
                <a:solidFill>
                  <a:srgbClr val="FFFFFF"/>
                </a:solidFill>
              </a:rPr>
              <a:t>Putting it together</a:t>
            </a:r>
          </a:p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Gates and recurrence combine into encoder-decoder sequence models.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https://images.unsplash.com/photo-1612611741189-a9b9eb01d515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One family, four architectures</a:t>
            </a:r>
          </a:p>
        </p:txBody>
      </p:sp>
      <p:pic>
        <p:nvPicPr>
          <p:cNvPr id="5" name="Picture 4" descr="Everything today on one slide: the three jobs you already saw (a, b, c) plus the new one, (d) encoder-decoder: one RNN squeezes the input into a context, another unrolls the output. That is your reading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4862" y="1078992"/>
            <a:ext cx="4694275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Jurafsky &amp; Martin, SLP3 (Jan 2026 draft), Fig. 13.15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Why this matters: seq2seq</a:t>
            </a:r>
          </a:p>
        </p:txBody>
      </p:sp>
      <p:pic>
        <p:nvPicPr>
          <p:cNvPr id="5" name="Picture 4" descr="Fig 13.15's panel (d) with real words: read &quot;the green witch arrived&quot;, hand over ONE hidden state (the green h_n), and unroll Spanish from it. Your reading (Sutskever et al. 2014) built exactly this with LSTMs; feeding the source reversed lifted BLEU from 25.9 to 30.6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5944" y="1078992"/>
            <a:ext cx="6652112" cy="35890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Jurafsky &amp; Martin, SLP3 (Jan 2026 draft), Fig. 13.17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context vector means something</a:t>
            </a:r>
          </a:p>
        </p:txBody>
      </p:sp>
      <p:pic>
        <p:nvPicPr>
          <p:cNvPr id="5" name="Picture 4" descr="PCA of the encoder's final hidden states. Swap John and Mary and the point changes cluster (left); rewriting active as passive barely moves it (right). Word order matters, a bag of words could not do thi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0409" y="1078992"/>
            <a:ext cx="7203181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Sutskever, Vinyals &amp; Le 2014 (arXiv:1409.3215), Fig. 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bottleneck (and a teaser)</a:t>
            </a:r>
          </a:p>
        </p:txBody>
      </p:sp>
      <p:pic>
        <p:nvPicPr>
          <p:cNvPr id="5" name="Picture 4" descr="One fixed vector must hold the whole input; translation quality measurably drops on long sentence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95187"/>
            <a:ext cx="8595360" cy="315662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RNNs vs. what's coming</a:t>
            </a:r>
          </a:p>
        </p:txBody>
      </p:sp>
      <p:pic>
        <p:nvPicPr>
          <p:cNvPr id="5" name="Picture 4" descr="RNNs read step by step with limited parallelism; Transformers attend all at once and dominate LLM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74803"/>
            <a:ext cx="8595360" cy="279739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Quiz 4</a:t>
            </a:r>
          </a:p>
        </p:txBody>
      </p:sp>
      <p:pic>
        <p:nvPicPr>
          <p:cNvPr id="5" name="Picture 4" descr="Clear your desk: closed-book quiz over Week 4 lecture + seq2seq (Sutskever et al., 2014), ~10 minutes. Finish early and your break starts early; need more time and it comes out of the break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2065" y="1078992"/>
            <a:ext cx="6579870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quizzes/quiz-04.md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Break</a:t>
            </a:r>
          </a:p>
        </p:txBody>
      </p:sp>
      <p:pic>
        <p:nvPicPr>
          <p:cNvPr id="5" name="Picture 4" descr="Five minutes: stretch, refill water, compare notes. Then the char-RNN dinosaur name lab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312"/>
            <a:ext cx="8595360" cy="3186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74650"/>
            <a:ext cx="8229600" cy="994200"/>
          </a:xfrm>
        </p:spPr>
        <p:txBody>
          <a:bodyPr wrap="square"/>
          <a:lstStyle/>
          <a:p>
            <a:pPr marL="0" indent="0" algn="ctr">
              <a:buNone/>
            </a:pPr>
            <a:r>
              <a:t>Exercise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Your char-level RNN is about to find ou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477203"/>
            <a:ext cx="9144000" cy="609790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3400" b="1">
                <a:solidFill>
                  <a:srgbClr val="FFFFFF"/>
                </a:solidFill>
              </a:rPr>
              <a:t>Can a network trained only on real dinosaur names invent brand-new ones?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59"/>
            <a:ext cx="78638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Your char-level RNN is about to find out.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https://images.unsplash.com/photo-1606856110002-d0991ce78250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Exercise: a char-level RNN</a:t>
            </a:r>
          </a:p>
        </p:txBody>
      </p:sp>
      <p:pic>
        <p:nvPicPr>
          <p:cNvPr id="5" name="Picture 4" descr="Fill in three TODOs, the RNN forward pass, training pairs, and autoregressive sampling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8923" y="1078992"/>
            <a:ext cx="5866154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weeks/week-04/class-02/exercise/char_rnn.py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you should see</a:t>
            </a:r>
          </a:p>
        </p:txBody>
      </p:sp>
      <p:pic>
        <p:nvPicPr>
          <p:cNvPr id="5" name="Picture 4" descr="Loss drops and the RNN invents new dinosaur-shaped names, some real, some delightfully made up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721" y="1078992"/>
            <a:ext cx="8346558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example run, seeded (torch.manual_seed(1))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Activity: vote on the best invented name</a:t>
            </a:r>
          </a:p>
        </p:txBody>
      </p:sp>
      <p:pic>
        <p:nvPicPr>
          <p:cNvPr id="5" name="Picture 4" descr="Pairs, 5 min. Trade your favorite generated names and vote on the most plausible dinosaur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11547"/>
            <a:ext cx="8595360" cy="252391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Recap</a:t>
            </a:r>
          </a:p>
        </p:txBody>
      </p:sp>
      <p:pic>
        <p:nvPicPr>
          <p:cNvPr id="5" name="Picture 4" descr="RNNs loop a shared-weight cell with a hidden memory; LSTMs gate it; seq2seq motivates attention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910229"/>
            <a:ext cx="8595360" cy="19265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Next class</a:t>
            </a:r>
          </a:p>
        </p:txBody>
      </p:sp>
      <p:pic>
        <p:nvPicPr>
          <p:cNvPr id="5" name="Picture 4" descr="Next week: attention lets the decoder look back at all encoder states, and the Transformer drops recurrenc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072240"/>
            <a:ext cx="8595360" cy="16025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">
      <a:dk1>
        <a:srgbClr val="434343"/>
      </a:dk1>
      <a:lt1>
        <a:srgbClr val="FFFFFF"/>
      </a:lt1>
      <a:dk2>
        <a:srgbClr val="818387"/>
      </a:dk2>
      <a:lt2>
        <a:srgbClr val="F6F7FA"/>
      </a:lt2>
      <a:accent1>
        <a:srgbClr val="723130"/>
      </a:accent1>
      <a:accent2>
        <a:srgbClr val="818387"/>
      </a:accent2>
      <a:accent3>
        <a:srgbClr val="FFB600"/>
      </a:accent3>
      <a:accent4>
        <a:srgbClr val="738D33"/>
      </a:accent4>
      <a:accent5>
        <a:srgbClr val="625578"/>
      </a:accent5>
      <a:accent6>
        <a:srgbClr val="498DA0"/>
      </a:accent6>
      <a:hlink>
        <a:srgbClr val="B1B4B5"/>
      </a:hlink>
      <a:folHlink>
        <a:srgbClr val="B0B1B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