
<file path=[Content_Types].xml><?xml version="1.0" encoding="utf-8"?>
<Types xmlns="http://schemas.openxmlformats.org/package/2006/content-types">
  <Default Extension="fntdata" ContentType="application/x-fontdata"/>
  <Default Extension="gif" ContentType="image/gif"/>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 id="267" r:id="rId11"/>
    <p:sldId id="268" r:id="rId10"/>
    <p:sldId id="269" r:id="rId9"/>
    <p:sldId id="270" r:id="rId8"/>
    <p:sldId id="271" r:id="rId7"/>
    <p:sldId id="272" r:id="rId6"/>
    <p:sldId id="273" r:id="rId5"/>
    <p:sldId id="274" r:id="rId39"/>
    <p:sldId id="275" r:id="rId40"/>
    <p:sldId id="276" r:id="rId41"/>
    <p:sldId id="277" r:id="rId42"/>
    <p:sldId id="278" r:id="rId43"/>
    <p:sldId id="279" r:id="rId44"/>
    <p:sldId id="280" r:id="rId45"/>
    <p:sldId id="281" r:id="rId46"/>
    <p:sldId id="282" r:id="rId47"/>
    <p:sldId id="283" r:id="rId48"/>
    <p:sldId id="284" r:id="rId49"/>
    <p:sldId id="285" r:id="rId50"/>
    <p:sldId id="286" r:id="rId51"/>
    <p:sldId id="287" r:id="rId52"/>
    <p:sldId id="288" r:id="rId53"/>
    <p:sldId id="289" r:id="rId54"/>
    <p:sldId id="290" r:id="rId55"/>
    <p:sldId id="291" r:id="rId56"/>
    <p:sldId id="292" r:id="rId57"/>
    <p:sldId id="293" r:id="rId58"/>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8.xml"/><Relationship Id="rId6" Type="http://schemas.openxmlformats.org/officeDocument/2006/relationships/slide" Target="slides/slide17.xml"/><Relationship Id="rId7" Type="http://schemas.openxmlformats.org/officeDocument/2006/relationships/slide" Target="slides/slide16.xml"/><Relationship Id="rId8" Type="http://schemas.openxmlformats.org/officeDocument/2006/relationships/slide" Target="slides/slide15.xml"/><Relationship Id="rId9" Type="http://schemas.openxmlformats.org/officeDocument/2006/relationships/slide" Target="slides/slide14.xml"/><Relationship Id="rId10" Type="http://schemas.openxmlformats.org/officeDocument/2006/relationships/slide" Target="slides/slide13.xml"/><Relationship Id="rId11" Type="http://schemas.openxmlformats.org/officeDocument/2006/relationships/slide" Target="slides/slide12.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 Id="rId39" Type="http://schemas.openxmlformats.org/officeDocument/2006/relationships/slide" Target="slides/slide19.xml"/><Relationship Id="rId40" Type="http://schemas.openxmlformats.org/officeDocument/2006/relationships/slide" Target="slides/slide20.xml"/><Relationship Id="rId41" Type="http://schemas.openxmlformats.org/officeDocument/2006/relationships/slide" Target="slides/slide21.xml"/><Relationship Id="rId42" Type="http://schemas.openxmlformats.org/officeDocument/2006/relationships/slide" Target="slides/slide22.xml"/><Relationship Id="rId43" Type="http://schemas.openxmlformats.org/officeDocument/2006/relationships/slide" Target="slides/slide23.xml"/><Relationship Id="rId44" Type="http://schemas.openxmlformats.org/officeDocument/2006/relationships/slide" Target="slides/slide24.xml"/><Relationship Id="rId45" Type="http://schemas.openxmlformats.org/officeDocument/2006/relationships/slide" Target="slides/slide25.xml"/><Relationship Id="rId46" Type="http://schemas.openxmlformats.org/officeDocument/2006/relationships/slide" Target="slides/slide26.xml"/><Relationship Id="rId47" Type="http://schemas.openxmlformats.org/officeDocument/2006/relationships/slide" Target="slides/slide27.xml"/><Relationship Id="rId48" Type="http://schemas.openxmlformats.org/officeDocument/2006/relationships/slide" Target="slides/slide28.xml"/><Relationship Id="rId49" Type="http://schemas.openxmlformats.org/officeDocument/2006/relationships/slide" Target="slides/slide29.xml"/><Relationship Id="rId50" Type="http://schemas.openxmlformats.org/officeDocument/2006/relationships/slide" Target="slides/slide30.xml"/><Relationship Id="rId51" Type="http://schemas.openxmlformats.org/officeDocument/2006/relationships/slide" Target="slides/slide31.xml"/><Relationship Id="rId52" Type="http://schemas.openxmlformats.org/officeDocument/2006/relationships/slide" Target="slides/slide32.xml"/><Relationship Id="rId53" Type="http://schemas.openxmlformats.org/officeDocument/2006/relationships/slide" Target="slides/slide33.xml"/><Relationship Id="rId54" Type="http://schemas.openxmlformats.org/officeDocument/2006/relationships/slide" Target="slides/slide34.xml"/><Relationship Id="rId55" Type="http://schemas.openxmlformats.org/officeDocument/2006/relationships/slide" Target="slides/slide35.xml"/><Relationship Id="rId56" Type="http://schemas.openxmlformats.org/officeDocument/2006/relationships/slide" Target="slides/slide36.xml"/><Relationship Id="rId57" Type="http://schemas.openxmlformats.org/officeDocument/2006/relationships/slide" Target="slides/slide37.xml"/><Relationship Id="rId58"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0.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6.gif"/></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2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2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2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3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3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3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3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3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3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3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3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38.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3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4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4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4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43.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4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Neural Networks for NLP</a:t>
            </a:r>
          </a:p>
        </p:txBody>
      </p:sp>
      <p:sp>
        <p:nvSpPr>
          <p:cNvPr id="3" name="Subtitle 2"/>
          <p:cNvSpPr>
            <a:spLocks noGrp="1"/>
          </p:cNvSpPr>
          <p:nvPr>
            <p:ph type="subTitle" idx="1"/>
          </p:nvPr>
        </p:nvSpPr>
        <p:spPr>
          <a:xfrm>
            <a:off x="493926" y="3549825"/>
            <a:ext cx="5312514" cy="970800"/>
          </a:xfrm>
        </p:spPr>
        <p:txBody>
          <a:bodyPr wrap="square"/>
          <a:lstStyle/>
          <a:p>
            <a:pPr marL="0" indent="0">
              <a:buNone/>
            </a:pPr>
            <a:r>
              <a:t>Natural Language Processing &amp; Large Language Models</a:t>
            </a:r>
          </a:p>
          <a:p>
            <a:pPr marL="0" indent="0">
              <a:buNone/>
            </a:pPr>
            <a:r>
              <a:t>Week 4, Class 1</a:t>
            </a:r>
          </a:p>
        </p:txBody>
      </p:sp>
      <p:pic>
        <p:nvPicPr>
          <p:cNvPr id="5" name="Picture 4" descr="Cajal drew the cortex by hand in 1899: layers of tiny units, all wired to each other. Ask the class what survives when we shrink one of those cells down to w·x + b."/>
          <p:cNvPicPr>
            <a:picLocks noChangeAspect="1"/>
          </p:cNvPicPr>
          <p:nvPr/>
        </p:nvPicPr>
        <p:blipFill>
          <a:blip r:embed="rId2"/>
          <a:stretch>
            <a:fillRect/>
          </a:stretch>
        </p:blipFill>
        <p:spPr>
          <a:xfrm>
            <a:off x="6035040" y="3549995"/>
            <a:ext cx="2743200" cy="133077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Santiago Ramon y Cajal (1899), detail, Wikimedia Commons, public domain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Today's roadmap</a:t>
            </a:r>
          </a:p>
        </p:txBody>
      </p:sp>
      <p:pic>
        <p:nvPicPr>
          <p:cNvPr id="5" name="Picture 4" descr="From linear models to MLPs, how nets learn, then build an MLP text classifier in PyTorch."/>
          <p:cNvPicPr>
            <a:picLocks noChangeAspect="1"/>
          </p:cNvPicPr>
          <p:nvPr/>
        </p:nvPicPr>
        <p:blipFill>
          <a:blip r:embed="rId2"/>
          <a:stretch>
            <a:fillRect/>
          </a:stretch>
        </p:blipFill>
        <p:spPr>
          <a:xfrm>
            <a:off x="721960" y="1078992"/>
            <a:ext cx="7700079" cy="358901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tiles: SLP3 (Jan 2026 draft) Figs. 6.5, 6.8, 6.17; whiteboard photo Unsplash License; original figure + seeded example run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Foundations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Last week's classifier is one straight cut</a:t>
            </a:r>
          </a:p>
        </p:txBody>
      </p:sp>
      <p:pic>
        <p:nvPicPr>
          <p:cNvPr id="5" name="Picture 4" descr="Logistic regression's boundary w·x + b = 0 is a single straight line, however you train it. Search every orientation and the best line still gets 8 of these 24 points wrong; one closed curve gets none. The next slide shows the smallest version of the same problem, XOR."/>
          <p:cNvPicPr>
            <a:picLocks noChangeAspect="1"/>
          </p:cNvPicPr>
          <p:nvPr/>
        </p:nvPicPr>
        <p:blipFill>
          <a:blip r:embed="rId2"/>
          <a:stretch>
            <a:fillRect/>
          </a:stretch>
        </p:blipFill>
        <p:spPr>
          <a:xfrm>
            <a:off x="754477" y="1078992"/>
            <a:ext cx="7635045"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Why go neural?</a:t>
            </a:r>
          </a:p>
        </p:txBody>
      </p:sp>
      <p:pic>
        <p:nvPicPr>
          <p:cNvPr id="5" name="Picture 4" descr="The cleanest counterexample: XOR. AND and OR fall to one line; for XOR no straight cut exists (this sank the perceptron, Minsky &amp; Papert 1969). Text is full of XORs: &quot;not bad&quot; flips the label of &quot;bad&quot;."/>
          <p:cNvPicPr>
            <a:picLocks noChangeAspect="1"/>
          </p:cNvPicPr>
          <p:nvPr/>
        </p:nvPicPr>
        <p:blipFill>
          <a:blip r:embed="rId2"/>
          <a:stretch>
            <a:fillRect/>
          </a:stretch>
        </p:blipFill>
        <p:spPr>
          <a:xfrm>
            <a:off x="1118018" y="1078992"/>
            <a:ext cx="6907963"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6.5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fix: transform the space first</a:t>
            </a:r>
          </a:p>
        </p:txBody>
      </p:sp>
      <p:pic>
        <p:nvPicPr>
          <p:cNvPr id="5" name="Picture 4" descr="A tiny hidden layer maps x-space into a new h-space where (0,1) and (1,0) land on the same point, and XOR becomes one straight cut again. Nonlinear transform, then a linear cut: that is the whole trick."/>
          <p:cNvPicPr>
            <a:picLocks noChangeAspect="1"/>
          </p:cNvPicPr>
          <p:nvPr/>
        </p:nvPicPr>
        <p:blipFill>
          <a:blip r:embed="rId2"/>
          <a:stretch>
            <a:fillRect/>
          </a:stretch>
        </p:blipFill>
        <p:spPr>
          <a:xfrm>
            <a:off x="1806176" y="1078992"/>
            <a:ext cx="553164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6.7 (after Goodfellow et al. 2016)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neuron</a:t>
            </a:r>
          </a:p>
        </p:txBody>
      </p:sp>
      <p:pic>
        <p:nvPicPr>
          <p:cNvPr id="5" name="Picture 4" descr="A unit computes z = w·x + b, then a nonlinear activation a = g(z). Logistic regression is one neuron with g = sigmoid."/>
          <p:cNvPicPr>
            <a:picLocks noChangeAspect="1"/>
          </p:cNvPicPr>
          <p:nvPr/>
        </p:nvPicPr>
        <p:blipFill>
          <a:blip r:embed="rId2"/>
          <a:stretch>
            <a:fillRect/>
          </a:stretch>
        </p:blipFill>
        <p:spPr>
          <a:xfrm>
            <a:off x="274320" y="1331586"/>
            <a:ext cx="8595360" cy="3083831"/>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Hold that thought as we stack neurons into layers."/>
          <p:cNvPicPr>
            <a:picLocks noChangeAspect="1"/>
          </p:cNvPicPr>
          <p:nvPr/>
        </p:nvPicPr>
        <p:blipFill>
          <a:blip r:embed="rId2"/>
          <a:stretch>
            <a:fillRect/>
          </a:stretch>
        </p:blipFill>
        <p:spPr>
          <a:xfrm>
            <a:off x="0" y="-477203"/>
            <a:ext cx="9144000" cy="6097905"/>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1874519"/>
          </a:xfrm>
          <a:prstGeom prst="rect">
            <a:avLst/>
          </a:prstGeom>
          <a:noFill/>
        </p:spPr>
        <p:txBody>
          <a:bodyPr wrap="square" anchor="ctr">
            <a:spAutoFit/>
          </a:bodyPr>
          <a:lstStyle/>
          <a:p>
            <a:pPr algn="ctr" marL="0" indent="0">
              <a:buNone/>
            </a:pPr>
            <a:r>
              <a:rPr sz="3400" b="1">
                <a:solidFill>
                  <a:srgbClr val="FFFFFF"/>
                </a:solidFill>
              </a:rPr>
              <a:t>One artificial neuron is almost nothing. Why do millions of them learn so much?</a:t>
            </a:r>
          </a:p>
        </p:txBody>
      </p:sp>
      <p:sp>
        <p:nvSpPr>
          <p:cNvPr id="8" name="TextBox 7"/>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FFFFFF"/>
                </a:solidFill>
              </a:rPr>
              <a:t>Hold that thought as we stack neurons into layers.</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https://images.unsplash.com/photo-1507413245164-6160d8298b31</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Stacking neurons into an MLP</a:t>
            </a:r>
          </a:p>
        </p:txBody>
      </p:sp>
      <p:pic>
        <p:nvPicPr>
          <p:cNvPr id="5" name="Picture 4" descr="A 2-layer feedforward net and its math, side by side: W and U are the weight matrices, the gray +1 node carries the biases b, and each layer is one line of algebra. The worked softmax shows score 3.2 grabbing 74% of the probability."/>
          <p:cNvPicPr>
            <a:picLocks noChangeAspect="1"/>
          </p:cNvPicPr>
          <p:nvPr/>
        </p:nvPicPr>
        <p:blipFill>
          <a:blip r:embed="rId2"/>
          <a:stretch>
            <a:fillRect/>
          </a:stretch>
        </p:blipFill>
        <p:spPr>
          <a:xfrm>
            <a:off x="274320" y="1545435"/>
            <a:ext cx="8595360" cy="2656134"/>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6.8, Eqs. 6.8-6.11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Activations: why nonlinearity matters</a:t>
            </a:r>
          </a:p>
        </p:txBody>
      </p:sp>
      <p:pic>
        <p:nvPicPr>
          <p:cNvPr id="5" name="Picture 4" descr="Sigmoid, tanh, and ReLU. Without a nonlinearity, stacked linear layers collapse to one linear layer."/>
          <p:cNvPicPr>
            <a:picLocks noChangeAspect="1"/>
          </p:cNvPicPr>
          <p:nvPr/>
        </p:nvPicPr>
        <p:blipFill>
          <a:blip r:embed="rId2"/>
          <a:stretch>
            <a:fillRect/>
          </a:stretch>
        </p:blipFill>
        <p:spPr>
          <a:xfrm>
            <a:off x="274320" y="1299025"/>
            <a:ext cx="8595360" cy="3148954"/>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output layer</a:t>
            </a:r>
          </a:p>
        </p:txBody>
      </p:sp>
      <p:pic>
        <p:nvPicPr>
          <p:cNvPr id="5" name="Picture 4" descr="Softmax turns K logits into a probability distribution; the largest probability is the prediction."/>
          <p:cNvPicPr>
            <a:picLocks noChangeAspect="1"/>
          </p:cNvPicPr>
          <p:nvPr/>
        </p:nvPicPr>
        <p:blipFill>
          <a:blip r:embed="rId2"/>
          <a:stretch>
            <a:fillRect/>
          </a:stretch>
        </p:blipFill>
        <p:spPr>
          <a:xfrm>
            <a:off x="757323" y="1078992"/>
            <a:ext cx="7629353"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whole network, in three equations</a:t>
            </a:r>
          </a:p>
        </p:txBody>
      </p:sp>
      <p:pic>
        <p:nvPicPr>
          <p:cNvPr id="5" name="Picture 4" descr="Bookmark this slide: every feedforward classifier this term is these three lines. The book writes sigma for ANY activation (sigmoid, tanh, ReLU)."/>
          <p:cNvPicPr>
            <a:picLocks noChangeAspect="1"/>
          </p:cNvPicPr>
          <p:nvPr/>
        </p:nvPicPr>
        <p:blipFill>
          <a:blip r:embed="rId2"/>
          <a:stretch>
            <a:fillRect/>
          </a:stretch>
        </p:blipFill>
        <p:spPr>
          <a:xfrm>
            <a:off x="303976" y="1078992"/>
            <a:ext cx="8536047" cy="358901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Eq. 6.12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How nets learn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loss: how wrong are we?</a:t>
            </a:r>
          </a:p>
        </p:txBody>
      </p:sp>
      <p:pic>
        <p:nvPicPr>
          <p:cNvPr id="5" name="Picture 4" descr="Cross-entropy is small when the true class's predicted probability is high, large when it is low."/>
          <p:cNvPicPr>
            <a:picLocks noChangeAspect="1"/>
          </p:cNvPicPr>
          <p:nvPr/>
        </p:nvPicPr>
        <p:blipFill>
          <a:blip r:embed="rId2"/>
          <a:stretch>
            <a:fillRect/>
          </a:stretch>
        </p:blipFill>
        <p:spPr>
          <a:xfrm>
            <a:off x="345677" y="1078992"/>
            <a:ext cx="8452645" cy="358901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Gradient descent</a:t>
            </a:r>
          </a:p>
        </p:txBody>
      </p:sp>
      <p:pic>
        <p:nvPicPr>
          <p:cNvPr id="5" name="Picture 4" descr="The gradient points uphill; step the opposite way. The learning rate η sets the step size, and the steps shrink on their own as the slope flattens."/>
          <p:cNvPicPr>
            <a:picLocks noChangeAspect="1"/>
          </p:cNvPicPr>
          <p:nvPr/>
        </p:nvPicPr>
        <p:blipFill>
          <a:blip r:embed="rId2"/>
          <a:stretch>
            <a:fillRect/>
          </a:stretch>
        </p:blipFill>
        <p:spPr>
          <a:xfrm>
            <a:off x="366117" y="1078992"/>
            <a:ext cx="8411765"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animation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One minute of calculus: the chain rule</a:t>
            </a:r>
          </a:p>
        </p:txBody>
      </p:sp>
      <p:pic>
        <p:nvPicPr>
          <p:cNvPr id="5" name="Picture 4" descr="Nested functions change at multiplied rates. Backprop needs nothing deeper than this."/>
          <p:cNvPicPr>
            <a:picLocks noChangeAspect="1"/>
          </p:cNvPicPr>
          <p:nvPr/>
        </p:nvPicPr>
        <p:blipFill>
          <a:blip r:embed="rId2"/>
          <a:stretch>
            <a:fillRect/>
          </a:stretch>
        </p:blipFill>
        <p:spPr>
          <a:xfrm>
            <a:off x="274320" y="1141857"/>
            <a:ext cx="8595360" cy="346329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Eqs. 6.31-6.32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Computation graphs: the forward pass</a:t>
            </a:r>
          </a:p>
        </p:txBody>
      </p:sp>
      <p:pic>
        <p:nvPicPr>
          <p:cNvPr id="5" name="Picture 4" descr="Any formula becomes a graph of tiny steps. L(a,b,c) = c(a + 2b) breaks into d = 2b, then e = a + d, then L = ce; with a = 3, b = 1, c = -2 the values flow left to right and L = -10."/>
          <p:cNvPicPr>
            <a:picLocks noChangeAspect="1"/>
          </p:cNvPicPr>
          <p:nvPr/>
        </p:nvPicPr>
        <p:blipFill>
          <a:blip r:embed="rId2"/>
          <a:stretch>
            <a:fillRect/>
          </a:stretch>
        </p:blipFill>
        <p:spPr>
          <a:xfrm>
            <a:off x="322075" y="1078992"/>
            <a:ext cx="8499849"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6.15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One node's job: the chain rule</a:t>
            </a:r>
          </a:p>
        </p:txBody>
      </p:sp>
      <p:pic>
        <p:nvPicPr>
          <p:cNvPr id="5" name="Picture 4" descr="Each node multiplies the gradient arriving from upstream by its own local gradient and passes the product downstream: dL/dd = (dL/de)(de/dd). That is ALL backpropagation ever does, node by node."/>
          <p:cNvPicPr>
            <a:picLocks noChangeAspect="1"/>
          </p:cNvPicPr>
          <p:nvPr/>
        </p:nvPicPr>
        <p:blipFill>
          <a:blip r:embed="rId2"/>
          <a:stretch>
            <a:fillRect/>
          </a:stretch>
        </p:blipFill>
        <p:spPr>
          <a:xfrm>
            <a:off x="274320" y="1085384"/>
            <a:ext cx="8595360" cy="3576236"/>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6.16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Working out all three gradients</a:t>
            </a:r>
          </a:p>
        </p:txBody>
      </p:sp>
      <p:pic>
        <p:nvPicPr>
          <p:cNvPr id="5" name="Picture 4" descr="Five local gradients, then multiply along each path back from L. Keep these numbers in mind: the next slide is the same computation drawn on the graph."/>
          <p:cNvPicPr>
            <a:picLocks noChangeAspect="1"/>
          </p:cNvPicPr>
          <p:nvPr/>
        </p:nvPicPr>
        <p:blipFill>
          <a:blip r:embed="rId2"/>
          <a:stretch>
            <a:fillRect/>
          </a:stretch>
        </p:blipFill>
        <p:spPr>
          <a:xfrm>
            <a:off x="274320" y="1668650"/>
            <a:ext cx="8595360" cy="2409703"/>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Eqs. 6.33-6.34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Backpropagation: the backward pass</a:t>
            </a:r>
          </a:p>
        </p:txBody>
      </p:sp>
      <p:pic>
        <p:nvPicPr>
          <p:cNvPr id="5" name="Picture 4" descr="The same graph, run right to left. Follow any red value: it is the upstream gradient times a local one, exactly the rule from the previous slide, until every input knows dL/d(itself)."/>
          <p:cNvPicPr>
            <a:picLocks noChangeAspect="1"/>
          </p:cNvPicPr>
          <p:nvPr/>
        </p:nvPicPr>
        <p:blipFill>
          <a:blip r:embed="rId2"/>
          <a:stretch>
            <a:fillRect/>
          </a:stretch>
        </p:blipFill>
        <p:spPr>
          <a:xfrm>
            <a:off x="1129532" y="1078992"/>
            <a:ext cx="6884936"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6.17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Now scale that to a real network</a:t>
            </a:r>
          </a:p>
        </p:txBody>
      </p:sp>
      <p:pic>
        <p:nvPicPr>
          <p:cNvPr id="5" name="Picture 4" descr="The graph for a 2-input, 2-hidden-unit net, the same tiny MLP you will trace by hand today. Already this involved, and GPT-class models have billions of nodes. Nobody does this by hand: loss.backward() builds and walks the graph for you."/>
          <p:cNvPicPr>
            <a:picLocks noChangeAspect="1"/>
          </p:cNvPicPr>
          <p:nvPr/>
        </p:nvPicPr>
        <p:blipFill>
          <a:blip r:embed="rId2"/>
          <a:stretch>
            <a:fillRect/>
          </a:stretch>
        </p:blipFill>
        <p:spPr>
          <a:xfrm>
            <a:off x="1829591" y="1078992"/>
            <a:ext cx="5484817"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6.18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math behind that graph (for reference)</a:t>
            </a:r>
          </a:p>
        </p:txBody>
      </p:sp>
      <p:pic>
        <p:nvPicPr>
          <p:cNvPr id="5" name="Picture 4" descr="Don't memorize the derivation; keep the takeaway: at the output, the gradient is simply prediction minus truth. The book walks the rest back node by node (Section 6.6)."/>
          <p:cNvPicPr>
            <a:picLocks noChangeAspect="1"/>
          </p:cNvPicPr>
          <p:nvPr/>
        </p:nvPicPr>
        <p:blipFill>
          <a:blip r:embed="rId2"/>
          <a:stretch>
            <a:fillRect/>
          </a:stretch>
        </p:blipFill>
        <p:spPr>
          <a:xfrm>
            <a:off x="620359" y="1078992"/>
            <a:ext cx="7903282" cy="358901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Eqs. 6.35-6.43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training loop</a:t>
            </a:r>
          </a:p>
        </p:txBody>
      </p:sp>
      <p:pic>
        <p:nvPicPr>
          <p:cNvPr id="5" name="Picture 4" descr="zero_grad → forward → loss → backward → step. This shape recurs all term, even for Transformers."/>
          <p:cNvPicPr>
            <a:picLocks noChangeAspect="1"/>
          </p:cNvPicPr>
          <p:nvPr/>
        </p:nvPicPr>
        <p:blipFill>
          <a:blip r:embed="rId2"/>
          <a:stretch>
            <a:fillRect/>
          </a:stretch>
        </p:blipFill>
        <p:spPr>
          <a:xfrm>
            <a:off x="274320" y="1783454"/>
            <a:ext cx="8595360" cy="2180095"/>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weeks/week-04/class-01/exercise/mlp_classifier.py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Neural NLP</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From text to a vector: pool the embeddings</a:t>
            </a:r>
          </a:p>
        </p:txBody>
      </p:sp>
      <p:pic>
        <p:nvPicPr>
          <p:cNvPr id="5" name="Picture 4" descr="Each word's one-hot picks its row of the shared embedding matrix E; pooling (mean or sum) squeezes the N embeddings into one input vector. Fast, cheap, and a surprisingly strong baseline (Iyyer et al. 2015)."/>
          <p:cNvPicPr>
            <a:picLocks noChangeAspect="1"/>
          </p:cNvPicPr>
          <p:nvPr/>
        </p:nvPicPr>
        <p:blipFill>
          <a:blip r:embed="rId2"/>
          <a:stretch>
            <a:fillRect/>
          </a:stretch>
        </p:blipFill>
        <p:spPr>
          <a:xfrm>
            <a:off x="2578292" y="1078992"/>
            <a:ext cx="3987415"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6.13</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pooling throws away</a:t>
            </a:r>
          </a:p>
        </p:txBody>
      </p:sp>
      <p:pic>
        <p:nvPicPr>
          <p:cNvPr id="5" name="Picture 4" descr="&quot;dog bites man&quot; and &quot;man bites dog&quot; give the same averaged vector, word order is lost."/>
          <p:cNvPicPr>
            <a:picLocks noChangeAspect="1"/>
          </p:cNvPicPr>
          <p:nvPr/>
        </p:nvPicPr>
        <p:blipFill>
          <a:blip r:embed="rId2"/>
          <a:stretch>
            <a:fillRect/>
          </a:stretch>
        </p:blipFill>
        <p:spPr>
          <a:xfrm>
            <a:off x="274320" y="1446649"/>
            <a:ext cx="8595360" cy="2853705"/>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Keep the order: concatenate instead</a:t>
            </a:r>
          </a:p>
        </p:txBody>
      </p:sp>
      <p:pic>
        <p:nvPicPr>
          <p:cNvPr id="5" name="Picture 4" descr="A feedforward language model concatenates the context embeddings side by side, so each position keeps its identity, and predicts the next word. The catch: the window is stuck at N words, which is next class's problem."/>
          <p:cNvPicPr>
            <a:picLocks noChangeAspect="1"/>
          </p:cNvPicPr>
          <p:nvPr/>
        </p:nvPicPr>
        <p:blipFill>
          <a:blip r:embed="rId2"/>
          <a:stretch>
            <a:fillRect/>
          </a:stretch>
        </p:blipFill>
        <p:spPr>
          <a:xfrm>
            <a:off x="2737822" y="1078992"/>
            <a:ext cx="3668356"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6.14</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Embeddings: pretrained or learned?</a:t>
            </a:r>
          </a:p>
        </p:txBody>
      </p:sp>
      <p:pic>
        <p:nvPicPr>
          <p:cNvPr id="5" name="Picture 4" descr="Start pretrained when labeled data is scarce; learning from scratch pays off with plenty of data."/>
          <p:cNvPicPr>
            <a:picLocks noChangeAspect="1"/>
          </p:cNvPicPr>
          <p:nvPr/>
        </p:nvPicPr>
        <p:blipFill>
          <a:blip r:embed="rId2"/>
          <a:stretch>
            <a:fillRect/>
          </a:stretch>
        </p:blipFill>
        <p:spPr>
          <a:xfrm>
            <a:off x="274320" y="1362336"/>
            <a:ext cx="8595360" cy="3022332"/>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Overfitting &amp; regularization</a:t>
            </a:r>
          </a:p>
        </p:txBody>
      </p:sp>
      <p:pic>
        <p:nvPicPr>
          <p:cNvPr id="5" name="Picture 4" descr="A flexible net can memorize the training set; dropout, weight decay, and early stopping fight back."/>
          <p:cNvPicPr>
            <a:picLocks noChangeAspect="1"/>
          </p:cNvPicPr>
          <p:nvPr/>
        </p:nvPicPr>
        <p:blipFill>
          <a:blip r:embed="rId2"/>
          <a:stretch>
            <a:fillRect/>
          </a:stretch>
        </p:blipFill>
        <p:spPr>
          <a:xfrm>
            <a:off x="274320" y="1209884"/>
            <a:ext cx="8595360" cy="3327236"/>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Five minutes: stretch, refill water, compare notes. Then the hand-traced MLP on the whiteboard."/>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Exercise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Ten minutes at the whiteboard with a partner, then the code writes itself."/>
          <p:cNvPicPr>
            <a:picLocks noChangeAspect="1"/>
          </p:cNvPicPr>
          <p:nvPr/>
        </p:nvPicPr>
        <p:blipFill>
          <a:blip r:embed="rId2"/>
          <a:stretch>
            <a:fillRect/>
          </a:stretch>
        </p:blipFill>
        <p:spPr>
          <a:xfrm>
            <a:off x="0" y="-482918"/>
            <a:ext cx="9144000" cy="6109335"/>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2651760"/>
          </a:xfrm>
          <a:prstGeom prst="rect">
            <a:avLst/>
          </a:prstGeom>
          <a:noFill/>
        </p:spPr>
        <p:txBody>
          <a:bodyPr wrap="square" anchor="ctr">
            <a:spAutoFit/>
          </a:bodyPr>
          <a:lstStyle/>
          <a:p>
            <a:pPr algn="ctr" marL="0" indent="0">
              <a:buNone/>
            </a:pPr>
            <a:r>
              <a:rPr sz="4000" b="1">
                <a:solidFill>
                  <a:srgbClr val="FFFFFF"/>
                </a:solidFill>
              </a:rPr>
              <a:t>Before you code: draw the network by hand</a:t>
            </a:r>
          </a:p>
          <a:p>
            <a:pPr algn="ctr" marL="0" indent="0">
              <a:buNone/>
            </a:pPr>
            <a:r>
              <a:rPr sz="2000">
                <a:solidFill>
                  <a:srgbClr val="FFFFFF"/>
                </a:solidFill>
              </a:rPr>
              <a:t>Ten minutes at the whiteboard with a partner, then the code writes itself.</a:t>
            </a:r>
          </a:p>
        </p:txBody>
      </p:sp>
      <p:sp>
        <p:nvSpPr>
          <p:cNvPr id="8" name="TextBox 7"/>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https://images.unsplash.com/photo-1542626991-cbc4e32524cc</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Activity: hand-trace the XOR network</a:t>
            </a:r>
          </a:p>
        </p:txBody>
      </p:sp>
      <p:pic>
        <p:nvPicPr>
          <p:cNvPr id="5" name="Picture 4" descr="This exact net solves XOR, and every weight and bias is on the sheet (green box). Fill the table row by row, check the XOR column, then do the one concrete gradient step. Answers get checked live on the board."/>
          <p:cNvPicPr>
            <a:picLocks noChangeAspect="1"/>
          </p:cNvPicPr>
          <p:nvPr/>
        </p:nvPicPr>
        <p:blipFill>
          <a:blip r:embed="rId2"/>
          <a:stretch>
            <a:fillRect/>
          </a:stretch>
        </p:blipFill>
        <p:spPr>
          <a:xfrm>
            <a:off x="846934" y="1078992"/>
            <a:ext cx="7450131"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weights after Goodfellow et al. 2016, via SLP3 Fig. 6.6</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Exercise: an MLP sentiment classifier</a:t>
            </a:r>
          </a:p>
        </p:txBody>
      </p:sp>
      <p:pic>
        <p:nvPicPr>
          <p:cNvPr id="5" name="Picture 4" descr="Fill in the four TODOs, average embeddings, the MLP forward pass, and the five-line training loop."/>
          <p:cNvPicPr>
            <a:picLocks noChangeAspect="1"/>
          </p:cNvPicPr>
          <p:nvPr/>
        </p:nvPicPr>
        <p:blipFill>
          <a:blip r:embed="rId2"/>
          <a:stretch>
            <a:fillRect/>
          </a:stretch>
        </p:blipFill>
        <p:spPr>
          <a:xfrm>
            <a:off x="1638923" y="1078992"/>
            <a:ext cx="586615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weeks/week-04/class-01/exercise/mlp_classifier.py</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you should see</a:t>
            </a:r>
          </a:p>
        </p:txBody>
      </p:sp>
      <p:pic>
        <p:nvPicPr>
          <p:cNvPr id="5" name="Picture 4" descr="Loss falls to ~0 and the tiny separable set is fit perfectly, your first neural NLP classifier."/>
          <p:cNvPicPr>
            <a:picLocks noChangeAspect="1"/>
          </p:cNvPicPr>
          <p:nvPr/>
        </p:nvPicPr>
        <p:blipFill>
          <a:blip r:embed="rId2"/>
          <a:stretch>
            <a:fillRect/>
          </a:stretch>
        </p:blipFill>
        <p:spPr>
          <a:xfrm>
            <a:off x="274320" y="1567007"/>
            <a:ext cx="8595360" cy="261298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example run, seeded (torch.manual_seed(0))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Recap</a:t>
            </a:r>
          </a:p>
        </p:txBody>
      </p:sp>
      <p:pic>
        <p:nvPicPr>
          <p:cNvPr id="5" name="Picture 4" descr="Neuron + nonlinearity → MLP; learn by gradient descent on a loss; the training loop is universal."/>
          <p:cNvPicPr>
            <a:picLocks noChangeAspect="1"/>
          </p:cNvPicPr>
          <p:nvPr/>
        </p:nvPicPr>
        <p:blipFill>
          <a:blip r:embed="rId2"/>
          <a:stretch>
            <a:fillRect/>
          </a:stretch>
        </p:blipFill>
        <p:spPr>
          <a:xfrm>
            <a:off x="274320" y="1201236"/>
            <a:ext cx="8595360" cy="3344531"/>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Reading &amp; homework</a:t>
            </a:r>
          </a:p>
        </p:txBody>
      </p:sp>
      <p:pic>
        <p:nvPicPr>
          <p:cNvPr id="5" name="Picture 4" descr="Required: seq2seq (Sutskever, Vinyals &amp; Le, 2014), the only quizzed reading. J&amp;M Ch. 6 &amp; 13 are optional. HW2 is out today, due W5C1."/>
          <p:cNvPicPr>
            <a:picLocks noChangeAspect="1"/>
          </p:cNvPicPr>
          <p:nvPr/>
        </p:nvPicPr>
        <p:blipFill>
          <a:blip r:embed="rId2"/>
          <a:stretch>
            <a:fillRect/>
          </a:stretch>
        </p:blipFill>
        <p:spPr>
          <a:xfrm>
            <a:off x="274320" y="1722906"/>
            <a:ext cx="8595360" cy="2301191"/>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resources/landmark-papers.md</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Next class</a:t>
            </a:r>
          </a:p>
        </p:txBody>
      </p:sp>
      <p:pic>
        <p:nvPicPr>
          <p:cNvPr id="5" name="Picture 4" descr="To model order and long-range structure we need RNNs and LSTMs, next class, plus Quiz 4."/>
          <p:cNvPicPr>
            <a:picLocks noChangeAspect="1"/>
          </p:cNvPicPr>
          <p:nvPr/>
        </p:nvPicPr>
        <p:blipFill>
          <a:blip r:embed="rId2"/>
          <a:stretch>
            <a:fillRect/>
          </a:stretch>
        </p:blipFill>
        <p:spPr>
          <a:xfrm>
            <a:off x="274320" y="2187406"/>
            <a:ext cx="8595360" cy="1372192"/>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