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3"/>
  </p:notesMasterIdLst>
  <p:sldIdLst>
    <p:sldId id="256" r:id="rId2"/>
    <p:sldId id="266" r:id="rId3"/>
    <p:sldId id="264" r:id="rId4"/>
    <p:sldId id="265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5143500" type="screen16x9"/>
  <p:notesSz cx="6858000" cy="9144000"/>
  <p:embeddedFontLst>
    <p:embeddedFont>
      <p:font typeface="Playfair Display" pitchFamily="2" charset="77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Light" panose="020F030202020403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2"/>
    <p:restoredTop sz="83151"/>
  </p:normalViewPr>
  <p:slideViewPr>
    <p:cSldViewPr snapToGrid="0">
      <p:cViewPr varScale="1">
        <p:scale>
          <a:sx n="121" d="100"/>
          <a:sy n="121" d="100"/>
        </p:scale>
        <p:origin x="17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523" y="685800"/>
            <a:ext cx="4571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600" t="43847" r="-600" b="13732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2 Columns">
  <p:cSld name="2_Portfolio Thre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2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3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3 Columns">
  <p:cSld name="1_Slide with Placehol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3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4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">
  <p:cSld name="Cover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 with Logo">
  <p:cSld name="Cover Slide_2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Acknowledgments Slide">
  <p:cSld name="Cover Slide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sz="560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ig Concept Slide">
  <p:cSld name="Slide with Placehol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">
  <p:cSld name="Large Picture with Log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l="27412" r="6551" b="2009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1">
  <p:cSld name="Large Picture with Logo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2">
  <p:cSld name="Large Picture with Logo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l="27412" r="6551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l="895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l="39028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3">
  <p:cSld name="Large Picture with Logo_1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l="24210" r="1252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4">
  <p:cSld name="Large Picture with Logo_1_1_1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l="34525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">
  <p:cSld name="3_Placehol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 1">
  <p:cSld name="3_Placeholder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ingle Statistic">
  <p:cSld name="1_Placehol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2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3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 idx="4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Multiple Statistics">
  <p:cSld name="1_Placeholder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2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title" idx="3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4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title" idx="5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6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Quote">
  <p:cSld name="CUSTOM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818387"/>
                </a:solidFill>
              </a:rPr>
              <a:t>“</a:t>
            </a:r>
            <a:endParaRPr sz="12000" b="1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3_Title Slide">
  <p:cSld name="13_Title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>
            <a:spLocks noGrp="1"/>
          </p:cNvSpPr>
          <p:nvPr>
            <p:ph type="pic" idx="2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>
            <a:spLocks noGrp="1"/>
          </p:cNvSpPr>
          <p:nvPr>
            <p:ph type="pic" idx="3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>
            <a:spLocks noGrp="1"/>
          </p:cNvSpPr>
          <p:nvPr>
            <p:ph type="pic" idx="4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>
            <a:spLocks noGrp="1"/>
          </p:cNvSpPr>
          <p:nvPr>
            <p:ph type="pic" idx="5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>
            <a:spLocks noGrp="1"/>
          </p:cNvSpPr>
          <p:nvPr>
            <p:ph type="pic" idx="6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 1">
  <p:cSld name="1_Cover Pag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t="43844" r="-563" b="13732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00" tIns="25700" rIns="25700" bIns="2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sz="22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sz="15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13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1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sz="5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22">
            <a:alphaModFix/>
          </a:blip>
          <a:srcRect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marL="0" indent="0">
              <a:buNone/>
            </a:pPr>
            <a:r>
              <a:t>CSCI 3495</a:t>
            </a:r>
          </a:p>
          <a:p>
            <a:pPr marL="0" indent="0">
              <a:buNone/>
            </a:pPr>
            <a:r>
              <a:t>Probability for NLP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926" y="3549825"/>
            <a:ext cx="5501701" cy="970800"/>
          </a:xfrm>
        </p:spPr>
        <p:txBody>
          <a:bodyPr wrap="square"/>
          <a:lstStyle/>
          <a:p>
            <a:pPr marL="0" indent="0">
              <a:buNone/>
            </a:pPr>
            <a:r>
              <a:t>Natural Language Processing &amp; Large Language Models</a:t>
            </a:r>
          </a:p>
          <a:p>
            <a:pPr marL="0" indent="0">
              <a:buNone/>
            </a:pPr>
            <a:r>
              <a:t>Week 4, Class 1  ·  Mon Sep 14,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Source: original figure</a:t>
            </a:r>
          </a:p>
        </p:txBody>
      </p:sp>
      <p:pic>
        <p:nvPicPr>
          <p:cNvPr id="7" name="Picture 6" descr="A coin on a table&#10;&#10;AI-generated content may be incorrect.">
            <a:extLst>
              <a:ext uri="{FF2B5EF4-FFF2-40B4-BE49-F238E27FC236}">
                <a16:creationId xmlns:a16="http://schemas.microsoft.com/office/drawing/2014/main" id="{F4551C4E-B76A-4635-F5F2-E85A1AE8EC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902" t="1" r="1576" b="23867"/>
          <a:stretch/>
        </p:blipFill>
        <p:spPr>
          <a:xfrm>
            <a:off x="6547945" y="2324321"/>
            <a:ext cx="2247111" cy="25370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23293D-1C49-71D1-26F8-31461540B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21" y="406949"/>
            <a:ext cx="8005800" cy="4316125"/>
          </a:xfrm>
        </p:spPr>
        <p:txBody>
          <a:bodyPr/>
          <a:lstStyle/>
          <a:p>
            <a:r>
              <a:rPr lang="en-US" sz="11500" dirty="0"/>
              <a:t>What is Probability?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87A4328-5CFC-C65D-C0EE-BA9A6A902757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Cartoon character holding pencil and paper&#10;&#10;AI-generated content may be incorrect.">
            <a:extLst>
              <a:ext uri="{FF2B5EF4-FFF2-40B4-BE49-F238E27FC236}">
                <a16:creationId xmlns:a16="http://schemas.microsoft.com/office/drawing/2014/main" id="{0FEDCF21-74C4-3662-7B68-E4CF964F1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488" y="219225"/>
            <a:ext cx="1882030" cy="142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83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97AC1B9A-BA23-D828-BC4A-1FB6BAEDCF4F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dice and coins falling&#10;&#10;AI-generated content may be incorrect.">
            <a:extLst>
              <a:ext uri="{FF2B5EF4-FFF2-40B4-BE49-F238E27FC236}">
                <a16:creationId xmlns:a16="http://schemas.microsoft.com/office/drawing/2014/main" id="{B34981DB-5D1C-4E7F-692F-0DC8783B3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77" y="-12940"/>
            <a:ext cx="7725004" cy="515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698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holding a glowing ball&#10;&#10;AI-generated content may be incorrect.">
            <a:extLst>
              <a:ext uri="{FF2B5EF4-FFF2-40B4-BE49-F238E27FC236}">
                <a16:creationId xmlns:a16="http://schemas.microsoft.com/office/drawing/2014/main" id="{3A30F308-3420-0340-E9B1-D5567AA22E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999"/>
          <a:stretch/>
        </p:blipFill>
        <p:spPr>
          <a:xfrm>
            <a:off x="0" y="0"/>
            <a:ext cx="914400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07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Every one of these is a count, divided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78992"/>
            <a:ext cx="8229600" cy="384619"/>
          </a:xfrm>
          <a:prstGeom prst="roundRect">
            <a:avLst>
              <a:gd name="adj" fmla="val 2377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1078992"/>
            <a:ext cx="1828800" cy="384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050" b="1" spc="60">
                <a:solidFill>
                  <a:srgbClr val="7C2529"/>
                </a:solidFill>
                <a:latin typeface="Helvetica Neue"/>
              </a:rPr>
              <a:t>PROBABILITY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3744" y="1078992"/>
            <a:ext cx="5925312" cy="384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00" b="0">
                <a:solidFill>
                  <a:srgbClr val="1D1D1F"/>
                </a:solidFill>
                <a:latin typeface="Menlo"/>
              </a:rPr>
              <a:t>P(A) = count(A) / 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36763"/>
            <a:ext cx="8229600" cy="384619"/>
          </a:xfrm>
          <a:prstGeom prst="roundRect">
            <a:avLst>
              <a:gd name="adj" fmla="val 2377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536763"/>
            <a:ext cx="1828800" cy="384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050" b="1" spc="60">
                <a:solidFill>
                  <a:srgbClr val="7C2529"/>
                </a:solidFill>
                <a:latin typeface="Helvetica Neue"/>
              </a:rPr>
              <a:t>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1536763"/>
            <a:ext cx="5925312" cy="384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00" b="0">
                <a:solidFill>
                  <a:srgbClr val="1D1D1F"/>
                </a:solidFill>
                <a:latin typeface="Menlo"/>
              </a:rPr>
              <a:t>P(A ∩ 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94535"/>
            <a:ext cx="8229600" cy="384619"/>
          </a:xfrm>
          <a:prstGeom prst="roundRect">
            <a:avLst>
              <a:gd name="adj" fmla="val 2377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1994535"/>
            <a:ext cx="1828800" cy="384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050" b="1" spc="60">
                <a:solidFill>
                  <a:srgbClr val="7C2529"/>
                </a:solidFill>
                <a:latin typeface="Helvetica Neue"/>
              </a:rPr>
              <a:t>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1994535"/>
            <a:ext cx="5925312" cy="384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00" b="0">
                <a:solidFill>
                  <a:srgbClr val="1D1D1F"/>
                </a:solidFill>
                <a:latin typeface="Menlo"/>
              </a:rPr>
              <a:t>P(A ∪ B) = P(A) + P(B) - P(A ∩ 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52306"/>
            <a:ext cx="8229600" cy="384619"/>
          </a:xfrm>
          <a:prstGeom prst="roundRect">
            <a:avLst>
              <a:gd name="adj" fmla="val 2377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" y="2452306"/>
            <a:ext cx="1828800" cy="384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050" b="1" spc="60">
                <a:solidFill>
                  <a:srgbClr val="7C2529"/>
                </a:solidFill>
                <a:latin typeface="Helvetica Neue"/>
              </a:rPr>
              <a:t>GIVEN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744" y="2452306"/>
            <a:ext cx="5925312" cy="384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00" b="0">
                <a:solidFill>
                  <a:srgbClr val="1D1D1F"/>
                </a:solidFill>
                <a:latin typeface="Menlo"/>
              </a:rPr>
              <a:t>P(A | B) = P(A ∩ B) / P(B)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10078"/>
            <a:ext cx="8229600" cy="384619"/>
          </a:xfrm>
          <a:prstGeom prst="roundRect">
            <a:avLst>
              <a:gd name="adj" fmla="val 2377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2910078"/>
            <a:ext cx="1828800" cy="384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050" b="1" spc="60">
                <a:solidFill>
                  <a:srgbClr val="7C2529"/>
                </a:solidFill>
                <a:latin typeface="Helvetica Neue"/>
              </a:rPr>
              <a:t>CHAIN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3744" y="2910078"/>
            <a:ext cx="5925312" cy="384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00" b="0">
                <a:solidFill>
                  <a:srgbClr val="1D1D1F"/>
                </a:solidFill>
                <a:latin typeface="Menlo"/>
              </a:rPr>
              <a:t>P(A ∩ B) = P(A | B) P(B)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367849"/>
            <a:ext cx="8229600" cy="384619"/>
          </a:xfrm>
          <a:prstGeom prst="roundRect">
            <a:avLst>
              <a:gd name="adj" fmla="val 2377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" y="3367849"/>
            <a:ext cx="1828800" cy="384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050" b="1" spc="60">
                <a:solidFill>
                  <a:srgbClr val="7C2529"/>
                </a:solidFill>
                <a:latin typeface="Helvetica Neue"/>
              </a:rPr>
              <a:t>INDEPENDENCE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3367849"/>
            <a:ext cx="5925312" cy="384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00" b="0">
                <a:solidFill>
                  <a:srgbClr val="1D1D1F"/>
                </a:solidFill>
                <a:latin typeface="Menlo"/>
              </a:rPr>
              <a:t>P(A ∩ B) = P(A) P(B)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25621"/>
            <a:ext cx="8229600" cy="384619"/>
          </a:xfrm>
          <a:prstGeom prst="roundRect">
            <a:avLst>
              <a:gd name="adj" fmla="val 2377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" y="3825621"/>
            <a:ext cx="1828800" cy="384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050" b="1" spc="60">
                <a:solidFill>
                  <a:srgbClr val="7C2529"/>
                </a:solidFill>
                <a:latin typeface="Helvetica Neue"/>
              </a:rPr>
              <a:t>BAYES'S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3744" y="3825621"/>
            <a:ext cx="5925312" cy="384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00" b="0">
                <a:solidFill>
                  <a:srgbClr val="1D1D1F"/>
                </a:solidFill>
                <a:latin typeface="Menlo"/>
              </a:rPr>
              <a:t>P(A | B) = P(B | A) P(A) / P(B)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283392"/>
            <a:ext cx="8229600" cy="384619"/>
          </a:xfrm>
          <a:prstGeom prst="roundRect">
            <a:avLst>
              <a:gd name="adj" fmla="val 2377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" y="4283392"/>
            <a:ext cx="1828800" cy="3846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050" b="1" spc="60">
                <a:solidFill>
                  <a:srgbClr val="7C2529"/>
                </a:solidFill>
                <a:latin typeface="Helvetica Neue"/>
              </a:rPr>
              <a:t>TOTAL PROBABILITY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3744" y="4283392"/>
            <a:ext cx="5925312" cy="38461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00" b="0">
                <a:solidFill>
                  <a:srgbClr val="1D1D1F"/>
                </a:solidFill>
                <a:latin typeface="Menlo"/>
              </a:rPr>
              <a:t>P(B) = P(B|A) P(A) + P(B|¬A) P(¬A)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rPr lang="en-US" dirty="0"/>
              <a:t>Probability Example: </a:t>
            </a:r>
            <a:r>
              <a:rPr dirty="0"/>
              <a:t>Twenty app reviews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9646"/>
          <a:ext cx="5102351" cy="2267712"/>
        </p:xfrm>
        <a:graphic>
          <a:graphicData uri="http://schemas.openxmlformats.org/drawingml/2006/table">
            <a:tbl>
              <a:tblPr firstRow="1"/>
              <a:tblGrid>
                <a:gridCol w="1326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8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900" b="1" spc="50">
                          <a:solidFill>
                            <a:srgbClr val="86868B"/>
                          </a:solidFill>
                          <a:latin typeface="Helvetica Neue"/>
                        </a:rPr>
                        <a:t>HAS "CRASHES"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900" b="1" spc="50">
                          <a:solidFill>
                            <a:srgbClr val="86868B"/>
                          </a:solidFill>
                          <a:latin typeface="Helvetica Neue"/>
                        </a:rPr>
                        <a:t>NO "CRASHES"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900" b="1" spc="50">
                          <a:solidFill>
                            <a:srgbClr val="86868B"/>
                          </a:solidFill>
                          <a:latin typeface="Helvetica Neue"/>
                        </a:rPr>
                        <a:t>TOTAL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1 star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7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3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10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4-5 star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1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9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10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86868B"/>
                          </a:solidFill>
                          <a:latin typeface="Helvetica Neue"/>
                        </a:rPr>
                        <a:t>total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86868B"/>
                          </a:solidFill>
                          <a:latin typeface="Menlo"/>
                        </a:rPr>
                        <a:t>8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86868B"/>
                          </a:solidFill>
                          <a:latin typeface="Menlo"/>
                        </a:rPr>
                        <a:t>12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86868B"/>
                          </a:solidFill>
                          <a:latin typeface="Menlo"/>
                        </a:rPr>
                        <a:t>20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25312" y="1739646"/>
            <a:ext cx="2761488" cy="2267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FOUR OF THE TWENTY</a:t>
            </a:r>
          </a:p>
          <a:p>
            <a:pPr marL="0" indent="0">
              <a:spcAft>
                <a:spcPts val="900"/>
              </a:spcAft>
              <a:buNone/>
            </a:pPr>
            <a:r>
              <a:rPr sz="1000" b="1">
                <a:solidFill>
                  <a:srgbClr val="86868B"/>
                </a:solidFill>
                <a:latin typeface="Helvetica Neue"/>
              </a:rPr>
              <a:t>1 STAR   </a:t>
            </a:r>
            <a:r>
              <a:rPr sz="1300">
                <a:solidFill>
                  <a:srgbClr val="1D1D1F"/>
                </a:solidFill>
                <a:latin typeface="Helvetica Neue"/>
              </a:rPr>
              <a:t>crashes every time I open it</a:t>
            </a:r>
          </a:p>
          <a:p>
            <a:pPr marL="0" indent="0">
              <a:spcAft>
                <a:spcPts val="900"/>
              </a:spcAft>
              <a:buNone/>
            </a:pPr>
            <a:r>
              <a:rPr sz="1000" b="1">
                <a:solidFill>
                  <a:srgbClr val="86868B"/>
                </a:solidFill>
                <a:latin typeface="Helvetica Neue"/>
              </a:rPr>
              <a:t>1 STAR   </a:t>
            </a:r>
            <a:r>
              <a:rPr sz="1300">
                <a:solidFill>
                  <a:srgbClr val="1D1D1F"/>
                </a:solidFill>
                <a:latin typeface="Helvetica Neue"/>
              </a:rPr>
              <a:t>unusable since the update</a:t>
            </a:r>
          </a:p>
          <a:p>
            <a:pPr marL="0" indent="0">
              <a:spcAft>
                <a:spcPts val="900"/>
              </a:spcAft>
              <a:buNone/>
            </a:pPr>
            <a:r>
              <a:rPr sz="1000" b="1">
                <a:solidFill>
                  <a:srgbClr val="86868B"/>
                </a:solidFill>
                <a:latin typeface="Helvetica Neue"/>
              </a:rPr>
              <a:t>4 STAR   </a:t>
            </a:r>
            <a:r>
              <a:rPr sz="1300">
                <a:solidFill>
                  <a:srgbClr val="1D1D1F"/>
                </a:solidFill>
                <a:latin typeface="Helvetica Neue"/>
              </a:rPr>
              <a:t>much faster since the update</a:t>
            </a:r>
          </a:p>
          <a:p>
            <a:pPr marL="0" indent="0">
              <a:spcAft>
                <a:spcPts val="900"/>
              </a:spcAft>
              <a:buNone/>
            </a:pPr>
            <a:r>
              <a:rPr sz="1000" b="1">
                <a:solidFill>
                  <a:srgbClr val="86868B"/>
                </a:solidFill>
                <a:latin typeface="Helvetica Neue"/>
              </a:rPr>
              <a:t>5 STAR   </a:t>
            </a:r>
            <a:r>
              <a:rPr sz="1300">
                <a:solidFill>
                  <a:srgbClr val="1D1D1F"/>
                </a:solidFill>
                <a:latin typeface="Helvetica Neue"/>
              </a:rPr>
              <a:t>fast, and it never crashes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How would you compute each of these?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78992"/>
            <a:ext cx="8229600" cy="521970"/>
          </a:xfrm>
          <a:prstGeom prst="roundRect">
            <a:avLst>
              <a:gd name="adj" fmla="val 1927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1078992"/>
            <a:ext cx="475488" cy="5219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900" b="1">
                <a:solidFill>
                  <a:srgbClr val="7C2529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078992"/>
            <a:ext cx="7278624" cy="5219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300" b="0">
                <a:solidFill>
                  <a:srgbClr val="1D1D1F"/>
                </a:solidFill>
                <a:latin typeface="Menlo"/>
              </a:rPr>
              <a:t>P(1 star), P(crashes), P(crashes ∩ 1 star)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2402"/>
            <a:ext cx="8229600" cy="521970"/>
          </a:xfrm>
          <a:prstGeom prst="roundRect">
            <a:avLst>
              <a:gd name="adj" fmla="val 1927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692402"/>
            <a:ext cx="475488" cy="5219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900" b="1">
                <a:solidFill>
                  <a:srgbClr val="7C2529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692402"/>
            <a:ext cx="7278624" cy="5219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300" b="0">
                <a:solidFill>
                  <a:srgbClr val="1D1D1F"/>
                </a:solidFill>
                <a:latin typeface="Menlo"/>
              </a:rPr>
              <a:t>P(crashes ∪ 1 star)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05812"/>
            <a:ext cx="8229600" cy="521970"/>
          </a:xfrm>
          <a:prstGeom prst="roundRect">
            <a:avLst>
              <a:gd name="adj" fmla="val 1927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2305812"/>
            <a:ext cx="475488" cy="5219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900" b="1">
                <a:solidFill>
                  <a:srgbClr val="7C2529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305812"/>
            <a:ext cx="7278624" cy="5219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300" b="0">
                <a:solidFill>
                  <a:srgbClr val="1D1D1F"/>
                </a:solidFill>
                <a:latin typeface="Menlo"/>
              </a:rPr>
              <a:t>P(1 star | crashes) and P(crashes | 1 star)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19222"/>
            <a:ext cx="8229600" cy="521970"/>
          </a:xfrm>
          <a:prstGeom prst="roundRect">
            <a:avLst>
              <a:gd name="adj" fmla="val 1927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" y="2919222"/>
            <a:ext cx="475488" cy="5219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900" b="1">
                <a:solidFill>
                  <a:srgbClr val="7C2529"/>
                </a:solidFill>
                <a:latin typeface="Helvetica Ne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919222"/>
            <a:ext cx="7278624" cy="5219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300" b="0">
                <a:solidFill>
                  <a:srgbClr val="1D1D1F"/>
                </a:solidFill>
                <a:latin typeface="Menlo"/>
              </a:rPr>
              <a:t>Is P(crashes ∩ 1 star) = P(crashes) × P(1 star)?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32632"/>
            <a:ext cx="8229600" cy="521970"/>
          </a:xfrm>
          <a:prstGeom prst="roundRect">
            <a:avLst>
              <a:gd name="adj" fmla="val 1927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3532632"/>
            <a:ext cx="475488" cy="5219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900" b="1">
                <a:solidFill>
                  <a:srgbClr val="7C2529"/>
                </a:solidFill>
                <a:latin typeface="Helvetica Ne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693589"/>
            <a:ext cx="7278624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300" b="0" dirty="0">
                <a:solidFill>
                  <a:srgbClr val="1D1D1F"/>
                </a:solidFill>
                <a:latin typeface="Menlo"/>
              </a:rPr>
              <a:t>"update" is in 10, five of them 1 star. Same question</a:t>
            </a:r>
            <a:r>
              <a:rPr lang="en-US" sz="1300" b="0" dirty="0">
                <a:solidFill>
                  <a:srgbClr val="1D1D1F"/>
                </a:solidFill>
                <a:latin typeface="Menlo"/>
              </a:rPr>
              <a:t> as Q4</a:t>
            </a:r>
            <a:r>
              <a:rPr sz="1300" b="0" dirty="0">
                <a:solidFill>
                  <a:srgbClr val="1D1D1F"/>
                </a:solidFill>
                <a:latin typeface="Menlo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46042"/>
            <a:ext cx="8229600" cy="521970"/>
          </a:xfrm>
          <a:prstGeom prst="roundRect">
            <a:avLst>
              <a:gd name="adj" fmla="val 1927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" y="4146042"/>
            <a:ext cx="475488" cy="5219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900" b="1">
                <a:solidFill>
                  <a:srgbClr val="7C2529"/>
                </a:solidFill>
                <a:latin typeface="Helvetica Neue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46042"/>
            <a:ext cx="7278624" cy="5219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300" b="0">
                <a:solidFill>
                  <a:srgbClr val="1D1D1F"/>
                </a:solidFill>
                <a:latin typeface="Menlo"/>
              </a:rPr>
              <a:t>Flagger catches 80% of 1 star, 20% of the rest. P(1 star | flagged)?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Break</a:t>
            </a:r>
          </a:p>
        </p:txBody>
      </p:sp>
      <p:pic>
        <p:nvPicPr>
          <p:cNvPr id="5" name="Picture 4" descr="Five minutes. Then markers, boards, and a corpus of your ow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312"/>
            <a:ext cx="8595360" cy="3186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course-standard break figure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Twenty messages, counted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9646"/>
          <a:ext cx="5102351" cy="2267712"/>
        </p:xfrm>
        <a:graphic>
          <a:graphicData uri="http://schemas.openxmlformats.org/drawingml/2006/table">
            <a:tbl>
              <a:tblPr firstRow="1"/>
              <a:tblGrid>
                <a:gridCol w="1326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8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100" b="1" spc="50">
                          <a:solidFill>
                            <a:srgbClr val="86868B"/>
                          </a:solidFill>
                          <a:latin typeface="Helvetica Neue"/>
                        </a:rPr>
                        <a:t>HAS "FREE"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100" b="1" spc="50">
                          <a:solidFill>
                            <a:srgbClr val="86868B"/>
                          </a:solidFill>
                          <a:latin typeface="Helvetica Neue"/>
                        </a:rPr>
                        <a:t>NO "FREE"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100" b="1" spc="50">
                          <a:solidFill>
                            <a:srgbClr val="86868B"/>
                          </a:solidFill>
                          <a:latin typeface="Helvetica Neue"/>
                        </a:rPr>
                        <a:t>TOTAL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spam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5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3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8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ham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1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11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12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86868B"/>
                          </a:solidFill>
                          <a:latin typeface="Helvetica Neue"/>
                        </a:rPr>
                        <a:t>total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86868B"/>
                          </a:solidFill>
                          <a:latin typeface="Menlo"/>
                        </a:rPr>
                        <a:t>6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86868B"/>
                          </a:solidFill>
                          <a:latin typeface="Menlo"/>
                        </a:rPr>
                        <a:t>14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86868B"/>
                          </a:solidFill>
                          <a:latin typeface="Menlo"/>
                        </a:rPr>
                        <a:t>20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25312" y="1739646"/>
            <a:ext cx="2761488" cy="2267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FOUR OF THE TWENTY</a:t>
            </a:r>
          </a:p>
          <a:p>
            <a:pPr marL="0" indent="0">
              <a:spcAft>
                <a:spcPts val="900"/>
              </a:spcAft>
              <a:buNone/>
            </a:pPr>
            <a:r>
              <a:rPr sz="1000" b="1">
                <a:solidFill>
                  <a:srgbClr val="86868B"/>
                </a:solidFill>
                <a:latin typeface="Helvetica Neue"/>
              </a:rPr>
              <a:t>SPAM   </a:t>
            </a:r>
            <a:r>
              <a:rPr sz="1300">
                <a:solidFill>
                  <a:srgbClr val="1D1D1F"/>
                </a:solidFill>
                <a:latin typeface="Helvetica Neue"/>
              </a:rPr>
              <a:t>claim your free prize</a:t>
            </a:r>
          </a:p>
          <a:p>
            <a:pPr marL="0" indent="0">
              <a:spcAft>
                <a:spcPts val="900"/>
              </a:spcAft>
              <a:buNone/>
            </a:pPr>
            <a:r>
              <a:rPr sz="1000" b="1">
                <a:solidFill>
                  <a:srgbClr val="86868B"/>
                </a:solidFill>
                <a:latin typeface="Helvetica Neue"/>
              </a:rPr>
              <a:t>SPAM   </a:t>
            </a:r>
            <a:r>
              <a:rPr sz="1300">
                <a:solidFill>
                  <a:srgbClr val="1D1D1F"/>
                </a:solidFill>
                <a:latin typeface="Helvetica Neue"/>
              </a:rPr>
              <a:t>urgent: verify your account</a:t>
            </a:r>
          </a:p>
          <a:p>
            <a:pPr marL="0" indent="0">
              <a:spcAft>
                <a:spcPts val="900"/>
              </a:spcAft>
              <a:buNone/>
            </a:pPr>
            <a:r>
              <a:rPr sz="1000" b="1">
                <a:solidFill>
                  <a:srgbClr val="86868B"/>
                </a:solidFill>
                <a:latin typeface="Helvetica Neue"/>
              </a:rPr>
              <a:t>HAM   </a:t>
            </a:r>
            <a:r>
              <a:rPr sz="1300">
                <a:solidFill>
                  <a:srgbClr val="1D1D1F"/>
                </a:solidFill>
                <a:latin typeface="Helvetica Neue"/>
              </a:rPr>
              <a:t>free parking in lot B this week</a:t>
            </a:r>
          </a:p>
          <a:p>
            <a:pPr marL="0" indent="0">
              <a:spcAft>
                <a:spcPts val="900"/>
              </a:spcAft>
              <a:buNone/>
            </a:pPr>
            <a:r>
              <a:rPr sz="1000" b="1">
                <a:solidFill>
                  <a:srgbClr val="86868B"/>
                </a:solidFill>
                <a:latin typeface="Helvetica Neue"/>
              </a:rPr>
              <a:t>HAM   </a:t>
            </a:r>
            <a:r>
              <a:rPr sz="1300">
                <a:solidFill>
                  <a:srgbClr val="1D1D1F"/>
                </a:solidFill>
                <a:latin typeface="Helvetica Neue"/>
              </a:rPr>
              <a:t>can we move the meeting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Six problems, in teams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78992"/>
            <a:ext cx="8229600" cy="521970"/>
          </a:xfrm>
          <a:prstGeom prst="roundRect">
            <a:avLst>
              <a:gd name="adj" fmla="val 1927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1078992"/>
            <a:ext cx="475488" cy="5219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200" b="1">
                <a:solidFill>
                  <a:srgbClr val="7C2529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078992"/>
            <a:ext cx="7278624" cy="5219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600" b="0">
                <a:solidFill>
                  <a:srgbClr val="1D1D1F"/>
                </a:solidFill>
                <a:latin typeface="Menlo"/>
              </a:rPr>
              <a:t>P(spam), P(free), P(free ∩ spam)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2402"/>
            <a:ext cx="8229600" cy="521970"/>
          </a:xfrm>
          <a:prstGeom prst="roundRect">
            <a:avLst>
              <a:gd name="adj" fmla="val 1927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692402"/>
            <a:ext cx="475488" cy="5219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200" b="1">
                <a:solidFill>
                  <a:srgbClr val="7C2529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692402"/>
            <a:ext cx="7278624" cy="5219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600" b="0">
                <a:solidFill>
                  <a:srgbClr val="1D1D1F"/>
                </a:solidFill>
                <a:latin typeface="Menlo"/>
              </a:rPr>
              <a:t>P(free ∪ spam)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05812"/>
            <a:ext cx="8229600" cy="521970"/>
          </a:xfrm>
          <a:prstGeom prst="roundRect">
            <a:avLst>
              <a:gd name="adj" fmla="val 1927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2305812"/>
            <a:ext cx="475488" cy="5219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200" b="1">
                <a:solidFill>
                  <a:srgbClr val="7C2529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305812"/>
            <a:ext cx="7278624" cy="5219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600" b="0">
                <a:solidFill>
                  <a:srgbClr val="1D1D1F"/>
                </a:solidFill>
                <a:latin typeface="Menlo"/>
              </a:rPr>
              <a:t>P(spam | free) and P(free | spam)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19222"/>
            <a:ext cx="8229600" cy="521970"/>
          </a:xfrm>
          <a:prstGeom prst="roundRect">
            <a:avLst>
              <a:gd name="adj" fmla="val 1927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" y="2919222"/>
            <a:ext cx="475488" cy="5219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200" b="1">
                <a:solidFill>
                  <a:srgbClr val="7C2529"/>
                </a:solidFill>
                <a:latin typeface="Helvetica Ne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919222"/>
            <a:ext cx="7278624" cy="5219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600" b="0">
                <a:solidFill>
                  <a:srgbClr val="1D1D1F"/>
                </a:solidFill>
                <a:latin typeface="Menlo"/>
              </a:rPr>
              <a:t>Is P(free ∩ spam) = P(free) × P(spam)?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32632"/>
            <a:ext cx="8229600" cy="521970"/>
          </a:xfrm>
          <a:prstGeom prst="roundRect">
            <a:avLst>
              <a:gd name="adj" fmla="val 1927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3532632"/>
            <a:ext cx="475488" cy="5219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200" b="1">
                <a:solidFill>
                  <a:srgbClr val="7C2529"/>
                </a:solidFill>
                <a:latin typeface="Helvetica Ne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670506"/>
            <a:ext cx="72786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600" b="0" dirty="0">
                <a:solidFill>
                  <a:srgbClr val="1D1D1F"/>
                </a:solidFill>
                <a:latin typeface="Menlo"/>
              </a:rPr>
              <a:t>"meeting" is in 5, two of them spam. Same question</a:t>
            </a:r>
            <a:r>
              <a:rPr lang="en-US" sz="1600" b="0" dirty="0">
                <a:solidFill>
                  <a:srgbClr val="1D1D1F"/>
                </a:solidFill>
                <a:latin typeface="Menlo"/>
              </a:rPr>
              <a:t> as Q4</a:t>
            </a:r>
            <a:r>
              <a:rPr sz="1600" b="0" dirty="0">
                <a:solidFill>
                  <a:srgbClr val="1D1D1F"/>
                </a:solidFill>
                <a:latin typeface="Menlo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46042"/>
            <a:ext cx="8229600" cy="521970"/>
          </a:xfrm>
          <a:prstGeom prst="roundRect">
            <a:avLst>
              <a:gd name="adj" fmla="val 1927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" y="4146042"/>
            <a:ext cx="475488" cy="5219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200" b="1">
                <a:solidFill>
                  <a:srgbClr val="7C2529"/>
                </a:solidFill>
                <a:latin typeface="Helvetica Neue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46042"/>
            <a:ext cx="7278624" cy="5219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600" b="0">
                <a:solidFill>
                  <a:srgbClr val="1D1D1F"/>
                </a:solidFill>
                <a:latin typeface="Menlo"/>
              </a:rPr>
              <a:t>Filter flags 90% of spam, 10% of ham. P(spam | flagged)?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If you finish early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02980"/>
            <a:ext cx="4041648" cy="1741043"/>
          </a:xfrm>
          <a:prstGeom prst="roundRect">
            <a:avLst>
              <a:gd name="adj" fmla="val 682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49284"/>
            <a:ext cx="3675888" cy="1448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THE WHOLE CORPUS</a:t>
            </a:r>
          </a:p>
          <a:p>
            <a:pPr marL="0" indent="0">
              <a:spcAft>
                <a:spcPts val="300"/>
              </a:spcAft>
              <a:buNone/>
            </a:pPr>
            <a:r>
              <a:rPr sz="1400" b="0" u="none">
                <a:solidFill>
                  <a:srgbClr val="1D1D1F"/>
                </a:solidFill>
                <a:latin typeface="Menlo"/>
              </a:rPr>
              <a:t>the cat sat</a:t>
            </a:r>
          </a:p>
          <a:p>
            <a:pPr marL="0" indent="0">
              <a:spcAft>
                <a:spcPts val="300"/>
              </a:spcAft>
              <a:buNone/>
            </a:pPr>
            <a:r>
              <a:rPr sz="1400" b="0" u="none">
                <a:solidFill>
                  <a:srgbClr val="1D1D1F"/>
                </a:solidFill>
                <a:latin typeface="Menlo"/>
              </a:rPr>
              <a:t>the cat ran</a:t>
            </a:r>
          </a:p>
          <a:p>
            <a:pPr marL="0" indent="0">
              <a:spcAft>
                <a:spcPts val="300"/>
              </a:spcAft>
              <a:buNone/>
            </a:pPr>
            <a:r>
              <a:rPr sz="1400" b="0" u="none">
                <a:solidFill>
                  <a:srgbClr val="1D1D1F"/>
                </a:solidFill>
                <a:latin typeface="Menlo"/>
              </a:rPr>
              <a:t>the dog sat</a:t>
            </a:r>
          </a:p>
          <a:p>
            <a:pPr marL="0" indent="0">
              <a:spcAft>
                <a:spcPts val="300"/>
              </a:spcAft>
              <a:buNone/>
            </a:pPr>
            <a:r>
              <a:rPr sz="1400" b="0" u="none">
                <a:solidFill>
                  <a:srgbClr val="1D1D1F"/>
                </a:solidFill>
                <a:latin typeface="Menlo"/>
              </a:rPr>
              <a:t>a cat sat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2002980"/>
            <a:ext cx="4041648" cy="1741043"/>
          </a:xfrm>
          <a:prstGeom prst="roundRect">
            <a:avLst>
              <a:gd name="adj" fmla="val 682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28032" y="2149284"/>
            <a:ext cx="3675888" cy="1448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WORK OUT</a:t>
            </a:r>
          </a:p>
          <a:p>
            <a:pPr marL="0" indent="0">
              <a:spcAft>
                <a:spcPts val="300"/>
              </a:spcAft>
              <a:buNone/>
            </a:pPr>
            <a:r>
              <a:rPr sz="1400" b="0" u="none">
                <a:solidFill>
                  <a:srgbClr val="1D1D1F"/>
                </a:solidFill>
                <a:latin typeface="Menlo"/>
              </a:rPr>
              <a:t>P(the cat sat)</a:t>
            </a:r>
          </a:p>
          <a:p>
            <a:pPr marL="0" indent="0">
              <a:spcAft>
                <a:spcPts val="300"/>
              </a:spcAft>
              <a:buNone/>
            </a:pPr>
            <a:r>
              <a:rPr sz="1400" b="0" u="none">
                <a:solidFill>
                  <a:srgbClr val="1D1D1F"/>
                </a:solidFill>
                <a:latin typeface="Menlo"/>
              </a:rPr>
              <a:t>= P(w1) × P(w2 | w1) × P(w3 | w2)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2622</TotalTime>
  <Words>1165</Words>
  <Application>Microsoft Macintosh PowerPoint</Application>
  <PresentationFormat>On-screen Show (16:9)</PresentationFormat>
  <Paragraphs>115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Helvetica Neue</vt:lpstr>
      <vt:lpstr>Playfair Display</vt:lpstr>
      <vt:lpstr>Menlo</vt:lpstr>
      <vt:lpstr>Arial</vt:lpstr>
      <vt:lpstr>Roboto</vt:lpstr>
      <vt:lpstr>Roboto Light</vt:lpstr>
      <vt:lpstr>Office Theme</vt:lpstr>
      <vt:lpstr>CSCI 3495 Probability for NLP</vt:lpstr>
      <vt:lpstr>What is Probability?</vt:lpstr>
      <vt:lpstr>PowerPoint Presentation</vt:lpstr>
      <vt:lpstr>PowerPoint Presentation</vt:lpstr>
      <vt:lpstr>Every one of these is a count, divided</vt:lpstr>
      <vt:lpstr>Probability Example: Twenty app reviews</vt:lpstr>
      <vt:lpstr>How would you compute each of these?</vt:lpstr>
      <vt:lpstr>Break</vt:lpstr>
      <vt:lpstr>Twenty messages, counted</vt:lpstr>
      <vt:lpstr>Six problems, in teams</vt:lpstr>
      <vt:lpstr>If you finish early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Davalos Anaya, Eduardo</cp:lastModifiedBy>
  <cp:revision>4</cp:revision>
  <dcterms:modified xsi:type="dcterms:W3CDTF">2026-09-13T21:20:30Z</dcterms:modified>
</cp:coreProperties>
</file>