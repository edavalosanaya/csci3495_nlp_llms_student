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Whiteboards and markers today, laptops shut the whole period. Every probability in this course is a count divided by another count, and by the end of the hour they will have computed a bigram language model by hand without being told that is what they are doing. The first half is the rules with no data attached; the counts arrive after the break, at the same moment the markers do.</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rules, and the first is the only definition you need: count the items that are A and divide by N. And is the overlap, or is the two added with the overlap subtracted once, because otherwise you have counted it twice. Draw the Venn on the board as you say it. Everything in the second half of the course rests on these three lines.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conditional shrinks the universe to B and asks what fraction of the survivors are also A. Rearranged, it is the chain rule, and stretched over a sentence it is exactly an n-gram language model. Spend the most time on the bottom line: P(A given B) and P(B given A) are different numbers, and swapping them is the mistake that will cost the most marks this semester.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events are independent when knowing one tells you nothing about the other. All three lines say that, and they stand or fall together, so in practice you check whichever side is easiest to count. Do NOT work an example here: problems 4 and 5 are this test on two different words, and the whole value of that pair is that they run it themselves and get opposite answers. Say only why anyone cares, which is that a word that fails this test is a word worth using as a feature.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one rearrangement worth memorising, and it is two lines from the definition they already have: write the joint using the conditional you can count, then divide both sides by P(B). Motivate it before deriving it. Labelling mail tells you how often spam contains a word; what you need at inference is the reverse. The right-hand panel is the part teams forget, so read it out: when P(B) is not handed to you, sum every route to B. Problem 6 is unsolvable without that line and solvable in two steps with 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data, with markers already in their hands. Twenty messages, eight of them spam, six containing the word "free", five of those both. Leave this up for the rest of the period, or copy it onto a side board, because problems one to five are all read off these four inner cells.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or four, one board each, markers out, thirty minutes. Hand out one and two first, then three and four once most boards have something. Work the room rather than watching; the answers are in the instructor notes. The most useful thing you can say to a stuck team is "point at the messages you are counting", which fixes almost every wrong number.</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four-sentence corpus and the chain rule with each word conditioned on the one before it. The answer is three quarters times two thirds times two thirds, which is exactly one third. A team that gets here has computed a bigram language model by hand, and telling them so afterwards is the best two minutes of the period.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Probability for NLP</a:t>
            </a:r>
          </a:p>
        </p:txBody>
      </p:sp>
      <p:sp>
        <p:nvSpPr>
          <p:cNvPr id="3" name="Subtitle 2"/>
          <p:cNvSpPr>
            <a:spLocks noGrp="1"/>
          </p:cNvSpPr>
          <p:nvPr>
            <p:ph type="subTitle" idx="1"/>
          </p:nvPr>
        </p:nvSpPr>
        <p:spPr>
          <a:xfrm>
            <a:off x="493926" y="3549825"/>
            <a:ext cx="5501701" cy="970800"/>
          </a:xfrm>
        </p:spPr>
        <p:txBody>
          <a:bodyPr wrap="square"/>
          <a:lstStyle/>
          <a:p>
            <a:pPr marL="0" indent="0">
              <a:buNone/>
            </a:pPr>
            <a:r>
              <a:t>Natural Language Processing &amp; Large Language Models</a:t>
            </a:r>
          </a:p>
          <a:p>
            <a:pPr marL="0" indent="0">
              <a:buNone/>
            </a:pPr>
            <a:r>
              <a:t>Week 4, Class 1  ·  Mon Sep 14, 2026</a:t>
            </a:r>
          </a:p>
        </p:txBody>
      </p:sp>
      <p:pic>
        <p:nvPicPr>
          <p:cNvPr id="5" name="Picture 4" descr="Probability for NLP"/>
          <p:cNvPicPr>
            <a:picLocks noChangeAspect="1"/>
          </p:cNvPicPr>
          <p:nvPr/>
        </p:nvPicPr>
        <p:blipFill>
          <a:blip r:embed="rId3"/>
          <a:stretch>
            <a:fillRect/>
          </a:stretch>
        </p:blipFill>
        <p:spPr>
          <a:xfrm>
            <a:off x="6224227" y="3474720"/>
            <a:ext cx="2554013"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original figure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probability is a count, divided</a:t>
            </a:r>
          </a:p>
        </p:txBody>
      </p:sp>
      <p:pic>
        <p:nvPicPr>
          <p:cNvPr id="5" name="Picture 4" descr="A probability is a count, divided"/>
          <p:cNvPicPr>
            <a:picLocks noChangeAspect="1"/>
          </p:cNvPicPr>
          <p:nvPr/>
        </p:nvPicPr>
        <p:blipFill>
          <a:blip r:embed="rId3"/>
          <a:stretch>
            <a:fillRect/>
          </a:stretch>
        </p:blipFill>
        <p:spPr>
          <a:xfrm>
            <a:off x="274320" y="1893777"/>
            <a:ext cx="8595360" cy="195945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Given: shrink the world</a:t>
            </a:r>
          </a:p>
        </p:txBody>
      </p:sp>
      <p:pic>
        <p:nvPicPr>
          <p:cNvPr id="5" name="Picture 4" descr="Given: shrink the world"/>
          <p:cNvPicPr>
            <a:picLocks noChangeAspect="1"/>
          </p:cNvPicPr>
          <p:nvPr/>
        </p:nvPicPr>
        <p:blipFill>
          <a:blip r:embed="rId3"/>
          <a:stretch>
            <a:fillRect/>
          </a:stretch>
        </p:blipFill>
        <p:spPr>
          <a:xfrm>
            <a:off x="274320" y="1624261"/>
            <a:ext cx="8595360" cy="249848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Independent means the count does not move</a:t>
            </a:r>
          </a:p>
        </p:txBody>
      </p:sp>
      <p:pic>
        <p:nvPicPr>
          <p:cNvPr id="5" name="Picture 4" descr="Independent means the count does not move"/>
          <p:cNvPicPr>
            <a:picLocks noChangeAspect="1"/>
          </p:cNvPicPr>
          <p:nvPr/>
        </p:nvPicPr>
        <p:blipFill>
          <a:blip r:embed="rId3"/>
          <a:stretch>
            <a:fillRect/>
          </a:stretch>
        </p:blipFill>
        <p:spPr>
          <a:xfrm>
            <a:off x="274320" y="1744450"/>
            <a:ext cx="8595360" cy="225810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Flip the conditional</a:t>
            </a:r>
          </a:p>
        </p:txBody>
      </p:sp>
      <p:pic>
        <p:nvPicPr>
          <p:cNvPr id="5" name="Picture 4" descr="Flip the conditional"/>
          <p:cNvPicPr>
            <a:picLocks noChangeAspect="1"/>
          </p:cNvPicPr>
          <p:nvPr/>
        </p:nvPicPr>
        <p:blipFill>
          <a:blip r:embed="rId3"/>
          <a:stretch>
            <a:fillRect/>
          </a:stretch>
        </p:blipFill>
        <p:spPr>
          <a:xfrm>
            <a:off x="274320" y="1260051"/>
            <a:ext cx="8595360" cy="322690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Then markers, boards, and the data."/>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course-standard break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Twenty messages, counted</a:t>
            </a:r>
          </a:p>
        </p:txBody>
      </p:sp>
      <p:pic>
        <p:nvPicPr>
          <p:cNvPr id="5" name="Picture 4" descr="Twenty messages, counted"/>
          <p:cNvPicPr>
            <a:picLocks noChangeAspect="1"/>
          </p:cNvPicPr>
          <p:nvPr/>
        </p:nvPicPr>
        <p:blipFill>
          <a:blip r:embed="rId3"/>
          <a:stretch>
            <a:fillRect/>
          </a:stretch>
        </p:blipFill>
        <p:spPr>
          <a:xfrm>
            <a:off x="274320" y="1868282"/>
            <a:ext cx="8595360" cy="201044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Six problems, in teams</a:t>
            </a:r>
          </a:p>
        </p:txBody>
      </p:sp>
      <p:pic>
        <p:nvPicPr>
          <p:cNvPr id="5" name="Picture 4" descr="Six problems, in teams"/>
          <p:cNvPicPr>
            <a:picLocks noChangeAspect="1"/>
          </p:cNvPicPr>
          <p:nvPr/>
        </p:nvPicPr>
        <p:blipFill>
          <a:blip r:embed="rId3"/>
          <a:stretch>
            <a:fillRect/>
          </a:stretch>
        </p:blipFill>
        <p:spPr>
          <a:xfrm>
            <a:off x="824174" y="1078992"/>
            <a:ext cx="74956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If you finish early</a:t>
            </a:r>
          </a:p>
        </p:txBody>
      </p:sp>
      <p:pic>
        <p:nvPicPr>
          <p:cNvPr id="5" name="Picture 4" descr="If you finish early"/>
          <p:cNvPicPr>
            <a:picLocks noChangeAspect="1"/>
          </p:cNvPicPr>
          <p:nvPr/>
        </p:nvPicPr>
        <p:blipFill>
          <a:blip r:embed="rId3"/>
          <a:stretch>
            <a:fillRect/>
          </a:stretch>
        </p:blipFill>
        <p:spPr>
          <a:xfrm>
            <a:off x="274320" y="1751735"/>
            <a:ext cx="8595360" cy="224353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