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8" r:id="rId1"/>
  </p:sldMasterIdLst>
  <p:notesMasterIdLst>
    <p:notesMasterId r:id="rId13"/>
  </p:notesMasterIdLst>
  <p:sldIdLst>
    <p:sldId id="256" r:id="rId2"/>
    <p:sldId id="266" r:id="rId3"/>
    <p:sldId id="264" r:id="rId4"/>
    <p:sldId id="265" r:id="rId5"/>
    <p:sldId id="257" r:id="rId6"/>
    <p:sldId id="258" r:id="rId7"/>
    <p:sldId id="259" r:id="rId8"/>
    <p:sldId id="260" r:id="rId9"/>
    <p:sldId id="261" r:id="rId10"/>
    <p:sldId id="262" r:id="rId11"/>
    <p:sldId id="263" r:id="rId12"/>
  </p:sldIdLst>
  <p:sldSz cx="9144000" cy="5143500" type="screen16x9"/>
  <p:notesSz cx="6858000" cy="9144000"/>
  <p:embeddedFontLst>
    <p:embeddedFont>
      <p:font typeface="Playfair Display" pitchFamily="2" charset="77"/>
      <p:regular r:id="rId14"/>
      <p:bold r:id="rId15"/>
      <p:italic r:id="rId16"/>
      <p:boldItalic r:id="rId17"/>
    </p:embeddedFont>
    <p:embeddedFont>
      <p:font typeface="Roboto" panose="02000000000000000000" pitchFamily="2" charset="0"/>
      <p:regular r:id="rId18"/>
      <p:bold r:id="rId19"/>
      <p:italic r:id="rId20"/>
      <p:boldItalic r:id="rId21"/>
    </p:embeddedFont>
    <p:embeddedFont>
      <p:font typeface="Roboto Light" panose="020F0302020204030204" pitchFamily="34" charset="0"/>
      <p:regular r:id="rId22"/>
      <p:bold r:id="rId23"/>
      <p:italic r:id="rId24"/>
      <p:boldItalic r:id="rId2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42"/>
    <p:restoredTop sz="94658"/>
  </p:normalViewPr>
  <p:slideViewPr>
    <p:cSldViewPr snapToGrid="0">
      <p:cViewPr varScale="1">
        <p:scale>
          <a:sx n="124" d="100"/>
          <a:sy n="124" d="100"/>
        </p:scale>
        <p:origin x="176" y="7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5" Type="http://schemas.openxmlformats.org/officeDocument/2006/relationships/font" Target="fonts/font12.fnt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1.fntdata"/><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font" Target="fonts/font10.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font" Target="fonts/font9.fntdata"/><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523" y="685800"/>
            <a:ext cx="45717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Whiteboards and markers today, laptops shut the whole period. Every probability in this course is a count divided by another count, and by the end of the hour they will have computed a bigram language model by hand without being told that is what they are doing. The rules go up once, all eight together, and then we read every one of them off a single table of twenty reviews.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Eight lines, and the first one is the only definition: count the items that are A, divide by N. Everything under it is that definition rearranged. Draw the Venn on the board as you say "or", because subtracting the overlap is the step they skip. Say the two that matter most out loud: P(A given B) and P(B given A) are different numbers, and Bayes is the rearrangement that gets you from the one you can count to the one you want. The last line is the one teams forget an hour from now, so read it rather than letting it sit there.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Twenty reviews, half of them one star, and the word "crashes" in eight of them. Every number on the next slide comes out of those four inner cells. Read the last review out loud: "never crashes" is a five star review that contains the word, which is the honest reason a count of words is only ever an approximation.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Do not solve these on the slide. Take them one at a time, ask the room which two counts go on top and underneath, and write only the fraction on the board before anyone reaches for a calculator. The answers are in the instructor notes. Four and five are the pair worth the most time: same test, opposite answers, and that is what makes one word a useful feature and the other one dead weight. Six is the only one that needs the last line of the rules slide.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 second corpus, and this one they work themselves. Twenty messages, eight of them spam, six containing the word "free", five of those both. Leave this up for the rest of the period, or copy it onto a side board, because problems one to five are all read off these four inner cells.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Teams of three or four, one board each, markers out, thirty minutes. Hand out one and two first, then three and four once most boards have something. They have seen this shape once already on the review corpus, so do not re-explain it; work the room instead. The most useful thing you can say to a stuck team is "point at the messages you are counting", which fixes almost every wrong number.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 four-sentence corpus and the chain rule with each word conditioned on the one before it. The answer is three quarters times two thirds times two thirds, which is exactly one third. A team that gets here has computed a bigram language model by hand, and telling them so afterwards is the best two minutes of the period.</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Master" Target="../slideMasters/slideMaster1.xml"/><Relationship Id="rId4" Type="http://schemas.openxmlformats.org/officeDocument/2006/relationships/image" Target="../media/image7.jpg"/></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Cover Page" type="blank">
  <p:cSld name="BLANK">
    <p:spTree>
      <p:nvGrpSpPr>
        <p:cNvPr id="1"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spcFirstLastPara="1" wrap="square" lIns="34275" tIns="34275" rIns="34275" bIns="34275" anchor="ctr" anchorCtr="0">
            <a:noAutofit/>
          </a:bodyPr>
          <a:lstStyle/>
          <a:p>
            <a:pPr marL="0" lvl="0" indent="0" algn="l" rtl="0">
              <a:spcBef>
                <a:spcPts val="0"/>
              </a:spcBef>
              <a:spcAft>
                <a:spcPts val="0"/>
              </a:spcAft>
              <a:buNone/>
            </a:pPr>
            <a:endParaRPr/>
          </a:p>
        </p:txBody>
      </p:sp>
      <p:pic>
        <p:nvPicPr>
          <p:cNvPr id="11" name="Google Shape;11;p2"/>
          <p:cNvPicPr preferRelativeResize="0"/>
          <p:nvPr/>
        </p:nvPicPr>
        <p:blipFill rotWithShape="1">
          <a:blip r:embed="rId2">
            <a:alphaModFix/>
          </a:blip>
          <a:srcRect l="600" t="43847" r="-600" b="13732"/>
          <a:stretch/>
        </p:blipFill>
        <p:spPr>
          <a:xfrm>
            <a:off x="0" y="-70472"/>
            <a:ext cx="9198797" cy="3460774"/>
          </a:xfrm>
          <a:prstGeom prst="rect">
            <a:avLst/>
          </a:prstGeom>
          <a:noFill/>
          <a:ln>
            <a:noFill/>
          </a:ln>
        </p:spPr>
      </p:pic>
      <p:sp>
        <p:nvSpPr>
          <p:cNvPr id="12" name="Google Shape;12;p2"/>
          <p:cNvSpPr txBox="1">
            <a:spLocks noGrp="1"/>
          </p:cNvSpPr>
          <p:nvPr>
            <p:ph type="title"/>
          </p:nvPr>
        </p:nvSpPr>
        <p:spPr>
          <a:xfrm>
            <a:off x="493923" y="976378"/>
            <a:ext cx="8005800" cy="18243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rgbClr val="FFFFFF"/>
              </a:buClr>
              <a:buSzPts val="3600"/>
              <a:buFont typeface="Playfair Display"/>
              <a:buNone/>
              <a:defRPr sz="3600" i="0" u="none" strike="noStrike" cap="non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13" name="Google Shape;13;p2"/>
          <p:cNvSpPr txBox="1">
            <a:spLocks noGrp="1"/>
          </p:cNvSpPr>
          <p:nvPr>
            <p:ph type="subTitle" idx="1"/>
          </p:nvPr>
        </p:nvSpPr>
        <p:spPr>
          <a:xfrm>
            <a:off x="493926" y="3549825"/>
            <a:ext cx="7661100" cy="970800"/>
          </a:xfrm>
          <a:prstGeom prst="rect">
            <a:avLst/>
          </a:prstGeom>
        </p:spPr>
        <p:txBody>
          <a:bodyPr spcFirstLastPara="1" wrap="square" lIns="34275" tIns="34275" rIns="34275" bIns="34275" anchor="t" anchorCtr="0">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14" name="Google Shape;14;p2"/>
          <p:cNvSpPr txBox="1">
            <a:spLocks noGrp="1"/>
          </p:cNvSpPr>
          <p:nvPr>
            <p:ph type="subTitle" idx="2"/>
          </p:nvPr>
        </p:nvSpPr>
        <p:spPr>
          <a:xfrm>
            <a:off x="493923" y="4079316"/>
            <a:ext cx="7327800" cy="2987100"/>
          </a:xfrm>
          <a:prstGeom prst="rect">
            <a:avLst/>
          </a:prstGeom>
        </p:spPr>
        <p:txBody>
          <a:bodyPr spcFirstLastPara="1" wrap="square" lIns="34275" tIns="34275" rIns="34275" bIns="34275" anchor="t" anchorCtr="0">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2_Title + 2 Columns">
  <p:cSld name="2_Portfolio Three">
    <p:spTree>
      <p:nvGrpSpPr>
        <p:cNvPr id="1" name="Shape 15"/>
        <p:cNvGrpSpPr/>
        <p:nvPr/>
      </p:nvGrpSpPr>
      <p:grpSpPr>
        <a:xfrm>
          <a:off x="0" y="0"/>
          <a:ext cx="0" cy="0"/>
          <a:chOff x="0" y="0"/>
          <a:chExt cx="0" cy="0"/>
        </a:xfrm>
      </p:grpSpPr>
      <p:sp>
        <p:nvSpPr>
          <p:cNvPr id="16" name="Google Shape;16;p3"/>
          <p:cNvSpPr txBox="1">
            <a:spLocks noGrp="1"/>
          </p:cNvSpPr>
          <p:nvPr>
            <p:ph type="body" idx="1"/>
          </p:nvPr>
        </p:nvSpPr>
        <p:spPr>
          <a:xfrm>
            <a:off x="509577" y="1369219"/>
            <a:ext cx="36882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90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90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90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90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90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
        <p:nvSpPr>
          <p:cNvPr id="17" name="Google Shape;17;p3"/>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18" name="Google Shape;18;p3"/>
          <p:cNvSpPr txBox="1">
            <a:spLocks noGrp="1"/>
          </p:cNvSpPr>
          <p:nvPr>
            <p:ph type="subTitle" idx="2"/>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19" name="Google Shape;19;p3"/>
          <p:cNvSpPr txBox="1">
            <a:spLocks noGrp="1"/>
          </p:cNvSpPr>
          <p:nvPr>
            <p:ph type="body" idx="3"/>
          </p:nvPr>
        </p:nvSpPr>
        <p:spPr>
          <a:xfrm>
            <a:off x="4827127" y="1369219"/>
            <a:ext cx="36882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90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90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90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90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90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Title + 3 Columns">
  <p:cSld name="1_Slide with Placeholder">
    <p:spTree>
      <p:nvGrpSpPr>
        <p:cNvPr id="1" name="Shape 20"/>
        <p:cNvGrpSpPr/>
        <p:nvPr/>
      </p:nvGrpSpPr>
      <p:grpSpPr>
        <a:xfrm>
          <a:off x="0" y="0"/>
          <a:ext cx="0" cy="0"/>
          <a:chOff x="0" y="0"/>
          <a:chExt cx="0" cy="0"/>
        </a:xfrm>
      </p:grpSpPr>
      <p:sp>
        <p:nvSpPr>
          <p:cNvPr id="21" name="Google Shape;21;p4"/>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22" name="Google Shape;22;p4"/>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23" name="Google Shape;23;p4"/>
          <p:cNvSpPr txBox="1">
            <a:spLocks noGrp="1"/>
          </p:cNvSpPr>
          <p:nvPr>
            <p:ph type="body" idx="2"/>
          </p:nvPr>
        </p:nvSpPr>
        <p:spPr>
          <a:xfrm>
            <a:off x="552175" y="1369225"/>
            <a:ext cx="25023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90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90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90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90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90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
        <p:nvSpPr>
          <p:cNvPr id="24" name="Google Shape;24;p4"/>
          <p:cNvSpPr txBox="1">
            <a:spLocks noGrp="1"/>
          </p:cNvSpPr>
          <p:nvPr>
            <p:ph type="body" idx="3"/>
          </p:nvPr>
        </p:nvSpPr>
        <p:spPr>
          <a:xfrm>
            <a:off x="3337475" y="1369225"/>
            <a:ext cx="25023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90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90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90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90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90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
        <p:nvSpPr>
          <p:cNvPr id="25" name="Google Shape;25;p4"/>
          <p:cNvSpPr txBox="1">
            <a:spLocks noGrp="1"/>
          </p:cNvSpPr>
          <p:nvPr>
            <p:ph type="body" idx="4"/>
          </p:nvPr>
        </p:nvSpPr>
        <p:spPr>
          <a:xfrm>
            <a:off x="6160800" y="1369225"/>
            <a:ext cx="25023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90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90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90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90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90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6_Cover Slide">
  <p:cSld name="Cover Slide">
    <p:spTree>
      <p:nvGrpSpPr>
        <p:cNvPr id="1"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6_Cover Slide with Logo">
  <p:cSld name="Cover Slide_2">
    <p:spTree>
      <p:nvGrpSpPr>
        <p:cNvPr id="1"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6_Acknowledgments Slide">
  <p:cSld name="Cover Slide_1">
    <p:spTree>
      <p:nvGrpSpPr>
        <p:cNvPr id="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a:stretch/>
        </p:blipFill>
        <p:spPr>
          <a:xfrm>
            <a:off x="595" y="0"/>
            <a:ext cx="9142810" cy="5142831"/>
          </a:xfrm>
          <a:prstGeom prst="rect">
            <a:avLst/>
          </a:prstGeom>
          <a:noFill/>
          <a:ln>
            <a:noFill/>
          </a:ln>
        </p:spPr>
      </p:pic>
      <p:sp>
        <p:nvSpPr>
          <p:cNvPr id="33" name="Google Shape;33;p7"/>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lt1"/>
              </a:buClr>
              <a:buSzPts val="5600"/>
              <a:buFont typeface="Playfair Display"/>
              <a:buNone/>
              <a:defRPr sz="5600" i="0" u="none" strike="noStrike" cap="non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34" name="Google Shape;34;p7"/>
          <p:cNvSpPr txBox="1">
            <a:spLocks noGrp="1"/>
          </p:cNvSpPr>
          <p:nvPr>
            <p:ph type="subTitle" idx="1"/>
          </p:nvPr>
        </p:nvSpPr>
        <p:spPr>
          <a:xfrm>
            <a:off x="509521" y="1401113"/>
            <a:ext cx="5120100" cy="1558200"/>
          </a:xfrm>
          <a:prstGeom prst="rect">
            <a:avLst/>
          </a:prstGeom>
        </p:spPr>
        <p:txBody>
          <a:bodyPr spcFirstLastPara="1" wrap="square" lIns="34275" tIns="34275" rIns="34275" bIns="34275" anchor="t" anchorCtr="0">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_Title only">
  <p:cSld name="Custom Layout">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37" name="Google Shape;37;p8"/>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3_Big Concept Slide">
  <p:cSld name="Slide with Placeholder">
    <p:spTree>
      <p:nvGrpSpPr>
        <p:cNvPr id="1" name="Shape 38"/>
        <p:cNvGrpSpPr/>
        <p:nvPr/>
      </p:nvGrpSpPr>
      <p:grpSpPr>
        <a:xfrm>
          <a:off x="0" y="0"/>
          <a:ext cx="0" cy="0"/>
          <a:chOff x="0" y="0"/>
          <a:chExt cx="0" cy="0"/>
        </a:xfrm>
      </p:grpSpPr>
      <p:sp>
        <p:nvSpPr>
          <p:cNvPr id="39" name="Google Shape;39;p9"/>
          <p:cNvSpPr txBox="1">
            <a:spLocks noGrp="1"/>
          </p:cNvSpPr>
          <p:nvPr>
            <p:ph type="title"/>
          </p:nvPr>
        </p:nvSpPr>
        <p:spPr>
          <a:xfrm>
            <a:off x="509577" y="2245519"/>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40" name="Google Shape;40;p9"/>
          <p:cNvSpPr txBox="1">
            <a:spLocks noGrp="1"/>
          </p:cNvSpPr>
          <p:nvPr>
            <p:ph type="subTitle" idx="1"/>
          </p:nvPr>
        </p:nvSpPr>
        <p:spPr>
          <a:xfrm>
            <a:off x="509577" y="3154509"/>
            <a:ext cx="6737700" cy="953100"/>
          </a:xfrm>
          <a:prstGeom prst="rect">
            <a:avLst/>
          </a:prstGeom>
        </p:spPr>
        <p:txBody>
          <a:bodyPr spcFirstLastPara="1" wrap="square" lIns="34275" tIns="34275" rIns="34275" bIns="34275" anchor="t" anchorCtr="0">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4_Text and Photo">
  <p:cSld name="Large Picture with Logo">
    <p:spTree>
      <p:nvGrpSpPr>
        <p:cNvPr id="1" name="Shape 41"/>
        <p:cNvGrpSpPr/>
        <p:nvPr/>
      </p:nvGrpSpPr>
      <p:grpSpPr>
        <a:xfrm>
          <a:off x="0" y="0"/>
          <a:ext cx="0" cy="0"/>
          <a:chOff x="0" y="0"/>
          <a:chExt cx="0" cy="0"/>
        </a:xfrm>
      </p:grpSpPr>
      <p:sp>
        <p:nvSpPr>
          <p:cNvPr id="42" name="Google Shape;42;p10"/>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43" name="Google Shape;43;p10"/>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pic>
        <p:nvPicPr>
          <p:cNvPr id="44" name="Google Shape;44;p10"/>
          <p:cNvPicPr preferRelativeResize="0"/>
          <p:nvPr/>
        </p:nvPicPr>
        <p:blipFill rotWithShape="1">
          <a:blip r:embed="rId2">
            <a:alphaModFix/>
          </a:blip>
          <a:srcRect l="27412" r="6551" b="2009"/>
          <a:stretch/>
        </p:blipFill>
        <p:spPr>
          <a:xfrm>
            <a:off x="7006675" y="-56025"/>
            <a:ext cx="2176574" cy="4846049"/>
          </a:xfrm>
          <a:prstGeom prst="rect">
            <a:avLst/>
          </a:prstGeom>
          <a:noFill/>
          <a:ln>
            <a:noFill/>
          </a:ln>
        </p:spPr>
      </p:pic>
      <p:sp>
        <p:nvSpPr>
          <p:cNvPr id="45" name="Google Shape;45;p10"/>
          <p:cNvSpPr txBox="1">
            <a:spLocks noGrp="1"/>
          </p:cNvSpPr>
          <p:nvPr>
            <p:ph type="body" idx="2"/>
          </p:nvPr>
        </p:nvSpPr>
        <p:spPr>
          <a:xfrm>
            <a:off x="555675" y="1369225"/>
            <a:ext cx="59745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115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115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115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115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115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115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115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115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115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4_Text and Photo 1">
  <p:cSld name="Large Picture with Logo_1">
    <p:spTree>
      <p:nvGrpSpPr>
        <p:cNvPr id="1" name="Shape 46"/>
        <p:cNvGrpSpPr/>
        <p:nvPr/>
      </p:nvGrpSpPr>
      <p:grpSpPr>
        <a:xfrm>
          <a:off x="0" y="0"/>
          <a:ext cx="0" cy="0"/>
          <a:chOff x="0" y="0"/>
          <a:chExt cx="0" cy="0"/>
        </a:xfrm>
      </p:grpSpPr>
      <p:sp>
        <p:nvSpPr>
          <p:cNvPr id="47" name="Google Shape;47;p11"/>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48" name="Google Shape;48;p11"/>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49" name="Google Shape;49;p11"/>
          <p:cNvSpPr txBox="1">
            <a:spLocks noGrp="1"/>
          </p:cNvSpPr>
          <p:nvPr>
            <p:ph type="body" idx="2"/>
          </p:nvPr>
        </p:nvSpPr>
        <p:spPr>
          <a:xfrm>
            <a:off x="555675" y="1369225"/>
            <a:ext cx="59745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115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115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115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115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115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115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115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115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115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4_Text and Photo 2">
  <p:cSld name="Large Picture with Logo_1_1">
    <p:spTree>
      <p:nvGrpSpPr>
        <p:cNvPr id="1" name="Shape 50"/>
        <p:cNvGrpSpPr/>
        <p:nvPr/>
      </p:nvGrpSpPr>
      <p:grpSpPr>
        <a:xfrm>
          <a:off x="0" y="0"/>
          <a:ext cx="0" cy="0"/>
          <a:chOff x="0" y="0"/>
          <a:chExt cx="0" cy="0"/>
        </a:xfrm>
      </p:grpSpPr>
      <p:sp>
        <p:nvSpPr>
          <p:cNvPr id="51" name="Google Shape;51;p12"/>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52" name="Google Shape;52;p12"/>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pic>
        <p:nvPicPr>
          <p:cNvPr id="53" name="Google Shape;53;p12"/>
          <p:cNvPicPr preferRelativeResize="0"/>
          <p:nvPr/>
        </p:nvPicPr>
        <p:blipFill rotWithShape="1">
          <a:blip r:embed="rId2">
            <a:alphaModFix/>
          </a:blip>
          <a:srcRect l="27412" r="6551"/>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l="895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l="39028"/>
          <a:stretch/>
        </p:blipFill>
        <p:spPr>
          <a:xfrm>
            <a:off x="7006676" y="-57150"/>
            <a:ext cx="4442373" cy="4856124"/>
          </a:xfrm>
          <a:prstGeom prst="rect">
            <a:avLst/>
          </a:prstGeom>
          <a:noFill/>
          <a:ln>
            <a:noFill/>
          </a:ln>
        </p:spPr>
      </p:pic>
      <p:sp>
        <p:nvSpPr>
          <p:cNvPr id="56" name="Google Shape;56;p12"/>
          <p:cNvSpPr txBox="1">
            <a:spLocks noGrp="1"/>
          </p:cNvSpPr>
          <p:nvPr>
            <p:ph type="body" idx="2"/>
          </p:nvPr>
        </p:nvSpPr>
        <p:spPr>
          <a:xfrm>
            <a:off x="555675" y="1369225"/>
            <a:ext cx="59745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115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115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115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115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115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115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115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115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115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4_Text and Photo 3">
  <p:cSld name="Large Picture with Logo_1_1_1">
    <p:spTree>
      <p:nvGrpSpPr>
        <p:cNvPr id="1" name="Shape 57"/>
        <p:cNvGrpSpPr/>
        <p:nvPr/>
      </p:nvGrpSpPr>
      <p:grpSpPr>
        <a:xfrm>
          <a:off x="0" y="0"/>
          <a:ext cx="0" cy="0"/>
          <a:chOff x="0" y="0"/>
          <a:chExt cx="0" cy="0"/>
        </a:xfrm>
      </p:grpSpPr>
      <p:sp>
        <p:nvSpPr>
          <p:cNvPr id="58" name="Google Shape;58;p13"/>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59" name="Google Shape;59;p13"/>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pic>
        <p:nvPicPr>
          <p:cNvPr id="60" name="Google Shape;60;p13"/>
          <p:cNvPicPr preferRelativeResize="0"/>
          <p:nvPr/>
        </p:nvPicPr>
        <p:blipFill rotWithShape="1">
          <a:blip r:embed="rId2">
            <a:alphaModFix/>
          </a:blip>
          <a:srcRect l="24210" r="1252"/>
          <a:stretch/>
        </p:blipFill>
        <p:spPr>
          <a:xfrm>
            <a:off x="7006675" y="-57150"/>
            <a:ext cx="5430948" cy="4856124"/>
          </a:xfrm>
          <a:prstGeom prst="rect">
            <a:avLst/>
          </a:prstGeom>
          <a:noFill/>
          <a:ln>
            <a:noFill/>
          </a:ln>
        </p:spPr>
      </p:pic>
      <p:sp>
        <p:nvSpPr>
          <p:cNvPr id="61" name="Google Shape;61;p13"/>
          <p:cNvSpPr txBox="1">
            <a:spLocks noGrp="1"/>
          </p:cNvSpPr>
          <p:nvPr>
            <p:ph type="body" idx="2"/>
          </p:nvPr>
        </p:nvSpPr>
        <p:spPr>
          <a:xfrm>
            <a:off x="555675" y="1369225"/>
            <a:ext cx="59745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115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115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115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115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115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115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115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115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115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4_Text and Photo 4">
  <p:cSld name="Large Picture with Logo_1_1_1_1">
    <p:spTree>
      <p:nvGrpSpPr>
        <p:cNvPr id="1" name="Shape 62"/>
        <p:cNvGrpSpPr/>
        <p:nvPr/>
      </p:nvGrpSpPr>
      <p:grpSpPr>
        <a:xfrm>
          <a:off x="0" y="0"/>
          <a:ext cx="0" cy="0"/>
          <a:chOff x="0" y="0"/>
          <a:chExt cx="0" cy="0"/>
        </a:xfrm>
      </p:grpSpPr>
      <p:sp>
        <p:nvSpPr>
          <p:cNvPr id="63" name="Google Shape;63;p14"/>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64" name="Google Shape;64;p14"/>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pic>
        <p:nvPicPr>
          <p:cNvPr id="65" name="Google Shape;65;p14"/>
          <p:cNvPicPr preferRelativeResize="0"/>
          <p:nvPr/>
        </p:nvPicPr>
        <p:blipFill rotWithShape="1">
          <a:blip r:embed="rId2">
            <a:alphaModFix/>
          </a:blip>
          <a:srcRect l="34525"/>
          <a:stretch/>
        </p:blipFill>
        <p:spPr>
          <a:xfrm>
            <a:off x="7010075" y="-57150"/>
            <a:ext cx="2543048" cy="4856125"/>
          </a:xfrm>
          <a:prstGeom prst="rect">
            <a:avLst/>
          </a:prstGeom>
          <a:noFill/>
          <a:ln>
            <a:noFill/>
          </a:ln>
        </p:spPr>
      </p:pic>
      <p:sp>
        <p:nvSpPr>
          <p:cNvPr id="66" name="Google Shape;66;p14"/>
          <p:cNvSpPr txBox="1">
            <a:spLocks noGrp="1"/>
          </p:cNvSpPr>
          <p:nvPr>
            <p:ph type="body" idx="2"/>
          </p:nvPr>
        </p:nvSpPr>
        <p:spPr>
          <a:xfrm>
            <a:off x="555675" y="1369225"/>
            <a:ext cx="59745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90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90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90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90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90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4_Text with Large Photo">
  <p:cSld name="3_Placeholder">
    <p:spTree>
      <p:nvGrpSpPr>
        <p:cNvPr id="1" name="Shape 67"/>
        <p:cNvGrpSpPr/>
        <p:nvPr/>
      </p:nvGrpSpPr>
      <p:grpSpPr>
        <a:xfrm>
          <a:off x="0" y="0"/>
          <a:ext cx="0" cy="0"/>
          <a:chOff x="0" y="0"/>
          <a:chExt cx="0" cy="0"/>
        </a:xfrm>
      </p:grpSpPr>
      <p:sp>
        <p:nvSpPr>
          <p:cNvPr id="68" name="Google Shape;68;p15"/>
          <p:cNvSpPr txBox="1">
            <a:spLocks noGrp="1"/>
          </p:cNvSpPr>
          <p:nvPr>
            <p:ph type="title"/>
          </p:nvPr>
        </p:nvSpPr>
        <p:spPr>
          <a:xfrm>
            <a:off x="509577" y="702469"/>
            <a:ext cx="22071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2700"/>
              <a:buFont typeface="Playfair Display"/>
              <a:buNone/>
              <a:defRPr sz="27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69" name="Google Shape;69;p15"/>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70" name="Google Shape;70;p15"/>
          <p:cNvSpPr txBox="1">
            <a:spLocks noGrp="1"/>
          </p:cNvSpPr>
          <p:nvPr>
            <p:ph type="body" idx="2"/>
          </p:nvPr>
        </p:nvSpPr>
        <p:spPr>
          <a:xfrm>
            <a:off x="509575" y="1902650"/>
            <a:ext cx="22533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115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115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115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115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115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115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115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4_Text with Large Photo 1">
  <p:cSld name="3_Placeholder_1">
    <p:spTree>
      <p:nvGrpSpPr>
        <p:cNvPr id="1" name="Shape 71"/>
        <p:cNvGrpSpPr/>
        <p:nvPr/>
      </p:nvGrpSpPr>
      <p:grpSpPr>
        <a:xfrm>
          <a:off x="0" y="0"/>
          <a:ext cx="0" cy="0"/>
          <a:chOff x="0" y="0"/>
          <a:chExt cx="0" cy="0"/>
        </a:xfrm>
      </p:grpSpPr>
      <p:sp>
        <p:nvSpPr>
          <p:cNvPr id="72" name="Google Shape;72;p16"/>
          <p:cNvSpPr txBox="1">
            <a:spLocks noGrp="1"/>
          </p:cNvSpPr>
          <p:nvPr>
            <p:ph type="title"/>
          </p:nvPr>
        </p:nvSpPr>
        <p:spPr>
          <a:xfrm>
            <a:off x="509577" y="702469"/>
            <a:ext cx="22071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2700"/>
              <a:buFont typeface="Playfair Display"/>
              <a:buNone/>
              <a:defRPr sz="27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73" name="Google Shape;73;p16"/>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74" name="Google Shape;74;p16"/>
          <p:cNvSpPr txBox="1">
            <a:spLocks noGrp="1"/>
          </p:cNvSpPr>
          <p:nvPr>
            <p:ph type="body" idx="2"/>
          </p:nvPr>
        </p:nvSpPr>
        <p:spPr>
          <a:xfrm>
            <a:off x="509575" y="1902650"/>
            <a:ext cx="22533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115000"/>
              </a:lnSpc>
              <a:spcBef>
                <a:spcPts val="700"/>
              </a:spcBef>
              <a:spcAft>
                <a:spcPts val="0"/>
              </a:spcAft>
              <a:buSzPts val="2200"/>
              <a:buFont typeface="Roboto Light"/>
              <a:buNone/>
              <a:defRPr sz="2200" i="0" u="none" strike="noStrike" cap="none">
                <a:latin typeface="Roboto Light"/>
                <a:ea typeface="Roboto Light"/>
                <a:cs typeface="Roboto Light"/>
                <a:sym typeface="Roboto Light"/>
              </a:defRPr>
            </a:lvl1pPr>
            <a:lvl2pPr marL="914400" marR="0" lvl="1" indent="-228600" algn="l">
              <a:lnSpc>
                <a:spcPct val="115000"/>
              </a:lnSpc>
              <a:spcBef>
                <a:spcPts val="400"/>
              </a:spcBef>
              <a:spcAft>
                <a:spcPts val="0"/>
              </a:spcAft>
              <a:buSzPts val="1800"/>
              <a:buFont typeface="Roboto Light"/>
              <a:buNone/>
              <a:defRPr sz="1800" i="0" u="none" strike="noStrike" cap="none">
                <a:latin typeface="Roboto Light"/>
                <a:ea typeface="Roboto Light"/>
                <a:cs typeface="Roboto Light"/>
                <a:sym typeface="Roboto Light"/>
              </a:defRPr>
            </a:lvl2pPr>
            <a:lvl3pPr marL="1371600" marR="0" lvl="2" indent="-228600" algn="l">
              <a:lnSpc>
                <a:spcPct val="115000"/>
              </a:lnSpc>
              <a:spcBef>
                <a:spcPts val="400"/>
              </a:spcBef>
              <a:spcAft>
                <a:spcPts val="0"/>
              </a:spcAft>
              <a:buSzPts val="1500"/>
              <a:buFont typeface="Roboto Light"/>
              <a:buNone/>
              <a:defRPr sz="1500" i="0" u="none" strike="noStrike" cap="none">
                <a:latin typeface="Roboto Light"/>
                <a:ea typeface="Roboto Light"/>
                <a:cs typeface="Roboto Light"/>
                <a:sym typeface="Roboto Light"/>
              </a:defRPr>
            </a:lvl3pPr>
            <a:lvl4pPr marL="1828800" marR="0" lvl="3" indent="-228600" algn="l">
              <a:lnSpc>
                <a:spcPct val="115000"/>
              </a:lnSpc>
              <a:spcBef>
                <a:spcPts val="400"/>
              </a:spcBef>
              <a:spcAft>
                <a:spcPts val="0"/>
              </a:spcAft>
              <a:buSzPts val="1300"/>
              <a:buFont typeface="Roboto Light"/>
              <a:buNone/>
              <a:defRPr sz="1300" i="0" u="none" strike="noStrike" cap="none">
                <a:latin typeface="Roboto Light"/>
                <a:ea typeface="Roboto Light"/>
                <a:cs typeface="Roboto Light"/>
                <a:sym typeface="Roboto Light"/>
              </a:defRPr>
            </a:lvl4pPr>
            <a:lvl5pPr marL="2286000" marR="0" lvl="4" indent="-228600" algn="l">
              <a:lnSpc>
                <a:spcPct val="115000"/>
              </a:lnSpc>
              <a:spcBef>
                <a:spcPts val="400"/>
              </a:spcBef>
              <a:spcAft>
                <a:spcPts val="0"/>
              </a:spcAft>
              <a:buSzPts val="1100"/>
              <a:buFont typeface="Roboto Light"/>
              <a:buNone/>
              <a:defRPr sz="1100" i="0" u="none" strike="noStrike" cap="none">
                <a:latin typeface="Roboto Light"/>
                <a:ea typeface="Roboto Light"/>
                <a:cs typeface="Roboto Light"/>
                <a:sym typeface="Roboto Light"/>
              </a:defRPr>
            </a:lvl5pPr>
            <a:lvl6pPr marL="2743200" marR="0" lvl="5" indent="-285750" algn="l">
              <a:lnSpc>
                <a:spcPct val="115000"/>
              </a:lnSpc>
              <a:spcBef>
                <a:spcPts val="400"/>
              </a:spcBef>
              <a:spcAft>
                <a:spcPts val="0"/>
              </a:spcAft>
              <a:buClr>
                <a:schemeClr val="dk2"/>
              </a:buClr>
              <a:buSzPts val="900"/>
              <a:buFont typeface="Roboto"/>
              <a:buChar char="•"/>
              <a:defRPr sz="900" i="0" u="none" strike="noStrike" cap="none">
                <a:solidFill>
                  <a:schemeClr val="dk2"/>
                </a:solidFill>
                <a:latin typeface="Roboto"/>
                <a:ea typeface="Roboto"/>
                <a:cs typeface="Roboto"/>
                <a:sym typeface="Roboto"/>
              </a:defRPr>
            </a:lvl6pPr>
            <a:lvl7pPr marL="3200400" marR="0" lvl="6" indent="-273050" algn="l">
              <a:lnSpc>
                <a:spcPct val="115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5_Single Statistic">
  <p:cSld name="1_Placeholder">
    <p:spTree>
      <p:nvGrpSpPr>
        <p:cNvPr id="1" name="Shape 75"/>
        <p:cNvGrpSpPr/>
        <p:nvPr/>
      </p:nvGrpSpPr>
      <p:grpSpPr>
        <a:xfrm>
          <a:off x="0" y="0"/>
          <a:ext cx="0" cy="0"/>
          <a:chOff x="0" y="0"/>
          <a:chExt cx="0" cy="0"/>
        </a:xfrm>
      </p:grpSpPr>
      <p:sp>
        <p:nvSpPr>
          <p:cNvPr id="76" name="Google Shape;76;p17"/>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77" name="Google Shape;77;p17"/>
          <p:cNvSpPr txBox="1">
            <a:spLocks noGrp="1"/>
          </p:cNvSpPr>
          <p:nvPr>
            <p:ph type="title"/>
          </p:nvPr>
        </p:nvSpPr>
        <p:spPr>
          <a:xfrm>
            <a:off x="454066" y="1824338"/>
            <a:ext cx="4305900" cy="1385100"/>
          </a:xfrm>
          <a:prstGeom prst="rect">
            <a:avLst/>
          </a:prstGeom>
        </p:spPr>
        <p:txBody>
          <a:bodyPr spcFirstLastPara="1" wrap="square" lIns="34275" tIns="34275" rIns="34275" bIns="34275" anchor="t" anchorCtr="0">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a:endParaRPr/>
          </a:p>
        </p:txBody>
      </p:sp>
      <p:sp>
        <p:nvSpPr>
          <p:cNvPr id="78" name="Google Shape;78;p17"/>
          <p:cNvSpPr txBox="1">
            <a:spLocks noGrp="1"/>
          </p:cNvSpPr>
          <p:nvPr>
            <p:ph type="subTitle" idx="2"/>
          </p:nvPr>
        </p:nvSpPr>
        <p:spPr>
          <a:xfrm>
            <a:off x="454066" y="3127509"/>
            <a:ext cx="8353200" cy="715200"/>
          </a:xfrm>
          <a:prstGeom prst="rect">
            <a:avLst/>
          </a:prstGeom>
        </p:spPr>
        <p:txBody>
          <a:bodyPr spcFirstLastPara="1" wrap="square" lIns="34275" tIns="34275" rIns="34275" bIns="34275" anchor="t" anchorCtr="0">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79" name="Google Shape;79;p17"/>
          <p:cNvSpPr txBox="1">
            <a:spLocks noGrp="1"/>
          </p:cNvSpPr>
          <p:nvPr>
            <p:ph type="subTitle" idx="3"/>
          </p:nvPr>
        </p:nvSpPr>
        <p:spPr>
          <a:xfrm>
            <a:off x="4838166" y="1824350"/>
            <a:ext cx="3866400" cy="1174500"/>
          </a:xfrm>
          <a:prstGeom prst="rect">
            <a:avLst/>
          </a:prstGeom>
        </p:spPr>
        <p:txBody>
          <a:bodyPr spcFirstLastPara="1" wrap="square" lIns="34275" tIns="34275" rIns="34275" bIns="34275" anchor="t" anchorCtr="0">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80" name="Google Shape;80;p17"/>
          <p:cNvSpPr txBox="1">
            <a:spLocks noGrp="1"/>
          </p:cNvSpPr>
          <p:nvPr>
            <p:ph type="title" idx="4"/>
          </p:nvPr>
        </p:nvSpPr>
        <p:spPr>
          <a:xfrm>
            <a:off x="509577" y="837514"/>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5_Multiple Statistics">
  <p:cSld name="1_Placeholder_1">
    <p:spTree>
      <p:nvGrpSpPr>
        <p:cNvPr id="1" name="Shape 81"/>
        <p:cNvGrpSpPr/>
        <p:nvPr/>
      </p:nvGrpSpPr>
      <p:grpSpPr>
        <a:xfrm>
          <a:off x="0" y="0"/>
          <a:ext cx="0" cy="0"/>
          <a:chOff x="0" y="0"/>
          <a:chExt cx="0" cy="0"/>
        </a:xfrm>
      </p:grpSpPr>
      <p:sp>
        <p:nvSpPr>
          <p:cNvPr id="82" name="Google Shape;82;p18"/>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83" name="Google Shape;83;p18"/>
          <p:cNvSpPr txBox="1">
            <a:spLocks noGrp="1"/>
          </p:cNvSpPr>
          <p:nvPr>
            <p:ph type="title"/>
          </p:nvPr>
        </p:nvSpPr>
        <p:spPr>
          <a:xfrm>
            <a:off x="454066" y="759488"/>
            <a:ext cx="4305900" cy="1385100"/>
          </a:xfrm>
          <a:prstGeom prst="rect">
            <a:avLst/>
          </a:prstGeom>
        </p:spPr>
        <p:txBody>
          <a:bodyPr spcFirstLastPara="1" wrap="square" lIns="34275" tIns="34275" rIns="34275" bIns="34275" anchor="t" anchorCtr="0">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a:endParaRPr/>
          </a:p>
        </p:txBody>
      </p:sp>
      <p:sp>
        <p:nvSpPr>
          <p:cNvPr id="84" name="Google Shape;84;p18"/>
          <p:cNvSpPr txBox="1">
            <a:spLocks noGrp="1"/>
          </p:cNvSpPr>
          <p:nvPr>
            <p:ph type="subTitle" idx="2"/>
          </p:nvPr>
        </p:nvSpPr>
        <p:spPr>
          <a:xfrm>
            <a:off x="4759893" y="759488"/>
            <a:ext cx="4008300" cy="1174500"/>
          </a:xfrm>
          <a:prstGeom prst="rect">
            <a:avLst/>
          </a:prstGeom>
        </p:spPr>
        <p:txBody>
          <a:bodyPr spcFirstLastPara="1" wrap="square" lIns="34275" tIns="34275" rIns="34275" bIns="34275" anchor="t" anchorCtr="0">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a:endParaRPr/>
          </a:p>
        </p:txBody>
      </p:sp>
      <p:sp>
        <p:nvSpPr>
          <p:cNvPr id="85" name="Google Shape;85;p18"/>
          <p:cNvSpPr txBox="1">
            <a:spLocks noGrp="1"/>
          </p:cNvSpPr>
          <p:nvPr>
            <p:ph type="title" idx="3"/>
          </p:nvPr>
        </p:nvSpPr>
        <p:spPr>
          <a:xfrm>
            <a:off x="454066" y="2037533"/>
            <a:ext cx="4305900" cy="1385100"/>
          </a:xfrm>
          <a:prstGeom prst="rect">
            <a:avLst/>
          </a:prstGeom>
        </p:spPr>
        <p:txBody>
          <a:bodyPr spcFirstLastPara="1" wrap="square" lIns="34275" tIns="34275" rIns="34275" bIns="34275" anchor="t" anchorCtr="0">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a:endParaRPr/>
          </a:p>
        </p:txBody>
      </p:sp>
      <p:sp>
        <p:nvSpPr>
          <p:cNvPr id="86" name="Google Shape;86;p18"/>
          <p:cNvSpPr txBox="1">
            <a:spLocks noGrp="1"/>
          </p:cNvSpPr>
          <p:nvPr>
            <p:ph type="subTitle" idx="4"/>
          </p:nvPr>
        </p:nvSpPr>
        <p:spPr>
          <a:xfrm>
            <a:off x="4759893" y="2037533"/>
            <a:ext cx="4008300" cy="1174500"/>
          </a:xfrm>
          <a:prstGeom prst="rect">
            <a:avLst/>
          </a:prstGeom>
        </p:spPr>
        <p:txBody>
          <a:bodyPr spcFirstLastPara="1" wrap="square" lIns="34275" tIns="34275" rIns="34275" bIns="34275" anchor="t" anchorCtr="0">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a:endParaRPr/>
          </a:p>
        </p:txBody>
      </p:sp>
      <p:sp>
        <p:nvSpPr>
          <p:cNvPr id="87" name="Google Shape;87;p18"/>
          <p:cNvSpPr txBox="1">
            <a:spLocks noGrp="1"/>
          </p:cNvSpPr>
          <p:nvPr>
            <p:ph type="title" idx="5"/>
          </p:nvPr>
        </p:nvSpPr>
        <p:spPr>
          <a:xfrm>
            <a:off x="454066" y="3437708"/>
            <a:ext cx="4305900" cy="1385100"/>
          </a:xfrm>
          <a:prstGeom prst="rect">
            <a:avLst/>
          </a:prstGeom>
        </p:spPr>
        <p:txBody>
          <a:bodyPr spcFirstLastPara="1" wrap="square" lIns="34275" tIns="34275" rIns="34275" bIns="34275" anchor="t" anchorCtr="0">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a:endParaRPr/>
          </a:p>
        </p:txBody>
      </p:sp>
      <p:sp>
        <p:nvSpPr>
          <p:cNvPr id="88" name="Google Shape;88;p18"/>
          <p:cNvSpPr txBox="1">
            <a:spLocks noGrp="1"/>
          </p:cNvSpPr>
          <p:nvPr>
            <p:ph type="subTitle" idx="6"/>
          </p:nvPr>
        </p:nvSpPr>
        <p:spPr>
          <a:xfrm>
            <a:off x="4759893" y="3437709"/>
            <a:ext cx="4008300" cy="1174500"/>
          </a:xfrm>
          <a:prstGeom prst="rect">
            <a:avLst/>
          </a:prstGeom>
        </p:spPr>
        <p:txBody>
          <a:bodyPr spcFirstLastPara="1" wrap="square" lIns="34275" tIns="34275" rIns="34275" bIns="34275" anchor="t" anchorCtr="0">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5_Quote">
  <p:cSld name="CUSTOM">
    <p:spTree>
      <p:nvGrpSpPr>
        <p:cNvPr id="1" name="Shape 89"/>
        <p:cNvGrpSpPr/>
        <p:nvPr/>
      </p:nvGrpSpPr>
      <p:grpSpPr>
        <a:xfrm>
          <a:off x="0" y="0"/>
          <a:ext cx="0" cy="0"/>
          <a:chOff x="0" y="0"/>
          <a:chExt cx="0" cy="0"/>
        </a:xfrm>
      </p:grpSpPr>
      <p:sp>
        <p:nvSpPr>
          <p:cNvPr id="90" name="Google Shape;90;p19"/>
          <p:cNvSpPr txBox="1">
            <a:spLocks noGrp="1"/>
          </p:cNvSpPr>
          <p:nvPr>
            <p:ph type="subTitle" idx="1"/>
          </p:nvPr>
        </p:nvSpPr>
        <p:spPr>
          <a:xfrm>
            <a:off x="509577" y="219225"/>
            <a:ext cx="3773400" cy="219300"/>
          </a:xfrm>
          <a:prstGeom prst="rect">
            <a:avLst/>
          </a:prstGeom>
        </p:spPr>
        <p:txBody>
          <a:bodyPr spcFirstLastPara="1" wrap="square" lIns="34275" tIns="34275" rIns="34275" bIns="34275" anchor="t" anchorCtr="0">
            <a:noAutofit/>
          </a:bodyPr>
          <a:lstStyle>
            <a:lvl1pPr lvl="0">
              <a:spcBef>
                <a:spcPts val="700"/>
              </a:spcBef>
              <a:spcAft>
                <a:spcPts val="0"/>
              </a:spcAft>
              <a:buNone/>
              <a:defRPr sz="1100" b="1"/>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
        <p:nvSpPr>
          <p:cNvPr id="91" name="Google Shape;91;p19"/>
          <p:cNvSpPr/>
          <p:nvPr/>
        </p:nvSpPr>
        <p:spPr>
          <a:xfrm>
            <a:off x="5748887" y="1561152"/>
            <a:ext cx="1718100" cy="219300"/>
          </a:xfrm>
          <a:prstGeom prst="rect">
            <a:avLst/>
          </a:prstGeom>
          <a:solidFill>
            <a:srgbClr val="738D33"/>
          </a:solidFill>
          <a:ln>
            <a:noFill/>
          </a:ln>
        </p:spPr>
        <p:txBody>
          <a:bodyPr spcFirstLastPara="1" wrap="square" lIns="34275" tIns="34275" rIns="34275" bIns="34275" anchor="ctr" anchorCtr="0">
            <a:noAutofit/>
          </a:bodyPr>
          <a:lstStyle/>
          <a:p>
            <a:pPr marL="0" lvl="0" indent="0" algn="l" rtl="0">
              <a:spcBef>
                <a:spcPts val="0"/>
              </a:spcBef>
              <a:spcAft>
                <a:spcPts val="0"/>
              </a:spcAft>
              <a:buNone/>
            </a:pPr>
            <a:endParaRPr/>
          </a:p>
        </p:txBody>
      </p:sp>
      <p:sp>
        <p:nvSpPr>
          <p:cNvPr id="92" name="Google Shape;92;p19"/>
          <p:cNvSpPr/>
          <p:nvPr/>
        </p:nvSpPr>
        <p:spPr>
          <a:xfrm>
            <a:off x="7467434" y="1561152"/>
            <a:ext cx="1718100" cy="219300"/>
          </a:xfrm>
          <a:prstGeom prst="rect">
            <a:avLst/>
          </a:prstGeom>
          <a:solidFill>
            <a:srgbClr val="625578"/>
          </a:solidFill>
          <a:ln>
            <a:noFill/>
          </a:ln>
        </p:spPr>
        <p:txBody>
          <a:bodyPr spcFirstLastPara="1" wrap="square" lIns="34275" tIns="34275" rIns="34275" bIns="34275" anchor="ctr" anchorCtr="0">
            <a:noAutofit/>
          </a:bodyPr>
          <a:lstStyle/>
          <a:p>
            <a:pPr marL="0" lvl="0" indent="0" algn="l" rtl="0">
              <a:spcBef>
                <a:spcPts val="0"/>
              </a:spcBef>
              <a:spcAft>
                <a:spcPts val="0"/>
              </a:spcAft>
              <a:buNone/>
            </a:pPr>
            <a:endParaRPr/>
          </a:p>
        </p:txBody>
      </p:sp>
      <p:sp>
        <p:nvSpPr>
          <p:cNvPr id="93" name="Google Shape;93;p19"/>
          <p:cNvSpPr/>
          <p:nvPr/>
        </p:nvSpPr>
        <p:spPr>
          <a:xfrm>
            <a:off x="0" y="1561152"/>
            <a:ext cx="1718100" cy="219300"/>
          </a:xfrm>
          <a:prstGeom prst="rect">
            <a:avLst/>
          </a:prstGeom>
          <a:solidFill>
            <a:srgbClr val="FFB600"/>
          </a:solidFill>
          <a:ln>
            <a:noFill/>
          </a:ln>
        </p:spPr>
        <p:txBody>
          <a:bodyPr spcFirstLastPara="1" wrap="square" lIns="34275" tIns="34275" rIns="34275" bIns="34275" anchor="ctr" anchorCtr="0">
            <a:noAutofit/>
          </a:bodyPr>
          <a:lstStyle/>
          <a:p>
            <a:pPr marL="0" lvl="0" indent="0" algn="l" rtl="0">
              <a:spcBef>
                <a:spcPts val="0"/>
              </a:spcBef>
              <a:spcAft>
                <a:spcPts val="0"/>
              </a:spcAft>
              <a:buNone/>
            </a:pPr>
            <a:endParaRPr/>
          </a:p>
        </p:txBody>
      </p:sp>
      <p:sp>
        <p:nvSpPr>
          <p:cNvPr id="94" name="Google Shape;94;p19"/>
          <p:cNvSpPr/>
          <p:nvPr/>
        </p:nvSpPr>
        <p:spPr>
          <a:xfrm>
            <a:off x="1718076" y="1561152"/>
            <a:ext cx="1718100" cy="219300"/>
          </a:xfrm>
          <a:prstGeom prst="rect">
            <a:avLst/>
          </a:prstGeom>
          <a:solidFill>
            <a:srgbClr val="498DA0"/>
          </a:solidFill>
          <a:ln>
            <a:noFill/>
          </a:ln>
        </p:spPr>
        <p:txBody>
          <a:bodyPr spcFirstLastPara="1" wrap="square" lIns="34275" tIns="34275" rIns="34275" bIns="34275" anchor="ctr" anchorCtr="0">
            <a:noAutofit/>
          </a:bodyPr>
          <a:lstStyle/>
          <a:p>
            <a:pPr marL="0" lvl="0" indent="0" algn="l" rtl="0">
              <a:spcBef>
                <a:spcPts val="0"/>
              </a:spcBef>
              <a:spcAft>
                <a:spcPts val="0"/>
              </a:spcAft>
              <a:buNone/>
            </a:pPr>
            <a:endParaRPr/>
          </a:p>
        </p:txBody>
      </p:sp>
      <p:sp>
        <p:nvSpPr>
          <p:cNvPr id="95" name="Google Shape;95;p19"/>
          <p:cNvSpPr txBox="1"/>
          <p:nvPr/>
        </p:nvSpPr>
        <p:spPr>
          <a:xfrm>
            <a:off x="3589051" y="975950"/>
            <a:ext cx="1965900" cy="875400"/>
          </a:xfrm>
          <a:prstGeom prst="rect">
            <a:avLst/>
          </a:prstGeom>
          <a:noFill/>
          <a:ln>
            <a:noFill/>
          </a:ln>
        </p:spPr>
        <p:txBody>
          <a:bodyPr spcFirstLastPara="1" wrap="square" lIns="34275" tIns="34275" rIns="34275" bIns="34275" anchor="t" anchorCtr="0">
            <a:noAutofit/>
          </a:bodyPr>
          <a:lstStyle/>
          <a:p>
            <a:pPr marL="0" lvl="0" indent="0" algn="ctr" rtl="0">
              <a:spcBef>
                <a:spcPts val="0"/>
              </a:spcBef>
              <a:spcAft>
                <a:spcPts val="0"/>
              </a:spcAft>
              <a:buNone/>
            </a:pPr>
            <a:r>
              <a:rPr lang="en" sz="12000" b="1">
                <a:solidFill>
                  <a:srgbClr val="818387"/>
                </a:solidFill>
              </a:rPr>
              <a:t>“</a:t>
            </a:r>
            <a:endParaRPr sz="12000" b="1">
              <a:solidFill>
                <a:srgbClr val="818387"/>
              </a:solidFill>
            </a:endParaRPr>
          </a:p>
        </p:txBody>
      </p:sp>
      <p:sp>
        <p:nvSpPr>
          <p:cNvPr id="96" name="Google Shape;96;p19"/>
          <p:cNvSpPr txBox="1">
            <a:spLocks noGrp="1"/>
          </p:cNvSpPr>
          <p:nvPr>
            <p:ph type="title"/>
          </p:nvPr>
        </p:nvSpPr>
        <p:spPr>
          <a:xfrm>
            <a:off x="1682308" y="2130769"/>
            <a:ext cx="5779500" cy="1962600"/>
          </a:xfrm>
          <a:prstGeom prst="rect">
            <a:avLst/>
          </a:prstGeom>
        </p:spPr>
        <p:txBody>
          <a:bodyPr spcFirstLastPara="1" wrap="square" lIns="34275" tIns="34275" rIns="34275" bIns="34275" anchor="t" anchorCtr="0">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a:endParaRPr/>
          </a:p>
        </p:txBody>
      </p:sp>
      <p:sp>
        <p:nvSpPr>
          <p:cNvPr id="97" name="Google Shape;97;p19"/>
          <p:cNvSpPr txBox="1">
            <a:spLocks noGrp="1"/>
          </p:cNvSpPr>
          <p:nvPr>
            <p:ph type="subTitle" idx="2"/>
          </p:nvPr>
        </p:nvSpPr>
        <p:spPr>
          <a:xfrm>
            <a:off x="3300470" y="3999056"/>
            <a:ext cx="2543100" cy="384600"/>
          </a:xfrm>
          <a:prstGeom prst="rect">
            <a:avLst/>
          </a:prstGeom>
        </p:spPr>
        <p:txBody>
          <a:bodyPr spcFirstLastPara="1" wrap="square" lIns="34275" tIns="34275" rIns="34275" bIns="34275" anchor="t" anchorCtr="0">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13_Title Slide">
  <p:cSld name="13_Title Slide">
    <p:spTree>
      <p:nvGrpSpPr>
        <p:cNvPr id="1" name="Shape 98"/>
        <p:cNvGrpSpPr/>
        <p:nvPr/>
      </p:nvGrpSpPr>
      <p:grpSpPr>
        <a:xfrm>
          <a:off x="0" y="0"/>
          <a:ext cx="0" cy="0"/>
          <a:chOff x="0" y="0"/>
          <a:chExt cx="0" cy="0"/>
        </a:xfrm>
      </p:grpSpPr>
      <p:sp>
        <p:nvSpPr>
          <p:cNvPr id="99" name="Google Shape;99;p20"/>
          <p:cNvSpPr>
            <a:spLocks noGrp="1"/>
          </p:cNvSpPr>
          <p:nvPr>
            <p:ph type="pic" idx="2"/>
          </p:nvPr>
        </p:nvSpPr>
        <p:spPr>
          <a:xfrm>
            <a:off x="192505" y="514350"/>
            <a:ext cx="1600200" cy="4629300"/>
          </a:xfrm>
          <a:prstGeom prst="rect">
            <a:avLst/>
          </a:prstGeom>
          <a:noFill/>
          <a:ln>
            <a:noFill/>
          </a:ln>
        </p:spPr>
      </p:sp>
      <p:sp>
        <p:nvSpPr>
          <p:cNvPr id="100" name="Google Shape;100;p20"/>
          <p:cNvSpPr>
            <a:spLocks noGrp="1"/>
          </p:cNvSpPr>
          <p:nvPr>
            <p:ph type="pic" idx="3"/>
          </p:nvPr>
        </p:nvSpPr>
        <p:spPr>
          <a:xfrm>
            <a:off x="1997242" y="0"/>
            <a:ext cx="1600200" cy="4629300"/>
          </a:xfrm>
          <a:prstGeom prst="rect">
            <a:avLst/>
          </a:prstGeom>
          <a:noFill/>
          <a:ln>
            <a:noFill/>
          </a:ln>
        </p:spPr>
      </p:sp>
      <p:sp>
        <p:nvSpPr>
          <p:cNvPr id="101" name="Google Shape;101;p20"/>
          <p:cNvSpPr>
            <a:spLocks noGrp="1"/>
          </p:cNvSpPr>
          <p:nvPr>
            <p:ph type="pic" idx="4"/>
          </p:nvPr>
        </p:nvSpPr>
        <p:spPr>
          <a:xfrm>
            <a:off x="3801980" y="514350"/>
            <a:ext cx="1600200" cy="4629300"/>
          </a:xfrm>
          <a:prstGeom prst="rect">
            <a:avLst/>
          </a:prstGeom>
          <a:noFill/>
          <a:ln>
            <a:noFill/>
          </a:ln>
        </p:spPr>
      </p:sp>
      <p:sp>
        <p:nvSpPr>
          <p:cNvPr id="102" name="Google Shape;102;p20"/>
          <p:cNvSpPr>
            <a:spLocks noGrp="1"/>
          </p:cNvSpPr>
          <p:nvPr>
            <p:ph type="pic" idx="5"/>
          </p:nvPr>
        </p:nvSpPr>
        <p:spPr>
          <a:xfrm>
            <a:off x="5606716" y="0"/>
            <a:ext cx="1600200" cy="4629300"/>
          </a:xfrm>
          <a:prstGeom prst="rect">
            <a:avLst/>
          </a:prstGeom>
          <a:noFill/>
          <a:ln>
            <a:noFill/>
          </a:ln>
        </p:spPr>
      </p:sp>
      <p:sp>
        <p:nvSpPr>
          <p:cNvPr id="103" name="Google Shape;103;p20"/>
          <p:cNvSpPr>
            <a:spLocks noGrp="1"/>
          </p:cNvSpPr>
          <p:nvPr>
            <p:ph type="pic" idx="6"/>
          </p:nvPr>
        </p:nvSpPr>
        <p:spPr>
          <a:xfrm>
            <a:off x="7411453" y="514350"/>
            <a:ext cx="1600200" cy="4629300"/>
          </a:xfrm>
          <a:prstGeom prst="rect">
            <a:avLst/>
          </a:prstGeom>
          <a:noFill/>
          <a:ln>
            <a:noFill/>
          </a:ln>
        </p:spPr>
      </p:sp>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1_Cover Page 1">
  <p:cSld name="1_Cover Page">
    <p:spTree>
      <p:nvGrpSpPr>
        <p:cNvPr id="1"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100"/>
              <a:buFont typeface="Arial"/>
              <a:buNone/>
            </a:pPr>
            <a:endParaRPr sz="1400" b="0" i="0" u="none" strike="noStrike" cap="non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t="43844" r="-563" b="13732"/>
          <a:stretch/>
        </p:blipFill>
        <p:spPr>
          <a:xfrm>
            <a:off x="-53437" y="-70462"/>
            <a:ext cx="9250875" cy="3460759"/>
          </a:xfrm>
          <a:prstGeom prst="rect">
            <a:avLst/>
          </a:prstGeom>
          <a:noFill/>
          <a:ln>
            <a:noFill/>
          </a:ln>
        </p:spPr>
      </p:pic>
      <p:sp>
        <p:nvSpPr>
          <p:cNvPr id="107" name="Google Shape;107;p21"/>
          <p:cNvSpPr txBox="1">
            <a:spLocks noGrp="1"/>
          </p:cNvSpPr>
          <p:nvPr>
            <p:ph type="title"/>
          </p:nvPr>
        </p:nvSpPr>
        <p:spPr>
          <a:xfrm>
            <a:off x="493923" y="976378"/>
            <a:ext cx="8005800" cy="1824300"/>
          </a:xfrm>
          <a:prstGeom prst="rect">
            <a:avLst/>
          </a:prstGeom>
          <a:noFill/>
          <a:ln>
            <a:noFill/>
          </a:ln>
        </p:spPr>
        <p:txBody>
          <a:bodyPr spcFirstLastPara="1" wrap="square" lIns="25700" tIns="25700" rIns="25700" bIns="25700" anchor="ctr" anchorCtr="0">
            <a:normAutofit/>
          </a:bodyPr>
          <a:lstStyle>
            <a:lvl1pPr marR="0" lvl="0" algn="l">
              <a:lnSpc>
                <a:spcPct val="90000"/>
              </a:lnSpc>
              <a:spcBef>
                <a:spcPts val="0"/>
              </a:spcBef>
              <a:spcAft>
                <a:spcPts val="0"/>
              </a:spcAft>
              <a:buClr>
                <a:srgbClr val="FFFFFF"/>
              </a:buClr>
              <a:buSzPts val="2700"/>
              <a:buFont typeface="Playfair Display"/>
              <a:buNone/>
              <a:defRPr sz="3600" i="0" u="none" strike="noStrike" cap="non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a:endParaRPr/>
          </a:p>
        </p:txBody>
      </p:sp>
      <p:sp>
        <p:nvSpPr>
          <p:cNvPr id="108" name="Google Shape;108;p21"/>
          <p:cNvSpPr txBox="1">
            <a:spLocks noGrp="1"/>
          </p:cNvSpPr>
          <p:nvPr>
            <p:ph type="subTitle" idx="1"/>
          </p:nvPr>
        </p:nvSpPr>
        <p:spPr>
          <a:xfrm>
            <a:off x="493926" y="3549825"/>
            <a:ext cx="7661100" cy="970800"/>
          </a:xfrm>
          <a:prstGeom prst="rect">
            <a:avLst/>
          </a:prstGeom>
          <a:noFill/>
          <a:ln>
            <a:noFill/>
          </a:ln>
        </p:spPr>
        <p:txBody>
          <a:bodyPr spcFirstLastPara="1" wrap="square" lIns="68575" tIns="68575" rIns="68575" bIns="68575" anchor="t" anchorCtr="0">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a:endParaRPr/>
          </a:p>
        </p:txBody>
      </p:sp>
      <p:sp>
        <p:nvSpPr>
          <p:cNvPr id="109" name="Google Shape;109;p21"/>
          <p:cNvSpPr txBox="1">
            <a:spLocks noGrp="1"/>
          </p:cNvSpPr>
          <p:nvPr>
            <p:ph type="subTitle" idx="2"/>
          </p:nvPr>
        </p:nvSpPr>
        <p:spPr>
          <a:xfrm>
            <a:off x="493923" y="4079316"/>
            <a:ext cx="7327800" cy="2987100"/>
          </a:xfrm>
          <a:prstGeom prst="rect">
            <a:avLst/>
          </a:prstGeom>
          <a:noFill/>
          <a:ln>
            <a:noFill/>
          </a:ln>
        </p:spPr>
        <p:txBody>
          <a:bodyPr spcFirstLastPara="1" wrap="square" lIns="68575" tIns="68575" rIns="68575" bIns="68575" anchor="t" anchorCtr="0">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509521" y="406950"/>
            <a:ext cx="8005800" cy="994200"/>
          </a:xfrm>
          <a:prstGeom prst="rect">
            <a:avLst/>
          </a:prstGeom>
          <a:noFill/>
          <a:ln>
            <a:noFill/>
          </a:ln>
        </p:spPr>
        <p:txBody>
          <a:bodyPr spcFirstLastPara="1" wrap="square" lIns="34275" tIns="34275" rIns="34275" bIns="34275" anchor="ctr" anchorCtr="0">
            <a:noAutofit/>
          </a:bodyPr>
          <a:lstStyle>
            <a:lvl1pPr marR="0" lvl="0" algn="l">
              <a:lnSpc>
                <a:spcPct val="90000"/>
              </a:lnSpc>
              <a:spcBef>
                <a:spcPts val="0"/>
              </a:spcBef>
              <a:spcAft>
                <a:spcPts val="0"/>
              </a:spcAft>
              <a:buClr>
                <a:schemeClr val="dk1"/>
              </a:buClr>
              <a:buSzPts val="3600"/>
              <a:buFont typeface="Playfair Display"/>
              <a:buNone/>
              <a:defRPr sz="3600" i="0" u="none" strike="noStrike" cap="non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a:endParaRPr/>
          </a:p>
        </p:txBody>
      </p:sp>
      <p:sp>
        <p:nvSpPr>
          <p:cNvPr id="7" name="Google Shape;7;p1"/>
          <p:cNvSpPr txBox="1">
            <a:spLocks noGrp="1"/>
          </p:cNvSpPr>
          <p:nvPr>
            <p:ph type="body" idx="1"/>
          </p:nvPr>
        </p:nvSpPr>
        <p:spPr>
          <a:xfrm>
            <a:off x="509577" y="1401113"/>
            <a:ext cx="8005800" cy="3263400"/>
          </a:xfrm>
          <a:prstGeom prst="rect">
            <a:avLst/>
          </a:prstGeom>
          <a:noFill/>
          <a:ln>
            <a:noFill/>
          </a:ln>
        </p:spPr>
        <p:txBody>
          <a:bodyPr spcFirstLastPara="1" wrap="square" lIns="34275" tIns="34275" rIns="34275" bIns="34275" anchor="t" anchorCtr="0">
            <a:noAutofit/>
          </a:bodyPr>
          <a:lstStyle>
            <a:lvl1pPr marL="457200" marR="0" lvl="0" indent="-228600" algn="l">
              <a:lnSpc>
                <a:spcPct val="90000"/>
              </a:lnSpc>
              <a:spcBef>
                <a:spcPts val="700"/>
              </a:spcBef>
              <a:spcAft>
                <a:spcPts val="0"/>
              </a:spcAft>
              <a:buClr>
                <a:schemeClr val="dk2"/>
              </a:buClr>
              <a:buSzPts val="2200"/>
              <a:buFont typeface="Roboto"/>
              <a:buNone/>
              <a:defRPr sz="2200" i="0" u="none" strike="noStrike" cap="none">
                <a:solidFill>
                  <a:schemeClr val="dk2"/>
                </a:solidFill>
                <a:latin typeface="Roboto"/>
                <a:ea typeface="Roboto"/>
                <a:cs typeface="Roboto"/>
                <a:sym typeface="Roboto"/>
              </a:defRPr>
            </a:lvl1pPr>
            <a:lvl2pPr marL="914400" marR="0" lvl="1" indent="-228600" algn="l">
              <a:lnSpc>
                <a:spcPct val="90000"/>
              </a:lnSpc>
              <a:spcBef>
                <a:spcPts val="400"/>
              </a:spcBef>
              <a:spcAft>
                <a:spcPts val="0"/>
              </a:spcAft>
              <a:buClr>
                <a:schemeClr val="dk2"/>
              </a:buClr>
              <a:buSzPts val="1800"/>
              <a:buFont typeface="Roboto"/>
              <a:buNone/>
              <a:defRPr sz="1800" i="0" u="none" strike="noStrike" cap="none">
                <a:solidFill>
                  <a:schemeClr val="dk2"/>
                </a:solidFill>
                <a:latin typeface="Roboto"/>
                <a:ea typeface="Roboto"/>
                <a:cs typeface="Roboto"/>
                <a:sym typeface="Roboto"/>
              </a:defRPr>
            </a:lvl2pPr>
            <a:lvl3pPr marL="1371600" marR="0" lvl="2" indent="-228600" algn="l">
              <a:lnSpc>
                <a:spcPct val="90000"/>
              </a:lnSpc>
              <a:spcBef>
                <a:spcPts val="400"/>
              </a:spcBef>
              <a:spcAft>
                <a:spcPts val="0"/>
              </a:spcAft>
              <a:buClr>
                <a:schemeClr val="dk2"/>
              </a:buClr>
              <a:buSzPts val="1500"/>
              <a:buFont typeface="Roboto"/>
              <a:buNone/>
              <a:defRPr sz="1500" i="0" u="none" strike="noStrike" cap="none">
                <a:solidFill>
                  <a:schemeClr val="dk2"/>
                </a:solidFill>
                <a:latin typeface="Roboto"/>
                <a:ea typeface="Roboto"/>
                <a:cs typeface="Roboto"/>
                <a:sym typeface="Roboto"/>
              </a:defRPr>
            </a:lvl3pPr>
            <a:lvl4pPr marL="1828800" marR="0" lvl="3" indent="-228600" algn="l">
              <a:lnSpc>
                <a:spcPct val="90000"/>
              </a:lnSpc>
              <a:spcBef>
                <a:spcPts val="400"/>
              </a:spcBef>
              <a:spcAft>
                <a:spcPts val="0"/>
              </a:spcAft>
              <a:buClr>
                <a:schemeClr val="dk2"/>
              </a:buClr>
              <a:buSzPts val="1300"/>
              <a:buFont typeface="Roboto"/>
              <a:buNone/>
              <a:defRPr sz="1300" i="0" u="none" strike="noStrike" cap="none">
                <a:solidFill>
                  <a:schemeClr val="dk2"/>
                </a:solidFill>
                <a:latin typeface="Roboto"/>
                <a:ea typeface="Roboto"/>
                <a:cs typeface="Roboto"/>
                <a:sym typeface="Roboto"/>
              </a:defRPr>
            </a:lvl4pPr>
            <a:lvl5pPr marL="2286000" marR="0" lvl="4" indent="-228600" algn="l">
              <a:lnSpc>
                <a:spcPct val="90000"/>
              </a:lnSpc>
              <a:spcBef>
                <a:spcPts val="400"/>
              </a:spcBef>
              <a:spcAft>
                <a:spcPts val="0"/>
              </a:spcAft>
              <a:buClr>
                <a:schemeClr val="dk2"/>
              </a:buClr>
              <a:buSzPts val="1100"/>
              <a:buFont typeface="Roboto"/>
              <a:buNone/>
              <a:defRPr sz="1100" i="0" u="none" strike="noStrike" cap="none">
                <a:solidFill>
                  <a:schemeClr val="dk2"/>
                </a:solidFill>
                <a:latin typeface="Roboto"/>
                <a:ea typeface="Roboto"/>
                <a:cs typeface="Roboto"/>
                <a:sym typeface="Roboto"/>
              </a:defRPr>
            </a:lvl5pPr>
            <a:lvl6pPr marL="2743200" marR="0" lvl="5" indent="-285750" algn="l">
              <a:lnSpc>
                <a:spcPct val="90000"/>
              </a:lnSpc>
              <a:spcBef>
                <a:spcPts val="400"/>
              </a:spcBef>
              <a:spcAft>
                <a:spcPts val="0"/>
              </a:spcAft>
              <a:buClr>
                <a:schemeClr val="dk1"/>
              </a:buClr>
              <a:buSzPts val="900"/>
              <a:buFont typeface="Roboto"/>
              <a:buChar char="•"/>
              <a:defRPr sz="900" i="0" u="none" strike="noStrike" cap="none">
                <a:solidFill>
                  <a:schemeClr val="dk1"/>
                </a:solidFill>
                <a:latin typeface="Roboto"/>
                <a:ea typeface="Roboto"/>
                <a:cs typeface="Roboto"/>
                <a:sym typeface="Roboto"/>
              </a:defRPr>
            </a:lvl6pPr>
            <a:lvl7pPr marL="3200400" marR="0" lvl="6" indent="-273050" algn="l">
              <a:lnSpc>
                <a:spcPct val="90000"/>
              </a:lnSpc>
              <a:spcBef>
                <a:spcPts val="400"/>
              </a:spcBef>
              <a:spcAft>
                <a:spcPts val="0"/>
              </a:spcAft>
              <a:buClr>
                <a:schemeClr val="dk1"/>
              </a:buClr>
              <a:buSzPts val="700"/>
              <a:buFont typeface="Roboto"/>
              <a:buChar char="•"/>
              <a:defRPr sz="700" i="0" u="none" strike="noStrike" cap="none">
                <a:solidFill>
                  <a:schemeClr val="dk1"/>
                </a:solidFill>
                <a:latin typeface="Roboto"/>
                <a:ea typeface="Roboto"/>
                <a:cs typeface="Roboto"/>
                <a:sym typeface="Roboto"/>
              </a:defRPr>
            </a:lvl7pPr>
            <a:lvl8pPr marL="3657600" marR="0" lvl="7" indent="-260350" algn="l">
              <a:lnSpc>
                <a:spcPct val="90000"/>
              </a:lnSpc>
              <a:spcBef>
                <a:spcPts val="400"/>
              </a:spcBef>
              <a:spcAft>
                <a:spcPts val="0"/>
              </a:spcAft>
              <a:buClr>
                <a:schemeClr val="dk1"/>
              </a:buClr>
              <a:buSzPts val="500"/>
              <a:buFont typeface="Roboto"/>
              <a:buChar char="•"/>
              <a:defRPr sz="500" i="0" u="none" strike="noStrike" cap="none">
                <a:solidFill>
                  <a:schemeClr val="dk1"/>
                </a:solidFill>
                <a:latin typeface="Roboto"/>
                <a:ea typeface="Roboto"/>
                <a:cs typeface="Roboto"/>
                <a:sym typeface="Roboto"/>
              </a:defRPr>
            </a:lvl8pPr>
            <a:lvl9pPr marL="4114800" marR="0" lvl="8" indent="-254000" algn="l">
              <a:lnSpc>
                <a:spcPct val="90000"/>
              </a:lnSpc>
              <a:spcBef>
                <a:spcPts val="400"/>
              </a:spcBef>
              <a:spcAft>
                <a:spcPts val="0"/>
              </a:spcAft>
              <a:buClr>
                <a:schemeClr val="dk1"/>
              </a:buClr>
              <a:buSzPts val="400"/>
              <a:buFont typeface="Roboto"/>
              <a:buChar char="•"/>
              <a:defRPr sz="400" i="0" u="none" strike="noStrike" cap="none">
                <a:solidFill>
                  <a:schemeClr val="dk1"/>
                </a:solidFill>
                <a:latin typeface="Roboto"/>
                <a:ea typeface="Roboto"/>
                <a:cs typeface="Roboto"/>
                <a:sym typeface="Roboto"/>
              </a:defRPr>
            </a:lvl9pPr>
          </a:lstStyle>
          <a:p>
            <a:endParaRPr/>
          </a:p>
        </p:txBody>
      </p:sp>
      <p:pic>
        <p:nvPicPr>
          <p:cNvPr id="8" name="Google Shape;8;p1"/>
          <p:cNvPicPr preferRelativeResize="0"/>
          <p:nvPr/>
        </p:nvPicPr>
        <p:blipFill rotWithShape="1">
          <a:blip r:embed="rId22">
            <a:alphaModFix/>
          </a:blip>
          <a:srcRect t="35296"/>
          <a:stretch/>
        </p:blipFill>
        <p:spPr>
          <a:xfrm>
            <a:off x="0" y="4794384"/>
            <a:ext cx="9144000" cy="349116"/>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Lst>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pPr marL="0" indent="0">
              <a:buNone/>
            </a:pPr>
            <a:r>
              <a:t>CSCI 3495</a:t>
            </a:r>
          </a:p>
          <a:p>
            <a:pPr marL="0" indent="0">
              <a:buNone/>
            </a:pPr>
            <a:r>
              <a:t>Probability for NLP</a:t>
            </a:r>
          </a:p>
        </p:txBody>
      </p:sp>
      <p:sp>
        <p:nvSpPr>
          <p:cNvPr id="3" name="Subtitle 2"/>
          <p:cNvSpPr>
            <a:spLocks noGrp="1"/>
          </p:cNvSpPr>
          <p:nvPr>
            <p:ph type="subTitle" idx="1"/>
          </p:nvPr>
        </p:nvSpPr>
        <p:spPr>
          <a:xfrm>
            <a:off x="493926" y="3549825"/>
            <a:ext cx="5501701" cy="970800"/>
          </a:xfrm>
        </p:spPr>
        <p:txBody>
          <a:bodyPr wrap="square"/>
          <a:lstStyle/>
          <a:p>
            <a:pPr marL="0" indent="0">
              <a:buNone/>
            </a:pPr>
            <a:r>
              <a:t>Natural Language Processing &amp; Large Language Models</a:t>
            </a:r>
          </a:p>
          <a:p>
            <a:pPr marL="0" indent="0">
              <a:buNone/>
            </a:pPr>
            <a:r>
              <a:t>Week 4, Class 1  ·  Mon Sep 14, 2026</a:t>
            </a:r>
          </a:p>
        </p:txBody>
      </p:sp>
      <p:pic>
        <p:nvPicPr>
          <p:cNvPr id="5" name="Picture 4" descr="Probability for NLP"/>
          <p:cNvPicPr>
            <a:picLocks noChangeAspect="1"/>
          </p:cNvPicPr>
          <p:nvPr/>
        </p:nvPicPr>
        <p:blipFill>
          <a:blip r:embed="rId3"/>
          <a:stretch>
            <a:fillRect/>
          </a:stretch>
        </p:blipFill>
        <p:spPr>
          <a:xfrm>
            <a:off x="6224227" y="3474720"/>
            <a:ext cx="2554013"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original figure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623293D-1C49-71D1-26F8-31461540B4CA}"/>
              </a:ext>
            </a:extLst>
          </p:cNvPr>
          <p:cNvSpPr>
            <a:spLocks noGrp="1"/>
          </p:cNvSpPr>
          <p:nvPr>
            <p:ph type="title"/>
          </p:nvPr>
        </p:nvSpPr>
        <p:spPr>
          <a:xfrm>
            <a:off x="509521" y="406949"/>
            <a:ext cx="8005800" cy="4316125"/>
          </a:xfrm>
        </p:spPr>
        <p:txBody>
          <a:bodyPr/>
          <a:lstStyle/>
          <a:p>
            <a:r>
              <a:rPr lang="en-US" sz="11500" dirty="0"/>
              <a:t>What is Probability?</a:t>
            </a:r>
          </a:p>
        </p:txBody>
      </p:sp>
      <p:sp>
        <p:nvSpPr>
          <p:cNvPr id="4" name="Subtitle 3">
            <a:extLst>
              <a:ext uri="{FF2B5EF4-FFF2-40B4-BE49-F238E27FC236}">
                <a16:creationId xmlns:a16="http://schemas.microsoft.com/office/drawing/2014/main" id="{F87A4328-5CFC-C65D-C0EE-BA9A6A902757}"/>
              </a:ext>
            </a:extLst>
          </p:cNvPr>
          <p:cNvSpPr>
            <a:spLocks noGrp="1"/>
          </p:cNvSpPr>
          <p:nvPr>
            <p:ph type="subTitle" idx="2"/>
          </p:nvPr>
        </p:nvSpPr>
        <p:spPr/>
        <p:txBody>
          <a:bodyPr/>
          <a:lstStyle/>
          <a:p>
            <a:endParaRPr lang="en-US"/>
          </a:p>
        </p:txBody>
      </p:sp>
      <p:pic>
        <p:nvPicPr>
          <p:cNvPr id="7" name="Picture 6" descr="Cartoon character holding pencil and paper&#10;&#10;AI-generated content may be incorrect.">
            <a:extLst>
              <a:ext uri="{FF2B5EF4-FFF2-40B4-BE49-F238E27FC236}">
                <a16:creationId xmlns:a16="http://schemas.microsoft.com/office/drawing/2014/main" id="{0FEDCF21-74C4-3662-7B68-E4CF964F1820}"/>
              </a:ext>
            </a:extLst>
          </p:cNvPr>
          <p:cNvPicPr>
            <a:picLocks noChangeAspect="1"/>
          </p:cNvPicPr>
          <p:nvPr/>
        </p:nvPicPr>
        <p:blipFill>
          <a:blip r:embed="rId2"/>
          <a:stretch>
            <a:fillRect/>
          </a:stretch>
        </p:blipFill>
        <p:spPr>
          <a:xfrm>
            <a:off x="6941488" y="219225"/>
            <a:ext cx="1882030" cy="1420077"/>
          </a:xfrm>
          <a:prstGeom prst="rect">
            <a:avLst/>
          </a:prstGeom>
        </p:spPr>
      </p:pic>
    </p:spTree>
    <p:extLst>
      <p:ext uri="{BB962C8B-B14F-4D97-AF65-F5344CB8AC3E}">
        <p14:creationId xmlns:p14="http://schemas.microsoft.com/office/powerpoint/2010/main" val="23047831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ubtitle 3">
            <a:extLst>
              <a:ext uri="{FF2B5EF4-FFF2-40B4-BE49-F238E27FC236}">
                <a16:creationId xmlns:a16="http://schemas.microsoft.com/office/drawing/2014/main" id="{97AC1B9A-BA23-D828-BC4A-1FB6BAEDCF4F}"/>
              </a:ext>
            </a:extLst>
          </p:cNvPr>
          <p:cNvSpPr>
            <a:spLocks noGrp="1"/>
          </p:cNvSpPr>
          <p:nvPr>
            <p:ph type="subTitle" idx="2"/>
          </p:nvPr>
        </p:nvSpPr>
        <p:spPr/>
        <p:txBody>
          <a:bodyPr/>
          <a:lstStyle/>
          <a:p>
            <a:endParaRPr lang="en-US"/>
          </a:p>
        </p:txBody>
      </p:sp>
      <p:pic>
        <p:nvPicPr>
          <p:cNvPr id="7" name="Picture 6" descr="A dice and coins falling&#10;&#10;AI-generated content may be incorrect.">
            <a:extLst>
              <a:ext uri="{FF2B5EF4-FFF2-40B4-BE49-F238E27FC236}">
                <a16:creationId xmlns:a16="http://schemas.microsoft.com/office/drawing/2014/main" id="{B34981DB-5D1C-4E7F-692F-0DC8783B3D0C}"/>
              </a:ext>
            </a:extLst>
          </p:cNvPr>
          <p:cNvPicPr>
            <a:picLocks noChangeAspect="1"/>
          </p:cNvPicPr>
          <p:nvPr/>
        </p:nvPicPr>
        <p:blipFill>
          <a:blip r:embed="rId2"/>
          <a:stretch>
            <a:fillRect/>
          </a:stretch>
        </p:blipFill>
        <p:spPr>
          <a:xfrm>
            <a:off x="771277" y="-12940"/>
            <a:ext cx="7725004" cy="5156440"/>
          </a:xfrm>
          <a:prstGeom prst="rect">
            <a:avLst/>
          </a:prstGeom>
        </p:spPr>
      </p:pic>
    </p:spTree>
    <p:extLst>
      <p:ext uri="{BB962C8B-B14F-4D97-AF65-F5344CB8AC3E}">
        <p14:creationId xmlns:p14="http://schemas.microsoft.com/office/powerpoint/2010/main" val="19906988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person holding a glowing ball&#10;&#10;AI-generated content may be incorrect.">
            <a:extLst>
              <a:ext uri="{FF2B5EF4-FFF2-40B4-BE49-F238E27FC236}">
                <a16:creationId xmlns:a16="http://schemas.microsoft.com/office/drawing/2014/main" id="{3A30F308-3420-0340-E9B1-D5567AA22EFB}"/>
              </a:ext>
            </a:extLst>
          </p:cNvPr>
          <p:cNvPicPr>
            <a:picLocks noChangeAspect="1"/>
          </p:cNvPicPr>
          <p:nvPr/>
        </p:nvPicPr>
        <p:blipFill>
          <a:blip r:embed="rId2"/>
          <a:srcRect b="15999"/>
          <a:stretch/>
        </p:blipFill>
        <p:spPr>
          <a:xfrm>
            <a:off x="0" y="0"/>
            <a:ext cx="9144000" cy="5120640"/>
          </a:xfrm>
          <a:prstGeom prst="rect">
            <a:avLst/>
          </a:prstGeom>
        </p:spPr>
      </p:pic>
    </p:spTree>
    <p:extLst>
      <p:ext uri="{BB962C8B-B14F-4D97-AF65-F5344CB8AC3E}">
        <p14:creationId xmlns:p14="http://schemas.microsoft.com/office/powerpoint/2010/main" val="23200705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032"/>
            <a:ext cx="8229600" cy="822960"/>
          </a:xfrm>
        </p:spPr>
        <p:txBody>
          <a:bodyPr wrap="square"/>
          <a:lstStyle/>
          <a:p>
            <a:pPr marL="0" indent="0">
              <a:buNone/>
            </a:pPr>
            <a:r>
              <a:t>Every one of these is a count, divided</a:t>
            </a:r>
          </a:p>
        </p:txBody>
      </p:sp>
      <p:sp>
        <p:nvSpPr>
          <p:cNvPr id="5" name="Rounded Rectangle 4"/>
          <p:cNvSpPr/>
          <p:nvPr/>
        </p:nvSpPr>
        <p:spPr>
          <a:xfrm>
            <a:off x="457200" y="1078992"/>
            <a:ext cx="8229600" cy="384619"/>
          </a:xfrm>
          <a:prstGeom prst="roundRect">
            <a:avLst>
              <a:gd name="adj" fmla="val 2377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94944" y="1078992"/>
            <a:ext cx="1828800" cy="384619"/>
          </a:xfrm>
          <a:prstGeom prst="rect">
            <a:avLst/>
          </a:prstGeom>
          <a:noFill/>
        </p:spPr>
        <p:txBody>
          <a:bodyPr wrap="square" lIns="0" tIns="0" rIns="0" bIns="0" anchor="ctr">
            <a:spAutoFit/>
          </a:bodyPr>
          <a:lstStyle/>
          <a:p>
            <a:pPr marL="0" indent="0" algn="l">
              <a:spcAft>
                <a:spcPts val="0"/>
              </a:spcAft>
              <a:buNone/>
            </a:pPr>
            <a:r>
              <a:rPr sz="1050" b="1" spc="60">
                <a:solidFill>
                  <a:srgbClr val="7C2529"/>
                </a:solidFill>
                <a:latin typeface="Helvetica Neue"/>
              </a:rPr>
              <a:t>PROBABILITY</a:t>
            </a:r>
          </a:p>
        </p:txBody>
      </p:sp>
      <p:sp>
        <p:nvSpPr>
          <p:cNvPr id="7" name="TextBox 6"/>
          <p:cNvSpPr txBox="1"/>
          <p:nvPr/>
        </p:nvSpPr>
        <p:spPr>
          <a:xfrm>
            <a:off x="2523744" y="1078992"/>
            <a:ext cx="5925312" cy="384619"/>
          </a:xfrm>
          <a:prstGeom prst="rect">
            <a:avLst/>
          </a:prstGeom>
          <a:noFill/>
        </p:spPr>
        <p:txBody>
          <a:bodyPr wrap="none" lIns="0" tIns="0" rIns="0" bIns="0" anchor="ctr">
            <a:spAutoFit/>
          </a:bodyPr>
          <a:lstStyle/>
          <a:p>
            <a:pPr marL="0" indent="0" algn="l">
              <a:spcAft>
                <a:spcPts val="0"/>
              </a:spcAft>
              <a:buNone/>
            </a:pPr>
            <a:r>
              <a:rPr sz="1800" b="0">
                <a:solidFill>
                  <a:srgbClr val="1D1D1F"/>
                </a:solidFill>
                <a:latin typeface="Menlo"/>
              </a:rPr>
              <a:t>P(A) = count(A) / N</a:t>
            </a:r>
          </a:p>
        </p:txBody>
      </p:sp>
      <p:sp>
        <p:nvSpPr>
          <p:cNvPr id="8" name="Rounded Rectangle 7"/>
          <p:cNvSpPr/>
          <p:nvPr/>
        </p:nvSpPr>
        <p:spPr>
          <a:xfrm>
            <a:off x="457200" y="1536763"/>
            <a:ext cx="8229600" cy="384619"/>
          </a:xfrm>
          <a:prstGeom prst="roundRect">
            <a:avLst>
              <a:gd name="adj" fmla="val 2377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94944" y="1536763"/>
            <a:ext cx="1828800" cy="384619"/>
          </a:xfrm>
          <a:prstGeom prst="rect">
            <a:avLst/>
          </a:prstGeom>
          <a:noFill/>
        </p:spPr>
        <p:txBody>
          <a:bodyPr wrap="square" lIns="0" tIns="0" rIns="0" bIns="0" anchor="ctr">
            <a:spAutoFit/>
          </a:bodyPr>
          <a:lstStyle/>
          <a:p>
            <a:pPr marL="0" indent="0" algn="l">
              <a:spcAft>
                <a:spcPts val="0"/>
              </a:spcAft>
              <a:buNone/>
            </a:pPr>
            <a:r>
              <a:rPr sz="1050" b="1" spc="60">
                <a:solidFill>
                  <a:srgbClr val="7C2529"/>
                </a:solidFill>
                <a:latin typeface="Helvetica Neue"/>
              </a:rPr>
              <a:t>AND</a:t>
            </a:r>
          </a:p>
        </p:txBody>
      </p:sp>
      <p:sp>
        <p:nvSpPr>
          <p:cNvPr id="10" name="TextBox 9"/>
          <p:cNvSpPr txBox="1"/>
          <p:nvPr/>
        </p:nvSpPr>
        <p:spPr>
          <a:xfrm>
            <a:off x="2523744" y="1536763"/>
            <a:ext cx="5925312" cy="384619"/>
          </a:xfrm>
          <a:prstGeom prst="rect">
            <a:avLst/>
          </a:prstGeom>
          <a:noFill/>
        </p:spPr>
        <p:txBody>
          <a:bodyPr wrap="none" lIns="0" tIns="0" rIns="0" bIns="0" anchor="ctr">
            <a:spAutoFit/>
          </a:bodyPr>
          <a:lstStyle/>
          <a:p>
            <a:pPr marL="0" indent="0" algn="l">
              <a:spcAft>
                <a:spcPts val="0"/>
              </a:spcAft>
              <a:buNone/>
            </a:pPr>
            <a:r>
              <a:rPr sz="1800" b="0">
                <a:solidFill>
                  <a:srgbClr val="1D1D1F"/>
                </a:solidFill>
                <a:latin typeface="Menlo"/>
              </a:rPr>
              <a:t>P(A ∩ B)</a:t>
            </a:r>
          </a:p>
        </p:txBody>
      </p:sp>
      <p:sp>
        <p:nvSpPr>
          <p:cNvPr id="11" name="Rounded Rectangle 10"/>
          <p:cNvSpPr/>
          <p:nvPr/>
        </p:nvSpPr>
        <p:spPr>
          <a:xfrm>
            <a:off x="457200" y="1994535"/>
            <a:ext cx="8229600" cy="384619"/>
          </a:xfrm>
          <a:prstGeom prst="roundRect">
            <a:avLst>
              <a:gd name="adj" fmla="val 2377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94944" y="1994535"/>
            <a:ext cx="1828800" cy="384619"/>
          </a:xfrm>
          <a:prstGeom prst="rect">
            <a:avLst/>
          </a:prstGeom>
          <a:noFill/>
        </p:spPr>
        <p:txBody>
          <a:bodyPr wrap="square" lIns="0" tIns="0" rIns="0" bIns="0" anchor="ctr">
            <a:spAutoFit/>
          </a:bodyPr>
          <a:lstStyle/>
          <a:p>
            <a:pPr marL="0" indent="0" algn="l">
              <a:spcAft>
                <a:spcPts val="0"/>
              </a:spcAft>
              <a:buNone/>
            </a:pPr>
            <a:r>
              <a:rPr sz="1050" b="1" spc="60">
                <a:solidFill>
                  <a:srgbClr val="7C2529"/>
                </a:solidFill>
                <a:latin typeface="Helvetica Neue"/>
              </a:rPr>
              <a:t>OR</a:t>
            </a:r>
          </a:p>
        </p:txBody>
      </p:sp>
      <p:sp>
        <p:nvSpPr>
          <p:cNvPr id="13" name="TextBox 12"/>
          <p:cNvSpPr txBox="1"/>
          <p:nvPr/>
        </p:nvSpPr>
        <p:spPr>
          <a:xfrm>
            <a:off x="2523744" y="1994535"/>
            <a:ext cx="5925312" cy="384619"/>
          </a:xfrm>
          <a:prstGeom prst="rect">
            <a:avLst/>
          </a:prstGeom>
          <a:noFill/>
        </p:spPr>
        <p:txBody>
          <a:bodyPr wrap="none" lIns="0" tIns="0" rIns="0" bIns="0" anchor="ctr">
            <a:spAutoFit/>
          </a:bodyPr>
          <a:lstStyle/>
          <a:p>
            <a:pPr marL="0" indent="0" algn="l">
              <a:spcAft>
                <a:spcPts val="0"/>
              </a:spcAft>
              <a:buNone/>
            </a:pPr>
            <a:r>
              <a:rPr sz="1800" b="0">
                <a:solidFill>
                  <a:srgbClr val="1D1D1F"/>
                </a:solidFill>
                <a:latin typeface="Menlo"/>
              </a:rPr>
              <a:t>P(A ∪ B) = P(A) + P(B) - P(A ∩ B)</a:t>
            </a:r>
          </a:p>
        </p:txBody>
      </p:sp>
      <p:sp>
        <p:nvSpPr>
          <p:cNvPr id="14" name="Rounded Rectangle 13"/>
          <p:cNvSpPr/>
          <p:nvPr/>
        </p:nvSpPr>
        <p:spPr>
          <a:xfrm>
            <a:off x="457200" y="2452306"/>
            <a:ext cx="8229600" cy="384619"/>
          </a:xfrm>
          <a:prstGeom prst="roundRect">
            <a:avLst>
              <a:gd name="adj" fmla="val 2377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94944" y="2452306"/>
            <a:ext cx="1828800" cy="384619"/>
          </a:xfrm>
          <a:prstGeom prst="rect">
            <a:avLst/>
          </a:prstGeom>
          <a:noFill/>
        </p:spPr>
        <p:txBody>
          <a:bodyPr wrap="square" lIns="0" tIns="0" rIns="0" bIns="0" anchor="ctr">
            <a:spAutoFit/>
          </a:bodyPr>
          <a:lstStyle/>
          <a:p>
            <a:pPr marL="0" indent="0" algn="l">
              <a:spcAft>
                <a:spcPts val="0"/>
              </a:spcAft>
              <a:buNone/>
            </a:pPr>
            <a:r>
              <a:rPr sz="1050" b="1" spc="60">
                <a:solidFill>
                  <a:srgbClr val="7C2529"/>
                </a:solidFill>
                <a:latin typeface="Helvetica Neue"/>
              </a:rPr>
              <a:t>GIVEN</a:t>
            </a:r>
          </a:p>
        </p:txBody>
      </p:sp>
      <p:sp>
        <p:nvSpPr>
          <p:cNvPr id="16" name="TextBox 15"/>
          <p:cNvSpPr txBox="1"/>
          <p:nvPr/>
        </p:nvSpPr>
        <p:spPr>
          <a:xfrm>
            <a:off x="2523744" y="2452306"/>
            <a:ext cx="5925312" cy="384619"/>
          </a:xfrm>
          <a:prstGeom prst="rect">
            <a:avLst/>
          </a:prstGeom>
          <a:noFill/>
        </p:spPr>
        <p:txBody>
          <a:bodyPr wrap="none" lIns="0" tIns="0" rIns="0" bIns="0" anchor="ctr">
            <a:spAutoFit/>
          </a:bodyPr>
          <a:lstStyle/>
          <a:p>
            <a:pPr marL="0" indent="0" algn="l">
              <a:spcAft>
                <a:spcPts val="0"/>
              </a:spcAft>
              <a:buNone/>
            </a:pPr>
            <a:r>
              <a:rPr sz="1800" b="0">
                <a:solidFill>
                  <a:srgbClr val="1D1D1F"/>
                </a:solidFill>
                <a:latin typeface="Menlo"/>
              </a:rPr>
              <a:t>P(A | B) = P(A ∩ B) / P(B)</a:t>
            </a:r>
          </a:p>
        </p:txBody>
      </p:sp>
      <p:sp>
        <p:nvSpPr>
          <p:cNvPr id="17" name="Rounded Rectangle 16"/>
          <p:cNvSpPr/>
          <p:nvPr/>
        </p:nvSpPr>
        <p:spPr>
          <a:xfrm>
            <a:off x="457200" y="2910078"/>
            <a:ext cx="8229600" cy="384619"/>
          </a:xfrm>
          <a:prstGeom prst="roundRect">
            <a:avLst>
              <a:gd name="adj" fmla="val 2377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94944" y="2910078"/>
            <a:ext cx="1828800" cy="384619"/>
          </a:xfrm>
          <a:prstGeom prst="rect">
            <a:avLst/>
          </a:prstGeom>
          <a:noFill/>
        </p:spPr>
        <p:txBody>
          <a:bodyPr wrap="square" lIns="0" tIns="0" rIns="0" bIns="0" anchor="ctr">
            <a:spAutoFit/>
          </a:bodyPr>
          <a:lstStyle/>
          <a:p>
            <a:pPr marL="0" indent="0" algn="l">
              <a:spcAft>
                <a:spcPts val="0"/>
              </a:spcAft>
              <a:buNone/>
            </a:pPr>
            <a:r>
              <a:rPr sz="1050" b="1" spc="60">
                <a:solidFill>
                  <a:srgbClr val="7C2529"/>
                </a:solidFill>
                <a:latin typeface="Helvetica Neue"/>
              </a:rPr>
              <a:t>CHAIN RULE</a:t>
            </a:r>
          </a:p>
        </p:txBody>
      </p:sp>
      <p:sp>
        <p:nvSpPr>
          <p:cNvPr id="19" name="TextBox 18"/>
          <p:cNvSpPr txBox="1"/>
          <p:nvPr/>
        </p:nvSpPr>
        <p:spPr>
          <a:xfrm>
            <a:off x="2523744" y="2910078"/>
            <a:ext cx="5925312" cy="384619"/>
          </a:xfrm>
          <a:prstGeom prst="rect">
            <a:avLst/>
          </a:prstGeom>
          <a:noFill/>
        </p:spPr>
        <p:txBody>
          <a:bodyPr wrap="none" lIns="0" tIns="0" rIns="0" bIns="0" anchor="ctr">
            <a:spAutoFit/>
          </a:bodyPr>
          <a:lstStyle/>
          <a:p>
            <a:pPr marL="0" indent="0" algn="l">
              <a:spcAft>
                <a:spcPts val="0"/>
              </a:spcAft>
              <a:buNone/>
            </a:pPr>
            <a:r>
              <a:rPr sz="1800" b="0">
                <a:solidFill>
                  <a:srgbClr val="1D1D1F"/>
                </a:solidFill>
                <a:latin typeface="Menlo"/>
              </a:rPr>
              <a:t>P(A ∩ B) = P(A | B) P(B)</a:t>
            </a:r>
          </a:p>
        </p:txBody>
      </p:sp>
      <p:sp>
        <p:nvSpPr>
          <p:cNvPr id="20" name="Rounded Rectangle 19"/>
          <p:cNvSpPr/>
          <p:nvPr/>
        </p:nvSpPr>
        <p:spPr>
          <a:xfrm>
            <a:off x="457200" y="3367849"/>
            <a:ext cx="8229600" cy="384619"/>
          </a:xfrm>
          <a:prstGeom prst="roundRect">
            <a:avLst>
              <a:gd name="adj" fmla="val 2377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94944" y="3367849"/>
            <a:ext cx="1828800" cy="384619"/>
          </a:xfrm>
          <a:prstGeom prst="rect">
            <a:avLst/>
          </a:prstGeom>
          <a:noFill/>
        </p:spPr>
        <p:txBody>
          <a:bodyPr wrap="square" lIns="0" tIns="0" rIns="0" bIns="0" anchor="ctr">
            <a:spAutoFit/>
          </a:bodyPr>
          <a:lstStyle/>
          <a:p>
            <a:pPr marL="0" indent="0" algn="l">
              <a:spcAft>
                <a:spcPts val="0"/>
              </a:spcAft>
              <a:buNone/>
            </a:pPr>
            <a:r>
              <a:rPr sz="1050" b="1" spc="60">
                <a:solidFill>
                  <a:srgbClr val="7C2529"/>
                </a:solidFill>
                <a:latin typeface="Helvetica Neue"/>
              </a:rPr>
              <a:t>INDEPENDENCE</a:t>
            </a:r>
          </a:p>
        </p:txBody>
      </p:sp>
      <p:sp>
        <p:nvSpPr>
          <p:cNvPr id="22" name="TextBox 21"/>
          <p:cNvSpPr txBox="1"/>
          <p:nvPr/>
        </p:nvSpPr>
        <p:spPr>
          <a:xfrm>
            <a:off x="2523744" y="3367849"/>
            <a:ext cx="5925312" cy="384619"/>
          </a:xfrm>
          <a:prstGeom prst="rect">
            <a:avLst/>
          </a:prstGeom>
          <a:noFill/>
        </p:spPr>
        <p:txBody>
          <a:bodyPr wrap="none" lIns="0" tIns="0" rIns="0" bIns="0" anchor="ctr">
            <a:spAutoFit/>
          </a:bodyPr>
          <a:lstStyle/>
          <a:p>
            <a:pPr marL="0" indent="0" algn="l">
              <a:spcAft>
                <a:spcPts val="0"/>
              </a:spcAft>
              <a:buNone/>
            </a:pPr>
            <a:r>
              <a:rPr sz="1800" b="0">
                <a:solidFill>
                  <a:srgbClr val="1D1D1F"/>
                </a:solidFill>
                <a:latin typeface="Menlo"/>
              </a:rPr>
              <a:t>P(A ∩ B) = P(A) P(B)</a:t>
            </a:r>
          </a:p>
        </p:txBody>
      </p:sp>
      <p:sp>
        <p:nvSpPr>
          <p:cNvPr id="23" name="Rounded Rectangle 22"/>
          <p:cNvSpPr/>
          <p:nvPr/>
        </p:nvSpPr>
        <p:spPr>
          <a:xfrm>
            <a:off x="457200" y="3825621"/>
            <a:ext cx="8229600" cy="384619"/>
          </a:xfrm>
          <a:prstGeom prst="roundRect">
            <a:avLst>
              <a:gd name="adj" fmla="val 2377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94944" y="3825621"/>
            <a:ext cx="1828800" cy="384619"/>
          </a:xfrm>
          <a:prstGeom prst="rect">
            <a:avLst/>
          </a:prstGeom>
          <a:noFill/>
        </p:spPr>
        <p:txBody>
          <a:bodyPr wrap="square" lIns="0" tIns="0" rIns="0" bIns="0" anchor="ctr">
            <a:spAutoFit/>
          </a:bodyPr>
          <a:lstStyle/>
          <a:p>
            <a:pPr marL="0" indent="0" algn="l">
              <a:spcAft>
                <a:spcPts val="0"/>
              </a:spcAft>
              <a:buNone/>
            </a:pPr>
            <a:r>
              <a:rPr sz="1050" b="1" spc="60">
                <a:solidFill>
                  <a:srgbClr val="7C2529"/>
                </a:solidFill>
                <a:latin typeface="Helvetica Neue"/>
              </a:rPr>
              <a:t>BAYES'S RULE</a:t>
            </a:r>
          </a:p>
        </p:txBody>
      </p:sp>
      <p:sp>
        <p:nvSpPr>
          <p:cNvPr id="25" name="TextBox 24"/>
          <p:cNvSpPr txBox="1"/>
          <p:nvPr/>
        </p:nvSpPr>
        <p:spPr>
          <a:xfrm>
            <a:off x="2523744" y="3825621"/>
            <a:ext cx="5925312" cy="384619"/>
          </a:xfrm>
          <a:prstGeom prst="rect">
            <a:avLst/>
          </a:prstGeom>
          <a:noFill/>
        </p:spPr>
        <p:txBody>
          <a:bodyPr wrap="none" lIns="0" tIns="0" rIns="0" bIns="0" anchor="ctr">
            <a:spAutoFit/>
          </a:bodyPr>
          <a:lstStyle/>
          <a:p>
            <a:pPr marL="0" indent="0" algn="l">
              <a:spcAft>
                <a:spcPts val="0"/>
              </a:spcAft>
              <a:buNone/>
            </a:pPr>
            <a:r>
              <a:rPr sz="1800" b="0">
                <a:solidFill>
                  <a:srgbClr val="1D1D1F"/>
                </a:solidFill>
                <a:latin typeface="Menlo"/>
              </a:rPr>
              <a:t>P(A | B) = P(B | A) P(A) / P(B)</a:t>
            </a:r>
          </a:p>
        </p:txBody>
      </p:sp>
      <p:sp>
        <p:nvSpPr>
          <p:cNvPr id="26" name="Rounded Rectangle 25"/>
          <p:cNvSpPr/>
          <p:nvPr/>
        </p:nvSpPr>
        <p:spPr>
          <a:xfrm>
            <a:off x="457200" y="4283392"/>
            <a:ext cx="8229600" cy="384619"/>
          </a:xfrm>
          <a:prstGeom prst="roundRect">
            <a:avLst>
              <a:gd name="adj" fmla="val 2377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694944" y="4283392"/>
            <a:ext cx="1828800" cy="384619"/>
          </a:xfrm>
          <a:prstGeom prst="rect">
            <a:avLst/>
          </a:prstGeom>
          <a:noFill/>
        </p:spPr>
        <p:txBody>
          <a:bodyPr wrap="square" lIns="0" tIns="0" rIns="0" bIns="0" anchor="ctr">
            <a:spAutoFit/>
          </a:bodyPr>
          <a:lstStyle/>
          <a:p>
            <a:pPr marL="0" indent="0" algn="l">
              <a:spcAft>
                <a:spcPts val="0"/>
              </a:spcAft>
              <a:buNone/>
            </a:pPr>
            <a:r>
              <a:rPr sz="1050" b="1" spc="60">
                <a:solidFill>
                  <a:srgbClr val="7C2529"/>
                </a:solidFill>
                <a:latin typeface="Helvetica Neue"/>
              </a:rPr>
              <a:t>TOTAL PROBABILITY</a:t>
            </a:r>
          </a:p>
        </p:txBody>
      </p:sp>
      <p:sp>
        <p:nvSpPr>
          <p:cNvPr id="28" name="TextBox 27"/>
          <p:cNvSpPr txBox="1"/>
          <p:nvPr/>
        </p:nvSpPr>
        <p:spPr>
          <a:xfrm>
            <a:off x="2523744" y="4283392"/>
            <a:ext cx="5925312" cy="384619"/>
          </a:xfrm>
          <a:prstGeom prst="rect">
            <a:avLst/>
          </a:prstGeom>
          <a:noFill/>
        </p:spPr>
        <p:txBody>
          <a:bodyPr wrap="none" lIns="0" tIns="0" rIns="0" bIns="0" anchor="ctr">
            <a:spAutoFit/>
          </a:bodyPr>
          <a:lstStyle/>
          <a:p>
            <a:pPr marL="0" indent="0" algn="l">
              <a:spcAft>
                <a:spcPts val="0"/>
              </a:spcAft>
              <a:buNone/>
            </a:pPr>
            <a:r>
              <a:rPr sz="1800" b="0">
                <a:solidFill>
                  <a:srgbClr val="1D1D1F"/>
                </a:solidFill>
                <a:latin typeface="Menlo"/>
              </a:rPr>
              <a:t>P(B) = P(B|A) P(A) + P(B|¬A) P(¬A)</a:t>
            </a:r>
          </a:p>
        </p:txBody>
      </p:sp>
      <p:sp>
        <p:nvSpPr>
          <p:cNvPr id="29" name="TextBox 2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032"/>
            <a:ext cx="8229600" cy="822960"/>
          </a:xfrm>
        </p:spPr>
        <p:txBody>
          <a:bodyPr wrap="square"/>
          <a:lstStyle/>
          <a:p>
            <a:pPr marL="0" indent="0">
              <a:buNone/>
            </a:pPr>
            <a:r>
              <a:t>Twenty app reviews, counted</a:t>
            </a:r>
          </a:p>
        </p:txBody>
      </p:sp>
      <p:graphicFrame>
        <p:nvGraphicFramePr>
          <p:cNvPr id="5" name="Table 4"/>
          <p:cNvGraphicFramePr>
            <a:graphicFrameLocks noGrp="1"/>
          </p:cNvGraphicFramePr>
          <p:nvPr/>
        </p:nvGraphicFramePr>
        <p:xfrm>
          <a:off x="457200" y="1739646"/>
          <a:ext cx="5102351" cy="2267712"/>
        </p:xfrm>
        <a:graphic>
          <a:graphicData uri="http://schemas.openxmlformats.org/drawingml/2006/table">
            <a:tbl>
              <a:tblPr firstRow="1"/>
              <a:tblGrid>
                <a:gridCol w="1326611">
                  <a:extLst>
                    <a:ext uri="{9D8B030D-6E8A-4147-A177-3AD203B41FA5}">
                      <a16:colId xmlns:a16="http://schemas.microsoft.com/office/drawing/2014/main" val="20000"/>
                    </a:ext>
                  </a:extLst>
                </a:gridCol>
                <a:gridCol w="1258580">
                  <a:extLst>
                    <a:ext uri="{9D8B030D-6E8A-4147-A177-3AD203B41FA5}">
                      <a16:colId xmlns:a16="http://schemas.microsoft.com/office/drawing/2014/main" val="20001"/>
                    </a:ext>
                  </a:extLst>
                </a:gridCol>
                <a:gridCol w="1258580">
                  <a:extLst>
                    <a:ext uri="{9D8B030D-6E8A-4147-A177-3AD203B41FA5}">
                      <a16:colId xmlns:a16="http://schemas.microsoft.com/office/drawing/2014/main" val="20002"/>
                    </a:ext>
                  </a:extLst>
                </a:gridCol>
                <a:gridCol w="1258580">
                  <a:extLst>
                    <a:ext uri="{9D8B030D-6E8A-4147-A177-3AD203B41FA5}">
                      <a16:colId xmlns:a16="http://schemas.microsoft.com/office/drawing/2014/main" val="20003"/>
                    </a:ext>
                  </a:extLst>
                </a:gridCol>
              </a:tblGrid>
              <a:tr h="566928">
                <a:tc>
                  <a:txBody>
                    <a:bodyPr/>
                    <a:lstStyle/>
                    <a:p>
                      <a:pPr marL="0" indent="0" algn="l">
                        <a:spcAft>
                          <a:spcPts val="0"/>
                        </a:spcAft>
                        <a:buNone/>
                      </a:pPr>
                      <a:endParaRP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900" b="1" spc="50">
                          <a:solidFill>
                            <a:srgbClr val="86868B"/>
                          </a:solidFill>
                          <a:latin typeface="Helvetica Neue"/>
                        </a:rPr>
                        <a:t>HAS "CRASHES"</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900" b="1" spc="50">
                          <a:solidFill>
                            <a:srgbClr val="86868B"/>
                          </a:solidFill>
                          <a:latin typeface="Helvetica Neue"/>
                        </a:rPr>
                        <a:t>NO "CRASHES"</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900" b="1" spc="50">
                          <a:solidFill>
                            <a:srgbClr val="86868B"/>
                          </a:solidFill>
                          <a:latin typeface="Helvetica Neue"/>
                        </a:rPr>
                        <a:t>TOTAL</a:t>
                      </a:r>
                    </a:p>
                  </a:txBody>
                  <a:tcPr marL="54864" marR="54864" anchor="ctr">
                    <a:lnL w="12700" cap="flat" cmpd="sng" algn="ctr">
                      <a:noFill/>
                    </a:lnL>
                    <a:lnR w="12700" cap="flat" cmpd="sng" algn="ctr">
                      <a:noFill/>
                    </a:lnR>
                    <a:lnT w="12700" cap="flat" cmpd="sng" algn="ctr">
                      <a:noFill/>
                    </a:lnT>
                    <a:lnB w="12700" cap="flat" cmpd="sng" algn="ctr">
                      <a:noFill/>
                    </a:lnB>
                    <a:noFill/>
                  </a:tcPr>
                </a:tc>
                <a:extLst>
                  <a:ext uri="{0D108BD9-81ED-4DB2-BD59-A6C34878D82A}">
                    <a16:rowId xmlns:a16="http://schemas.microsoft.com/office/drawing/2014/main" val="10000"/>
                  </a:ext>
                </a:extLst>
              </a:tr>
              <a:tr h="566928">
                <a:tc>
                  <a:txBody>
                    <a:bodyPr/>
                    <a:lstStyle/>
                    <a:p>
                      <a:pPr marL="0" indent="0" algn="l">
                        <a:spcAft>
                          <a:spcPts val="0"/>
                        </a:spcAft>
                        <a:buNone/>
                      </a:pPr>
                      <a:r>
                        <a:rPr sz="1700" b="1">
                          <a:solidFill>
                            <a:srgbClr val="1D1D1F"/>
                          </a:solidFill>
                          <a:latin typeface="Helvetica Neue"/>
                        </a:rPr>
                        <a:t>1 star</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7</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3</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10</a:t>
                      </a:r>
                    </a:p>
                  </a:txBody>
                  <a:tcPr marL="54864" marR="54864" anchor="ctr">
                    <a:lnL w="12700" cap="flat" cmpd="sng" algn="ctr">
                      <a:noFill/>
                    </a:lnL>
                    <a:lnR w="12700" cap="flat" cmpd="sng" algn="ctr">
                      <a:noFill/>
                    </a:lnR>
                    <a:lnT w="12700" cap="flat" cmpd="sng" algn="ctr">
                      <a:noFill/>
                    </a:lnT>
                    <a:lnB w="12700" cap="flat" cmpd="sng" algn="ctr">
                      <a:noFill/>
                    </a:lnB>
                    <a:noFill/>
                  </a:tcPr>
                </a:tc>
                <a:extLst>
                  <a:ext uri="{0D108BD9-81ED-4DB2-BD59-A6C34878D82A}">
                    <a16:rowId xmlns:a16="http://schemas.microsoft.com/office/drawing/2014/main" val="10001"/>
                  </a:ext>
                </a:extLst>
              </a:tr>
              <a:tr h="566928">
                <a:tc>
                  <a:txBody>
                    <a:bodyPr/>
                    <a:lstStyle/>
                    <a:p>
                      <a:pPr marL="0" indent="0" algn="l">
                        <a:spcAft>
                          <a:spcPts val="0"/>
                        </a:spcAft>
                        <a:buNone/>
                      </a:pPr>
                      <a:r>
                        <a:rPr sz="1700" b="1">
                          <a:solidFill>
                            <a:srgbClr val="1D1D1F"/>
                          </a:solidFill>
                          <a:latin typeface="Helvetica Neue"/>
                        </a:rPr>
                        <a:t>4-5 star</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9</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10</a:t>
                      </a:r>
                    </a:p>
                  </a:txBody>
                  <a:tcPr marL="54864" marR="54864" anchor="ctr">
                    <a:lnL w="12700" cap="flat" cmpd="sng" algn="ctr">
                      <a:noFill/>
                    </a:lnL>
                    <a:lnR w="12700" cap="flat" cmpd="sng" algn="ctr">
                      <a:noFill/>
                    </a:lnR>
                    <a:lnT w="12700" cap="flat" cmpd="sng" algn="ctr">
                      <a:noFill/>
                    </a:lnT>
                    <a:lnB w="12700" cap="flat" cmpd="sng" algn="ctr">
                      <a:noFill/>
                    </a:lnB>
                    <a:noFill/>
                  </a:tcPr>
                </a:tc>
                <a:extLst>
                  <a:ext uri="{0D108BD9-81ED-4DB2-BD59-A6C34878D82A}">
                    <a16:rowId xmlns:a16="http://schemas.microsoft.com/office/drawing/2014/main" val="10002"/>
                  </a:ext>
                </a:extLst>
              </a:tr>
              <a:tr h="566928">
                <a:tc>
                  <a:txBody>
                    <a:bodyPr/>
                    <a:lstStyle/>
                    <a:p>
                      <a:pPr marL="0" indent="0" algn="l">
                        <a:spcAft>
                          <a:spcPts val="0"/>
                        </a:spcAft>
                        <a:buNone/>
                      </a:pPr>
                      <a:r>
                        <a:rPr sz="1700" b="1">
                          <a:solidFill>
                            <a:srgbClr val="86868B"/>
                          </a:solidFill>
                          <a:latin typeface="Helvetica Neue"/>
                        </a:rPr>
                        <a:t>total</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86868B"/>
                          </a:solidFill>
                          <a:latin typeface="Menlo"/>
                        </a:rPr>
                        <a:t>8</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86868B"/>
                          </a:solidFill>
                          <a:latin typeface="Menlo"/>
                        </a:rPr>
                        <a:t>12</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86868B"/>
                          </a:solidFill>
                          <a:latin typeface="Menlo"/>
                        </a:rPr>
                        <a:t>20</a:t>
                      </a:r>
                    </a:p>
                  </a:txBody>
                  <a:tcPr marL="54864" marR="54864" anchor="ctr">
                    <a:lnL w="12700" cap="flat" cmpd="sng" algn="ctr">
                      <a:noFill/>
                    </a:lnL>
                    <a:lnR w="12700" cap="flat" cmpd="sng" algn="ctr">
                      <a:noFill/>
                    </a:lnR>
                    <a:lnT w="12700" cap="flat" cmpd="sng" algn="ctr">
                      <a:noFill/>
                    </a:lnT>
                    <a:lnB w="12700" cap="flat" cmpd="sng" algn="ctr">
                      <a:noFill/>
                    </a:lnB>
                    <a:noFill/>
                  </a:tcPr>
                </a:tc>
                <a:extLst>
                  <a:ext uri="{0D108BD9-81ED-4DB2-BD59-A6C34878D82A}">
                    <a16:rowId xmlns:a16="http://schemas.microsoft.com/office/drawing/2014/main" val="10003"/>
                  </a:ext>
                </a:extLst>
              </a:tr>
            </a:tbl>
          </a:graphicData>
        </a:graphic>
      </p:graphicFrame>
      <p:sp>
        <p:nvSpPr>
          <p:cNvPr id="6" name="TextBox 5"/>
          <p:cNvSpPr txBox="1"/>
          <p:nvPr/>
        </p:nvSpPr>
        <p:spPr>
          <a:xfrm>
            <a:off x="5925312" y="1739646"/>
            <a:ext cx="2761488" cy="2267712"/>
          </a:xfrm>
          <a:prstGeom prst="rect">
            <a:avLst/>
          </a:prstGeom>
          <a:noFill/>
        </p:spPr>
        <p:txBody>
          <a:bodyPr wrap="square" lIns="0" tIns="0" rIns="0" bIns="0" anchor="t">
            <a:spAutoFit/>
          </a:bodyPr>
          <a:lstStyle/>
          <a:p>
            <a:pPr marL="0" indent="0" algn="l">
              <a:spcAft>
                <a:spcPts val="1000"/>
              </a:spcAft>
              <a:buNone/>
            </a:pPr>
            <a:r>
              <a:rPr sz="1100" b="1" spc="70">
                <a:solidFill>
                  <a:srgbClr val="86868B"/>
                </a:solidFill>
                <a:latin typeface="Helvetica Neue"/>
              </a:rPr>
              <a:t>FOUR OF THE TWENTY</a:t>
            </a:r>
          </a:p>
          <a:p>
            <a:pPr marL="0" indent="0">
              <a:spcAft>
                <a:spcPts val="900"/>
              </a:spcAft>
              <a:buNone/>
            </a:pPr>
            <a:r>
              <a:rPr sz="1000" b="1">
                <a:solidFill>
                  <a:srgbClr val="86868B"/>
                </a:solidFill>
                <a:latin typeface="Helvetica Neue"/>
              </a:rPr>
              <a:t>1 STAR   </a:t>
            </a:r>
            <a:r>
              <a:rPr sz="1300">
                <a:solidFill>
                  <a:srgbClr val="1D1D1F"/>
                </a:solidFill>
                <a:latin typeface="Helvetica Neue"/>
              </a:rPr>
              <a:t>crashes every time I open it</a:t>
            </a:r>
          </a:p>
          <a:p>
            <a:pPr marL="0" indent="0">
              <a:spcAft>
                <a:spcPts val="900"/>
              </a:spcAft>
              <a:buNone/>
            </a:pPr>
            <a:r>
              <a:rPr sz="1000" b="1">
                <a:solidFill>
                  <a:srgbClr val="86868B"/>
                </a:solidFill>
                <a:latin typeface="Helvetica Neue"/>
              </a:rPr>
              <a:t>1 STAR   </a:t>
            </a:r>
            <a:r>
              <a:rPr sz="1300">
                <a:solidFill>
                  <a:srgbClr val="1D1D1F"/>
                </a:solidFill>
                <a:latin typeface="Helvetica Neue"/>
              </a:rPr>
              <a:t>unusable since the update</a:t>
            </a:r>
          </a:p>
          <a:p>
            <a:pPr marL="0" indent="0">
              <a:spcAft>
                <a:spcPts val="900"/>
              </a:spcAft>
              <a:buNone/>
            </a:pPr>
            <a:r>
              <a:rPr sz="1000" b="1">
                <a:solidFill>
                  <a:srgbClr val="86868B"/>
                </a:solidFill>
                <a:latin typeface="Helvetica Neue"/>
              </a:rPr>
              <a:t>4 STAR   </a:t>
            </a:r>
            <a:r>
              <a:rPr sz="1300">
                <a:solidFill>
                  <a:srgbClr val="1D1D1F"/>
                </a:solidFill>
                <a:latin typeface="Helvetica Neue"/>
              </a:rPr>
              <a:t>much faster since the update</a:t>
            </a:r>
          </a:p>
          <a:p>
            <a:pPr marL="0" indent="0">
              <a:spcAft>
                <a:spcPts val="900"/>
              </a:spcAft>
              <a:buNone/>
            </a:pPr>
            <a:r>
              <a:rPr sz="1000" b="1">
                <a:solidFill>
                  <a:srgbClr val="86868B"/>
                </a:solidFill>
                <a:latin typeface="Helvetica Neue"/>
              </a:rPr>
              <a:t>5 STAR   </a:t>
            </a:r>
            <a:r>
              <a:rPr sz="1300">
                <a:solidFill>
                  <a:srgbClr val="1D1D1F"/>
                </a:solidFill>
                <a:latin typeface="Helvetica Neue"/>
              </a:rPr>
              <a:t>fast, and it never crashes</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032"/>
            <a:ext cx="8229600" cy="822960"/>
          </a:xfrm>
        </p:spPr>
        <p:txBody>
          <a:bodyPr wrap="square"/>
          <a:lstStyle/>
          <a:p>
            <a:pPr marL="0" indent="0">
              <a:buNone/>
            </a:pPr>
            <a:r>
              <a:t>How would you compute each of these?</a:t>
            </a:r>
          </a:p>
        </p:txBody>
      </p:sp>
      <p:sp>
        <p:nvSpPr>
          <p:cNvPr id="5" name="Rounded Rectangle 4"/>
          <p:cNvSpPr/>
          <p:nvPr/>
        </p:nvSpPr>
        <p:spPr>
          <a:xfrm>
            <a:off x="457200" y="107899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94944" y="1078992"/>
            <a:ext cx="475488" cy="521970"/>
          </a:xfrm>
          <a:prstGeom prst="rect">
            <a:avLst/>
          </a:prstGeom>
          <a:noFill/>
        </p:spPr>
        <p:txBody>
          <a:bodyPr wrap="none" lIns="0" tIns="0" rIns="0" bIns="0" anchor="ctr">
            <a:spAutoFit/>
          </a:bodyPr>
          <a:lstStyle/>
          <a:p>
            <a:pPr marL="0" indent="0" algn="l">
              <a:spcAft>
                <a:spcPts val="0"/>
              </a:spcAft>
              <a:buNone/>
            </a:pPr>
            <a:r>
              <a:rPr sz="1900" b="1">
                <a:solidFill>
                  <a:srgbClr val="7C2529"/>
                </a:solidFill>
                <a:latin typeface="Helvetica Neue"/>
              </a:rPr>
              <a:t>1</a:t>
            </a:r>
          </a:p>
        </p:txBody>
      </p:sp>
      <p:sp>
        <p:nvSpPr>
          <p:cNvPr id="7" name="TextBox 6"/>
          <p:cNvSpPr txBox="1"/>
          <p:nvPr/>
        </p:nvSpPr>
        <p:spPr>
          <a:xfrm>
            <a:off x="1170432" y="1078992"/>
            <a:ext cx="7278624" cy="521970"/>
          </a:xfrm>
          <a:prstGeom prst="rect">
            <a:avLst/>
          </a:prstGeom>
          <a:noFill/>
        </p:spPr>
        <p:txBody>
          <a:bodyPr wrap="square" lIns="0" tIns="0" rIns="0" bIns="0" anchor="ctr">
            <a:spAutoFit/>
          </a:bodyPr>
          <a:lstStyle/>
          <a:p>
            <a:pPr marL="0" indent="0" algn="l">
              <a:spcAft>
                <a:spcPts val="0"/>
              </a:spcAft>
              <a:buNone/>
            </a:pPr>
            <a:r>
              <a:rPr sz="1300" b="0">
                <a:solidFill>
                  <a:srgbClr val="1D1D1F"/>
                </a:solidFill>
                <a:latin typeface="Menlo"/>
              </a:rPr>
              <a:t>P(1 star), P(crashes), P(crashes ∩ 1 star)</a:t>
            </a:r>
          </a:p>
        </p:txBody>
      </p:sp>
      <p:sp>
        <p:nvSpPr>
          <p:cNvPr id="8" name="Rounded Rectangle 7"/>
          <p:cNvSpPr/>
          <p:nvPr/>
        </p:nvSpPr>
        <p:spPr>
          <a:xfrm>
            <a:off x="457200" y="169240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94944" y="1692402"/>
            <a:ext cx="475488" cy="521970"/>
          </a:xfrm>
          <a:prstGeom prst="rect">
            <a:avLst/>
          </a:prstGeom>
          <a:noFill/>
        </p:spPr>
        <p:txBody>
          <a:bodyPr wrap="none" lIns="0" tIns="0" rIns="0" bIns="0" anchor="ctr">
            <a:spAutoFit/>
          </a:bodyPr>
          <a:lstStyle/>
          <a:p>
            <a:pPr marL="0" indent="0" algn="l">
              <a:spcAft>
                <a:spcPts val="0"/>
              </a:spcAft>
              <a:buNone/>
            </a:pPr>
            <a:r>
              <a:rPr sz="1900" b="1">
                <a:solidFill>
                  <a:srgbClr val="7C2529"/>
                </a:solidFill>
                <a:latin typeface="Helvetica Neue"/>
              </a:rPr>
              <a:t>2</a:t>
            </a:r>
          </a:p>
        </p:txBody>
      </p:sp>
      <p:sp>
        <p:nvSpPr>
          <p:cNvPr id="10" name="TextBox 9"/>
          <p:cNvSpPr txBox="1"/>
          <p:nvPr/>
        </p:nvSpPr>
        <p:spPr>
          <a:xfrm>
            <a:off x="1170432" y="1692402"/>
            <a:ext cx="7278624" cy="521970"/>
          </a:xfrm>
          <a:prstGeom prst="rect">
            <a:avLst/>
          </a:prstGeom>
          <a:noFill/>
        </p:spPr>
        <p:txBody>
          <a:bodyPr wrap="square" lIns="0" tIns="0" rIns="0" bIns="0" anchor="ctr">
            <a:spAutoFit/>
          </a:bodyPr>
          <a:lstStyle/>
          <a:p>
            <a:pPr marL="0" indent="0" algn="l">
              <a:spcAft>
                <a:spcPts val="0"/>
              </a:spcAft>
              <a:buNone/>
            </a:pPr>
            <a:r>
              <a:rPr sz="1300" b="0">
                <a:solidFill>
                  <a:srgbClr val="1D1D1F"/>
                </a:solidFill>
                <a:latin typeface="Menlo"/>
              </a:rPr>
              <a:t>P(crashes ∪ 1 star)</a:t>
            </a:r>
          </a:p>
        </p:txBody>
      </p:sp>
      <p:sp>
        <p:nvSpPr>
          <p:cNvPr id="11" name="Rounded Rectangle 10"/>
          <p:cNvSpPr/>
          <p:nvPr/>
        </p:nvSpPr>
        <p:spPr>
          <a:xfrm>
            <a:off x="457200" y="230581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94944" y="2305812"/>
            <a:ext cx="475488" cy="521970"/>
          </a:xfrm>
          <a:prstGeom prst="rect">
            <a:avLst/>
          </a:prstGeom>
          <a:noFill/>
        </p:spPr>
        <p:txBody>
          <a:bodyPr wrap="none" lIns="0" tIns="0" rIns="0" bIns="0" anchor="ctr">
            <a:spAutoFit/>
          </a:bodyPr>
          <a:lstStyle/>
          <a:p>
            <a:pPr marL="0" indent="0" algn="l">
              <a:spcAft>
                <a:spcPts val="0"/>
              </a:spcAft>
              <a:buNone/>
            </a:pPr>
            <a:r>
              <a:rPr sz="1900" b="1">
                <a:solidFill>
                  <a:srgbClr val="7C2529"/>
                </a:solidFill>
                <a:latin typeface="Helvetica Neue"/>
              </a:rPr>
              <a:t>3</a:t>
            </a:r>
          </a:p>
        </p:txBody>
      </p:sp>
      <p:sp>
        <p:nvSpPr>
          <p:cNvPr id="13" name="TextBox 12"/>
          <p:cNvSpPr txBox="1"/>
          <p:nvPr/>
        </p:nvSpPr>
        <p:spPr>
          <a:xfrm>
            <a:off x="1170432" y="2305812"/>
            <a:ext cx="7278624" cy="521970"/>
          </a:xfrm>
          <a:prstGeom prst="rect">
            <a:avLst/>
          </a:prstGeom>
          <a:noFill/>
        </p:spPr>
        <p:txBody>
          <a:bodyPr wrap="square" lIns="0" tIns="0" rIns="0" bIns="0" anchor="ctr">
            <a:spAutoFit/>
          </a:bodyPr>
          <a:lstStyle/>
          <a:p>
            <a:pPr marL="0" indent="0" algn="l">
              <a:spcAft>
                <a:spcPts val="0"/>
              </a:spcAft>
              <a:buNone/>
            </a:pPr>
            <a:r>
              <a:rPr sz="1300" b="0">
                <a:solidFill>
                  <a:srgbClr val="1D1D1F"/>
                </a:solidFill>
                <a:latin typeface="Menlo"/>
              </a:rPr>
              <a:t>P(1 star | crashes) and P(crashes | 1 star)</a:t>
            </a:r>
          </a:p>
        </p:txBody>
      </p:sp>
      <p:sp>
        <p:nvSpPr>
          <p:cNvPr id="14" name="Rounded Rectangle 13"/>
          <p:cNvSpPr/>
          <p:nvPr/>
        </p:nvSpPr>
        <p:spPr>
          <a:xfrm>
            <a:off x="457200" y="291922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94944" y="2919222"/>
            <a:ext cx="475488" cy="521970"/>
          </a:xfrm>
          <a:prstGeom prst="rect">
            <a:avLst/>
          </a:prstGeom>
          <a:noFill/>
        </p:spPr>
        <p:txBody>
          <a:bodyPr wrap="none" lIns="0" tIns="0" rIns="0" bIns="0" anchor="ctr">
            <a:spAutoFit/>
          </a:bodyPr>
          <a:lstStyle/>
          <a:p>
            <a:pPr marL="0" indent="0" algn="l">
              <a:spcAft>
                <a:spcPts val="0"/>
              </a:spcAft>
              <a:buNone/>
            </a:pPr>
            <a:r>
              <a:rPr sz="1900" b="1">
                <a:solidFill>
                  <a:srgbClr val="7C2529"/>
                </a:solidFill>
                <a:latin typeface="Helvetica Neue"/>
              </a:rPr>
              <a:t>4</a:t>
            </a:r>
          </a:p>
        </p:txBody>
      </p:sp>
      <p:sp>
        <p:nvSpPr>
          <p:cNvPr id="16" name="TextBox 15"/>
          <p:cNvSpPr txBox="1"/>
          <p:nvPr/>
        </p:nvSpPr>
        <p:spPr>
          <a:xfrm>
            <a:off x="1170432" y="2919222"/>
            <a:ext cx="7278624" cy="521970"/>
          </a:xfrm>
          <a:prstGeom prst="rect">
            <a:avLst/>
          </a:prstGeom>
          <a:noFill/>
        </p:spPr>
        <p:txBody>
          <a:bodyPr wrap="square" lIns="0" tIns="0" rIns="0" bIns="0" anchor="ctr">
            <a:spAutoFit/>
          </a:bodyPr>
          <a:lstStyle/>
          <a:p>
            <a:pPr marL="0" indent="0" algn="l">
              <a:spcAft>
                <a:spcPts val="0"/>
              </a:spcAft>
              <a:buNone/>
            </a:pPr>
            <a:r>
              <a:rPr sz="1300" b="0">
                <a:solidFill>
                  <a:srgbClr val="1D1D1F"/>
                </a:solidFill>
                <a:latin typeface="Menlo"/>
              </a:rPr>
              <a:t>Is P(crashes ∩ 1 star) = P(crashes) × P(1 star)?</a:t>
            </a:r>
          </a:p>
        </p:txBody>
      </p:sp>
      <p:sp>
        <p:nvSpPr>
          <p:cNvPr id="17" name="Rounded Rectangle 16"/>
          <p:cNvSpPr/>
          <p:nvPr/>
        </p:nvSpPr>
        <p:spPr>
          <a:xfrm>
            <a:off x="457200" y="353263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94944" y="3532632"/>
            <a:ext cx="475488" cy="521970"/>
          </a:xfrm>
          <a:prstGeom prst="rect">
            <a:avLst/>
          </a:prstGeom>
          <a:noFill/>
        </p:spPr>
        <p:txBody>
          <a:bodyPr wrap="none" lIns="0" tIns="0" rIns="0" bIns="0" anchor="ctr">
            <a:spAutoFit/>
          </a:bodyPr>
          <a:lstStyle/>
          <a:p>
            <a:pPr marL="0" indent="0" algn="l">
              <a:spcAft>
                <a:spcPts val="0"/>
              </a:spcAft>
              <a:buNone/>
            </a:pPr>
            <a:r>
              <a:rPr sz="1900" b="1">
                <a:solidFill>
                  <a:srgbClr val="7C2529"/>
                </a:solidFill>
                <a:latin typeface="Helvetica Neue"/>
              </a:rPr>
              <a:t>5</a:t>
            </a:r>
          </a:p>
        </p:txBody>
      </p:sp>
      <p:sp>
        <p:nvSpPr>
          <p:cNvPr id="19" name="TextBox 18"/>
          <p:cNvSpPr txBox="1"/>
          <p:nvPr/>
        </p:nvSpPr>
        <p:spPr>
          <a:xfrm>
            <a:off x="1170432" y="3532632"/>
            <a:ext cx="7278624" cy="521970"/>
          </a:xfrm>
          <a:prstGeom prst="rect">
            <a:avLst/>
          </a:prstGeom>
          <a:noFill/>
        </p:spPr>
        <p:txBody>
          <a:bodyPr wrap="square" lIns="0" tIns="0" rIns="0" bIns="0" anchor="ctr">
            <a:spAutoFit/>
          </a:bodyPr>
          <a:lstStyle/>
          <a:p>
            <a:pPr marL="0" indent="0" algn="l">
              <a:spcAft>
                <a:spcPts val="0"/>
              </a:spcAft>
              <a:buNone/>
            </a:pPr>
            <a:r>
              <a:rPr sz="1300" b="0">
                <a:solidFill>
                  <a:srgbClr val="1D1D1F"/>
                </a:solidFill>
                <a:latin typeface="Menlo"/>
              </a:rPr>
              <a:t>"update" is in 10, five of them 1 star. Same question.</a:t>
            </a:r>
          </a:p>
        </p:txBody>
      </p:sp>
      <p:sp>
        <p:nvSpPr>
          <p:cNvPr id="20" name="Rounded Rectangle 19"/>
          <p:cNvSpPr/>
          <p:nvPr/>
        </p:nvSpPr>
        <p:spPr>
          <a:xfrm>
            <a:off x="457200" y="414604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94944" y="4146042"/>
            <a:ext cx="475488" cy="521970"/>
          </a:xfrm>
          <a:prstGeom prst="rect">
            <a:avLst/>
          </a:prstGeom>
          <a:noFill/>
        </p:spPr>
        <p:txBody>
          <a:bodyPr wrap="none" lIns="0" tIns="0" rIns="0" bIns="0" anchor="ctr">
            <a:spAutoFit/>
          </a:bodyPr>
          <a:lstStyle/>
          <a:p>
            <a:pPr marL="0" indent="0" algn="l">
              <a:spcAft>
                <a:spcPts val="0"/>
              </a:spcAft>
              <a:buNone/>
            </a:pPr>
            <a:r>
              <a:rPr sz="1900" b="1">
                <a:solidFill>
                  <a:srgbClr val="7C2529"/>
                </a:solidFill>
                <a:latin typeface="Helvetica Neue"/>
              </a:rPr>
              <a:t>6</a:t>
            </a:r>
          </a:p>
        </p:txBody>
      </p:sp>
      <p:sp>
        <p:nvSpPr>
          <p:cNvPr id="22" name="TextBox 21"/>
          <p:cNvSpPr txBox="1"/>
          <p:nvPr/>
        </p:nvSpPr>
        <p:spPr>
          <a:xfrm>
            <a:off x="1170432" y="4146042"/>
            <a:ext cx="7278624" cy="521970"/>
          </a:xfrm>
          <a:prstGeom prst="rect">
            <a:avLst/>
          </a:prstGeom>
          <a:noFill/>
        </p:spPr>
        <p:txBody>
          <a:bodyPr wrap="square" lIns="0" tIns="0" rIns="0" bIns="0" anchor="ctr">
            <a:spAutoFit/>
          </a:bodyPr>
          <a:lstStyle/>
          <a:p>
            <a:pPr marL="0" indent="0" algn="l">
              <a:spcAft>
                <a:spcPts val="0"/>
              </a:spcAft>
              <a:buNone/>
            </a:pPr>
            <a:r>
              <a:rPr sz="1300" b="0">
                <a:solidFill>
                  <a:srgbClr val="1D1D1F"/>
                </a:solidFill>
                <a:latin typeface="Menlo"/>
              </a:rPr>
              <a:t>Flagger catches 80% of 1 star, 20% of the rest. P(1 star | flagged)?</a:t>
            </a:r>
          </a:p>
        </p:txBody>
      </p:sp>
      <p:sp>
        <p:nvSpPr>
          <p:cNvPr id="23" name="TextBox 22"/>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Then markers, boards, and a corpus of your own."/>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course-standard break figure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032"/>
            <a:ext cx="8229600" cy="822960"/>
          </a:xfrm>
        </p:spPr>
        <p:txBody>
          <a:bodyPr wrap="square"/>
          <a:lstStyle/>
          <a:p>
            <a:pPr marL="0" indent="0">
              <a:buNone/>
            </a:pPr>
            <a:r>
              <a:t>Twenty messages, counted</a:t>
            </a:r>
          </a:p>
        </p:txBody>
      </p:sp>
      <p:graphicFrame>
        <p:nvGraphicFramePr>
          <p:cNvPr id="5" name="Table 4"/>
          <p:cNvGraphicFramePr>
            <a:graphicFrameLocks noGrp="1"/>
          </p:cNvGraphicFramePr>
          <p:nvPr/>
        </p:nvGraphicFramePr>
        <p:xfrm>
          <a:off x="457200" y="1739646"/>
          <a:ext cx="5102351" cy="2267712"/>
        </p:xfrm>
        <a:graphic>
          <a:graphicData uri="http://schemas.openxmlformats.org/drawingml/2006/table">
            <a:tbl>
              <a:tblPr firstRow="1"/>
              <a:tblGrid>
                <a:gridCol w="1326611">
                  <a:extLst>
                    <a:ext uri="{9D8B030D-6E8A-4147-A177-3AD203B41FA5}">
                      <a16:colId xmlns:a16="http://schemas.microsoft.com/office/drawing/2014/main" val="20000"/>
                    </a:ext>
                  </a:extLst>
                </a:gridCol>
                <a:gridCol w="1258580">
                  <a:extLst>
                    <a:ext uri="{9D8B030D-6E8A-4147-A177-3AD203B41FA5}">
                      <a16:colId xmlns:a16="http://schemas.microsoft.com/office/drawing/2014/main" val="20001"/>
                    </a:ext>
                  </a:extLst>
                </a:gridCol>
                <a:gridCol w="1258580">
                  <a:extLst>
                    <a:ext uri="{9D8B030D-6E8A-4147-A177-3AD203B41FA5}">
                      <a16:colId xmlns:a16="http://schemas.microsoft.com/office/drawing/2014/main" val="20002"/>
                    </a:ext>
                  </a:extLst>
                </a:gridCol>
                <a:gridCol w="1258580">
                  <a:extLst>
                    <a:ext uri="{9D8B030D-6E8A-4147-A177-3AD203B41FA5}">
                      <a16:colId xmlns:a16="http://schemas.microsoft.com/office/drawing/2014/main" val="20003"/>
                    </a:ext>
                  </a:extLst>
                </a:gridCol>
              </a:tblGrid>
              <a:tr h="566928">
                <a:tc>
                  <a:txBody>
                    <a:bodyPr/>
                    <a:lstStyle/>
                    <a:p>
                      <a:pPr marL="0" indent="0" algn="l">
                        <a:spcAft>
                          <a:spcPts val="0"/>
                        </a:spcAft>
                        <a:buNone/>
                      </a:pPr>
                      <a:endParaRP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100" b="1" spc="50">
                          <a:solidFill>
                            <a:srgbClr val="86868B"/>
                          </a:solidFill>
                          <a:latin typeface="Helvetica Neue"/>
                        </a:rPr>
                        <a:t>HAS "FREE"</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100" b="1" spc="50">
                          <a:solidFill>
                            <a:srgbClr val="86868B"/>
                          </a:solidFill>
                          <a:latin typeface="Helvetica Neue"/>
                        </a:rPr>
                        <a:t>NO "FREE"</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100" b="1" spc="50">
                          <a:solidFill>
                            <a:srgbClr val="86868B"/>
                          </a:solidFill>
                          <a:latin typeface="Helvetica Neue"/>
                        </a:rPr>
                        <a:t>TOTAL</a:t>
                      </a:r>
                    </a:p>
                  </a:txBody>
                  <a:tcPr marL="54864" marR="54864" anchor="ctr">
                    <a:lnL w="12700" cap="flat" cmpd="sng" algn="ctr">
                      <a:noFill/>
                    </a:lnL>
                    <a:lnR w="12700" cap="flat" cmpd="sng" algn="ctr">
                      <a:noFill/>
                    </a:lnR>
                    <a:lnT w="12700" cap="flat" cmpd="sng" algn="ctr">
                      <a:noFill/>
                    </a:lnT>
                    <a:lnB w="12700" cap="flat" cmpd="sng" algn="ctr">
                      <a:noFill/>
                    </a:lnB>
                    <a:noFill/>
                  </a:tcPr>
                </a:tc>
                <a:extLst>
                  <a:ext uri="{0D108BD9-81ED-4DB2-BD59-A6C34878D82A}">
                    <a16:rowId xmlns:a16="http://schemas.microsoft.com/office/drawing/2014/main" val="10000"/>
                  </a:ext>
                </a:extLst>
              </a:tr>
              <a:tr h="566928">
                <a:tc>
                  <a:txBody>
                    <a:bodyPr/>
                    <a:lstStyle/>
                    <a:p>
                      <a:pPr marL="0" indent="0" algn="l">
                        <a:spcAft>
                          <a:spcPts val="0"/>
                        </a:spcAft>
                        <a:buNone/>
                      </a:pPr>
                      <a:r>
                        <a:rPr sz="1700" b="1">
                          <a:solidFill>
                            <a:srgbClr val="1D1D1F"/>
                          </a:solidFill>
                          <a:latin typeface="Helvetica Neue"/>
                        </a:rPr>
                        <a:t>spam</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5</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3</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8</a:t>
                      </a:r>
                    </a:p>
                  </a:txBody>
                  <a:tcPr marL="54864" marR="54864" anchor="ctr">
                    <a:lnL w="12700" cap="flat" cmpd="sng" algn="ctr">
                      <a:noFill/>
                    </a:lnL>
                    <a:lnR w="12700" cap="flat" cmpd="sng" algn="ctr">
                      <a:noFill/>
                    </a:lnR>
                    <a:lnT w="12700" cap="flat" cmpd="sng" algn="ctr">
                      <a:noFill/>
                    </a:lnT>
                    <a:lnB w="12700" cap="flat" cmpd="sng" algn="ctr">
                      <a:noFill/>
                    </a:lnB>
                    <a:noFill/>
                  </a:tcPr>
                </a:tc>
                <a:extLst>
                  <a:ext uri="{0D108BD9-81ED-4DB2-BD59-A6C34878D82A}">
                    <a16:rowId xmlns:a16="http://schemas.microsoft.com/office/drawing/2014/main" val="10001"/>
                  </a:ext>
                </a:extLst>
              </a:tr>
              <a:tr h="566928">
                <a:tc>
                  <a:txBody>
                    <a:bodyPr/>
                    <a:lstStyle/>
                    <a:p>
                      <a:pPr marL="0" indent="0" algn="l">
                        <a:spcAft>
                          <a:spcPts val="0"/>
                        </a:spcAft>
                        <a:buNone/>
                      </a:pPr>
                      <a:r>
                        <a:rPr sz="1700" b="1">
                          <a:solidFill>
                            <a:srgbClr val="1D1D1F"/>
                          </a:solidFill>
                          <a:latin typeface="Helvetica Neue"/>
                        </a:rPr>
                        <a:t>ham</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1</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11</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1D1D1F"/>
                          </a:solidFill>
                          <a:latin typeface="Menlo"/>
                        </a:rPr>
                        <a:t>12</a:t>
                      </a:r>
                    </a:p>
                  </a:txBody>
                  <a:tcPr marL="54864" marR="54864" anchor="ctr">
                    <a:lnL w="12700" cap="flat" cmpd="sng" algn="ctr">
                      <a:noFill/>
                    </a:lnL>
                    <a:lnR w="12700" cap="flat" cmpd="sng" algn="ctr">
                      <a:noFill/>
                    </a:lnR>
                    <a:lnT w="12700" cap="flat" cmpd="sng" algn="ctr">
                      <a:noFill/>
                    </a:lnT>
                    <a:lnB w="12700" cap="flat" cmpd="sng" algn="ctr">
                      <a:noFill/>
                    </a:lnB>
                    <a:noFill/>
                  </a:tcPr>
                </a:tc>
                <a:extLst>
                  <a:ext uri="{0D108BD9-81ED-4DB2-BD59-A6C34878D82A}">
                    <a16:rowId xmlns:a16="http://schemas.microsoft.com/office/drawing/2014/main" val="10002"/>
                  </a:ext>
                </a:extLst>
              </a:tr>
              <a:tr h="566928">
                <a:tc>
                  <a:txBody>
                    <a:bodyPr/>
                    <a:lstStyle/>
                    <a:p>
                      <a:pPr marL="0" indent="0" algn="l">
                        <a:spcAft>
                          <a:spcPts val="0"/>
                        </a:spcAft>
                        <a:buNone/>
                      </a:pPr>
                      <a:r>
                        <a:rPr sz="1700" b="1">
                          <a:solidFill>
                            <a:srgbClr val="86868B"/>
                          </a:solidFill>
                          <a:latin typeface="Helvetica Neue"/>
                        </a:rPr>
                        <a:t>total</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86868B"/>
                          </a:solidFill>
                          <a:latin typeface="Menlo"/>
                        </a:rPr>
                        <a:t>6</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86868B"/>
                          </a:solidFill>
                          <a:latin typeface="Menlo"/>
                        </a:rPr>
                        <a:t>14</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a:lstStyle/>
                    <a:p>
                      <a:pPr marL="0" indent="0" algn="ctr">
                        <a:spcAft>
                          <a:spcPts val="0"/>
                        </a:spcAft>
                        <a:buNone/>
                      </a:pPr>
                      <a:r>
                        <a:rPr sz="1700" b="0">
                          <a:solidFill>
                            <a:srgbClr val="86868B"/>
                          </a:solidFill>
                          <a:latin typeface="Menlo"/>
                        </a:rPr>
                        <a:t>20</a:t>
                      </a:r>
                    </a:p>
                  </a:txBody>
                  <a:tcPr marL="54864" marR="54864" anchor="ctr">
                    <a:lnL w="12700" cap="flat" cmpd="sng" algn="ctr">
                      <a:noFill/>
                    </a:lnL>
                    <a:lnR w="12700" cap="flat" cmpd="sng" algn="ctr">
                      <a:noFill/>
                    </a:lnR>
                    <a:lnT w="12700" cap="flat" cmpd="sng" algn="ctr">
                      <a:noFill/>
                    </a:lnT>
                    <a:lnB w="12700" cap="flat" cmpd="sng" algn="ctr">
                      <a:noFill/>
                    </a:lnB>
                    <a:noFill/>
                  </a:tcPr>
                </a:tc>
                <a:extLst>
                  <a:ext uri="{0D108BD9-81ED-4DB2-BD59-A6C34878D82A}">
                    <a16:rowId xmlns:a16="http://schemas.microsoft.com/office/drawing/2014/main" val="10003"/>
                  </a:ext>
                </a:extLst>
              </a:tr>
            </a:tbl>
          </a:graphicData>
        </a:graphic>
      </p:graphicFrame>
      <p:sp>
        <p:nvSpPr>
          <p:cNvPr id="6" name="TextBox 5"/>
          <p:cNvSpPr txBox="1"/>
          <p:nvPr/>
        </p:nvSpPr>
        <p:spPr>
          <a:xfrm>
            <a:off x="5925312" y="1739646"/>
            <a:ext cx="2761488" cy="2267712"/>
          </a:xfrm>
          <a:prstGeom prst="rect">
            <a:avLst/>
          </a:prstGeom>
          <a:noFill/>
        </p:spPr>
        <p:txBody>
          <a:bodyPr wrap="square" lIns="0" tIns="0" rIns="0" bIns="0" anchor="t">
            <a:spAutoFit/>
          </a:bodyPr>
          <a:lstStyle/>
          <a:p>
            <a:pPr marL="0" indent="0" algn="l">
              <a:spcAft>
                <a:spcPts val="1000"/>
              </a:spcAft>
              <a:buNone/>
            </a:pPr>
            <a:r>
              <a:rPr sz="1100" b="1" spc="70">
                <a:solidFill>
                  <a:srgbClr val="86868B"/>
                </a:solidFill>
                <a:latin typeface="Helvetica Neue"/>
              </a:rPr>
              <a:t>FOUR OF THE TWENTY</a:t>
            </a:r>
          </a:p>
          <a:p>
            <a:pPr marL="0" indent="0">
              <a:spcAft>
                <a:spcPts val="900"/>
              </a:spcAft>
              <a:buNone/>
            </a:pPr>
            <a:r>
              <a:rPr sz="1000" b="1">
                <a:solidFill>
                  <a:srgbClr val="86868B"/>
                </a:solidFill>
                <a:latin typeface="Helvetica Neue"/>
              </a:rPr>
              <a:t>SPAM   </a:t>
            </a:r>
            <a:r>
              <a:rPr sz="1300">
                <a:solidFill>
                  <a:srgbClr val="1D1D1F"/>
                </a:solidFill>
                <a:latin typeface="Helvetica Neue"/>
              </a:rPr>
              <a:t>claim your free prize</a:t>
            </a:r>
          </a:p>
          <a:p>
            <a:pPr marL="0" indent="0">
              <a:spcAft>
                <a:spcPts val="900"/>
              </a:spcAft>
              <a:buNone/>
            </a:pPr>
            <a:r>
              <a:rPr sz="1000" b="1">
                <a:solidFill>
                  <a:srgbClr val="86868B"/>
                </a:solidFill>
                <a:latin typeface="Helvetica Neue"/>
              </a:rPr>
              <a:t>SPAM   </a:t>
            </a:r>
            <a:r>
              <a:rPr sz="1300">
                <a:solidFill>
                  <a:srgbClr val="1D1D1F"/>
                </a:solidFill>
                <a:latin typeface="Helvetica Neue"/>
              </a:rPr>
              <a:t>urgent: verify your account</a:t>
            </a:r>
          </a:p>
          <a:p>
            <a:pPr marL="0" indent="0">
              <a:spcAft>
                <a:spcPts val="900"/>
              </a:spcAft>
              <a:buNone/>
            </a:pPr>
            <a:r>
              <a:rPr sz="1000" b="1">
                <a:solidFill>
                  <a:srgbClr val="86868B"/>
                </a:solidFill>
                <a:latin typeface="Helvetica Neue"/>
              </a:rPr>
              <a:t>HAM   </a:t>
            </a:r>
            <a:r>
              <a:rPr sz="1300">
                <a:solidFill>
                  <a:srgbClr val="1D1D1F"/>
                </a:solidFill>
                <a:latin typeface="Helvetica Neue"/>
              </a:rPr>
              <a:t>free parking in lot B this week</a:t>
            </a:r>
          </a:p>
          <a:p>
            <a:pPr marL="0" indent="0">
              <a:spcAft>
                <a:spcPts val="900"/>
              </a:spcAft>
              <a:buNone/>
            </a:pPr>
            <a:r>
              <a:rPr sz="1000" b="1">
                <a:solidFill>
                  <a:srgbClr val="86868B"/>
                </a:solidFill>
                <a:latin typeface="Helvetica Neue"/>
              </a:rPr>
              <a:t>HAM   </a:t>
            </a:r>
            <a:r>
              <a:rPr sz="1300">
                <a:solidFill>
                  <a:srgbClr val="1D1D1F"/>
                </a:solidFill>
                <a:latin typeface="Helvetica Neue"/>
              </a:rPr>
              <a:t>can we move the meeting</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032"/>
            <a:ext cx="8229600" cy="822960"/>
          </a:xfrm>
        </p:spPr>
        <p:txBody>
          <a:bodyPr wrap="square"/>
          <a:lstStyle/>
          <a:p>
            <a:pPr marL="0" indent="0">
              <a:buNone/>
            </a:pPr>
            <a:r>
              <a:t>Six problems, in teams</a:t>
            </a:r>
          </a:p>
        </p:txBody>
      </p:sp>
      <p:sp>
        <p:nvSpPr>
          <p:cNvPr id="5" name="Rounded Rectangle 4"/>
          <p:cNvSpPr/>
          <p:nvPr/>
        </p:nvSpPr>
        <p:spPr>
          <a:xfrm>
            <a:off x="457200" y="107899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94944" y="1078992"/>
            <a:ext cx="475488" cy="521970"/>
          </a:xfrm>
          <a:prstGeom prst="rect">
            <a:avLst/>
          </a:prstGeom>
          <a:noFill/>
        </p:spPr>
        <p:txBody>
          <a:bodyPr wrap="none" lIns="0" tIns="0" rIns="0" bIns="0" anchor="ctr">
            <a:spAutoFit/>
          </a:bodyPr>
          <a:lstStyle/>
          <a:p>
            <a:pPr marL="0" indent="0" algn="l">
              <a:spcAft>
                <a:spcPts val="0"/>
              </a:spcAft>
              <a:buNone/>
            </a:pPr>
            <a:r>
              <a:rPr sz="2200" b="1">
                <a:solidFill>
                  <a:srgbClr val="7C2529"/>
                </a:solidFill>
                <a:latin typeface="Helvetica Neue"/>
              </a:rPr>
              <a:t>1</a:t>
            </a:r>
          </a:p>
        </p:txBody>
      </p:sp>
      <p:sp>
        <p:nvSpPr>
          <p:cNvPr id="7" name="TextBox 6"/>
          <p:cNvSpPr txBox="1"/>
          <p:nvPr/>
        </p:nvSpPr>
        <p:spPr>
          <a:xfrm>
            <a:off x="1170432" y="1078992"/>
            <a:ext cx="7278624" cy="521970"/>
          </a:xfrm>
          <a:prstGeom prst="rect">
            <a:avLst/>
          </a:prstGeom>
          <a:noFill/>
        </p:spPr>
        <p:txBody>
          <a:bodyPr wrap="square" lIns="0" tIns="0" rIns="0" bIns="0" anchor="ctr">
            <a:spAutoFit/>
          </a:bodyPr>
          <a:lstStyle/>
          <a:p>
            <a:pPr marL="0" indent="0" algn="l">
              <a:spcAft>
                <a:spcPts val="0"/>
              </a:spcAft>
              <a:buNone/>
            </a:pPr>
            <a:r>
              <a:rPr sz="1600" b="0">
                <a:solidFill>
                  <a:srgbClr val="1D1D1F"/>
                </a:solidFill>
                <a:latin typeface="Menlo"/>
              </a:rPr>
              <a:t>P(spam), P(free), P(free ∩ spam)</a:t>
            </a:r>
          </a:p>
        </p:txBody>
      </p:sp>
      <p:sp>
        <p:nvSpPr>
          <p:cNvPr id="8" name="Rounded Rectangle 7"/>
          <p:cNvSpPr/>
          <p:nvPr/>
        </p:nvSpPr>
        <p:spPr>
          <a:xfrm>
            <a:off x="457200" y="169240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94944" y="1692402"/>
            <a:ext cx="475488" cy="521970"/>
          </a:xfrm>
          <a:prstGeom prst="rect">
            <a:avLst/>
          </a:prstGeom>
          <a:noFill/>
        </p:spPr>
        <p:txBody>
          <a:bodyPr wrap="none" lIns="0" tIns="0" rIns="0" bIns="0" anchor="ctr">
            <a:spAutoFit/>
          </a:bodyPr>
          <a:lstStyle/>
          <a:p>
            <a:pPr marL="0" indent="0" algn="l">
              <a:spcAft>
                <a:spcPts val="0"/>
              </a:spcAft>
              <a:buNone/>
            </a:pPr>
            <a:r>
              <a:rPr sz="2200" b="1">
                <a:solidFill>
                  <a:srgbClr val="7C2529"/>
                </a:solidFill>
                <a:latin typeface="Helvetica Neue"/>
              </a:rPr>
              <a:t>2</a:t>
            </a:r>
          </a:p>
        </p:txBody>
      </p:sp>
      <p:sp>
        <p:nvSpPr>
          <p:cNvPr id="10" name="TextBox 9"/>
          <p:cNvSpPr txBox="1"/>
          <p:nvPr/>
        </p:nvSpPr>
        <p:spPr>
          <a:xfrm>
            <a:off x="1170432" y="1692402"/>
            <a:ext cx="7278624" cy="521970"/>
          </a:xfrm>
          <a:prstGeom prst="rect">
            <a:avLst/>
          </a:prstGeom>
          <a:noFill/>
        </p:spPr>
        <p:txBody>
          <a:bodyPr wrap="square" lIns="0" tIns="0" rIns="0" bIns="0" anchor="ctr">
            <a:spAutoFit/>
          </a:bodyPr>
          <a:lstStyle/>
          <a:p>
            <a:pPr marL="0" indent="0" algn="l">
              <a:spcAft>
                <a:spcPts val="0"/>
              </a:spcAft>
              <a:buNone/>
            </a:pPr>
            <a:r>
              <a:rPr sz="1600" b="0">
                <a:solidFill>
                  <a:srgbClr val="1D1D1F"/>
                </a:solidFill>
                <a:latin typeface="Menlo"/>
              </a:rPr>
              <a:t>P(free ∪ spam)</a:t>
            </a:r>
          </a:p>
        </p:txBody>
      </p:sp>
      <p:sp>
        <p:nvSpPr>
          <p:cNvPr id="11" name="Rounded Rectangle 10"/>
          <p:cNvSpPr/>
          <p:nvPr/>
        </p:nvSpPr>
        <p:spPr>
          <a:xfrm>
            <a:off x="457200" y="230581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94944" y="2305812"/>
            <a:ext cx="475488" cy="521970"/>
          </a:xfrm>
          <a:prstGeom prst="rect">
            <a:avLst/>
          </a:prstGeom>
          <a:noFill/>
        </p:spPr>
        <p:txBody>
          <a:bodyPr wrap="none" lIns="0" tIns="0" rIns="0" bIns="0" anchor="ctr">
            <a:spAutoFit/>
          </a:bodyPr>
          <a:lstStyle/>
          <a:p>
            <a:pPr marL="0" indent="0" algn="l">
              <a:spcAft>
                <a:spcPts val="0"/>
              </a:spcAft>
              <a:buNone/>
            </a:pPr>
            <a:r>
              <a:rPr sz="2200" b="1">
                <a:solidFill>
                  <a:srgbClr val="7C2529"/>
                </a:solidFill>
                <a:latin typeface="Helvetica Neue"/>
              </a:rPr>
              <a:t>3</a:t>
            </a:r>
          </a:p>
        </p:txBody>
      </p:sp>
      <p:sp>
        <p:nvSpPr>
          <p:cNvPr id="13" name="TextBox 12"/>
          <p:cNvSpPr txBox="1"/>
          <p:nvPr/>
        </p:nvSpPr>
        <p:spPr>
          <a:xfrm>
            <a:off x="1170432" y="2305812"/>
            <a:ext cx="7278624" cy="521970"/>
          </a:xfrm>
          <a:prstGeom prst="rect">
            <a:avLst/>
          </a:prstGeom>
          <a:noFill/>
        </p:spPr>
        <p:txBody>
          <a:bodyPr wrap="square" lIns="0" tIns="0" rIns="0" bIns="0" anchor="ctr">
            <a:spAutoFit/>
          </a:bodyPr>
          <a:lstStyle/>
          <a:p>
            <a:pPr marL="0" indent="0" algn="l">
              <a:spcAft>
                <a:spcPts val="0"/>
              </a:spcAft>
              <a:buNone/>
            </a:pPr>
            <a:r>
              <a:rPr sz="1600" b="0">
                <a:solidFill>
                  <a:srgbClr val="1D1D1F"/>
                </a:solidFill>
                <a:latin typeface="Menlo"/>
              </a:rPr>
              <a:t>P(spam | free) and P(free | spam)</a:t>
            </a:r>
          </a:p>
        </p:txBody>
      </p:sp>
      <p:sp>
        <p:nvSpPr>
          <p:cNvPr id="14" name="Rounded Rectangle 13"/>
          <p:cNvSpPr/>
          <p:nvPr/>
        </p:nvSpPr>
        <p:spPr>
          <a:xfrm>
            <a:off x="457200" y="291922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94944" y="2919222"/>
            <a:ext cx="475488" cy="521970"/>
          </a:xfrm>
          <a:prstGeom prst="rect">
            <a:avLst/>
          </a:prstGeom>
          <a:noFill/>
        </p:spPr>
        <p:txBody>
          <a:bodyPr wrap="none" lIns="0" tIns="0" rIns="0" bIns="0" anchor="ctr">
            <a:spAutoFit/>
          </a:bodyPr>
          <a:lstStyle/>
          <a:p>
            <a:pPr marL="0" indent="0" algn="l">
              <a:spcAft>
                <a:spcPts val="0"/>
              </a:spcAft>
              <a:buNone/>
            </a:pPr>
            <a:r>
              <a:rPr sz="2200" b="1">
                <a:solidFill>
                  <a:srgbClr val="7C2529"/>
                </a:solidFill>
                <a:latin typeface="Helvetica Neue"/>
              </a:rPr>
              <a:t>4</a:t>
            </a:r>
          </a:p>
        </p:txBody>
      </p:sp>
      <p:sp>
        <p:nvSpPr>
          <p:cNvPr id="16" name="TextBox 15"/>
          <p:cNvSpPr txBox="1"/>
          <p:nvPr/>
        </p:nvSpPr>
        <p:spPr>
          <a:xfrm>
            <a:off x="1170432" y="2919222"/>
            <a:ext cx="7278624" cy="521970"/>
          </a:xfrm>
          <a:prstGeom prst="rect">
            <a:avLst/>
          </a:prstGeom>
          <a:noFill/>
        </p:spPr>
        <p:txBody>
          <a:bodyPr wrap="square" lIns="0" tIns="0" rIns="0" bIns="0" anchor="ctr">
            <a:spAutoFit/>
          </a:bodyPr>
          <a:lstStyle/>
          <a:p>
            <a:pPr marL="0" indent="0" algn="l">
              <a:spcAft>
                <a:spcPts val="0"/>
              </a:spcAft>
              <a:buNone/>
            </a:pPr>
            <a:r>
              <a:rPr sz="1600" b="0">
                <a:solidFill>
                  <a:srgbClr val="1D1D1F"/>
                </a:solidFill>
                <a:latin typeface="Menlo"/>
              </a:rPr>
              <a:t>Is P(free ∩ spam) = P(free) × P(spam)?</a:t>
            </a:r>
          </a:p>
        </p:txBody>
      </p:sp>
      <p:sp>
        <p:nvSpPr>
          <p:cNvPr id="17" name="Rounded Rectangle 16"/>
          <p:cNvSpPr/>
          <p:nvPr/>
        </p:nvSpPr>
        <p:spPr>
          <a:xfrm>
            <a:off x="457200" y="353263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94944" y="3532632"/>
            <a:ext cx="475488" cy="521970"/>
          </a:xfrm>
          <a:prstGeom prst="rect">
            <a:avLst/>
          </a:prstGeom>
          <a:noFill/>
        </p:spPr>
        <p:txBody>
          <a:bodyPr wrap="none" lIns="0" tIns="0" rIns="0" bIns="0" anchor="ctr">
            <a:spAutoFit/>
          </a:bodyPr>
          <a:lstStyle/>
          <a:p>
            <a:pPr marL="0" indent="0" algn="l">
              <a:spcAft>
                <a:spcPts val="0"/>
              </a:spcAft>
              <a:buNone/>
            </a:pPr>
            <a:r>
              <a:rPr sz="2200" b="1">
                <a:solidFill>
                  <a:srgbClr val="7C2529"/>
                </a:solidFill>
                <a:latin typeface="Helvetica Neue"/>
              </a:rPr>
              <a:t>5</a:t>
            </a:r>
          </a:p>
        </p:txBody>
      </p:sp>
      <p:sp>
        <p:nvSpPr>
          <p:cNvPr id="19" name="TextBox 18"/>
          <p:cNvSpPr txBox="1"/>
          <p:nvPr/>
        </p:nvSpPr>
        <p:spPr>
          <a:xfrm>
            <a:off x="1170432" y="3532632"/>
            <a:ext cx="7278624" cy="521970"/>
          </a:xfrm>
          <a:prstGeom prst="rect">
            <a:avLst/>
          </a:prstGeom>
          <a:noFill/>
        </p:spPr>
        <p:txBody>
          <a:bodyPr wrap="square" lIns="0" tIns="0" rIns="0" bIns="0" anchor="ctr">
            <a:spAutoFit/>
          </a:bodyPr>
          <a:lstStyle/>
          <a:p>
            <a:pPr marL="0" indent="0" algn="l">
              <a:spcAft>
                <a:spcPts val="0"/>
              </a:spcAft>
              <a:buNone/>
            </a:pPr>
            <a:r>
              <a:rPr sz="1600" b="0">
                <a:solidFill>
                  <a:srgbClr val="1D1D1F"/>
                </a:solidFill>
                <a:latin typeface="Menlo"/>
              </a:rPr>
              <a:t>"meeting" is in 5, two of them spam. Same question.</a:t>
            </a:r>
          </a:p>
        </p:txBody>
      </p:sp>
      <p:sp>
        <p:nvSpPr>
          <p:cNvPr id="20" name="Rounded Rectangle 19"/>
          <p:cNvSpPr/>
          <p:nvPr/>
        </p:nvSpPr>
        <p:spPr>
          <a:xfrm>
            <a:off x="457200" y="414604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94944" y="4146042"/>
            <a:ext cx="475488" cy="521970"/>
          </a:xfrm>
          <a:prstGeom prst="rect">
            <a:avLst/>
          </a:prstGeom>
          <a:noFill/>
        </p:spPr>
        <p:txBody>
          <a:bodyPr wrap="none" lIns="0" tIns="0" rIns="0" bIns="0" anchor="ctr">
            <a:spAutoFit/>
          </a:bodyPr>
          <a:lstStyle/>
          <a:p>
            <a:pPr marL="0" indent="0" algn="l">
              <a:spcAft>
                <a:spcPts val="0"/>
              </a:spcAft>
              <a:buNone/>
            </a:pPr>
            <a:r>
              <a:rPr sz="2200" b="1">
                <a:solidFill>
                  <a:srgbClr val="7C2529"/>
                </a:solidFill>
                <a:latin typeface="Helvetica Neue"/>
              </a:rPr>
              <a:t>6</a:t>
            </a:r>
          </a:p>
        </p:txBody>
      </p:sp>
      <p:sp>
        <p:nvSpPr>
          <p:cNvPr id="22" name="TextBox 21"/>
          <p:cNvSpPr txBox="1"/>
          <p:nvPr/>
        </p:nvSpPr>
        <p:spPr>
          <a:xfrm>
            <a:off x="1170432" y="4146042"/>
            <a:ext cx="7278624" cy="521970"/>
          </a:xfrm>
          <a:prstGeom prst="rect">
            <a:avLst/>
          </a:prstGeom>
          <a:noFill/>
        </p:spPr>
        <p:txBody>
          <a:bodyPr wrap="square" lIns="0" tIns="0" rIns="0" bIns="0" anchor="ctr">
            <a:spAutoFit/>
          </a:bodyPr>
          <a:lstStyle/>
          <a:p>
            <a:pPr marL="0" indent="0" algn="l">
              <a:spcAft>
                <a:spcPts val="0"/>
              </a:spcAft>
              <a:buNone/>
            </a:pPr>
            <a:r>
              <a:rPr sz="1600" b="0">
                <a:solidFill>
                  <a:srgbClr val="1D1D1F"/>
                </a:solidFill>
                <a:latin typeface="Menlo"/>
              </a:rPr>
              <a:t>Filter flags 90% of spam, 10% of ham. P(spam | flagged)?</a:t>
            </a:r>
          </a:p>
        </p:txBody>
      </p:sp>
      <p:sp>
        <p:nvSpPr>
          <p:cNvPr id="23" name="TextBox 22"/>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56032"/>
            <a:ext cx="8229600" cy="822960"/>
          </a:xfrm>
        </p:spPr>
        <p:txBody>
          <a:bodyPr wrap="square"/>
          <a:lstStyle/>
          <a:p>
            <a:pPr marL="0" indent="0">
              <a:buNone/>
            </a:pPr>
            <a:r>
              <a:t>If you finish early</a:t>
            </a:r>
          </a:p>
        </p:txBody>
      </p:sp>
      <p:sp>
        <p:nvSpPr>
          <p:cNvPr id="5" name="Rounded Rectangle 4"/>
          <p:cNvSpPr/>
          <p:nvPr/>
        </p:nvSpPr>
        <p:spPr>
          <a:xfrm>
            <a:off x="457200" y="2002980"/>
            <a:ext cx="4041648" cy="1741043"/>
          </a:xfrm>
          <a:prstGeom prst="roundRect">
            <a:avLst>
              <a:gd name="adj" fmla="val 682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40080" y="2149284"/>
            <a:ext cx="3675888" cy="1448435"/>
          </a:xfrm>
          <a:prstGeom prst="rect">
            <a:avLst/>
          </a:prstGeom>
          <a:noFill/>
        </p:spPr>
        <p:txBody>
          <a:bodyPr wrap="square" lIns="0" tIns="0" rIns="0" bIns="0" anchor="t">
            <a:spAutoFit/>
          </a:bodyPr>
          <a:lstStyle/>
          <a:p>
            <a:pPr marL="0" indent="0" algn="l">
              <a:spcAft>
                <a:spcPts val="600"/>
              </a:spcAft>
              <a:buNone/>
            </a:pPr>
            <a:r>
              <a:rPr sz="1100" b="1" spc="70">
                <a:solidFill>
                  <a:srgbClr val="86868B"/>
                </a:solidFill>
                <a:latin typeface="Helvetica Neue"/>
              </a:rPr>
              <a:t>THE WHOLE CORPUS</a:t>
            </a:r>
          </a:p>
          <a:p>
            <a:pPr marL="0" indent="0">
              <a:spcAft>
                <a:spcPts val="300"/>
              </a:spcAft>
              <a:buNone/>
            </a:pPr>
            <a:r>
              <a:rPr sz="1400" b="0" u="none">
                <a:solidFill>
                  <a:srgbClr val="1D1D1F"/>
                </a:solidFill>
                <a:latin typeface="Menlo"/>
              </a:rPr>
              <a:t>the cat sat</a:t>
            </a:r>
          </a:p>
          <a:p>
            <a:pPr marL="0" indent="0">
              <a:spcAft>
                <a:spcPts val="300"/>
              </a:spcAft>
              <a:buNone/>
            </a:pPr>
            <a:r>
              <a:rPr sz="1400" b="0" u="none">
                <a:solidFill>
                  <a:srgbClr val="1D1D1F"/>
                </a:solidFill>
                <a:latin typeface="Menlo"/>
              </a:rPr>
              <a:t>the cat ran</a:t>
            </a:r>
          </a:p>
          <a:p>
            <a:pPr marL="0" indent="0">
              <a:spcAft>
                <a:spcPts val="300"/>
              </a:spcAft>
              <a:buNone/>
            </a:pPr>
            <a:r>
              <a:rPr sz="1400" b="0" u="none">
                <a:solidFill>
                  <a:srgbClr val="1D1D1F"/>
                </a:solidFill>
                <a:latin typeface="Menlo"/>
              </a:rPr>
              <a:t>the dog sat</a:t>
            </a:r>
          </a:p>
          <a:p>
            <a:pPr marL="0" indent="0">
              <a:spcAft>
                <a:spcPts val="300"/>
              </a:spcAft>
              <a:buNone/>
            </a:pPr>
            <a:r>
              <a:rPr sz="1400" b="0" u="none">
                <a:solidFill>
                  <a:srgbClr val="1D1D1F"/>
                </a:solidFill>
                <a:latin typeface="Menlo"/>
              </a:rPr>
              <a:t>a cat sat</a:t>
            </a:r>
          </a:p>
        </p:txBody>
      </p:sp>
      <p:sp>
        <p:nvSpPr>
          <p:cNvPr id="7" name="Rounded Rectangle 6"/>
          <p:cNvSpPr/>
          <p:nvPr/>
        </p:nvSpPr>
        <p:spPr>
          <a:xfrm>
            <a:off x="4645152" y="2002980"/>
            <a:ext cx="4041648" cy="1741043"/>
          </a:xfrm>
          <a:prstGeom prst="roundRect">
            <a:avLst>
              <a:gd name="adj" fmla="val 682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828032" y="2149284"/>
            <a:ext cx="3675888" cy="1448435"/>
          </a:xfrm>
          <a:prstGeom prst="rect">
            <a:avLst/>
          </a:prstGeom>
          <a:noFill/>
        </p:spPr>
        <p:txBody>
          <a:bodyPr wrap="square" lIns="0" tIns="0" rIns="0" bIns="0" anchor="t">
            <a:spAutoFit/>
          </a:bodyPr>
          <a:lstStyle/>
          <a:p>
            <a:pPr marL="0" indent="0" algn="l">
              <a:spcAft>
                <a:spcPts val="600"/>
              </a:spcAft>
              <a:buNone/>
            </a:pPr>
            <a:r>
              <a:rPr sz="1100" b="1" spc="70">
                <a:solidFill>
                  <a:srgbClr val="86868B"/>
                </a:solidFill>
                <a:latin typeface="Helvetica Neue"/>
              </a:rPr>
              <a:t>WORK OUT</a:t>
            </a:r>
          </a:p>
          <a:p>
            <a:pPr marL="0" indent="0">
              <a:spcAft>
                <a:spcPts val="300"/>
              </a:spcAft>
              <a:buNone/>
            </a:pPr>
            <a:r>
              <a:rPr sz="1400" b="0" u="none">
                <a:solidFill>
                  <a:srgbClr val="1D1D1F"/>
                </a:solidFill>
                <a:latin typeface="Menlo"/>
              </a:rPr>
              <a:t>P(the cat sat)</a:t>
            </a:r>
          </a:p>
          <a:p>
            <a:pPr marL="0" indent="0">
              <a:spcAft>
                <a:spcPts val="300"/>
              </a:spcAft>
              <a:buNone/>
            </a:pPr>
            <a:r>
              <a:rPr sz="1400" b="0" u="none">
                <a:solidFill>
                  <a:srgbClr val="1D1D1F"/>
                </a:solidFill>
                <a:latin typeface="Menlo"/>
              </a:rPr>
              <a:t>= P(w1) × P(w2 | w1) × P(w3 | w2)</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1094</TotalTime>
  <Words>1160</Words>
  <Application>Microsoft Macintosh PowerPoint</Application>
  <PresentationFormat>On-screen Show (16:9)</PresentationFormat>
  <Paragraphs>115</Paragraphs>
  <Slides>11</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Helvetica Neue</vt:lpstr>
      <vt:lpstr>Playfair Display</vt:lpstr>
      <vt:lpstr>Menlo</vt:lpstr>
      <vt:lpstr>Arial</vt:lpstr>
      <vt:lpstr>Roboto</vt:lpstr>
      <vt:lpstr>Roboto Light</vt:lpstr>
      <vt:lpstr>Office Theme</vt:lpstr>
      <vt:lpstr>CSCI 3495 Probability for NLP</vt:lpstr>
      <vt:lpstr>What is Probability?</vt:lpstr>
      <vt:lpstr>PowerPoint Presentation</vt:lpstr>
      <vt:lpstr>PowerPoint Presentation</vt:lpstr>
      <vt:lpstr>Every one of these is a count, divided</vt:lpstr>
      <vt:lpstr>Twenty app reviews, counted</vt:lpstr>
      <vt:lpstr>How would you compute each of these?</vt:lpstr>
      <vt:lpstr>Break</vt:lpstr>
      <vt:lpstr>Twenty messages, counted</vt:lpstr>
      <vt:lpstr>Six problems, in teams</vt:lpstr>
      <vt:lpstr>If you finish early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Davalos Anaya, Eduardo</cp:lastModifiedBy>
  <cp:revision>2</cp:revision>
  <dcterms:modified xsi:type="dcterms:W3CDTF">2026-09-12T14:52:30Z</dcterms:modified>
</cp:coreProperties>
</file>