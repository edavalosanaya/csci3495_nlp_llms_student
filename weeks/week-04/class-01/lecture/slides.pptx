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linear models to MLPs, how nets learn, then build an MLP text classifier in PyTorch.</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The next slide shows the smallest version of the same problem, XOR. This is why a hidden layer exists. Stacking straight cuts buys you a boundary that bends.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cleanest counterexample: XOR. AND and OR fall to one line; for XOR no straight cut exists (this sank the perceptron, Minsky &amp; Papert 1969). Text is full of XORs: "not bad" flips the label of "bad".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tiny hidden layer maps x-space into a new h-space where (0,1) and (1,0) land on the same point, and XOR becomes one straight cut again. Nonlinear transform, then a linear cut: that is the whole trick.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guess or two. A single neuron is a weighted sum and a squash, and on its own it can only draw a straight line. The answer is not that one neuron is clever, it is what stacking and bending buys you, which is the next few slides.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Softmax turns K logits into a probability distribution; the largest probability is the prediction. Scores become probabilities that sum to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Cross-entropy is small when the true class's predicted probability is high, large when it is low. Training = nudge weights to push the true class's probability up.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gradient points uphill; step the opposite way. The learning rate η sets the step size, and the steps shrink on their own as the slope flattens.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Nested functions change at multiplied rates. Backprop needs nothing deeper than this. Rates along a chain multiply. That single fact is the engine of backpropagation.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Any formula becomes a graph of tiny steps. L(a,b,c) = c(a + 2b) breaks into d = 2b, then e = a + d, then L = ce; with a = 3, b = 1, c = -2 the values flow left to right and L = -10.</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node multiplies the gradient arriving from upstream by its own local gradient and passes the product downstream: dL/dd = (dL/de)(de/dd). That is ALL backpropagation ever does, node by node.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local gradients, then multiply along each path back from L. Keep these numbers in mind: the next slide is the same computation drawn on the graph.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graph, run right to left. Follow any red value: it is the upstream gradient times a local one, exactly the rule from the previous slide, until every input knows dL/d(itself).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graph for a 2-input, 2-hidden-unit net, the same tiny MLP you will trace by hand today. Already this involved, and GPT-class models have billions of nodes. Nobody does this by hand: loss.backward() builds and walks the graph for you.</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memorize the derivation; keep the takeaway: at the output, the gradient is simply prediction minus truth. The book walks the rest back node by node (Section 6.6). ReLU (z) = 0 for z &lt; 0, 1 for z 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Zero_grad → forward → loss → backward → step. This shape recurs all term, even for Transformers.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we need models that read in sequence, RNNs &amp; LSTMs, next class.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 which is next class's problem.</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pretrained when labeled data is scarce; learning from scratch pays off with plenty of data. In the exercise we learn the table from scratch, gradients flow all the way back to it. Same object either way: a table of parameters, and backprop updates its rows every step.</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flexible net can memorize the training set; dropout, weight decay, and early stopping fight back. Always hold out a validation set, it is your early-warning system for overfitting.</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in the four TODOs, average embeddings, the MLP forward pass, and the five-line training loop.</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falls to ~0 and the tiny separable set is fit perfectly, your first neural NLP classifier. Seeded run (torch.manual_seed(0)), everyone in the room gets the same numbers.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Neuron + nonlinearity → MLP; learn by gradient descent on a loss; the training loop is universal.</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W5C1.</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model order and long-range structure we need RNNs and LSTMs, next class, plus Quiz 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4, Class 1</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749758" y="1078992"/>
            <a:ext cx="76444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SLP3 (Jan 2026 draft) Figs. 6.5, 6.8, 6.17; whiteboard photo Unsplash License; original figure + seeded example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week's classifier is one straight cut</a:t>
            </a:r>
          </a:p>
        </p:txBody>
      </p:sp>
      <p:pic>
        <p:nvPicPr>
          <p:cNvPr id="5" name="Picture 4" descr="Last week's classifier is one straight cut"/>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go neural?</a:t>
            </a:r>
          </a:p>
        </p:txBody>
      </p:sp>
      <p:pic>
        <p:nvPicPr>
          <p:cNvPr id="5" name="Picture 4" descr="Why go neural?"/>
          <p:cNvPicPr>
            <a:picLocks noChangeAspect="1"/>
          </p:cNvPicPr>
          <p:nvPr/>
        </p:nvPicPr>
        <p:blipFill>
          <a:blip r:embed="rId3"/>
          <a:stretch>
            <a:fillRect/>
          </a:stretch>
        </p:blipFill>
        <p:spPr>
          <a:xfrm>
            <a:off x="1118018" y="1078992"/>
            <a:ext cx="69079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fix: transform the space first</a:t>
            </a:r>
          </a:p>
        </p:txBody>
      </p:sp>
      <p:pic>
        <p:nvPicPr>
          <p:cNvPr id="5" name="Picture 4" descr="The fix: transform the space first"/>
          <p:cNvPicPr>
            <a:picLocks noChangeAspect="1"/>
          </p:cNvPicPr>
          <p:nvPr/>
        </p:nvPicPr>
        <p:blipFill>
          <a:blip r:embed="rId3"/>
          <a:stretch>
            <a:fillRect/>
          </a:stretch>
        </p:blipFill>
        <p:spPr>
          <a:xfrm>
            <a:off x="1806176" y="1078992"/>
            <a:ext cx="5531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6.7 (after Goodfellow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The neuron"/>
          <p:cNvPicPr>
            <a:picLocks noChangeAspect="1"/>
          </p:cNvPicPr>
          <p:nvPr/>
        </p:nvPicPr>
        <p:blipFill>
          <a:blip r:embed="rId3"/>
          <a:stretch>
            <a:fillRect/>
          </a:stretch>
        </p:blipFill>
        <p:spPr>
          <a:xfrm>
            <a:off x="274320" y="1462813"/>
            <a:ext cx="8595360" cy="28213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old that thought as we stack neurons into layer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One artificial neuron is almost nothing. Why do millions of them learn so much?</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Hold that thought as we stack neurons into layers.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https://images.unsplash.com/photo-1507413245164-6160d8298b31</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Stacking neurons into an MLP"/>
          <p:cNvPicPr>
            <a:picLocks noChangeAspect="1"/>
          </p:cNvPicPr>
          <p:nvPr/>
        </p:nvPicPr>
        <p:blipFill>
          <a:blip r:embed="rId3"/>
          <a:stretch>
            <a:fillRect/>
          </a:stretch>
        </p:blipFill>
        <p:spPr>
          <a:xfrm>
            <a:off x="274320" y="1400493"/>
            <a:ext cx="8595360" cy="29460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Activations: why nonlinearity matters"/>
          <p:cNvPicPr>
            <a:picLocks noChangeAspect="1"/>
          </p:cNvPicPr>
          <p:nvPr/>
        </p:nvPicPr>
        <p:blipFill>
          <a:blip r:embed="rId3"/>
          <a:stretch>
            <a:fillRect/>
          </a:stretch>
        </p:blipFill>
        <p:spPr>
          <a:xfrm>
            <a:off x="274320" y="1553980"/>
            <a:ext cx="8595360" cy="26390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output layer</a:t>
            </a:r>
          </a:p>
        </p:txBody>
      </p:sp>
      <p:pic>
        <p:nvPicPr>
          <p:cNvPr id="5" name="Picture 4" descr="The output layer"/>
          <p:cNvPicPr>
            <a:picLocks noChangeAspect="1"/>
          </p:cNvPicPr>
          <p:nvPr/>
        </p:nvPicPr>
        <p:blipFill>
          <a:blip r:embed="rId3"/>
          <a:stretch>
            <a:fillRect/>
          </a:stretch>
        </p:blipFill>
        <p:spPr>
          <a:xfrm>
            <a:off x="1198509" y="1078992"/>
            <a:ext cx="67469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The whole network, in three equations"/>
          <p:cNvPicPr>
            <a:picLocks noChangeAspect="1"/>
          </p:cNvPicPr>
          <p:nvPr/>
        </p:nvPicPr>
        <p:blipFill>
          <a:blip r:embed="rId3"/>
          <a:stretch>
            <a:fillRect/>
          </a:stretch>
        </p:blipFill>
        <p:spPr>
          <a:xfrm>
            <a:off x="274320" y="1097351"/>
            <a:ext cx="8595360" cy="3552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nets learn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loss: how wrong are we?</a:t>
            </a:r>
          </a:p>
        </p:txBody>
      </p:sp>
      <p:pic>
        <p:nvPicPr>
          <p:cNvPr id="5" name="Picture 4" descr="The loss: how wrong are we?"/>
          <p:cNvPicPr>
            <a:picLocks noChangeAspect="1"/>
          </p:cNvPicPr>
          <p:nvPr/>
        </p:nvPicPr>
        <p:blipFill>
          <a:blip r:embed="rId3"/>
          <a:stretch>
            <a:fillRect/>
          </a:stretch>
        </p:blipFill>
        <p:spPr>
          <a:xfrm>
            <a:off x="939739" y="1078992"/>
            <a:ext cx="72645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minute of calculus: the chain rule</a:t>
            </a:r>
          </a:p>
        </p:txBody>
      </p:sp>
      <p:pic>
        <p:nvPicPr>
          <p:cNvPr id="5" name="Picture 4" descr="One minute of calculus: the chain rule"/>
          <p:cNvPicPr>
            <a:picLocks noChangeAspect="1"/>
          </p:cNvPicPr>
          <p:nvPr/>
        </p:nvPicPr>
        <p:blipFill>
          <a:blip r:embed="rId3"/>
          <a:stretch>
            <a:fillRect/>
          </a:stretch>
        </p:blipFill>
        <p:spPr>
          <a:xfrm>
            <a:off x="274320" y="1784514"/>
            <a:ext cx="8595360" cy="21779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6.31-6.32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Computation graphs: the forward pass</a:t>
            </a:r>
          </a:p>
        </p:txBody>
      </p:sp>
      <p:pic>
        <p:nvPicPr>
          <p:cNvPr id="5" name="Picture 4" descr="Computation graphs: the forward pass"/>
          <p:cNvPicPr>
            <a:picLocks noChangeAspect="1"/>
          </p:cNvPicPr>
          <p:nvPr/>
        </p:nvPicPr>
        <p:blipFill>
          <a:blip r:embed="rId3"/>
          <a:stretch>
            <a:fillRect/>
          </a:stretch>
        </p:blipFill>
        <p:spPr>
          <a:xfrm>
            <a:off x="322075" y="1078992"/>
            <a:ext cx="84998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node's job: the chain rule</a:t>
            </a:r>
          </a:p>
        </p:txBody>
      </p:sp>
      <p:pic>
        <p:nvPicPr>
          <p:cNvPr id="5" name="Picture 4" descr="One node's job: the chain rule"/>
          <p:cNvPicPr>
            <a:picLocks noChangeAspect="1"/>
          </p:cNvPicPr>
          <p:nvPr/>
        </p:nvPicPr>
        <p:blipFill>
          <a:blip r:embed="rId3"/>
          <a:stretch>
            <a:fillRect/>
          </a:stretch>
        </p:blipFill>
        <p:spPr>
          <a:xfrm>
            <a:off x="274320" y="1085384"/>
            <a:ext cx="8595360" cy="357623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Working out all three gradients</a:t>
            </a:r>
          </a:p>
        </p:txBody>
      </p:sp>
      <p:pic>
        <p:nvPicPr>
          <p:cNvPr id="5" name="Picture 4" descr="Working out all three gradients"/>
          <p:cNvPicPr>
            <a:picLocks noChangeAspect="1"/>
          </p:cNvPicPr>
          <p:nvPr/>
        </p:nvPicPr>
        <p:blipFill>
          <a:blip r:embed="rId3"/>
          <a:stretch>
            <a:fillRect/>
          </a:stretch>
        </p:blipFill>
        <p:spPr>
          <a:xfrm>
            <a:off x="310455" y="1078992"/>
            <a:ext cx="85230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6.33-6.34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Backpropagation: the backward pass</a:t>
            </a:r>
          </a:p>
        </p:txBody>
      </p:sp>
      <p:pic>
        <p:nvPicPr>
          <p:cNvPr id="5" name="Picture 4" descr="Backpropagation: the backward pass"/>
          <p:cNvPicPr>
            <a:picLocks noChangeAspect="1"/>
          </p:cNvPicPr>
          <p:nvPr/>
        </p:nvPicPr>
        <p:blipFill>
          <a:blip r:embed="rId3"/>
          <a:stretch>
            <a:fillRect/>
          </a:stretch>
        </p:blipFill>
        <p:spPr>
          <a:xfrm>
            <a:off x="1129532" y="1078992"/>
            <a:ext cx="688493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scale that to a real network</a:t>
            </a:r>
          </a:p>
        </p:txBody>
      </p:sp>
      <p:pic>
        <p:nvPicPr>
          <p:cNvPr id="5" name="Picture 4" descr="Now scale that to a real network"/>
          <p:cNvPicPr>
            <a:picLocks noChangeAspect="1"/>
          </p:cNvPicPr>
          <p:nvPr/>
        </p:nvPicPr>
        <p:blipFill>
          <a:blip r:embed="rId3"/>
          <a:stretch>
            <a:fillRect/>
          </a:stretch>
        </p:blipFill>
        <p:spPr>
          <a:xfrm>
            <a:off x="1829591" y="1078992"/>
            <a:ext cx="54848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behind that graph (for reference)</a:t>
            </a:r>
          </a:p>
        </p:txBody>
      </p:sp>
      <p:pic>
        <p:nvPicPr>
          <p:cNvPr id="5" name="Picture 4" descr="The math behind that graph (for reference)"/>
          <p:cNvPicPr>
            <a:picLocks noChangeAspect="1"/>
          </p:cNvPicPr>
          <p:nvPr/>
        </p:nvPicPr>
        <p:blipFill>
          <a:blip r:embed="rId3"/>
          <a:stretch>
            <a:fillRect/>
          </a:stretch>
        </p:blipFill>
        <p:spPr>
          <a:xfrm>
            <a:off x="769065" y="1078992"/>
            <a:ext cx="7605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6.35-6.43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training loop</a:t>
            </a:r>
          </a:p>
        </p:txBody>
      </p:sp>
      <p:pic>
        <p:nvPicPr>
          <p:cNvPr id="5" name="Picture 4" descr="The training loop"/>
          <p:cNvPicPr>
            <a:picLocks noChangeAspect="1"/>
          </p:cNvPicPr>
          <p:nvPr/>
        </p:nvPicPr>
        <p:blipFill>
          <a:blip r:embed="rId3"/>
          <a:stretch>
            <a:fillRect/>
          </a:stretch>
        </p:blipFill>
        <p:spPr>
          <a:xfrm>
            <a:off x="647624" y="1078992"/>
            <a:ext cx="7848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Neural NLP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What pooling throws away"/>
          <p:cNvPicPr>
            <a:picLocks noChangeAspect="1"/>
          </p:cNvPicPr>
          <p:nvPr/>
        </p:nvPicPr>
        <p:blipFill>
          <a:blip r:embed="rId3"/>
          <a:stretch>
            <a:fillRect/>
          </a:stretch>
        </p:blipFill>
        <p:spPr>
          <a:xfrm>
            <a:off x="274320" y="1226180"/>
            <a:ext cx="8595360" cy="32946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Embeddings: pretrained or learned?</a:t>
            </a:r>
          </a:p>
        </p:txBody>
      </p:sp>
      <p:pic>
        <p:nvPicPr>
          <p:cNvPr id="5" name="Picture 4" descr="Embeddings: pretrained or learned?"/>
          <p:cNvPicPr>
            <a:picLocks noChangeAspect="1"/>
          </p:cNvPicPr>
          <p:nvPr/>
        </p:nvPicPr>
        <p:blipFill>
          <a:blip r:embed="rId3"/>
          <a:stretch>
            <a:fillRect/>
          </a:stretch>
        </p:blipFill>
        <p:spPr>
          <a:xfrm>
            <a:off x="274320" y="1352710"/>
            <a:ext cx="8595360" cy="30415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Overfitting &amp; regularization</a:t>
            </a:r>
          </a:p>
        </p:txBody>
      </p:sp>
      <p:pic>
        <p:nvPicPr>
          <p:cNvPr id="5" name="Picture 4" descr="Overfitting &amp; regularization"/>
          <p:cNvPicPr>
            <a:picLocks noChangeAspect="1"/>
          </p:cNvPicPr>
          <p:nvPr/>
        </p:nvPicPr>
        <p:blipFill>
          <a:blip r:embed="rId3"/>
          <a:stretch>
            <a:fillRect/>
          </a:stretch>
        </p:blipFill>
        <p:spPr>
          <a:xfrm>
            <a:off x="727175" y="1078992"/>
            <a:ext cx="76896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 MLP sentiment classifier</a:t>
            </a:r>
          </a:p>
        </p:txBody>
      </p:sp>
      <p:pic>
        <p:nvPicPr>
          <p:cNvPr id="5" name="Picture 4" descr="An MLP sentiment classifier"/>
          <p:cNvPicPr>
            <a:picLocks noChangeAspect="1"/>
          </p:cNvPicPr>
          <p:nvPr/>
        </p:nvPicPr>
        <p:blipFill>
          <a:blip r:embed="rId3"/>
          <a:stretch>
            <a:fillRect/>
          </a:stretch>
        </p:blipFill>
        <p:spPr>
          <a:xfrm>
            <a:off x="1673379" y="1078992"/>
            <a:ext cx="57972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12839" y="1078992"/>
            <a:ext cx="7718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seeded (torch.manual_seed(0))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3900" y="1078992"/>
            <a:ext cx="7696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ading &amp; homework"/>
          <p:cNvPicPr>
            <a:picLocks noChangeAspect="1"/>
          </p:cNvPicPr>
          <p:nvPr/>
        </p:nvPicPr>
        <p:blipFill>
          <a:blip r:embed="rId3"/>
          <a:stretch>
            <a:fillRect/>
          </a:stretch>
        </p:blipFill>
        <p:spPr>
          <a:xfrm>
            <a:off x="289647" y="1078992"/>
            <a:ext cx="85647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Next class</a:t>
            </a:r>
          </a:p>
        </p:txBody>
      </p:sp>
      <p:pic>
        <p:nvPicPr>
          <p:cNvPr id="5" name="Picture 4" descr="Next class"/>
          <p:cNvPicPr>
            <a:picLocks noChangeAspect="1"/>
          </p:cNvPicPr>
          <p:nvPr/>
        </p:nvPicPr>
        <p:blipFill>
          <a:blip r:embed="rId3"/>
          <a:stretch>
            <a:fillRect/>
          </a:stretch>
        </p:blipFill>
        <p:spPr>
          <a:xfrm>
            <a:off x="274320" y="2169992"/>
            <a:ext cx="8595360" cy="1407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