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 Id="rId57"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Cajal drew the cortex by hand in 1899: layers of tiny units, all wired to each other. Ask the class what survives when we shrink one of those cells down to w·x + b.</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linear models to MLPs, how nets learn, then build an MLP text classifier in PyTorch.</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Logistic regression's boundary w·x + b = 0 is a single straight line, however you train it. Search every orientation and the best line still gets 8 of these 24 points wrong; one closed curve gets none. The next slide shows the smallest version of the same problem, XOR. This is why a hidden layer exists. Stacking straight cuts buys you a boundary that bends.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cleanest counterexample: XOR. AND and OR fall to one line; for XOR no straight cut exists (this sank the perceptron, Minsky &amp; Papert 1969). Text is full of XORs: "not bad" flips the label of "bad".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tiny hidden layer maps x-space into a new h-space where (0,1) and (1,0) land on the same point, and XOR becomes one straight cut again. Nonlinear transform, then a linear cut: that is the whole trick.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unit computes z = w·x + b, then a nonlinear activation a = g(z). Logistic regression is one neuron with g = sigmoid. X = input features (e.g. an averaged word embedding); w, b are learned; g = ReLU / tanh / sigmoid.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guess or two. A single neuron is a weighted sum and a squash, and on its own it can only draw a straight line. The answer is not that one neuron is clever, it is what stacking and bending buys you, which is the next few slides.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2-layer feedforward net and its math, side by side: W and U are the weight matrices, the gray +1 node carries the biases b, and each layer is one line of algebra. The worked softmax shows score 3.2 grabbing 74% of the probability.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Sigmoid, tanh, and ReLU. Without a nonlinearity, stacked linear layers collapse to one linear layer. ReLU is the modern default: no saturation for z &gt; 0 and trivially cheap to compute.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Softmax turns K logits into a probability distribution; the largest probability is the prediction. Scores become probabilities that sum to 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Bookmark this slide: every feedforward classifier this term is these three lines. The book writes sigma for ANY activation (sigmoid, tanh, ReLU).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Cross-entropy is small when the true class's predicted probability is high, large when it is low. Training = nudge weights to push the true class's probability up.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First the mechanics, because the animation assumes them: the gradient points uphill, so you step the opposite way, and the learning rate sets how far. Steps shrink on their own as the slope flattens, which is why the balls slow down near the bottom. Now the point of the picture. Both runs are the same algorithm on the same surface, and they start a third of a unit apart. One ends in the deep well at loss -3.04, the other in the shallow one at -1.67 and cannot get out, because every direction out of it is uphill and uphill is the one direction gradient descent will not go. So the honest summary is that gradient descent finds A minimum, not THE minimum, and which one depends on where the weights happened to be initialised. Do add the caveat if it comes up, because the naive version of this scares people: in the millions of dimensions a real network has, bad local minima turn out to be rare, saddle points are the more common obstacle, and the minima that SGD actually reaches tend to have similar loss to one another. This two-dimensional picture is the right intuition for what the algorithm can and cannot do, not a warning that training is a lottery.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Nested functions change at multiplied rates. Backprop needs nothing deeper than this. Rates along a chain multiply. That single fact is the engine of backpropagation.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Any formula becomes a graph of tiny steps. L(a,b,c) = c(a + 2b) breaks into d = 2b, then e = a + d, then L = ce; with a = 3, b = 1, c = -2 the values flow left to right and L = -10.</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node multiplies the gradient arriving from upstream by its own local gradient and passes the product downstream: dL/dd = (dL/de)(de/dd). That is ALL backpropagation ever does, node by node.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local gradients, then multiply along each path back from L. Keep these numbers in mind: the next slide is the same computation drawn on the graph.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graph, run right to left. Follow any red value: it is the upstream gradient times a local one, exactly the rule from the previous slide, until every input knows dL/d(itself).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graph for a 2-input, 2-hidden-unit net, the same tiny MLP you will trace by hand today. Already this involved, and GPT-class models have billions of nodes. Nobody does this by hand: loss.backward() builds and walks the graph for you.</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Don't memorize the derivation; keep the takeaway: at the output, the gradient is simply prediction minus truth. The book walks the rest back node by node (Section 6.6). ReLU (z) = 0 for z &lt; 0, 1 for z 0.</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Zero_grad → forward → loss → backward → step. This shape recurs all term, even for Transformers.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word's one-hot picks its row of the shared embedding matrix E; pooling (mean or sum) squeezes the N embeddings into one input vector. Fast, cheap, and a surprisingly strong baseline (Iyyer et al. 2015).</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previous slide said each word's one-hot picks its row of E. This is that sentence as a picture, because it is the step students most often take on faith. E is the embedding table: one row per vocabulary word, so it is |V| rows by d columns, and in a real model that is something like 50,000 by 300. To embed the word film, write it as a one-hot vector of length |V|, all zeros except a 1 in film's position, and multiply. Every other row gets multiplied by zero and vanishes, so what comes out is exactly row film, and nothing else in E contributed. Two things follow, and they are the reason this slide exists. First, no framework actually does that multiply: it is a table lookup by index, which is what nn.Embedding is, and the one-hot is just the notation for it. Second, E is made of ordinary parameters, so backprop updates the rows of the words that appeared in the batch, which is what "learning the embeddings" means on the slide two ahead.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"dog bites man" and "man bites dog" give the same averaged vector, word order is lost. To capture order, negation scope and syntax, we need models that read in sequence, RNNs &amp; LSTMs, next class.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feedforward language model concatenates the context embeddings side by side, so each position keeps its identity, and predicts the next word. The catch: the window is stuck at N words, which is next class's problem.</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pretrained when labeled data is scarce; learning from scratch pays off with plenty of data. In the exercise we learn the table from scratch, gradients flow all the way back to it. Same object either way: a table of parameters, and backprop updates its rows every step.</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flexible net can memorize the training set; dropout, weight decay, and early stopping fight back. Always hold out a validation set, it is your early-warning system for overfitting.</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Fill in the four TODOs, average embeddings, the MLP forward pass, and the five-line training loop.</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falls to ~0 and the tiny separable set is fit perfectly, your first neural NLP classifier. Seeded run (torch.manual_seed(0)), everyone in the room gets the same numbers.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Neuron + nonlinearity → MLP; learn by gradient descent on a loss; the training loop is universal.</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seq2seq (Sutskever, Vinyals &amp; Le, 2014), the only quizzed reading. J&amp;M Ch. 6 &amp; 13 are optional. HW2 is out today, due W5C1.</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model order and long-range structure we need RNNs and LSTMs, next class, plus Quiz 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Neural Networks for NLP</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4, Class 1  ·  Wed Sep 16, 2026</a:t>
            </a:r>
          </a:p>
        </p:txBody>
      </p:sp>
      <p:pic>
        <p:nvPicPr>
          <p:cNvPr id="5" name="Picture 4" descr="Neural Networks for NLP"/>
          <p:cNvPicPr>
            <a:picLocks noChangeAspect="1"/>
          </p:cNvPicPr>
          <p:nvPr/>
        </p:nvPicPr>
        <p:blipFill>
          <a:blip r:embed="rId3"/>
          <a:stretch>
            <a:fillRect/>
          </a:stretch>
        </p:blipFill>
        <p:spPr>
          <a:xfrm>
            <a:off x="6035040" y="3549995"/>
            <a:ext cx="2743200" cy="13307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Santiago Ramon y Cajal (1899), detail,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Today's roadmap"/>
          <p:cNvPicPr>
            <a:picLocks noChangeAspect="1"/>
          </p:cNvPicPr>
          <p:nvPr/>
        </p:nvPicPr>
        <p:blipFill>
          <a:blip r:embed="rId3"/>
          <a:stretch>
            <a:fillRect/>
          </a:stretch>
        </p:blipFill>
        <p:spPr>
          <a:xfrm>
            <a:off x="749758" y="1078992"/>
            <a:ext cx="76444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SLP3 (Jan 2026 draft) Figs. 6.5, 6.8, 6.17; whiteboard photo Unsplash License; original figure + seeded example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Foundations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Last week's classifier is one straight cut</a:t>
            </a:r>
          </a:p>
        </p:txBody>
      </p:sp>
      <p:pic>
        <p:nvPicPr>
          <p:cNvPr id="5" name="Picture 4" descr="Last week's classifier is one straight cut"/>
          <p:cNvPicPr>
            <a:picLocks noChangeAspect="1"/>
          </p:cNvPicPr>
          <p:nvPr/>
        </p:nvPicPr>
        <p:blipFill>
          <a:blip r:embed="rId3"/>
          <a:stretch>
            <a:fillRect/>
          </a:stretch>
        </p:blipFill>
        <p:spPr>
          <a:xfrm>
            <a:off x="453830" y="1078992"/>
            <a:ext cx="82363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go neural?</a:t>
            </a:r>
          </a:p>
        </p:txBody>
      </p:sp>
      <p:pic>
        <p:nvPicPr>
          <p:cNvPr id="5" name="Picture 4" descr="Why go neural?"/>
          <p:cNvPicPr>
            <a:picLocks noChangeAspect="1"/>
          </p:cNvPicPr>
          <p:nvPr/>
        </p:nvPicPr>
        <p:blipFill>
          <a:blip r:embed="rId3"/>
          <a:stretch>
            <a:fillRect/>
          </a:stretch>
        </p:blipFill>
        <p:spPr>
          <a:xfrm>
            <a:off x="1118018" y="1078992"/>
            <a:ext cx="69079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fix: transform the space first</a:t>
            </a:r>
          </a:p>
        </p:txBody>
      </p:sp>
      <p:pic>
        <p:nvPicPr>
          <p:cNvPr id="5" name="Picture 4" descr="The fix: transform the space first"/>
          <p:cNvPicPr>
            <a:picLocks noChangeAspect="1"/>
          </p:cNvPicPr>
          <p:nvPr/>
        </p:nvPicPr>
        <p:blipFill>
          <a:blip r:embed="rId3"/>
          <a:stretch>
            <a:fillRect/>
          </a:stretch>
        </p:blipFill>
        <p:spPr>
          <a:xfrm>
            <a:off x="1806176" y="1078992"/>
            <a:ext cx="5531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6.7 (after Goodfellow et al.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neuron</a:t>
            </a:r>
          </a:p>
        </p:txBody>
      </p:sp>
      <p:pic>
        <p:nvPicPr>
          <p:cNvPr id="5" name="Picture 4" descr="The neuron"/>
          <p:cNvPicPr>
            <a:picLocks noChangeAspect="1"/>
          </p:cNvPicPr>
          <p:nvPr/>
        </p:nvPicPr>
        <p:blipFill>
          <a:blip r:embed="rId3"/>
          <a:stretch>
            <a:fillRect/>
          </a:stretch>
        </p:blipFill>
        <p:spPr>
          <a:xfrm>
            <a:off x="274320" y="1462813"/>
            <a:ext cx="8595360" cy="28213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old that thought as we stack neurons into layer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One artificial neuron is almost nothing. Why do millions of them learn so much?</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Hold that thought as we stack neurons into layers.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https://images.unsplash.com/photo-1507413245164-6160d8298b31</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Stacking neurons into an MLP</a:t>
            </a:r>
          </a:p>
        </p:txBody>
      </p:sp>
      <p:pic>
        <p:nvPicPr>
          <p:cNvPr id="5" name="Picture 4" descr="Stacking neurons into an MLP"/>
          <p:cNvPicPr>
            <a:picLocks noChangeAspect="1"/>
          </p:cNvPicPr>
          <p:nvPr/>
        </p:nvPicPr>
        <p:blipFill>
          <a:blip r:embed="rId3"/>
          <a:stretch>
            <a:fillRect/>
          </a:stretch>
        </p:blipFill>
        <p:spPr>
          <a:xfrm>
            <a:off x="274320" y="1400493"/>
            <a:ext cx="8595360" cy="294601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6.8, Eqs. 6.8-6.11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Activations: why nonlinearity matters</a:t>
            </a:r>
          </a:p>
        </p:txBody>
      </p:sp>
      <p:pic>
        <p:nvPicPr>
          <p:cNvPr id="5" name="Picture 4" descr="Activations: why nonlinearity matters"/>
          <p:cNvPicPr>
            <a:picLocks noChangeAspect="1"/>
          </p:cNvPicPr>
          <p:nvPr/>
        </p:nvPicPr>
        <p:blipFill>
          <a:blip r:embed="rId3"/>
          <a:stretch>
            <a:fillRect/>
          </a:stretch>
        </p:blipFill>
        <p:spPr>
          <a:xfrm>
            <a:off x="274320" y="1553980"/>
            <a:ext cx="8595360" cy="26390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output layer</a:t>
            </a:r>
          </a:p>
        </p:txBody>
      </p:sp>
      <p:pic>
        <p:nvPicPr>
          <p:cNvPr id="5" name="Picture 4" descr="The output layer"/>
          <p:cNvPicPr>
            <a:picLocks noChangeAspect="1"/>
          </p:cNvPicPr>
          <p:nvPr/>
        </p:nvPicPr>
        <p:blipFill>
          <a:blip r:embed="rId3"/>
          <a:stretch>
            <a:fillRect/>
          </a:stretch>
        </p:blipFill>
        <p:spPr>
          <a:xfrm>
            <a:off x="1198509" y="1078992"/>
            <a:ext cx="67469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network, in three equations</a:t>
            </a:r>
          </a:p>
        </p:txBody>
      </p:sp>
      <p:pic>
        <p:nvPicPr>
          <p:cNvPr id="5" name="Picture 4" descr="The whole network, in three equations"/>
          <p:cNvPicPr>
            <a:picLocks noChangeAspect="1"/>
          </p:cNvPicPr>
          <p:nvPr/>
        </p:nvPicPr>
        <p:blipFill>
          <a:blip r:embed="rId3"/>
          <a:stretch>
            <a:fillRect/>
          </a:stretch>
        </p:blipFill>
        <p:spPr>
          <a:xfrm>
            <a:off x="274320" y="1097351"/>
            <a:ext cx="8595360" cy="3552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 6.12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nets learn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loss: how wrong are we?</a:t>
            </a:r>
          </a:p>
        </p:txBody>
      </p:sp>
      <p:pic>
        <p:nvPicPr>
          <p:cNvPr id="5" name="Picture 4" descr="The loss: how wrong are we?"/>
          <p:cNvPicPr>
            <a:picLocks noChangeAspect="1"/>
          </p:cNvPicPr>
          <p:nvPr/>
        </p:nvPicPr>
        <p:blipFill>
          <a:blip r:embed="rId3"/>
          <a:stretch>
            <a:fillRect/>
          </a:stretch>
        </p:blipFill>
        <p:spPr>
          <a:xfrm>
            <a:off x="939739" y="1078992"/>
            <a:ext cx="72645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Gradient descent</a:t>
            </a:r>
          </a:p>
        </p:txBody>
      </p:sp>
      <p:pic>
        <p:nvPicPr>
          <p:cNvPr id="5" name="Picture 4" descr="Gradient descent"/>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scripts/viz/make_nonconvex_gif.py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minute of calculus: the chain rule</a:t>
            </a:r>
          </a:p>
        </p:txBody>
      </p:sp>
      <p:pic>
        <p:nvPicPr>
          <p:cNvPr id="5" name="Picture 4" descr="One minute of calculus: the chain rule"/>
          <p:cNvPicPr>
            <a:picLocks noChangeAspect="1"/>
          </p:cNvPicPr>
          <p:nvPr/>
        </p:nvPicPr>
        <p:blipFill>
          <a:blip r:embed="rId3"/>
          <a:stretch>
            <a:fillRect/>
          </a:stretch>
        </p:blipFill>
        <p:spPr>
          <a:xfrm>
            <a:off x="274320" y="1784514"/>
            <a:ext cx="8595360" cy="21779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6.31-6.32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Computation graphs: the forward pass</a:t>
            </a:r>
          </a:p>
        </p:txBody>
      </p:sp>
      <p:pic>
        <p:nvPicPr>
          <p:cNvPr id="5" name="Picture 4" descr="Computation graphs: the forward pass"/>
          <p:cNvPicPr>
            <a:picLocks noChangeAspect="1"/>
          </p:cNvPicPr>
          <p:nvPr/>
        </p:nvPicPr>
        <p:blipFill>
          <a:blip r:embed="rId3"/>
          <a:stretch>
            <a:fillRect/>
          </a:stretch>
        </p:blipFill>
        <p:spPr>
          <a:xfrm>
            <a:off x="322075" y="1078992"/>
            <a:ext cx="84998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node's job: the chain rule</a:t>
            </a:r>
          </a:p>
        </p:txBody>
      </p:sp>
      <p:pic>
        <p:nvPicPr>
          <p:cNvPr id="5" name="Picture 4" descr="One node's job: the chain rule"/>
          <p:cNvPicPr>
            <a:picLocks noChangeAspect="1"/>
          </p:cNvPicPr>
          <p:nvPr/>
        </p:nvPicPr>
        <p:blipFill>
          <a:blip r:embed="rId3"/>
          <a:stretch>
            <a:fillRect/>
          </a:stretch>
        </p:blipFill>
        <p:spPr>
          <a:xfrm>
            <a:off x="274320" y="1085384"/>
            <a:ext cx="8595360" cy="357623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Working out all three gradients</a:t>
            </a:r>
          </a:p>
        </p:txBody>
      </p:sp>
      <p:pic>
        <p:nvPicPr>
          <p:cNvPr id="5" name="Picture 4" descr="Working out all three gradients"/>
          <p:cNvPicPr>
            <a:picLocks noChangeAspect="1"/>
          </p:cNvPicPr>
          <p:nvPr/>
        </p:nvPicPr>
        <p:blipFill>
          <a:blip r:embed="rId3"/>
          <a:stretch>
            <a:fillRect/>
          </a:stretch>
        </p:blipFill>
        <p:spPr>
          <a:xfrm>
            <a:off x="310455" y="1078992"/>
            <a:ext cx="85230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6.33-6.34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Backpropagation: the backward pass</a:t>
            </a:r>
          </a:p>
        </p:txBody>
      </p:sp>
      <p:pic>
        <p:nvPicPr>
          <p:cNvPr id="5" name="Picture 4" descr="Backpropagation: the backward pass"/>
          <p:cNvPicPr>
            <a:picLocks noChangeAspect="1"/>
          </p:cNvPicPr>
          <p:nvPr/>
        </p:nvPicPr>
        <p:blipFill>
          <a:blip r:embed="rId3"/>
          <a:stretch>
            <a:fillRect/>
          </a:stretch>
        </p:blipFill>
        <p:spPr>
          <a:xfrm>
            <a:off x="1129532" y="1078992"/>
            <a:ext cx="688493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scale that to a real network</a:t>
            </a:r>
          </a:p>
        </p:txBody>
      </p:sp>
      <p:pic>
        <p:nvPicPr>
          <p:cNvPr id="5" name="Picture 4" descr="Now scale that to a real network"/>
          <p:cNvPicPr>
            <a:picLocks noChangeAspect="1"/>
          </p:cNvPicPr>
          <p:nvPr/>
        </p:nvPicPr>
        <p:blipFill>
          <a:blip r:embed="rId3"/>
          <a:stretch>
            <a:fillRect/>
          </a:stretch>
        </p:blipFill>
        <p:spPr>
          <a:xfrm>
            <a:off x="1829591" y="1078992"/>
            <a:ext cx="54848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math behind that graph (for reference)</a:t>
            </a:r>
          </a:p>
        </p:txBody>
      </p:sp>
      <p:pic>
        <p:nvPicPr>
          <p:cNvPr id="5" name="Picture 4" descr="The math behind that graph (for reference)"/>
          <p:cNvPicPr>
            <a:picLocks noChangeAspect="1"/>
          </p:cNvPicPr>
          <p:nvPr/>
        </p:nvPicPr>
        <p:blipFill>
          <a:blip r:embed="rId3"/>
          <a:stretch>
            <a:fillRect/>
          </a:stretch>
        </p:blipFill>
        <p:spPr>
          <a:xfrm>
            <a:off x="769065" y="1078992"/>
            <a:ext cx="7605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6.35-6.43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training loop</a:t>
            </a:r>
          </a:p>
        </p:txBody>
      </p:sp>
      <p:pic>
        <p:nvPicPr>
          <p:cNvPr id="5" name="Picture 4" descr="The training loop"/>
          <p:cNvPicPr>
            <a:picLocks noChangeAspect="1"/>
          </p:cNvPicPr>
          <p:nvPr/>
        </p:nvPicPr>
        <p:blipFill>
          <a:blip r:embed="rId3"/>
          <a:stretch>
            <a:fillRect/>
          </a:stretch>
        </p:blipFill>
        <p:spPr>
          <a:xfrm>
            <a:off x="274320" y="1232570"/>
            <a:ext cx="8595360" cy="328186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Neural NLP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text to a vector: pool the embeddings</a:t>
            </a:r>
          </a:p>
        </p:txBody>
      </p:sp>
      <p:pic>
        <p:nvPicPr>
          <p:cNvPr id="5" name="Picture 4" descr="From text to a vector: pool the embeddings"/>
          <p:cNvPicPr>
            <a:picLocks noChangeAspect="1"/>
          </p:cNvPicPr>
          <p:nvPr/>
        </p:nvPicPr>
        <p:blipFill>
          <a:blip r:embed="rId3"/>
          <a:stretch>
            <a:fillRect/>
          </a:stretch>
        </p:blipFill>
        <p:spPr>
          <a:xfrm>
            <a:off x="2578292" y="1078992"/>
            <a:ext cx="39874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word in, one row out</a:t>
            </a:r>
          </a:p>
        </p:txBody>
      </p:sp>
      <p:pic>
        <p:nvPicPr>
          <p:cNvPr id="5" name="Picture 4" descr="One word in, one row out"/>
          <p:cNvPicPr>
            <a:picLocks noChangeAspect="1"/>
          </p:cNvPicPr>
          <p:nvPr/>
        </p:nvPicPr>
        <p:blipFill>
          <a:blip r:embed="rId3"/>
          <a:stretch>
            <a:fillRect/>
          </a:stretch>
        </p:blipFill>
        <p:spPr>
          <a:xfrm>
            <a:off x="274320" y="1198135"/>
            <a:ext cx="8595360" cy="33507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6.8 notation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pooling throws away</a:t>
            </a:r>
          </a:p>
        </p:txBody>
      </p:sp>
      <p:pic>
        <p:nvPicPr>
          <p:cNvPr id="5" name="Picture 4" descr="What pooling throws away"/>
          <p:cNvPicPr>
            <a:picLocks noChangeAspect="1"/>
          </p:cNvPicPr>
          <p:nvPr/>
        </p:nvPicPr>
        <p:blipFill>
          <a:blip r:embed="rId3"/>
          <a:stretch>
            <a:fillRect/>
          </a:stretch>
        </p:blipFill>
        <p:spPr>
          <a:xfrm>
            <a:off x="274320" y="1226180"/>
            <a:ext cx="8595360" cy="329464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Keep the order: concatenate instead</a:t>
            </a:r>
          </a:p>
        </p:txBody>
      </p:sp>
      <p:pic>
        <p:nvPicPr>
          <p:cNvPr id="5" name="Picture 4" descr="Keep the order: concatenate instead"/>
          <p:cNvPicPr>
            <a:picLocks noChangeAspect="1"/>
          </p:cNvPicPr>
          <p:nvPr/>
        </p:nvPicPr>
        <p:blipFill>
          <a:blip r:embed="rId3"/>
          <a:stretch>
            <a:fillRect/>
          </a:stretch>
        </p:blipFill>
        <p:spPr>
          <a:xfrm>
            <a:off x="2737822" y="1078992"/>
            <a:ext cx="3668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Embeddings: pretrained or learned?</a:t>
            </a:r>
          </a:p>
        </p:txBody>
      </p:sp>
      <p:pic>
        <p:nvPicPr>
          <p:cNvPr id="5" name="Picture 4" descr="Embeddings: pretrained or learned?"/>
          <p:cNvPicPr>
            <a:picLocks noChangeAspect="1"/>
          </p:cNvPicPr>
          <p:nvPr/>
        </p:nvPicPr>
        <p:blipFill>
          <a:blip r:embed="rId3"/>
          <a:stretch>
            <a:fillRect/>
          </a:stretch>
        </p:blipFill>
        <p:spPr>
          <a:xfrm>
            <a:off x="274320" y="1352710"/>
            <a:ext cx="8595360" cy="30415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Overfitting &amp; regularization</a:t>
            </a:r>
          </a:p>
        </p:txBody>
      </p:sp>
      <p:pic>
        <p:nvPicPr>
          <p:cNvPr id="5" name="Picture 4" descr="Overfitting &amp; regularization"/>
          <p:cNvPicPr>
            <a:picLocks noChangeAspect="1"/>
          </p:cNvPicPr>
          <p:nvPr/>
        </p:nvPicPr>
        <p:blipFill>
          <a:blip r:embed="rId3"/>
          <a:stretch>
            <a:fillRect/>
          </a:stretch>
        </p:blipFill>
        <p:spPr>
          <a:xfrm>
            <a:off x="727175" y="1078992"/>
            <a:ext cx="76896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MLP classifier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 MLP sentiment classifier</a:t>
            </a:r>
          </a:p>
        </p:txBody>
      </p:sp>
      <p:pic>
        <p:nvPicPr>
          <p:cNvPr id="5" name="Picture 4" descr="An MLP sentiment classifier"/>
          <p:cNvPicPr>
            <a:picLocks noChangeAspect="1"/>
          </p:cNvPicPr>
          <p:nvPr/>
        </p:nvPicPr>
        <p:blipFill>
          <a:blip r:embed="rId3"/>
          <a:stretch>
            <a:fillRect/>
          </a:stretch>
        </p:blipFill>
        <p:spPr>
          <a:xfrm>
            <a:off x="1673379" y="1078992"/>
            <a:ext cx="57972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12839" y="1078992"/>
            <a:ext cx="7718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seeded (torch.manual_seed(0))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23900" y="1078992"/>
            <a:ext cx="7696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homework</a:t>
            </a:r>
          </a:p>
        </p:txBody>
      </p:sp>
      <p:pic>
        <p:nvPicPr>
          <p:cNvPr id="5" name="Picture 4" descr="Reading &amp; homework"/>
          <p:cNvPicPr>
            <a:picLocks noChangeAspect="1"/>
          </p:cNvPicPr>
          <p:nvPr/>
        </p:nvPicPr>
        <p:blipFill>
          <a:blip r:embed="rId3"/>
          <a:stretch>
            <a:fillRect/>
          </a:stretch>
        </p:blipFill>
        <p:spPr>
          <a:xfrm>
            <a:off x="289647" y="1078992"/>
            <a:ext cx="85647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Next class</a:t>
            </a:r>
          </a:p>
        </p:txBody>
      </p:sp>
      <p:pic>
        <p:nvPicPr>
          <p:cNvPr id="5" name="Picture 4" descr="Next class"/>
          <p:cNvPicPr>
            <a:picLocks noChangeAspect="1"/>
          </p:cNvPicPr>
          <p:nvPr/>
        </p:nvPicPr>
        <p:blipFill>
          <a:blip r:embed="rId3"/>
          <a:stretch>
            <a:fillRect/>
          </a:stretch>
        </p:blipFill>
        <p:spPr>
          <a:xfrm>
            <a:off x="274320" y="2169992"/>
            <a:ext cx="8595360" cy="1407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