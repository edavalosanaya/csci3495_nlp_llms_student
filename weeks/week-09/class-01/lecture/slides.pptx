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19"/>
  </p:notesMasterIdLst>
  <p:sldIdLst>
    <p:sldId id="256" r:id="rId2"/>
    <p:sldId id="257" r:id="rId3"/>
    <p:sldId id="275" r:id="rId4"/>
    <p:sldId id="276" r:id="rId5"/>
    <p:sldId id="273" r:id="rId6"/>
    <p:sldId id="277" r:id="rId7"/>
    <p:sldId id="278" r:id="rId8"/>
    <p:sldId id="279" r:id="rId9"/>
    <p:sldId id="286" r:id="rId10"/>
    <p:sldId id="280" r:id="rId11"/>
    <p:sldId id="287" r:id="rId12"/>
    <p:sldId id="282" r:id="rId13"/>
    <p:sldId id="288" r:id="rId14"/>
    <p:sldId id="289" r:id="rId15"/>
    <p:sldId id="283" r:id="rId16"/>
    <p:sldId id="270" r:id="rId17"/>
    <p:sldId id="285" r:id="rId18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0"/>
    </p:embeddedFont>
    <p:embeddedFont>
      <p:font typeface="Playfair Display" pitchFamily="2" charset="77"/>
      <p:regular r:id="rId21"/>
      <p:bold r:id="rId22"/>
      <p:italic r:id="rId23"/>
      <p:boldItalic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  <p:embeddedFont>
      <p:font typeface="Roboto Light" panose="020F0302020204030204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2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523" y="685800"/>
            <a:ext cx="4571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ver Page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390300"/>
            <a:ext cx="91440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l="600" t="43847" r="-600" b="13732"/>
          <a:stretch/>
        </p:blipFill>
        <p:spPr>
          <a:xfrm>
            <a:off x="0" y="-70472"/>
            <a:ext cx="9198797" cy="346077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layfair Display"/>
              <a:buNone/>
              <a:defRPr sz="3600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2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+ 2 Columns">
  <p:cSld name="2_Portfolio Thre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50957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2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3"/>
          </p:nvPr>
        </p:nvSpPr>
        <p:spPr>
          <a:xfrm>
            <a:off x="482712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+ 3 Columns">
  <p:cSld name="1_Slide with Placehol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2"/>
          </p:nvPr>
        </p:nvSpPr>
        <p:spPr>
          <a:xfrm>
            <a:off x="5521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3"/>
          </p:nvPr>
        </p:nvSpPr>
        <p:spPr>
          <a:xfrm>
            <a:off x="33374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4"/>
          </p:nvPr>
        </p:nvSpPr>
        <p:spPr>
          <a:xfrm>
            <a:off x="6160800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ver Slide">
  <p:cSld name="Cover Slid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ver Slide with Logo">
  <p:cSld name="Cover Slide_2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514" y="628706"/>
            <a:ext cx="4936973" cy="3885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Acknowledgments Slide">
  <p:cSld name="Cover Slide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Playfair Display"/>
              <a:buNone/>
              <a:defRPr sz="560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1"/>
          </p:nvPr>
        </p:nvSpPr>
        <p:spPr>
          <a:xfrm>
            <a:off x="509521" y="1401113"/>
            <a:ext cx="5120100" cy="15582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27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Custom Layou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ig Concept Slide">
  <p:cSld name="Slide with Placehol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509577" y="2245519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509577" y="3154509"/>
            <a:ext cx="6737700" cy="953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">
  <p:cSld name="Large Picture with Logo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44" name="Google Shape;44;p10"/>
          <p:cNvPicPr preferRelativeResize="0"/>
          <p:nvPr/>
        </p:nvPicPr>
        <p:blipFill rotWithShape="1">
          <a:blip r:embed="rId2">
            <a:alphaModFix/>
          </a:blip>
          <a:srcRect l="27412" r="6551" b="2009"/>
          <a:stretch/>
        </p:blipFill>
        <p:spPr>
          <a:xfrm>
            <a:off x="7006675" y="-56025"/>
            <a:ext cx="2176574" cy="484604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0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1">
  <p:cSld name="Large Picture with Logo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2">
  <p:cSld name="Large Picture with Logo_1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53" name="Google Shape;53;p12"/>
          <p:cNvPicPr preferRelativeResize="0"/>
          <p:nvPr/>
        </p:nvPicPr>
        <p:blipFill rotWithShape="1">
          <a:blip r:embed="rId2">
            <a:alphaModFix/>
          </a:blip>
          <a:srcRect l="27412" r="6551"/>
          <a:stretch/>
        </p:blipFill>
        <p:spPr>
          <a:xfrm>
            <a:off x="7006675" y="-57150"/>
            <a:ext cx="2137324" cy="485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2"/>
          <p:cNvPicPr preferRelativeResize="0"/>
          <p:nvPr/>
        </p:nvPicPr>
        <p:blipFill rotWithShape="1">
          <a:blip r:embed="rId3">
            <a:alphaModFix/>
          </a:blip>
          <a:srcRect l="8950"/>
          <a:stretch/>
        </p:blipFill>
        <p:spPr>
          <a:xfrm>
            <a:off x="7006665" y="-57150"/>
            <a:ext cx="6633784" cy="485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2"/>
          <p:cNvPicPr preferRelativeResize="0"/>
          <p:nvPr/>
        </p:nvPicPr>
        <p:blipFill rotWithShape="1">
          <a:blip r:embed="rId4">
            <a:alphaModFix/>
          </a:blip>
          <a:srcRect l="39028"/>
          <a:stretch/>
        </p:blipFill>
        <p:spPr>
          <a:xfrm>
            <a:off x="7006676" y="-57150"/>
            <a:ext cx="4442373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2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3">
  <p:cSld name="Large Picture with Logo_1_1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2">
            <a:alphaModFix/>
          </a:blip>
          <a:srcRect l="24210" r="1252"/>
          <a:stretch/>
        </p:blipFill>
        <p:spPr>
          <a:xfrm>
            <a:off x="7006675" y="-57150"/>
            <a:ext cx="5430948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4">
  <p:cSld name="Large Picture with Logo_1_1_1_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2">
            <a:alphaModFix/>
          </a:blip>
          <a:srcRect l="34525"/>
          <a:stretch/>
        </p:blipFill>
        <p:spPr>
          <a:xfrm>
            <a:off x="7010075" y="-57150"/>
            <a:ext cx="2543048" cy="48561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with Large Photo">
  <p:cSld name="3_Placehol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sz="27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2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with Large Photo 1">
  <p:cSld name="3_Placeholder_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sz="27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2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ingle Statistic">
  <p:cSld name="1_Placeholder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454066" y="182433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4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ubTitle" idx="2"/>
          </p:nvPr>
        </p:nvSpPr>
        <p:spPr>
          <a:xfrm>
            <a:off x="454066" y="3127509"/>
            <a:ext cx="8353200" cy="7152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ubTitle" idx="3"/>
          </p:nvPr>
        </p:nvSpPr>
        <p:spPr>
          <a:xfrm>
            <a:off x="4838166" y="1824350"/>
            <a:ext cx="38664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title" idx="4"/>
          </p:nvPr>
        </p:nvSpPr>
        <p:spPr>
          <a:xfrm>
            <a:off x="509577" y="837514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Multiple Statistics">
  <p:cSld name="1_Placeholder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454066" y="75948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ubTitle" idx="2"/>
          </p:nvPr>
        </p:nvSpPr>
        <p:spPr>
          <a:xfrm>
            <a:off x="4759893" y="759488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title" idx="3"/>
          </p:nvPr>
        </p:nvSpPr>
        <p:spPr>
          <a:xfrm>
            <a:off x="454066" y="2037533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ubTitle" idx="4"/>
          </p:nvPr>
        </p:nvSpPr>
        <p:spPr>
          <a:xfrm>
            <a:off x="4759893" y="2037533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title" idx="5"/>
          </p:nvPr>
        </p:nvSpPr>
        <p:spPr>
          <a:xfrm>
            <a:off x="454066" y="343770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subTitle" idx="6"/>
          </p:nvPr>
        </p:nvSpPr>
        <p:spPr>
          <a:xfrm>
            <a:off x="4759893" y="3437709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Quote">
  <p:cSld name="CUSTOM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/>
          <p:nvPr/>
        </p:nvSpPr>
        <p:spPr>
          <a:xfrm>
            <a:off x="5748887" y="1561152"/>
            <a:ext cx="1718100" cy="219300"/>
          </a:xfrm>
          <a:prstGeom prst="rect">
            <a:avLst/>
          </a:prstGeom>
          <a:solidFill>
            <a:srgbClr val="738D33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7467434" y="1561152"/>
            <a:ext cx="1718100" cy="219300"/>
          </a:xfrm>
          <a:prstGeom prst="rect">
            <a:avLst/>
          </a:prstGeom>
          <a:solidFill>
            <a:srgbClr val="625578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9"/>
          <p:cNvSpPr/>
          <p:nvPr/>
        </p:nvSpPr>
        <p:spPr>
          <a:xfrm>
            <a:off x="0" y="1561152"/>
            <a:ext cx="1718100" cy="2193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1718076" y="1561152"/>
            <a:ext cx="1718100" cy="219300"/>
          </a:xfrm>
          <a:prstGeom prst="rect">
            <a:avLst/>
          </a:prstGeom>
          <a:solidFill>
            <a:srgbClr val="498DA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3589051" y="975950"/>
            <a:ext cx="19659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>
                <a:solidFill>
                  <a:srgbClr val="818387"/>
                </a:solidFill>
              </a:rPr>
              <a:t>“</a:t>
            </a:r>
            <a:endParaRPr sz="12000" b="1">
              <a:solidFill>
                <a:srgbClr val="818387"/>
              </a:solidFill>
            </a:endParaRPr>
          </a:p>
        </p:txBody>
      </p:sp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1682308" y="2130769"/>
            <a:ext cx="5779500" cy="19626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2"/>
          </p:nvPr>
        </p:nvSpPr>
        <p:spPr>
          <a:xfrm>
            <a:off x="3300470" y="3999056"/>
            <a:ext cx="2543100" cy="3846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3_Title Slide">
  <p:cSld name="13_Title Sli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>
            <a:spLocks noGrp="1"/>
          </p:cNvSpPr>
          <p:nvPr>
            <p:ph type="pic" idx="2"/>
          </p:nvPr>
        </p:nvSpPr>
        <p:spPr>
          <a:xfrm>
            <a:off x="192505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20"/>
          <p:cNvSpPr>
            <a:spLocks noGrp="1"/>
          </p:cNvSpPr>
          <p:nvPr>
            <p:ph type="pic" idx="3"/>
          </p:nvPr>
        </p:nvSpPr>
        <p:spPr>
          <a:xfrm>
            <a:off x="1997242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0"/>
          <p:cNvSpPr>
            <a:spLocks noGrp="1"/>
          </p:cNvSpPr>
          <p:nvPr>
            <p:ph type="pic" idx="4"/>
          </p:nvPr>
        </p:nvSpPr>
        <p:spPr>
          <a:xfrm>
            <a:off x="3801980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20"/>
          <p:cNvSpPr>
            <a:spLocks noGrp="1"/>
          </p:cNvSpPr>
          <p:nvPr>
            <p:ph type="pic" idx="5"/>
          </p:nvPr>
        </p:nvSpPr>
        <p:spPr>
          <a:xfrm>
            <a:off x="5606716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20"/>
          <p:cNvSpPr>
            <a:spLocks noGrp="1"/>
          </p:cNvSpPr>
          <p:nvPr>
            <p:ph type="pic" idx="6"/>
          </p:nvPr>
        </p:nvSpPr>
        <p:spPr>
          <a:xfrm>
            <a:off x="7411453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ver Page 1">
  <p:cSld name="1_Cover Page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-53437" y="3390300"/>
            <a:ext cx="91974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 rotWithShape="1">
          <a:blip r:embed="rId2">
            <a:alphaModFix/>
          </a:blip>
          <a:srcRect t="43844" r="-563" b="13732"/>
          <a:stretch/>
        </p:blipFill>
        <p:spPr>
          <a:xfrm>
            <a:off x="-53437" y="-70462"/>
            <a:ext cx="9250875" cy="3460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>
            <a:spLocks noGrp="1"/>
          </p:cNvSpPr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00" tIns="25700" rIns="25700" bIns="2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fair Display"/>
              <a:buNone/>
              <a:defRPr sz="3600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subTitle" idx="1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subTitle" idx="2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09577" y="1401113"/>
            <a:ext cx="80058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Roboto"/>
              <a:buNone/>
              <a:defRPr sz="22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8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None/>
              <a:defRPr sz="15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None/>
              <a:defRPr sz="13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1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sz="5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22">
            <a:alphaModFix/>
          </a:blip>
          <a:srcRect t="35296"/>
          <a:stretch/>
        </p:blipFill>
        <p:spPr>
          <a:xfrm>
            <a:off x="0" y="4794384"/>
            <a:ext cx="9144000" cy="34911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dailydoseofds.com/llmops-crash-course-part-4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923" y="976378"/>
            <a:ext cx="4817548" cy="1824300"/>
          </a:xfrm>
        </p:spPr>
        <p:txBody>
          <a:bodyPr wrap="square"/>
          <a:lstStyle/>
          <a:p>
            <a:pPr marL="0" indent="0">
              <a:buNone/>
            </a:pPr>
            <a:r>
              <a:rPr dirty="0"/>
              <a:t>CSCI 3495</a:t>
            </a:r>
          </a:p>
          <a:p>
            <a:pPr marL="0" indent="0">
              <a:buNone/>
            </a:pPr>
            <a:r>
              <a:rPr lang="en-US" dirty="0"/>
              <a:t>The GPT Family and Decoding Strategies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926" y="3549825"/>
            <a:ext cx="6080610" cy="970800"/>
          </a:xfrm>
        </p:spPr>
        <p:txBody>
          <a:bodyPr wrap="square"/>
          <a:lstStyle/>
          <a:p>
            <a:pPr marL="0" indent="0">
              <a:buNone/>
            </a:pPr>
            <a:r>
              <a:t>Natural Language Processing &amp; Large Language Models</a:t>
            </a:r>
          </a:p>
          <a:p>
            <a:pPr marL="0" indent="0">
              <a:buNone/>
            </a:pPr>
            <a:r>
              <a:t>Week 9, Class 1  ·  Mon Oct 19, 2026</a:t>
            </a:r>
          </a:p>
        </p:txBody>
      </p:sp>
      <p:pic>
        <p:nvPicPr>
          <p:cNvPr id="7" name="Picture 6" descr="A cartoon of a person with a mask&#10;&#10;AI-generated content may be incorrect.">
            <a:extLst>
              <a:ext uri="{FF2B5EF4-FFF2-40B4-BE49-F238E27FC236}">
                <a16:creationId xmlns:a16="http://schemas.microsoft.com/office/drawing/2014/main" id="{EFC53005-A17C-A79F-6A15-7AA0E636E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1471" y="1225740"/>
            <a:ext cx="3697350" cy="19495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rPr lang="en-US" dirty="0"/>
              <a:t>POP QUIZ: Which is which (BERT, GPT)?</a:t>
            </a:r>
            <a:endParaRPr dirty="0"/>
          </a:p>
        </p:txBody>
      </p:sp>
      <p:pic>
        <p:nvPicPr>
          <p:cNvPr id="5" name="Picture 4" descr="Three ways to wire a Transformer"/>
          <p:cNvPicPr>
            <a:picLocks noChangeAspect="1"/>
          </p:cNvPicPr>
          <p:nvPr/>
        </p:nvPicPr>
        <p:blipFill>
          <a:blip r:embed="rId2"/>
          <a:srcRect l="2341" t="4940" r="2448" b="27710"/>
          <a:stretch/>
        </p:blipFill>
        <p:spPr>
          <a:xfrm>
            <a:off x="417837" y="941733"/>
            <a:ext cx="8530962" cy="28783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rPr dirty="0"/>
              <a:t>Source: </a:t>
            </a:r>
            <a:r>
              <a:rPr dirty="0" err="1"/>
              <a:t>Jurafsky</a:t>
            </a:r>
            <a:r>
              <a:rPr dirty="0"/>
              <a:t> &amp; Martin, SLP3 (Jan 2026 draft), Fig. 7.3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692C890-6137-4334-822B-007E9888DD05}"/>
              </a:ext>
            </a:extLst>
          </p:cNvPr>
          <p:cNvSpPr/>
          <p:nvPr/>
        </p:nvSpPr>
        <p:spPr>
          <a:xfrm>
            <a:off x="310101" y="3498574"/>
            <a:ext cx="8746435" cy="45322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0C8765-AD2C-26DB-4BC2-03902567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21" y="406949"/>
            <a:ext cx="8005800" cy="4276369"/>
          </a:xfrm>
        </p:spPr>
        <p:txBody>
          <a:bodyPr/>
          <a:lstStyle/>
          <a:p>
            <a:r>
              <a:rPr lang="en-US" sz="8800" dirty="0"/>
              <a:t>What is Autoregressive Generation?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03F1B47-D9DB-8060-3CC1-517A3DD8DD3C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cartoon of a person in a garment holding a bowl of food&#10;&#10;AI-generated content may be incorrect.">
            <a:extLst>
              <a:ext uri="{FF2B5EF4-FFF2-40B4-BE49-F238E27FC236}">
                <a16:creationId xmlns:a16="http://schemas.microsoft.com/office/drawing/2014/main" id="{BEA29F7F-4CC4-EEBF-946C-D4A948228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332" y="406949"/>
            <a:ext cx="2810091" cy="150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419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CB34F3-A344-D93D-BDA8-9B7F77E18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output is feed back as input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318BA23-AB01-9A3E-1EF7-CCDE87CB38FD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close-up of a sign&#10;&#10;AI-generated content may be incorrect.">
            <a:extLst>
              <a:ext uri="{FF2B5EF4-FFF2-40B4-BE49-F238E27FC236}">
                <a16:creationId xmlns:a16="http://schemas.microsoft.com/office/drawing/2014/main" id="{BBBF6C8E-9484-06CA-6E07-04DE5B6AB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146" y="1486894"/>
            <a:ext cx="8562475" cy="298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645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2DD794-C93D-5736-D2B4-AB95DCF66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Recap</a:t>
            </a:r>
            <a:r>
              <a:rPr lang="en-US" dirty="0"/>
              <a:t>: Embeddings &amp; Models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3DBD258-2658-0D13-FA70-CA119811FF64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A diagram of a matrix&#10;&#10;AI-generated content may be incorrect.">
            <a:extLst>
              <a:ext uri="{FF2B5EF4-FFF2-40B4-BE49-F238E27FC236}">
                <a16:creationId xmlns:a16="http://schemas.microsoft.com/office/drawing/2014/main" id="{98EBD26D-B664-7D0B-5E44-64ADB459C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660" y="1096415"/>
            <a:ext cx="6290684" cy="345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875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B73F7-3B23-76C4-B964-7251C185C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757472-4C88-C462-2A21-DC998D31F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Recap</a:t>
            </a:r>
            <a:r>
              <a:rPr lang="en-US" dirty="0"/>
              <a:t>: Embeddings &amp; Models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3A3561C-20EB-4875-343A-E5EDA70B8EF8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A diagram of a matrix&#10;&#10;AI-generated content may be incorrect.">
            <a:extLst>
              <a:ext uri="{FF2B5EF4-FFF2-40B4-BE49-F238E27FC236}">
                <a16:creationId xmlns:a16="http://schemas.microsoft.com/office/drawing/2014/main" id="{2DF09E57-1022-25BF-1088-B19308664D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455"/>
          <a:stretch/>
        </p:blipFill>
        <p:spPr>
          <a:xfrm>
            <a:off x="382526" y="1128220"/>
            <a:ext cx="3179658" cy="3459877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29A7DDF-BF42-431A-706E-4237093D525A}"/>
              </a:ext>
            </a:extLst>
          </p:cNvPr>
          <p:cNvSpPr/>
          <p:nvPr/>
        </p:nvSpPr>
        <p:spPr>
          <a:xfrm>
            <a:off x="3665551" y="2115047"/>
            <a:ext cx="1423284" cy="201963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GPT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MODEL</a:t>
            </a:r>
          </a:p>
        </p:txBody>
      </p:sp>
      <p:pic>
        <p:nvPicPr>
          <p:cNvPr id="7" name="Picture 6" descr="A diagram of a matrix&#10;&#10;AI-generated content may be incorrect.">
            <a:extLst>
              <a:ext uri="{FF2B5EF4-FFF2-40B4-BE49-F238E27FC236}">
                <a16:creationId xmlns:a16="http://schemas.microsoft.com/office/drawing/2014/main" id="{77349106-215F-DDA0-ABB9-D753CEDD16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513" t="461" r="-780" b="-461"/>
          <a:stretch/>
        </p:blipFill>
        <p:spPr>
          <a:xfrm>
            <a:off x="5192202" y="1128219"/>
            <a:ext cx="3728298" cy="345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534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5F76C8-148C-8ACD-E530-50C2A418C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Decoding Problem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5C59AEC-85FC-5879-50C9-EED83D788CA6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 descr="A diagram of a diagram&#10;&#10;AI-generated content may be incorrect.">
            <a:extLst>
              <a:ext uri="{FF2B5EF4-FFF2-40B4-BE49-F238E27FC236}">
                <a16:creationId xmlns:a16="http://schemas.microsoft.com/office/drawing/2014/main" id="{C294DC81-9DF7-C9F1-E38C-8AE9B3CF6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79" y="1122384"/>
            <a:ext cx="7772400" cy="3614166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2053B105-A547-574F-C357-2FCDC164FD69}"/>
              </a:ext>
            </a:extLst>
          </p:cNvPr>
          <p:cNvGrpSpPr/>
          <p:nvPr/>
        </p:nvGrpSpPr>
        <p:grpSpPr>
          <a:xfrm>
            <a:off x="4282977" y="1310109"/>
            <a:ext cx="1577134" cy="2069195"/>
            <a:chOff x="4282977" y="1310109"/>
            <a:chExt cx="1577134" cy="2069195"/>
          </a:xfrm>
          <a:solidFill>
            <a:schemeClr val="bg1"/>
          </a:solidFill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7238D278-81B6-774A-58BF-A8FA49E95138}"/>
                </a:ext>
              </a:extLst>
            </p:cNvPr>
            <p:cNvSpPr/>
            <p:nvPr/>
          </p:nvSpPr>
          <p:spPr>
            <a:xfrm>
              <a:off x="4572000" y="1310109"/>
              <a:ext cx="1216550" cy="2069195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B36EA8B-EF80-C8BC-4A55-0BCBF349E2CE}"/>
                </a:ext>
              </a:extLst>
            </p:cNvPr>
            <p:cNvSpPr/>
            <p:nvPr/>
          </p:nvSpPr>
          <p:spPr>
            <a:xfrm>
              <a:off x="4282977" y="2727297"/>
              <a:ext cx="1577134" cy="214686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Picture 12" descr="Cartoon character holding a tea cup and a mask&#10;&#10;AI-generated content may be incorrect.">
            <a:extLst>
              <a:ext uri="{FF2B5EF4-FFF2-40B4-BE49-F238E27FC236}">
                <a16:creationId xmlns:a16="http://schemas.microsoft.com/office/drawing/2014/main" id="{9786E450-3691-1B64-EF47-3B56C99A1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346" y="84899"/>
            <a:ext cx="1740121" cy="20406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8193DF7-AFDE-B0F2-BB06-11E38A7ED231}"/>
              </a:ext>
            </a:extLst>
          </p:cNvPr>
          <p:cNvSpPr txBox="1"/>
          <p:nvPr/>
        </p:nvSpPr>
        <p:spPr>
          <a:xfrm>
            <a:off x="0" y="4801322"/>
            <a:ext cx="52717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https://www.dailydoseofds.com/llmops-crash-course-part-4/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96962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8CC677-BCB7-74BF-07DD-6D4130041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Decoding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A8E5173-2AFC-9560-3305-260981C53987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124A5C5-93FF-CA9B-490F-919FD9656E9E}"/>
                  </a:ext>
                </a:extLst>
              </p:cNvPr>
              <p:cNvSpPr txBox="1"/>
              <p:nvPr/>
            </p:nvSpPr>
            <p:spPr>
              <a:xfrm>
                <a:off x="5977155" y="3714025"/>
                <a:ext cx="2934778" cy="3622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next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e>
                                  <m:r>
                                    <m:rPr>
                                      <m:nor/>
                                    </m:rPr>
                                    <a:rPr lang="en-US" sz="1800" b="0" i="0" smtClean="0">
                                      <a:latin typeface="Cambria Math" panose="02040503050406030204" pitchFamily="18" charset="0"/>
                                    </a:rPr>
                                    <m:t>context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124A5C5-93FF-CA9B-490F-919FD9656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7155" y="3714025"/>
                <a:ext cx="2934778" cy="362279"/>
              </a:xfrm>
              <a:prstGeom prst="rect">
                <a:avLst/>
              </a:prstGeom>
              <a:blipFill>
                <a:blip r:embed="rId2"/>
                <a:stretch>
                  <a:fillRect l="-862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 diagram of a flowchart&#10;&#10;AI-generated content may be incorrect.">
            <a:extLst>
              <a:ext uri="{FF2B5EF4-FFF2-40B4-BE49-F238E27FC236}">
                <a16:creationId xmlns:a16="http://schemas.microsoft.com/office/drawing/2014/main" id="{92ADFAE9-B228-7CE6-F743-351D02EF2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56" y="1693628"/>
            <a:ext cx="5616084" cy="2528334"/>
          </a:xfrm>
          <a:prstGeom prst="rect">
            <a:avLst/>
          </a:prstGeom>
        </p:spPr>
      </p:pic>
      <p:pic>
        <p:nvPicPr>
          <p:cNvPr id="12" name="Picture 11" descr="A person wearing a mask&#10;&#10;AI-generated content may be incorrect.">
            <a:extLst>
              <a:ext uri="{FF2B5EF4-FFF2-40B4-BE49-F238E27FC236}">
                <a16:creationId xmlns:a16="http://schemas.microsoft.com/office/drawing/2014/main" id="{02561456-925E-4103-B145-D69DFF060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044" y="1888999"/>
            <a:ext cx="3175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5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AA03EC-C3DD-59B4-9815-545365C72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Dangers of Greedy Decoding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3C70282-4D3E-D88A-CD56-D5CA82D9AF0A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30ECC1C5-6FEC-465F-6671-90D8833AD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78" y="1401150"/>
            <a:ext cx="7080870" cy="2593368"/>
          </a:xfrm>
          <a:prstGeom prst="rect">
            <a:avLst/>
          </a:prstGeom>
        </p:spPr>
      </p:pic>
      <p:pic>
        <p:nvPicPr>
          <p:cNvPr id="11" name="Picture 10" descr="A cartoon of a frog holding a bag of gold&#10;&#10;AI-generated content may be incorrect.">
            <a:extLst>
              <a:ext uri="{FF2B5EF4-FFF2-40B4-BE49-F238E27FC236}">
                <a16:creationId xmlns:a16="http://schemas.microsoft.com/office/drawing/2014/main" id="{1709F856-F881-0731-8C35-D93D03799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982" y="3278041"/>
            <a:ext cx="2547474" cy="143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136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0BB72C-4750-59F8-4711-A4C3E1EBE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 Search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24833D4-3ECC-113C-8079-D82CC149DD69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2E815F72-08C0-9F93-90E2-1CF3D6AD8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249" y="1480663"/>
            <a:ext cx="6269602" cy="29266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ACF9D3-F54A-21C6-5B86-20D7EF161414}"/>
              </a:ext>
            </a:extLst>
          </p:cNvPr>
          <p:cNvSpPr txBox="1"/>
          <p:nvPr/>
        </p:nvSpPr>
        <p:spPr>
          <a:xfrm>
            <a:off x="139149" y="1480663"/>
            <a:ext cx="250863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If beam width is </a:t>
            </a:r>
            <a:r>
              <a:rPr lang="en-US" sz="1800" b="1" dirty="0"/>
              <a:t>B</a:t>
            </a:r>
            <a:r>
              <a:rPr lang="en-US" sz="1800" dirty="0"/>
              <a:t>, it will explore the top </a:t>
            </a:r>
            <a:r>
              <a:rPr lang="en-US" sz="1800" b="1" dirty="0"/>
              <a:t>B</a:t>
            </a:r>
            <a:r>
              <a:rPr lang="en-US" sz="1800" dirty="0"/>
              <a:t> tokens for the first word, then for each of those, explore top </a:t>
            </a:r>
            <a:r>
              <a:rPr lang="en-US" sz="1800" b="1" dirty="0"/>
              <a:t>B</a:t>
            </a:r>
            <a:r>
              <a:rPr lang="en-US" sz="1800" dirty="0"/>
              <a:t> for the second word (so </a:t>
            </a:r>
            <a:r>
              <a:rPr lang="en-US" sz="1800" b="1" dirty="0"/>
              <a:t>B^2</a:t>
            </a:r>
            <a:r>
              <a:rPr lang="en-US" sz="1800" dirty="0"/>
              <a:t> combinations, but it keeps only the top </a:t>
            </a:r>
            <a:r>
              <a:rPr lang="en-US" sz="1800" b="1" dirty="0"/>
              <a:t>B</a:t>
            </a:r>
            <a:r>
              <a:rPr lang="en-US" sz="1800" dirty="0"/>
              <a:t> sequences by total probability), and so on.</a:t>
            </a:r>
          </a:p>
        </p:txBody>
      </p:sp>
    </p:spTree>
    <p:extLst>
      <p:ext uri="{BB962C8B-B14F-4D97-AF65-F5344CB8AC3E}">
        <p14:creationId xmlns:p14="http://schemas.microsoft.com/office/powerpoint/2010/main" val="2261679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E8E7CC-B62B-3BC7-BED5-8CD6590D6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 Search: Length Penalty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EC48F34-B39B-DF28-75D1-C8DAFAB614D3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C16A68EB-0715-1067-365E-C25A7A7F7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25" y="1103813"/>
            <a:ext cx="6654604" cy="3632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657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1975F24-B0A3-73C4-AC70-9A4A3BD58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Top-k Sampling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DF7BB13-FC45-490A-C971-A2B7A605E5DE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diagram of a graph&#10;&#10;AI-generated content may be incorrect.">
            <a:extLst>
              <a:ext uri="{FF2B5EF4-FFF2-40B4-BE49-F238E27FC236}">
                <a16:creationId xmlns:a16="http://schemas.microsoft.com/office/drawing/2014/main" id="{6D4407EA-C959-45CB-8D14-0156C8309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21" y="1401150"/>
            <a:ext cx="7772400" cy="314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638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1B46C36-1365-98C6-4CE5-883317F5AB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14A641-16DB-856D-1576-4B8E7C2C2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to top-K sampling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3222C20-BE15-E4B2-E829-C4A720B51AE5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77C398-11E2-AA63-F7ED-FD478F37DE7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diagram of different colored bars&#10;&#10;AI-generated content may be incorrect.">
            <a:extLst>
              <a:ext uri="{FF2B5EF4-FFF2-40B4-BE49-F238E27FC236}">
                <a16:creationId xmlns:a16="http://schemas.microsoft.com/office/drawing/2014/main" id="{7A8185BF-D08C-E198-7828-F6FFE3722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786" y="1320209"/>
            <a:ext cx="7336382" cy="341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088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520259-5BF7-1C5E-60E4-6B42437AC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Recap: The Final Layer &amp; </a:t>
            </a:r>
            <a:r>
              <a:rPr lang="en-US" sz="3200" dirty="0" err="1"/>
              <a:t>Softmax</a:t>
            </a:r>
            <a:r>
              <a:rPr lang="en-US" sz="3200" dirty="0"/>
              <a:t> Layer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C38E544-8D7A-82CA-714B-0626C10D8717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492529-34E1-FC7E-9C41-DFBF0D9E1F0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A diagram of a graph&#10;&#10;AI-generated content may be incorrect.">
            <a:extLst>
              <a:ext uri="{FF2B5EF4-FFF2-40B4-BE49-F238E27FC236}">
                <a16:creationId xmlns:a16="http://schemas.microsoft.com/office/drawing/2014/main" id="{92E16C80-4E33-43BE-BE05-87AC8C500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511" y="1414483"/>
            <a:ext cx="5091941" cy="32851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927C6F-0CBD-44DD-03BC-35FF1ED0F62D}"/>
              </a:ext>
            </a:extLst>
          </p:cNvPr>
          <p:cNvSpPr txBox="1"/>
          <p:nvPr/>
        </p:nvSpPr>
        <p:spPr>
          <a:xfrm>
            <a:off x="509520" y="1376378"/>
            <a:ext cx="317497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The output of the decoder blocks is an embedding.</a:t>
            </a:r>
          </a:p>
          <a:p>
            <a:endParaRPr lang="en-US" sz="1800" dirty="0"/>
          </a:p>
          <a:p>
            <a:r>
              <a:rPr lang="en-US" sz="1800" dirty="0"/>
              <a:t>We apply a Linear Layer to convert embedding (n=512) back to hot-encoding vector (Vocabulary size)</a:t>
            </a:r>
          </a:p>
          <a:p>
            <a:endParaRPr lang="en-US" sz="1800" dirty="0"/>
          </a:p>
          <a:p>
            <a:r>
              <a:rPr lang="en-US" sz="1800" dirty="0"/>
              <a:t>This helps convert the embedding back to a token/word</a:t>
            </a:r>
          </a:p>
          <a:p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65052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1879A0-CFB7-2423-34CF-89E56E759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Temperature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C6764C0-184A-6B36-9B73-489907557D79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math equations with numbers&#10;&#10;AI-generated content may be incorrect.">
            <a:extLst>
              <a:ext uri="{FF2B5EF4-FFF2-40B4-BE49-F238E27FC236}">
                <a16:creationId xmlns:a16="http://schemas.microsoft.com/office/drawing/2014/main" id="{D759B225-DC27-9901-0063-5FECD8C29C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930"/>
          <a:stretch/>
        </p:blipFill>
        <p:spPr>
          <a:xfrm>
            <a:off x="269185" y="1297995"/>
            <a:ext cx="2935191" cy="1879600"/>
          </a:xfrm>
          <a:prstGeom prst="rect">
            <a:avLst/>
          </a:prstGeom>
        </p:spPr>
      </p:pic>
      <p:pic>
        <p:nvPicPr>
          <p:cNvPr id="8" name="Picture 7" descr="A math equations with numbers&#10;&#10;AI-generated content may be incorrect.">
            <a:extLst>
              <a:ext uri="{FF2B5EF4-FFF2-40B4-BE49-F238E27FC236}">
                <a16:creationId xmlns:a16="http://schemas.microsoft.com/office/drawing/2014/main" id="{B4D2610C-268E-7F88-0003-63FF4FE5A9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272" r="-342"/>
          <a:stretch/>
        </p:blipFill>
        <p:spPr>
          <a:xfrm>
            <a:off x="269184" y="3177595"/>
            <a:ext cx="2935191" cy="1879600"/>
          </a:xfrm>
          <a:prstGeom prst="rect">
            <a:avLst/>
          </a:prstGeom>
        </p:spPr>
      </p:pic>
      <p:pic>
        <p:nvPicPr>
          <p:cNvPr id="10" name="Picture 9" descr="A graph of different types of temperature&#10;&#10;AI-generated content may be incorrect.">
            <a:extLst>
              <a:ext uri="{FF2B5EF4-FFF2-40B4-BE49-F238E27FC236}">
                <a16:creationId xmlns:a16="http://schemas.microsoft.com/office/drawing/2014/main" id="{060C963A-DBE6-AD89-7F44-3ED525EED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8259" y="1872245"/>
            <a:ext cx="5571721" cy="223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146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Break</a:t>
            </a:r>
          </a:p>
        </p:txBody>
      </p:sp>
      <p:pic>
        <p:nvPicPr>
          <p:cNvPr id="5" name="Picture 4" descr="Five minutes: stretch, refill water, compare notes. Then we break a model on purpos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312"/>
            <a:ext cx="8595360" cy="3186380"/>
          </a:xfrm>
          <a:prstGeom prst="rect">
            <a:avLst/>
          </a:prstGeom>
        </p:spPr>
      </p:pic>
      <p:pic>
        <p:nvPicPr>
          <p:cNvPr id="4" name="Picture 3" descr="Cartoon characters knitting with a face&#10;&#10;AI-generated content may be incorrect.">
            <a:extLst>
              <a:ext uri="{FF2B5EF4-FFF2-40B4-BE49-F238E27FC236}">
                <a16:creationId xmlns:a16="http://schemas.microsoft.com/office/drawing/2014/main" id="{7888EC3D-9333-1A28-7F1E-9D77F897E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64" y="1186566"/>
            <a:ext cx="2786932" cy="34697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8F84DB-D051-8FD5-0F84-E9F41A21B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top-p (Nucleus Sampling)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521A4F8-2DB0-6D24-18C0-E939E22211B6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diagram of a graph&#10;&#10;AI-generated content may be incorrect.">
            <a:extLst>
              <a:ext uri="{FF2B5EF4-FFF2-40B4-BE49-F238E27FC236}">
                <a16:creationId xmlns:a16="http://schemas.microsoft.com/office/drawing/2014/main" id="{C6C9E589-6A76-7A4F-339F-20EEB4F43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21" y="1489564"/>
            <a:ext cx="7772400" cy="309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820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">
      <a:dk1>
        <a:srgbClr val="434343"/>
      </a:dk1>
      <a:lt1>
        <a:srgbClr val="FFFFFF"/>
      </a:lt1>
      <a:dk2>
        <a:srgbClr val="818387"/>
      </a:dk2>
      <a:lt2>
        <a:srgbClr val="F6F7FA"/>
      </a:lt2>
      <a:accent1>
        <a:srgbClr val="723130"/>
      </a:accent1>
      <a:accent2>
        <a:srgbClr val="818387"/>
      </a:accent2>
      <a:accent3>
        <a:srgbClr val="FFB600"/>
      </a:accent3>
      <a:accent4>
        <a:srgbClr val="738D33"/>
      </a:accent4>
      <a:accent5>
        <a:srgbClr val="625578"/>
      </a:accent5>
      <a:accent6>
        <a:srgbClr val="498DA0"/>
      </a:accent6>
      <a:hlink>
        <a:srgbClr val="B1B4B5"/>
      </a:hlink>
      <a:folHlink>
        <a:srgbClr val="B0B1B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224</Words>
  <Application>Microsoft Macintosh PowerPoint</Application>
  <PresentationFormat>On-screen Show (16:9)</PresentationFormat>
  <Paragraphs>31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Playfair Display</vt:lpstr>
      <vt:lpstr>Cambria Math</vt:lpstr>
      <vt:lpstr>Roboto</vt:lpstr>
      <vt:lpstr>Roboto Light</vt:lpstr>
      <vt:lpstr>Office Theme</vt:lpstr>
      <vt:lpstr>CSCI 3495 The GPT Family and Decoding Strategies</vt:lpstr>
      <vt:lpstr>POP QUIZ: Which is which (BERT, GPT)?</vt:lpstr>
      <vt:lpstr>What is Autoregressive Generation?</vt:lpstr>
      <vt:lpstr>The output is feed back as input</vt:lpstr>
      <vt:lpstr>Recap: Embeddings &amp; Models</vt:lpstr>
      <vt:lpstr>Recap: Embeddings &amp; Models</vt:lpstr>
      <vt:lpstr>The Decoding Problem</vt:lpstr>
      <vt:lpstr>Greedy Decoding</vt:lpstr>
      <vt:lpstr>The Dangers of Greedy Decoding</vt:lpstr>
      <vt:lpstr>Beam Search</vt:lpstr>
      <vt:lpstr>Beam Search: Length Penalty</vt:lpstr>
      <vt:lpstr>Top-k Sampling</vt:lpstr>
      <vt:lpstr>Limitations to top-K sampling</vt:lpstr>
      <vt:lpstr>Recap: The Final Layer &amp; Softmax Layer</vt:lpstr>
      <vt:lpstr>Temperature</vt:lpstr>
      <vt:lpstr>Break</vt:lpstr>
      <vt:lpstr>Implement top-p (Nucleus Sampling)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Davalos Anaya, Eduardo</cp:lastModifiedBy>
  <cp:revision>14</cp:revision>
  <dcterms:modified xsi:type="dcterms:W3CDTF">2026-10-19T15:20:30Z</dcterms:modified>
</cp:coreProperties>
</file>