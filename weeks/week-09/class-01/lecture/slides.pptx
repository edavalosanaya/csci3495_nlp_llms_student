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bonsai is a full tree, deliberately kept tiny. Ask the class: what would you prune from a 7B-parameter model, and what must survive?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HW4 (fine-tuning &amp; adapting LLMs) is due today.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7B model is billions of numbers. The whole game today is making those numbers fit and move on modest hardware.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weights are the cheap part. Adam keeps the weights, the gradients and two moments per parameter, so a 7B model needs roughly a hundred gigabytes of peak training memory. Nobody has that in a laptop, and you pay it again for every task. 1 copy / task7B weights saved again for every customer, product or language you fine-tune for. And it repeats. Every new task you adapt to needs its own full copy of the model. Infeasible on a laptop, wasteful even on a cluster.</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base model never moves. Everything here bolts a small trainable piece onto a frozen model, and the three approaches differ mainly in where that piece sits.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 starts at zero, so training begins exactly at the pretrained model; after training, B times A merges back into W, so inference costs nothing extra. B starts at 0; after training, B and A merge back into W: no extra inference latency.</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Freeze W and learn the update instead, factored into two thin matrices. The bet is that the update has low intrinsic rank, and empirically it does. That is how the trainable parameter count drops by four orders of magnitude.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lone blue dot is full fine-tuning of GPT-3 175B. LoRA (pink) holds that accuracy with about 10,000x fewer trainable parameters, while prefix methods degrade as they grow. Blue dot = full fine-tuning of GPT-3 175B; LoRA (pink) matches it with ~10,000x fewer params.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why a 7B model runs on a laptop at all. Post-training quantization needs no retraining, just map ranges of floats to integer buckets, losing surprisingly little accuracy.</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Find the min and max of a block, lay a small grid of integer levels across it, and round every weight to the nearest one. Store the levels plus a single scale factor per block. The precision you lose is mostly precision you were not using.</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Quantize the frozen base down to four bits and train only the adapters in sixteen. Gradients never touch the base, so its precision does not matter as much as you would think. This is what puts fine-tuning a large model on one consumer GPU.</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honest answer is yes, and they are about to. Hold it until the lab.</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 API key, no network, no per-token bill: the model file sits on your disk, and a Modelfile can set the system prompt, sampling params, and even LoRA adapters.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levers and the price of each. Nothing here is free, and the point is knowing which cost you can afford for a given job. In practice, most local deployments stack these two together: a 4-bit base on disk, a few megabytes of adapters per task.</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Build the LoRA layer and the quantizer, train the adapter with the base frozen, then bake off. The smallest model that still works wins, which forces them to find the accuracy cliff rather than just reading about it.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Freeze the base weight; train only A and B. Then run a quantization bake-off at 8/4/2 bits.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Loss collapses; only 48 trainable params; error grows as bits drop.</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Full fine-tuning is memory-hungry and stores a whole model per task. PEFT freezes the base and trains a few new parameters. LoRA learns a low-rank update that can be merged back at inference, so it costs nothing at serving time. Quantization shrinks the base itself, and QLoRA does both at once.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Last 15 minutes: work with your team while I come around. Checkpoint presentations are next week.</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3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Efficient LLMs: LoRA, PEFT &amp; Quantization</a:t>
            </a:r>
          </a:p>
        </p:txBody>
      </p:sp>
      <p:sp>
        <p:nvSpPr>
          <p:cNvPr id="3" name="Subtitle 2"/>
          <p:cNvSpPr>
            <a:spLocks noGrp="1"/>
          </p:cNvSpPr>
          <p:nvPr>
            <p:ph type="subTitle" idx="1"/>
          </p:nvPr>
        </p:nvSpPr>
        <p:spPr>
          <a:xfrm>
            <a:off x="493926" y="3549825"/>
            <a:ext cx="6204054" cy="970800"/>
          </a:xfrm>
        </p:spPr>
        <p:txBody>
          <a:bodyPr wrap="square"/>
          <a:lstStyle/>
          <a:p>
            <a:pPr marL="0" indent="0">
              <a:buNone/>
            </a:pPr>
            <a:r>
              <a:t>Natural Language Processing &amp; Large Language Models</a:t>
            </a:r>
          </a:p>
          <a:p>
            <a:pPr marL="0" indent="0">
              <a:buNone/>
            </a:pPr>
            <a:r>
              <a:t>Week 9, Class 1  ·  Wed Oct 21, 2026</a:t>
            </a:r>
          </a:p>
        </p:txBody>
      </p:sp>
      <p:pic>
        <p:nvPicPr>
          <p:cNvPr id="5" name="Picture 4" descr="Efficient LLMs: LoRA, PEFT &amp; Quantization"/>
          <p:cNvPicPr>
            <a:picLocks noChangeAspect="1"/>
          </p:cNvPicPr>
          <p:nvPr/>
        </p:nvPicPr>
        <p:blipFill>
          <a:blip r:embed="rId3"/>
          <a:stretch>
            <a:fillRect/>
          </a:stretch>
        </p:blipFill>
        <p:spPr>
          <a:xfrm>
            <a:off x="6926580" y="3474720"/>
            <a:ext cx="1851660"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Sage Ross, Wikimedia Commons, CC BY-SA 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Today's roadmap</a:t>
            </a:r>
          </a:p>
        </p:txBody>
      </p:sp>
      <p:pic>
        <p:nvPicPr>
          <p:cNvPr id="5" name="Picture 4" descr="Today's roadmap"/>
          <p:cNvPicPr>
            <a:picLocks noChangeAspect="1"/>
          </p:cNvPicPr>
          <p:nvPr/>
        </p:nvPicPr>
        <p:blipFill>
          <a:blip r:embed="rId3"/>
          <a:stretch>
            <a:fillRect/>
          </a:stretch>
        </p:blipFill>
        <p:spPr>
          <a:xfrm>
            <a:off x="735910" y="1078992"/>
            <a:ext cx="7672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photos: Unsplash; LoRA figure: Hu et al. 2021 (arXiv:2106.09685), Fig. 1; other tiles: course figures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Billions of weights, one laptop</a:t>
            </a:r>
          </a:p>
        </p:txBody>
      </p:sp>
      <p:pic>
        <p:nvPicPr>
          <p:cNvPr id="5" name="Picture 4" descr="Billions of weights, one laptop"/>
          <p:cNvPicPr>
            <a:picLocks noChangeAspect="1"/>
          </p:cNvPicPr>
          <p:nvPr/>
        </p:nvPicPr>
        <p:blipFill>
          <a:blip r:embed="rId3"/>
          <a:stretch>
            <a:fillRect/>
          </a:stretch>
        </p:blipFill>
        <p:spPr>
          <a:xfrm>
            <a:off x="1881076" y="1078992"/>
            <a:ext cx="53818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https://images.unsplash.com/photo-1518770660439-4636190af475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full fine-tuning doesn't scale</a:t>
            </a:r>
          </a:p>
        </p:txBody>
      </p:sp>
      <p:pic>
        <p:nvPicPr>
          <p:cNvPr id="5" name="Picture 4" descr="Why full fine-tuning doesn't scale"/>
          <p:cNvPicPr>
            <a:picLocks noChangeAspect="1"/>
          </p:cNvPicPr>
          <p:nvPr/>
        </p:nvPicPr>
        <p:blipFill>
          <a:blip r:embed="rId3"/>
          <a:stretch>
            <a:fillRect/>
          </a:stretch>
        </p:blipFill>
        <p:spPr>
          <a:xfrm>
            <a:off x="274320" y="1511356"/>
            <a:ext cx="8595360" cy="272429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Adam memory rule-of-thumb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Parameter-Efficient Fine-Tuning</a:t>
            </a:r>
          </a:p>
        </p:txBody>
      </p:sp>
      <p:pic>
        <p:nvPicPr>
          <p:cNvPr id="5" name="Picture 4" descr="Parameter-Efficient Fine-Tuning"/>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LoRA, visually</a:t>
            </a:r>
          </a:p>
        </p:txBody>
      </p:sp>
      <p:pic>
        <p:nvPicPr>
          <p:cNvPr id="5" name="Picture 4" descr="LoRA, visually"/>
          <p:cNvPicPr>
            <a:picLocks noChangeAspect="1"/>
          </p:cNvPicPr>
          <p:nvPr/>
        </p:nvPicPr>
        <p:blipFill>
          <a:blip r:embed="rId3"/>
          <a:stretch>
            <a:fillRect/>
          </a:stretch>
        </p:blipFill>
        <p:spPr>
          <a:xfrm>
            <a:off x="2978335" y="1078992"/>
            <a:ext cx="318732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Hu et al. 2021 (arXiv:2106.09685), Fig. 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LoRA: the core idea</a:t>
            </a:r>
          </a:p>
        </p:txBody>
      </p:sp>
      <p:pic>
        <p:nvPicPr>
          <p:cNvPr id="5" name="Picture 4" descr="LoRA: the core idea"/>
          <p:cNvPicPr>
            <a:picLocks noChangeAspect="1"/>
          </p:cNvPicPr>
          <p:nvPr/>
        </p:nvPicPr>
        <p:blipFill>
          <a:blip r:embed="rId3"/>
          <a:stretch>
            <a:fillRect/>
          </a:stretch>
        </p:blipFill>
        <p:spPr>
          <a:xfrm>
            <a:off x="908467" y="1078992"/>
            <a:ext cx="732706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after Hu et al., 2021, arxiv.org/abs/2106.09685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LoRA is a big deal</a:t>
            </a:r>
          </a:p>
        </p:txBody>
      </p:sp>
      <p:pic>
        <p:nvPicPr>
          <p:cNvPr id="5" name="Picture 4" descr="Why LoRA is a big deal"/>
          <p:cNvPicPr>
            <a:picLocks noChangeAspect="1"/>
          </p:cNvPicPr>
          <p:nvPr/>
        </p:nvPicPr>
        <p:blipFill>
          <a:blip r:embed="rId3"/>
          <a:stretch>
            <a:fillRect/>
          </a:stretch>
        </p:blipFill>
        <p:spPr>
          <a:xfrm>
            <a:off x="515770" y="1078992"/>
            <a:ext cx="811245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Hu et al. 2021 (arXiv:2106.09685), Fig. 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Quantization: fewer bits per weight</a:t>
            </a:r>
          </a:p>
        </p:txBody>
      </p:sp>
      <p:pic>
        <p:nvPicPr>
          <p:cNvPr id="5" name="Picture 4" descr="Quantization: fewer bits per weight"/>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How quantization works</a:t>
            </a:r>
          </a:p>
        </p:txBody>
      </p:sp>
      <p:pic>
        <p:nvPicPr>
          <p:cNvPr id="5" name="Picture 4" descr="How quantization works"/>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QLoRA: the combination</a:t>
            </a:r>
          </a:p>
        </p:txBody>
      </p:sp>
      <p:pic>
        <p:nvPicPr>
          <p:cNvPr id="5" name="Picture 4" descr="QLoRA: the combination"/>
          <p:cNvPicPr>
            <a:picLocks noChangeAspect="1"/>
          </p:cNvPicPr>
          <p:nvPr/>
        </p:nvPicPr>
        <p:blipFill>
          <a:blip r:embed="rId3"/>
          <a:stretch>
            <a:fillRect/>
          </a:stretch>
        </p:blipFill>
        <p:spPr>
          <a:xfrm>
            <a:off x="817529" y="1078992"/>
            <a:ext cx="750894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after Dettmers et al., 2023, arxiv.org/abs/2305.14314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With QLoRA, the honest answer is yes. Hold that thought for the exercise."/>
          <p:cNvPicPr>
            <a:picLocks noChangeAspect="1"/>
          </p:cNvPicPr>
          <p:nvPr/>
        </p:nvPicPr>
        <p:blipFill>
          <a:blip r:embed="rId3"/>
          <a:stretch>
            <a:fillRect/>
          </a:stretch>
        </p:blipFill>
        <p:spPr>
          <a:xfrm>
            <a:off x="0" y="-471488"/>
            <a:ext cx="9144000" cy="608647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Could you fine-tune a model on your laptop tonight?</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With QLoRA, the honest answer is yes. Hold that thought for the exercise.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https://images.unsplash.com/photo-1498050108023-c5249f4df085</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Running models locally with Ollama</a:t>
            </a:r>
          </a:p>
        </p:txBody>
      </p:sp>
      <p:pic>
        <p:nvPicPr>
          <p:cNvPr id="5" name="Picture 4" descr="Running models locally with Ollama"/>
          <p:cNvPicPr>
            <a:picLocks noChangeAspect="1"/>
          </p:cNvPicPr>
          <p:nvPr/>
        </p:nvPicPr>
        <p:blipFill>
          <a:blip r:embed="rId3"/>
          <a:stretch>
            <a:fillRect/>
          </a:stretch>
        </p:blipFill>
        <p:spPr>
          <a:xfrm>
            <a:off x="345410" y="1078992"/>
            <a:ext cx="8453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model size from ollama.com/library/qwen2.5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efficiency toolbox</a:t>
            </a:r>
          </a:p>
        </p:txBody>
      </p:sp>
      <p:pic>
        <p:nvPicPr>
          <p:cNvPr id="5" name="Picture 4" descr="The efficiency toolbox"/>
          <p:cNvPicPr>
            <a:picLocks noChangeAspect="1"/>
          </p:cNvPicPr>
          <p:nvPr/>
        </p:nvPicPr>
        <p:blipFill>
          <a:blip r:embed="rId3"/>
          <a:stretch>
            <a:fillRect/>
          </a:stretch>
        </p:blipFill>
        <p:spPr>
          <a:xfrm>
            <a:off x="657912" y="1078992"/>
            <a:ext cx="782817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quantization bake-off."/>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Quantization bake-off</a:t>
            </a:r>
          </a:p>
        </p:txBody>
      </p:sp>
      <p:pic>
        <p:nvPicPr>
          <p:cNvPr id="5" name="Picture 4" descr="Quantization bake-off"/>
          <p:cNvPicPr>
            <a:picLocks noChangeAspect="1"/>
          </p:cNvPicPr>
          <p:nvPr/>
        </p:nvPicPr>
        <p:blipFill>
          <a:blip r:embed="rId3"/>
          <a:stretch>
            <a:fillRect/>
          </a:stretch>
        </p:blipFill>
        <p:spPr>
          <a:xfrm>
            <a:off x="336956" y="1078992"/>
            <a:ext cx="847008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Build a LoRA layer</a:t>
            </a:r>
          </a:p>
        </p:txBody>
      </p:sp>
      <p:pic>
        <p:nvPicPr>
          <p:cNvPr id="5" name="Picture 4" descr="Build a LoRA layer"/>
          <p:cNvPicPr>
            <a:picLocks noChangeAspect="1"/>
          </p:cNvPicPr>
          <p:nvPr/>
        </p:nvPicPr>
        <p:blipFill>
          <a:blip r:embed="rId3"/>
          <a:stretch>
            <a:fillRect/>
          </a:stretch>
        </p:blipFill>
        <p:spPr>
          <a:xfrm>
            <a:off x="274320" y="1416198"/>
            <a:ext cx="8595360" cy="291460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weeks/week-09/class-01/exercise/lora_lab.py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575978" y="1078992"/>
            <a:ext cx="799204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in the course Docker image (seed=0)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700845" y="1078992"/>
            <a:ext cx="774231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Project work and feedback</a:t>
            </a:r>
          </a:p>
        </p:txBody>
      </p:sp>
      <p:pic>
        <p:nvPicPr>
          <p:cNvPr id="5" name="Picture 4" descr="Project work and feedback"/>
          <p:cNvPicPr>
            <a:picLocks noChangeAspect="1"/>
          </p:cNvPicPr>
          <p:nvPr/>
        </p:nvPicPr>
        <p:blipFill>
          <a:blip r:embed="rId3"/>
          <a:stretch>
            <a:fillRect/>
          </a:stretch>
        </p:blipFill>
        <p:spPr>
          <a:xfrm>
            <a:off x="707909" y="1078992"/>
            <a:ext cx="772818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project/README.md milestones</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