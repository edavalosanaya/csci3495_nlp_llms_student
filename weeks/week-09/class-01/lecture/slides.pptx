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weight</c:v>
                </c:pt>
              </c:strCache>
            </c:strRef>
          </c:tx>
          <c:spPr>
            <a:solidFill>
              <a:srgbClr val="4C72B0"/>
            </a:solidFill>
            <a:ln>
              <a:noFill/>
            </a:ln>
          </c:spPr>
          <c:dPt>
            <c:idx val="0"/>
            <c:spPr>
              <a:solidFill>
                <a:srgbClr val="4C72B0"/>
              </a:solidFill>
            </c:spPr>
          </c:dPt>
          <c:dPt>
            <c:idx val="1"/>
            <c:spPr>
              <a:solidFill>
                <a:srgbClr val="4C72B0"/>
              </a:solidFill>
            </c:spPr>
          </c:dPt>
          <c:dPt>
            <c:idx val="2"/>
            <c:spPr>
              <a:solidFill>
                <a:srgbClr val="4C72B0"/>
              </a:solidFill>
            </c:spPr>
          </c:dPt>
          <c:dPt>
            <c:idx val="3"/>
            <c:spPr>
              <a:solidFill>
                <a:srgbClr val="4C72B0"/>
              </a:solidFill>
            </c:spPr>
          </c:dPt>
          <c:cat>
            <c:strRef>
              <c:f>Sheet1!$A$2:$A$5</c:f>
              <c:strCache>
                <c:ptCount val="4"/>
                <c:pt idx="0">
                  <c:v>nice</c:v>
                </c:pt>
                <c:pt idx="1">
                  <c:v>cold</c:v>
                </c:pt>
                <c:pt idx="2">
                  <c:v>cloudy</c:v>
                </c:pt>
                <c:pt idx="3">
                  <c:v>sunny</c:v>
                </c:pt>
              </c:strCache>
            </c:strRef>
          </c:cat>
          <c:val>
            <c:numRef>
              <c:f>Sheet1!$B$2:$B$5</c:f>
              <c:numCache>
                <c:formatCode>General</c:formatCode>
                <c:ptCount val="4"/>
                <c:pt idx="0">
                  <c:v>0.1</c:v>
                </c:pt>
                <c:pt idx="1">
                  <c:v>0.15</c:v>
                </c:pt>
                <c:pt idx="2">
                  <c:v>0.25</c:v>
                </c:pt>
                <c:pt idx="3">
                  <c:v>0.45</c:v>
                </c:pt>
              </c:numCache>
            </c:numRef>
          </c:val>
        </c:ser>
        <c:dLbls>
          <c:numFmt formatCode="0.00" sourceLinked="0"/>
          <c:txPr>
            <a:bodyPr/>
            <a:lstStyle/>
            <a:p>
              <a:pPr>
                <a:defRPr sz="1500" b="1">
                  <a:solidFill>
                    <a:srgbClr val="1D1D1F"/>
                  </a:solidFill>
                  <a:latin typeface="Helvetica Neue"/>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l"/>
        <c:majorTickMark val="none"/>
        <c:minorTickMark val="none"/>
        <c:tickLblPos val="nextTo"/>
        <c:spPr>
          <a:ln>
            <a:solidFill>
              <a:srgbClr val="D2D2D7"/>
            </a:solidFill>
          </a:ln>
        </c:spPr>
        <c:txPr>
          <a:bodyPr/>
          <a:lstStyle/>
          <a:p>
            <a:pPr>
              <a:defRPr sz="1200">
                <a:solidFill>
                  <a:srgbClr val="86868B"/>
                </a:solidFill>
                <a:latin typeface="Helvetica Neue"/>
              </a:defRPr>
            </a:pPr>
          </a:p>
        </c:txPr>
        <c:crossAx val="-2113994440"/>
        <c:crosses val="autoZero"/>
        <c:auto val="1"/>
        <c:lblAlgn val="ctr"/>
        <c:lblOffset val="100"/>
        <c:noMultiLvlLbl val="0"/>
      </c:catAx>
      <c:valAx>
        <c:axId val="-2113994440"/>
        <c:scaling/>
        <c:delete val="0"/>
        <c:axPos val="b"/>
        <c:majorTickMark val="none"/>
        <c:minorTickMark val="none"/>
        <c:tickLblPos val="none"/>
        <c:spPr>
          <a:ln>
            <a:noFill/>
          </a:ln>
        </c:spPr>
        <c:crossAx val="-2068027336"/>
        <c:crosses val="autoZero"/>
      </c:valAx>
    </c:plotArea>
    <c:dispBlanksAs val="gap"/>
  </c:chart>
  <c:txPr>
    <a:bodyPr/>
    <a:lstStyle/>
    <a:p>
      <a:pPr>
        <a:defRPr sz="1200">
          <a:latin typeface="Helvetica Neue"/>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roads diverged in a wood. A language model hits a fork like this at EVERY word, with fifty thousand branches. Who picks? That is the whole session, and we answer it half in slides and half in the notebook.</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Decoders attend only leftward and generate tokens; encoders attend in both directions and output representations; encoder-decoders encode a full input, then a decoder generates from it. Everything today lives in the left column, because only a decoder has a next token to choose.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it cold and wait. Someone will say "it predicts the next word", and the follow-up is the one that matters: what does it do with the word it just predicted? It puts it back in the input. Take two or three answers before clicking the reveal.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reads the context and outputs a probability for every word in its vocabulary. Pick one, append it, run the model again: that loop IS autoregressive generation. Notice what the model never does: it never picks. It scores.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lab.ipynb now, kernel selected, run from the top. Part 1 loads distilgpt2 and prints the full distribution over the next word for one prompt. The TRY IT at the end asks what the probabilities sum to, and why that matters.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step hands you a distribution over tens of thousands of tokens. How do you choose? That choice is not the model, it is a decoding strategy you picked, and the rest of the period is the four of them.</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Always take the argmax. Same prompt in, same token out, nothing sampled. Fast and safe for code or a factual answer, and, as we will see after the break, the reason generated prose goes flat and starts repeating.</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Width 2, with real cumulative log probabilities. Walk the tree left to right and let them do the comparison out loud: greedy takes sunny because 0.45 beats 0.30, but the sequence starting from cold finishes at -1.72 against -2.41. The locally best first token was not on the globally best sequence.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Part 2 runs both strategies on distilgpt2 and prints the sequence score next to each. The TRY IT asks them to widen the beam and say what changes and what does not.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wheel spins. Sunny is the favourite but cloudy can win, and the long tail of thousands of rare tokens holds a real 13 percent between them. That tail is where both the creativity and the nonsense come from, so the next two slides are both about cutting it.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Keep the k highest tokens, renormalize, sample. Read the two panels side by side: the same k = 3 is too loose when the model is confident and too tight when it is unsure. K is a count, and a count cannot know how confident the model is.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running-total column out loud: 0.40, 0.65, 0.78, 0.87, 0.92, and stop, because 0.92 has passed 0.90. The p is not a count of tokens, it is how much probability mass you are willing to sample from. Five tokens here; on a confident step the same 0.90 might keep two.</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Temperature is not a fifth strategy, it is a dial that reshapes the distribution before any of the others run. Divide every logit by tau, then softmax. Small tau spreads the logits apart and the top token takes almost everything; large tau squeezes them together and the tail gets a real chance. The order never changes, only how much the ranking matters.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Part 3 puts temperature, top-k and top-p on the same prompt and draws what survives under each. The TRY IT asks how many tokens top-p keeps at 0.5 against 0.99, which is the adaptivity claim from the slide, measured.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Five minutes. After it, Part 4: greedy loops, and they have to stop it.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loop out loud, it lands better. After "think that", the top token is "I" again, so greedy re-picks it forever. The argmax has become a fixed point. Every fix works the same way: reshape the distribution so the argmax stops being a fixed point. Do not name the fixes here, that is their job.</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Individually or in pairs, twenty-five minutes. The cell prints a repeat count so they have a number to beat, and every knob from the last hour is available: temperature, top-k, top-p, and the repetition penalty they have not seen yet. Insist they change ONE thing per run and write the number down, because the fastest team will be the one that measured rather than guessed. Last five minutes: two pairs read their settings out and we compare counts.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Decoding Strategies: How a Model Picks the Next Word</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9, Class 1  ·  Mon Oct 19, 2026</a:t>
            </a:r>
          </a:p>
        </p:txBody>
      </p:sp>
      <p:pic>
        <p:nvPicPr>
          <p:cNvPr id="5" name="Picture 4" descr="Decoding Strategies: How a Model Picks the Next Word"/>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Ann Cook, geograph.org.uk via Wikimedia Commons, CC BY-SA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ways to wire a Transformer</a:t>
            </a:r>
          </a:p>
        </p:txBody>
      </p:sp>
      <p:pic>
        <p:nvPicPr>
          <p:cNvPr id="5" name="Picture 4" descr="Three ways to wire a Transformer"/>
          <p:cNvPicPr>
            <a:picLocks noChangeAspect="1"/>
          </p:cNvPicPr>
          <p:nvPr/>
        </p:nvPicPr>
        <p:blipFill>
          <a:blip r:embed="rId3"/>
          <a:stretch>
            <a:fillRect/>
          </a:stretch>
        </p:blipFill>
        <p:spPr>
          <a:xfrm>
            <a:off x="809740" y="1078992"/>
            <a:ext cx="752452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7C2529"/>
                </a:solidFill>
              </a:rPr>
              <a:t>What is autoregressive generation?</a:t>
            </a:r>
          </a:p>
        </p:txBody>
      </p:sp>
      <p:sp>
        <p:nvSpPr>
          <p:cNvPr id="6" name="TextBox 5"/>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222222"/>
                </a:solidFill>
              </a:rPr>
              <a:t>Feed the whole context in, get one distribution out, pick one token, append it, run again.</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fade">
                                      <p:cBhvr>
                                        <p:cTn id="8"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engine under generation</a:t>
            </a:r>
          </a:p>
        </p:txBody>
      </p:sp>
      <p:pic>
        <p:nvPicPr>
          <p:cNvPr id="5" name="Picture 4" descr="The engine under generation"/>
          <p:cNvPicPr>
            <a:picLocks noChangeAspect="1"/>
          </p:cNvPicPr>
          <p:nvPr/>
        </p:nvPicPr>
        <p:blipFill>
          <a:blip r:embed="rId3"/>
          <a:stretch>
            <a:fillRect/>
          </a:stretch>
        </p:blipFill>
        <p:spPr>
          <a:xfrm>
            <a:off x="716980" y="1078992"/>
            <a:ext cx="77100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1 in the notebook</a:t>
            </a:r>
          </a:p>
          <a:p>
            <a:pPr algn="ctr" marL="0" indent="0">
              <a:buNone/>
            </a:pPr>
            <a:r>
              <a:rPr sz="2000">
                <a:solidFill>
                  <a:srgbClr val="222222"/>
                </a:solidFill>
              </a:rPr>
              <a:t>One prompt, fifty thousand scores.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decoding problem</a:t>
            </a:r>
          </a:p>
        </p:txBody>
      </p:sp>
      <p:graphicFrame>
        <p:nvGraphicFramePr>
          <p:cNvPr id="5" name="Table 4"/>
          <p:cNvGraphicFramePr>
            <a:graphicFrameLocks noGrp="1"/>
          </p:cNvGraphicFramePr>
          <p:nvPr/>
        </p:nvGraphicFramePr>
        <p:xfrm>
          <a:off x="457200" y="1456182"/>
          <a:ext cx="5102351" cy="2834640"/>
        </p:xfrm>
        <a:graphic>
          <a:graphicData uri="http://schemas.openxmlformats.org/drawingml/2006/table">
            <a:tbl>
              <a:tblPr firstRow="1" bandRow="0"/>
              <a:tblGrid>
                <a:gridCol w="1326611"/>
                <a:gridCol w="943935"/>
                <a:gridCol w="943935"/>
                <a:gridCol w="943935"/>
                <a:gridCol w="943935"/>
              </a:tblGrid>
              <a:tr h="566928">
                <a:tc>
                  <a:txBody>
                    <a:bodyPr wrap="none"/>
                    <a:lstStyle/>
                    <a:p>
                      <a:pPr marL="0" indent="0" algn="l">
                        <a:spcAft>
                          <a:spcPts val="0"/>
                        </a:spcAft>
                        <a:buNone/>
                      </a:pPr>
                      <a:r>
                        <a:rPr sz="750" b="1" spc="50">
                          <a:solidFill>
                            <a:srgbClr val="86868B"/>
                          </a:solidFill>
                          <a:latin typeface="Helvetica Neue"/>
                        </a:rPr>
                        <a:t>TOKEN</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750" b="1" spc="50">
                          <a:solidFill>
                            <a:srgbClr val="86868B"/>
                          </a:solidFill>
                          <a:latin typeface="Helvetica Neue"/>
                        </a:rPr>
                        <a:t>MODEL SAYS</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750" b="1" spc="50">
                          <a:solidFill>
                            <a:srgbClr val="86868B"/>
                          </a:solidFill>
                          <a:latin typeface="Helvetica Neue"/>
                        </a:rPr>
                        <a:t>GREEDY</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750" b="1" spc="50">
                          <a:solidFill>
                            <a:srgbClr val="86868B"/>
                          </a:solidFill>
                          <a:latin typeface="Helvetica Neue"/>
                        </a:rPr>
                        <a:t>TOP-K, K=2</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750" b="1" spc="50">
                          <a:solidFill>
                            <a:srgbClr val="86868B"/>
                          </a:solidFill>
                          <a:latin typeface="Helvetica Neue"/>
                        </a:rPr>
                        <a:t>TOP-P, P=0.85</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sunny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.45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taken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.64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.53</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cloudy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.36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.29</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cold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.18</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nice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456182"/>
            <a:ext cx="2761488" cy="2834640"/>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SAME MODEL, SAME PROBABILITIES</a:t>
            </a:r>
          </a:p>
          <a:p>
            <a:pPr marL="0" indent="0">
              <a:spcAft>
                <a:spcPts val="900"/>
              </a:spcAft>
              <a:buNone/>
            </a:pPr>
            <a:r>
              <a:rPr sz="1300">
                <a:solidFill>
                  <a:srgbClr val="1D1D1F"/>
                </a:solidFill>
                <a:latin typeface="Helvetica Neue"/>
              </a:rPr>
              <a:t>The decoding strategy is the only thing that differs.</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Greedy decoding</a:t>
            </a:r>
          </a:p>
        </p:txBody>
      </p:sp>
      <p:sp>
        <p:nvSpPr>
          <p:cNvPr id="5" name="TextBox 4"/>
          <p:cNvSpPr txBox="1"/>
          <p:nvPr/>
        </p:nvSpPr>
        <p:spPr>
          <a:xfrm>
            <a:off x="457200" y="1078992"/>
            <a:ext cx="8229600" cy="310896"/>
          </a:xfrm>
          <a:prstGeom prst="rect">
            <a:avLst/>
          </a:prstGeom>
          <a:noFill/>
        </p:spPr>
        <p:txBody>
          <a:bodyPr wrap="square" anchor="t" lIns="0" rIns="0" tIns="0" bIns="0">
            <a:spAutoFit/>
          </a:bodyPr>
          <a:lstStyle/>
          <a:p>
            <a:pPr marL="0" indent="0" algn="l">
              <a:spcAft>
                <a:spcPts val="0"/>
              </a:spcAft>
              <a:buNone/>
            </a:pPr>
            <a:r>
              <a:rPr sz="1300" b="0">
                <a:solidFill>
                  <a:srgbClr val="86868B"/>
                </a:solidFill>
                <a:latin typeface="Helvetica Neue"/>
              </a:rPr>
              <a:t>"The weather today is"</a:t>
            </a:r>
          </a:p>
        </p:txBody>
      </p:sp>
      <p:graphicFrame>
        <p:nvGraphicFramePr>
          <p:cNvPr id="6" name="Chart 5"/>
          <p:cNvGraphicFramePr>
            <a:graphicFrameLocks noGrp="1"/>
          </p:cNvGraphicFramePr>
          <p:nvPr/>
        </p:nvGraphicFramePr>
        <p:xfrm>
          <a:off x="457200" y="1389888"/>
          <a:ext cx="8229600" cy="3278124"/>
        </p:xfrm>
        <a:graphic>
          <a:graphicData uri="http://schemas.openxmlformats.org/drawingml/2006/chart">
            <c:chart xmlns:c="http://schemas.openxmlformats.org/drawingml/2006/chart" r:id="rId3"/>
          </a:graphicData>
        </a:graphic>
      </p:graphicFrame>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Beam search</a:t>
            </a:r>
          </a:p>
        </p:txBody>
      </p:sp>
      <p:pic>
        <p:nvPicPr>
          <p:cNvPr id="5" name="Picture 4" descr="Beam search"/>
          <p:cNvPicPr>
            <a:picLocks noChangeAspect="1"/>
          </p:cNvPicPr>
          <p:nvPr/>
        </p:nvPicPr>
        <p:blipFill>
          <a:blip r:embed="rId3"/>
          <a:stretch>
            <a:fillRect/>
          </a:stretch>
        </p:blipFill>
        <p:spPr>
          <a:xfrm>
            <a:off x="274320" y="1092514"/>
            <a:ext cx="8595360" cy="35619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2 in the notebook</a:t>
            </a:r>
          </a:p>
          <a:p>
            <a:pPr algn="ctr" marL="0" indent="0">
              <a:buNone/>
            </a:pPr>
            <a:r>
              <a:rPr sz="2000">
                <a:solidFill>
                  <a:srgbClr val="222222"/>
                </a:solidFill>
              </a:rPr>
              <a:t>Greedy and beam, on a real model.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Sampling</a:t>
            </a:r>
          </a:p>
        </p:txBody>
      </p:sp>
      <p:pic>
        <p:nvPicPr>
          <p:cNvPr id="5" name="Picture 4" descr="Sampling"/>
          <p:cNvPicPr>
            <a:picLocks noChangeAspect="1"/>
          </p:cNvPicPr>
          <p:nvPr/>
        </p:nvPicPr>
        <p:blipFill>
          <a:blip r:embed="rId3"/>
          <a:stretch>
            <a:fillRect/>
          </a:stretch>
        </p:blipFill>
        <p:spPr>
          <a:xfrm>
            <a:off x="274320" y="1383882"/>
            <a:ext cx="8595360" cy="29792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Top-k sampling</a:t>
            </a:r>
          </a:p>
        </p:txBody>
      </p:sp>
      <p:sp>
        <p:nvSpPr>
          <p:cNvPr id="5" name="Rounded Rectangle 4"/>
          <p:cNvSpPr/>
          <p:nvPr/>
        </p:nvSpPr>
        <p:spPr>
          <a:xfrm>
            <a:off x="457200"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MODEL CONFIDENT</a:t>
            </a:r>
          </a:p>
          <a:p>
            <a:pPr marL="0" indent="0">
              <a:spcAft>
                <a:spcPts val="300"/>
              </a:spcAft>
              <a:buNone/>
            </a:pPr>
            <a:r>
              <a:rPr sz="2000" b="0" u="none">
                <a:solidFill>
                  <a:srgbClr val="1D1D1F"/>
                </a:solidFill>
                <a:latin typeface="Menlo"/>
              </a:rPr>
              <a:t>.70  .22  .08  .00</a:t>
            </a:r>
          </a:p>
          <a:p>
            <a:pPr marL="0" indent="0" algn="l">
              <a:spcAft>
                <a:spcPts val="200"/>
              </a:spcAft>
              <a:buNone/>
            </a:pPr>
            <a:r>
              <a:rPr sz="1200" b="0">
                <a:solidFill>
                  <a:srgbClr val="86868B"/>
                </a:solidFill>
                <a:latin typeface="Helvetica Neue"/>
              </a:rPr>
              <a:t>k = 3 keeps a token the model barely believes in.</a:t>
            </a:r>
          </a:p>
        </p:txBody>
      </p:sp>
      <p:sp>
        <p:nvSpPr>
          <p:cNvPr id="7" name="Rounded Rectangle 6"/>
          <p:cNvSpPr/>
          <p:nvPr/>
        </p:nvSpPr>
        <p:spPr>
          <a:xfrm>
            <a:off x="4645152" y="2272220"/>
            <a:ext cx="4041648" cy="1202563"/>
          </a:xfrm>
          <a:prstGeom prst="roundRect">
            <a:avLst>
              <a:gd name="adj" fmla="val 988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18524"/>
            <a:ext cx="3675888" cy="90995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MODEL UNSURE</a:t>
            </a:r>
          </a:p>
          <a:p>
            <a:pPr marL="0" indent="0">
              <a:spcAft>
                <a:spcPts val="300"/>
              </a:spcAft>
              <a:buNone/>
            </a:pPr>
            <a:r>
              <a:rPr sz="2000" b="0" u="none">
                <a:solidFill>
                  <a:srgbClr val="1D1D1F"/>
                </a:solidFill>
                <a:latin typeface="Menlo"/>
              </a:rPr>
              <a:t>.27  .25  .23  .19  .06</a:t>
            </a:r>
          </a:p>
          <a:p>
            <a:pPr marL="0" indent="0" algn="l">
              <a:spcAft>
                <a:spcPts val="200"/>
              </a:spcAft>
              <a:buNone/>
            </a:pPr>
            <a:r>
              <a:rPr sz="1200" b="0">
                <a:solidFill>
                  <a:srgbClr val="86868B"/>
                </a:solidFill>
                <a:latin typeface="Helvetica Neue"/>
              </a:rPr>
              <a:t>k = 3 cuts gray, which was almost as likely as green. A genuine contender, thrown away.</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Top-p (nucleus) sampling</a:t>
            </a:r>
          </a:p>
        </p:txBody>
      </p:sp>
      <p:graphicFrame>
        <p:nvGraphicFramePr>
          <p:cNvPr id="5" name="Table 4"/>
          <p:cNvGraphicFramePr>
            <a:graphicFrameLocks noGrp="1"/>
          </p:cNvGraphicFramePr>
          <p:nvPr/>
        </p:nvGraphicFramePr>
        <p:xfrm>
          <a:off x="457200" y="1172718"/>
          <a:ext cx="5102351" cy="3401568"/>
        </p:xfrm>
        <a:graphic>
          <a:graphicData uri="http://schemas.openxmlformats.org/drawingml/2006/table">
            <a:tbl>
              <a:tblPr firstRow="1" bandRow="0"/>
              <a:tblGrid>
                <a:gridCol w="1326611"/>
                <a:gridCol w="1887870"/>
                <a:gridCol w="1887870"/>
              </a:tblGrid>
              <a:tr h="566928">
                <a:tc>
                  <a:txBody>
                    <a:bodyPr wrap="none"/>
                    <a:lstStyle/>
                    <a:p>
                      <a:pPr marL="0" indent="0" algn="l">
                        <a:spcAft>
                          <a:spcPts val="0"/>
                        </a:spcAft>
                        <a:buNone/>
                      </a:pPr>
                      <a:r>
                        <a:rPr sz="1100" b="1" spc="50">
                          <a:solidFill>
                            <a:srgbClr val="86868B"/>
                          </a:solidFill>
                          <a:latin typeface="Helvetica Neue"/>
                        </a:rPr>
                        <a:t>TOKEN</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PROBABILITY</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RUNNING TOTAL</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sunny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0.40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0.40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cloudy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0.25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0.65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cold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0.13</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0.78</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warm</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0.09</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0.87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windy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0.92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172718"/>
            <a:ext cx="2761488" cy="3401568"/>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STOP AT P = 0.90</a:t>
            </a:r>
          </a:p>
          <a:p>
            <a:pPr marL="0" indent="0">
              <a:spcAft>
                <a:spcPts val="900"/>
              </a:spcAft>
              <a:buNone/>
            </a:pPr>
            <a:r>
              <a:rPr sz="1300">
                <a:solidFill>
                  <a:srgbClr val="1D1D1F"/>
                </a:solidFill>
                <a:latin typeface="Helvetica Neue"/>
              </a:rPr>
              <a:t>windy is the token that crosses it, so the set stops there. 50k more tokens never get considered.</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nucleus sampling, Holtzman et al. 2020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Temperature</a:t>
            </a:r>
          </a:p>
        </p:txBody>
      </p:sp>
      <p:graphicFrame>
        <p:nvGraphicFramePr>
          <p:cNvPr id="5" name="Table 4"/>
          <p:cNvGraphicFramePr>
            <a:graphicFrameLocks noGrp="1"/>
          </p:cNvGraphicFramePr>
          <p:nvPr/>
        </p:nvGraphicFramePr>
        <p:xfrm>
          <a:off x="457200" y="1739646"/>
          <a:ext cx="5102351" cy="2267712"/>
        </p:xfrm>
        <a:graphic>
          <a:graphicData uri="http://schemas.openxmlformats.org/drawingml/2006/table">
            <a:tbl>
              <a:tblPr firstRow="1" bandRow="0"/>
              <a:tblGrid>
                <a:gridCol w="1326611"/>
                <a:gridCol w="943935"/>
                <a:gridCol w="943935"/>
                <a:gridCol w="943935"/>
                <a:gridCol w="943935"/>
              </a:tblGrid>
              <a:tr h="566928">
                <a:tc>
                  <a:txBody>
                    <a:bodyPr wrap="none"/>
                    <a:lstStyle/>
                    <a:p>
                      <a:pPr marL="0" indent="0" algn="l">
                        <a:spcAft>
                          <a:spcPts val="0"/>
                        </a:spcAft>
                        <a:buNone/>
                      </a:pPr>
                      <a:r>
                        <a:rPr sz="1100" b="1" spc="50">
                          <a:solidFill>
                            <a:srgbClr val="86868B"/>
                          </a:solidFill>
                          <a:latin typeface="Helvetica Neue"/>
                        </a:rPr>
                        <a:t>LOGITS Z</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3.0</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2.0</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1.0</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0.0</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 = 0.5, sharper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.865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.117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.016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.002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 = 1.0, unchanged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.644</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.237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.087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.032</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 = 1.5, flatter</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.506</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.261</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.135</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.098</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739646"/>
            <a:ext cx="2761488" cy="2267712"/>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ONE THING ONLY</a:t>
            </a:r>
          </a:p>
          <a:p>
            <a:pPr marL="0" indent="0">
              <a:spcAft>
                <a:spcPts val="900"/>
              </a:spcAft>
              <a:buNone/>
            </a:pPr>
            <a:r>
              <a:rPr sz="1300">
                <a:solidFill>
                  <a:srgbClr val="1D1D1F"/>
                </a:solidFill>
                <a:latin typeface="Helvetica Neue"/>
              </a:rPr>
              <a:t>Divide every logit by T before the softmax. It never reorders the tokens.</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One distribution, four settings, side by side.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we break a model on purpose."/>
          <p:cNvPicPr>
            <a:picLocks noChangeAspect="1"/>
          </p:cNvPicPr>
          <p:nvPr/>
        </p:nvPicPr>
        <p:blipFill>
          <a:blip r:embed="rId3"/>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repetition problem</a:t>
            </a:r>
          </a:p>
        </p:txBody>
      </p:sp>
      <p:pic>
        <p:nvPicPr>
          <p:cNvPr id="5" name="Picture 4" descr="The repetition problem"/>
          <p:cNvPicPr>
            <a:picLocks noChangeAspect="1"/>
          </p:cNvPicPr>
          <p:nvPr/>
        </p:nvPicPr>
        <p:blipFill>
          <a:blip r:embed="rId3"/>
          <a:stretch>
            <a:fillRect/>
          </a:stretch>
        </p:blipFill>
        <p:spPr>
          <a:xfrm>
            <a:off x="274320" y="1325609"/>
            <a:ext cx="8595360" cy="30957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Your turn: make it stop</a:t>
            </a:r>
          </a:p>
          <a:p>
            <a:pPr algn="ctr" marL="0" indent="0">
              <a:buNone/>
            </a:pPr>
            <a:r>
              <a:rPr sz="2000">
                <a:solidFill>
                  <a:srgbClr val="222222"/>
                </a:solidFill>
              </a:rPr>
              <a:t>Part 4 in the notebook. Greedy is looping. Change one thing at a time and get it under 5 repeats.</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