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4C72B0"/>
            </a:solidFill>
            <a:ln>
              <a:noFill/>
            </a:ln>
          </c:spPr>
          <c:dPt>
            <c:idx val="0"/>
            <c:spPr>
              <a:solidFill>
                <a:srgbClr val="4C72B0"/>
              </a:solidFill>
            </c:spPr>
          </c:dPt>
          <c:dPt>
            <c:idx val="1"/>
            <c:spPr>
              <a:solidFill>
                <a:srgbClr val="4C72B0"/>
              </a:solidFill>
            </c:spPr>
          </c:dPt>
          <c:dPt>
            <c:idx val="2"/>
            <c:spPr>
              <a:solidFill>
                <a:srgbClr val="4C72B0"/>
              </a:solidFill>
            </c:spPr>
          </c:dPt>
          <c:dPt>
            <c:idx val="3"/>
            <c:spPr>
              <a:solidFill>
                <a:srgbClr val="4C72B0"/>
              </a:solidFill>
            </c:spPr>
          </c:dPt>
          <c:cat>
            <c:strRef>
              <c:f>Sheet1!$A$2:$A$5</c:f>
              <c:strCache>
                <c:ptCount val="4"/>
                <c:pt idx="0">
                  <c:v>nice</c:v>
                </c:pt>
                <c:pt idx="1">
                  <c:v>cold</c:v>
                </c:pt>
                <c:pt idx="2">
                  <c:v>cloudy</c:v>
                </c:pt>
                <c:pt idx="3">
                  <c:v>sunny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0.1</c:v>
                </c:pt>
                <c:pt idx="1">
                  <c:v>0.15</c:v>
                </c:pt>
                <c:pt idx="2">
                  <c:v>0.25</c:v>
                </c:pt>
                <c:pt idx="3">
                  <c:v>0.45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500" b="1">
                  <a:solidFill>
                    <a:srgbClr val="1D1D1F"/>
                  </a:solidFill>
                  <a:latin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2D2D7"/>
            </a:solidFill>
          </a:ln>
        </c:spPr>
        <c:txPr>
          <a:bodyPr/>
          <a:lstStyle/>
          <a:p>
            <a:pPr>
              <a:defRPr sz="1200">
                <a:solidFill>
                  <a:srgbClr val="86868B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Helvetica Neue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Decoding Strategies: How a Model Picks the Next Word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080610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9, Class 1  ·  Mon Oct 19, 2026</a:t>
            </a:r>
          </a:p>
        </p:txBody>
      </p:sp>
      <p:pic>
        <p:nvPicPr>
          <p:cNvPr id="5" name="Picture 4" descr="Decoding Strategies: How a Model Picks the Next Wor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3474720"/>
            <a:ext cx="1975104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Ann Cook, geograph.org.uk via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Three ways to wire a Transformer</a:t>
            </a:r>
          </a:p>
        </p:txBody>
      </p:sp>
      <p:pic>
        <p:nvPicPr>
          <p:cNvPr id="5" name="Picture 4" descr="Three ways to wire a Transform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40" y="1078992"/>
            <a:ext cx="752452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7.3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What is autoregressive generation?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Feed the whole context in, get one distribution out, pick one token, append it, run again.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engine under generation</a:t>
            </a:r>
          </a:p>
        </p:txBody>
      </p:sp>
      <p:pic>
        <p:nvPicPr>
          <p:cNvPr id="5" name="Picture 4" descr="The engine under gener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980" y="1078992"/>
            <a:ext cx="7710040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Jurafsky &amp; Martin, SLP3 (Jan 2026 draft), Fig. 7.1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Let's walk through Part 1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One prompt, fifty thousand scores.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decoding problem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5102351" cy="2834640"/>
        </p:xfrm>
        <a:graphic>
          <a:graphicData uri="http://schemas.openxmlformats.org/drawingml/2006/table">
            <a:tbl>
              <a:tblPr firstRow="1" bandRow="0"/>
              <a:tblGrid>
                <a:gridCol w="1326611"/>
                <a:gridCol w="943935"/>
                <a:gridCol w="943935"/>
                <a:gridCol w="943935"/>
                <a:gridCol w="943935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TOKEN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MODEL SAYS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GREEDY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TOP-K, K=2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750" b="1" spc="50">
                          <a:solidFill>
                            <a:srgbClr val="86868B"/>
                          </a:solidFill>
                          <a:latin typeface="Helvetica Neue"/>
                        </a:rPr>
                        <a:t>TOP-P, P=0.85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sunny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.45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taken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.64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.53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cloudy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.25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.36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.29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cold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.15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.18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nice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.10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456182"/>
            <a:ext cx="2761488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SAME MODEL, SAME PROBABILITIES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The decoding strategy is the only thing that differs.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Greedy decoding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00" b="0">
                <a:solidFill>
                  <a:srgbClr val="86868B"/>
                </a:solidFill>
                <a:latin typeface="Helvetica Neue"/>
              </a:rPr>
              <a:t>"The weather today is"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89888"/>
          <a:ext cx="8229600" cy="3278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Beam search</a:t>
            </a:r>
          </a:p>
        </p:txBody>
      </p:sp>
      <p:pic>
        <p:nvPicPr>
          <p:cNvPr id="5" name="Picture 4" descr="Beam sear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92514"/>
            <a:ext cx="8595360" cy="35619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Let's walk through Part 2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Greedy and beam, on a real model.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Sampling</a:t>
            </a:r>
          </a:p>
        </p:txBody>
      </p:sp>
      <p:pic>
        <p:nvPicPr>
          <p:cNvPr id="5" name="Picture 4" descr="Sam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83882"/>
            <a:ext cx="8595360" cy="29792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Top-k sampling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MODEL CONFIDENT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.70  .22  .08  .00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k = 3 keeps a token the model barely believes 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MODEL UNSURE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.27  .25  .23  .19  .06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k = 3 cuts gray, which was almost as likely as green. A genuine contender, thrown away.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Top-p (nucleus) sampling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72718"/>
          <a:ext cx="5102351" cy="3401568"/>
        </p:xfrm>
        <a:graphic>
          <a:graphicData uri="http://schemas.openxmlformats.org/drawingml/2006/table">
            <a:tbl>
              <a:tblPr firstRow="1" bandRow="0"/>
              <a:tblGrid>
                <a:gridCol w="1326611"/>
                <a:gridCol w="1887870"/>
                <a:gridCol w="1887870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TOKEN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PROBABILITY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RUNNING TOTAL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sunny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0.40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0.40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cloudy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0.25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0.65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cold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0.13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0.78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warm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0.09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0.87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windy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0.05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0.92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172718"/>
            <a:ext cx="2761488" cy="34015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STOP AT P = 0.90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windy is the token that crosses it, so the set stops there. 50k more tokens never get considered.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nucleus sampling, Holtzman et al. 2020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Temperature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9646"/>
          <a:ext cx="5102351" cy="2267712"/>
        </p:xfrm>
        <a:graphic>
          <a:graphicData uri="http://schemas.openxmlformats.org/drawingml/2006/table">
            <a:tbl>
              <a:tblPr firstRow="1" bandRow="0"/>
              <a:tblGrid>
                <a:gridCol w="1326611"/>
                <a:gridCol w="943935"/>
                <a:gridCol w="943935"/>
                <a:gridCol w="943935"/>
                <a:gridCol w="943935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LOGITS Z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3.0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2.0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1.0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0.0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T = 0.5, sharper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.865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.117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.016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.002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T = 1.0, unchanged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.644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.237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.087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.032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T = 1.5, flatter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.506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.261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.135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.098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739646"/>
            <a:ext cx="2761488" cy="226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ONE THING ONLY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Divide every logit by T before the softmax. It never reorders the tokens.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Let's walk through Part 3 in the notebook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One distribution, four settings, side by side.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we break a model on purpos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repetition problem</a:t>
            </a:r>
          </a:p>
        </p:txBody>
      </p:sp>
      <p:pic>
        <p:nvPicPr>
          <p:cNvPr id="5" name="Picture 4" descr="The repetition proble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325609"/>
            <a:ext cx="8595360" cy="30957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Box 4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7C2529"/>
                </a:solidFill>
              </a:rPr>
              <a:t>Your turn: make it stop</a:t>
            </a:r>
          </a:p>
          <a:p>
            <a:pPr algn="ctr" marL="0" indent="0">
              <a:buNone/>
            </a:pPr>
            <a:r>
              <a:rPr sz="2000">
                <a:solidFill>
                  <a:srgbClr val="222222"/>
                </a:solidFill>
              </a:rPr>
              <a:t>Part 4 in the notebook. Greedy is looping. Change one thing at a time and get it under 5 repeats.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