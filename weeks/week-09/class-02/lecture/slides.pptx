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9, Class 2  ·  Wed Oct 21, 2026</a:t>
            </a:r>
          </a:p>
        </p:txBody>
      </p:sp>
      <p:pic>
        <p:nvPicPr>
          <p:cNvPr id="5" name="Picture 4" descr="Scaling Laws &amp; 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How does performance change as we scale?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For a fixed budget, what should we scale?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220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00" b="0">
                <a:solidFill>
                  <a:srgbClr val="1D1D1F"/>
                </a:solidFill>
                <a:latin typeface="Menlo"/>
              </a:rPr>
              <a:t>Do new abilities appear, or just smaller error?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1428"/>
            <a:ext cx="2645664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27732"/>
            <a:ext cx="2279904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N, PARAMETERS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model size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the number of weights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281428"/>
            <a:ext cx="2645664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427732"/>
            <a:ext cx="2279904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D, DATA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training tokens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how much text it saw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281428"/>
            <a:ext cx="2645664" cy="1184148"/>
          </a:xfrm>
          <a:prstGeom prst="roundRect">
            <a:avLst>
              <a:gd name="adj" fmla="val 1003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427732"/>
            <a:ext cx="2279904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C, COMPUTE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900" b="0" u="none">
                <a:solidFill>
                  <a:srgbClr val="1D1D1F"/>
                </a:solidFill>
                <a:latin typeface="Menlo"/>
              </a:rPr>
              <a:t>total FLOPs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roughly N x 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pic>
        <p:nvPicPr>
          <p:cNvPr id="5" name="Picture 4" descr="Scaling laws (Kaplan et al., 2020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7" y="1078992"/>
            <a:ext cx="811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Train a few small models, fit the curve, extrapolate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Plan the compute budget before spending the millions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9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50" b="0">
                <a:solidFill>
                  <a:srgbClr val="1D1D1F"/>
                </a:solidFill>
                <a:latin typeface="Menlo"/>
              </a:rPr>
              <a:t>Diminishing returns: each 10x of compute buys a fixed drop in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175B parameters bought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85861"/>
            <a:ext cx="8229600" cy="1680591"/>
          </a:xfrm>
          <a:prstGeom prst="roundRect">
            <a:avLst>
              <a:gd name="adj" fmla="val 6529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84130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84130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841309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106485"/>
            <a:ext cx="7607808" cy="100393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sea otter        =&gt; loutre de mer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cheese           =&gt; fromage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plush giraffe    =&gt;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494468"/>
            <a:ext cx="7607808" cy="69469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Menlo"/>
              </a:rPr>
              <a:t>the first two lines are the entire training set, written in the prompt</a:t>
            </a:r>
          </a:p>
          <a:p>
            <a:pPr marL="0" indent="0" algn="l">
              <a:lnSpc>
                <a:spcPts val="2015"/>
              </a:lnSpc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Menlo"/>
              </a:rPr>
              <a:t>gradient updates: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2020, "Language Models are Few-Shot Learners" (arXiv:2005.14165)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Bigger models squeeze more from a prompt</a:t>
            </a:r>
          </a:p>
        </p:txBody>
      </p:sp>
      <p:pic>
        <p:nvPicPr>
          <p:cNvPr id="5" name="Picture 4" descr="Bigger models squeeze more from a promp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085" y="1078992"/>
            <a:ext cx="609182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2020, "Language Models are Few-Shot Learners" (arXiv:2005.14165), Fig. 1.2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654"/>
            <a:ext cx="4041648" cy="1119695"/>
          </a:xfrm>
          <a:prstGeom prst="roundRect">
            <a:avLst>
              <a:gd name="adj" fmla="val 1061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59958"/>
            <a:ext cx="3675888" cy="827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GOPHER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50" b="0" u="none">
                <a:solidFill>
                  <a:srgbClr val="1D1D1F"/>
                </a:solidFill>
                <a:latin typeface="Menlo"/>
              </a:rPr>
              <a:t>280B parameters, ~300B tokens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Four times bigger, and under-trained.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13654"/>
            <a:ext cx="4041648" cy="1119695"/>
          </a:xfrm>
          <a:prstGeom prst="roundRect">
            <a:avLst>
              <a:gd name="adj" fmla="val 1061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59958"/>
            <a:ext cx="3675888" cy="827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CHINCHILLA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50" b="0" u="none">
                <a:solidFill>
                  <a:srgbClr val="1D1D1F"/>
                </a:solidFill>
                <a:latin typeface="Menlo"/>
              </a:rPr>
              <a:t>70B parameters, 1.4T tokens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Same compute budget. The smaller, data-heavier model won.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02" y="1078992"/>
            <a:ext cx="77301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SCALING GIVES YOU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low next-token loss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Strong raw capability, and it does correlate with skill.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YOU ACTUALLY WANT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helpful and safe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A model can have excellent loss and still be neither.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5 (paper)</a:t>
            </a:r>
          </a:p>
        </p:txBody>
      </p:sp>
      <p:pic>
        <p:nvPicPr>
          <p:cNvPr id="5" name="Picture 4" descr="Quiz 5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quizzes/quiz-05.md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you spend a compute budg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have a compute budget. Spend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You have 1.2 x 10^22 FLOPs of training compute. Spend all of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Team A: 80B tokens of licensed text, and you may not repeat any of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Team B: inference must run on one 16GB GPU, with 4GB kept for activations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Team C: it will serve 5 x 10^12 tokens over its life, at 2N FLOPs 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 = 6ND per Kaplan et al. 2020; D = 20N per Hoffmann et al. 2022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Teams of four, boards, no laptops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5 min: the unconstrained answer. 15 min: your team's constraint. 10 min: we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So who was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Two of the three constraints push the same way, and it is not the way Kaplan pointed.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