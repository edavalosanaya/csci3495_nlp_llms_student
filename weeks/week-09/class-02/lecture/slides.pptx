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Evaluation &amp; Benchmarks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9, Class 2</a:t>
            </a:r>
          </a:p>
        </p:txBody>
      </p:sp>
      <p:pic>
        <p:nvPicPr>
          <p:cNvPr id="5" name="Picture 4" descr="Bubble sheets made grading kids scalable; MMLU grades models the same way. Ask the class: what can a bubble sheet never measure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Onderwijsgek, Wikimedia Commons, CC BY-SA 2.5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roadmap</a:t>
            </a:r>
          </a:p>
        </p:txBody>
      </p:sp>
      <p:pic>
        <p:nvPicPr>
          <p:cNvPr id="5" name="Picture 4" descr="Today's roadm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7" y="1078992"/>
            <a:ext cx="822338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Unsplash; MMLU items: Hendrycks et al. 2021 (arXiv:2009.03300), Figs. 3-4; other tiles: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do you grade a machine?</a:t>
            </a:r>
          </a:p>
        </p:txBody>
      </p:sp>
      <p:pic>
        <p:nvPicPr>
          <p:cNvPr id="5" name="Picture 4" descr="We grade students with exams. Benchmarks are the exams we write for models, and they are just as easy to get wro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https://images.unsplash.com/photo-1434030216411-0b793f4b4173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evaluating LLMs hard?</a:t>
            </a:r>
          </a:p>
        </p:txBody>
      </p:sp>
      <p:pic>
        <p:nvPicPr>
          <p:cNvPr id="5" name="Picture 4" descr="Why is evaluating LLMs hard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5061"/>
            <a:ext cx="8595360" cy="26368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benchmark?</a:t>
            </a:r>
          </a:p>
        </p:txBody>
      </p:sp>
      <p:pic>
        <p:nvPicPr>
          <p:cNvPr id="5" name="Picture 4" descr="What is a benchmark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13335"/>
            <a:ext cx="8595360" cy="25203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landmark benchmarks</a:t>
            </a:r>
          </a:p>
        </p:txBody>
      </p:sp>
      <p:pic>
        <p:nvPicPr>
          <p:cNvPr id="5" name="Picture 4" descr="Three landmark benchma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7335"/>
            <a:ext cx="8595360" cy="3212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GLUE 1804.07461; MMLU 2009.03300; HELM 2211.09110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GLUE</a:t>
            </a:r>
          </a:p>
        </p:txBody>
      </p:sp>
      <p:pic>
        <p:nvPicPr>
          <p:cNvPr id="5" name="Picture 4" descr="GL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129" y="1078992"/>
            <a:ext cx="532774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Wang et al. 2018 (arXiv:1804.07461), Table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MMLU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Real items from 3 of 57 subjects; with 4 options, random guessing scores 25%</a:t>
            </a:r>
          </a:p>
        </p:txBody>
      </p:sp>
      <p:pic>
        <p:nvPicPr>
          <p:cNvPr id="6" name="Picture 5" descr="Real items from 3 of the 57 subjects. Four options means random guessing scores 25%; multiple choice makes grading trivial but invites contamina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489" y="1078992"/>
            <a:ext cx="4977021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Hendrycks et al. 2021 (arXiv:2009.03300), Figs. 3-4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HELM</a:t>
            </a:r>
          </a:p>
        </p:txBody>
      </p:sp>
      <p:pic>
        <p:nvPicPr>
          <p:cNvPr id="5" name="Picture 4" descr="HEL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8325"/>
            <a:ext cx="8595360" cy="3110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Liang et al., 2022, arxiv.org/abs/2211.09110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Metrics matter as much as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Pick the metric that matches what you actually care about</a:t>
            </a:r>
          </a:p>
        </p:txBody>
      </p:sp>
      <p:pic>
        <p:nvPicPr>
          <p:cNvPr id="6" name="Picture 5" descr="Metrics matter as much as da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26" y="1078992"/>
            <a:ext cx="705494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Not necessarily. Contamination, narrow metrics, and overfitting can fake a high sco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68630"/>
            <a:ext cx="9144000" cy="6080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model tops every leaderboard, is it actually good?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Not necessarily. Contamination, narrow metrics, and overfitting can fake a high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https://images.unsplash.com/photo-1453928582365-b6ad33cbcf64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Hallucination</a:t>
            </a:r>
          </a:p>
        </p:txBody>
      </p:sp>
      <p:pic>
        <p:nvPicPr>
          <p:cNvPr id="5" name="Picture 4" descr="Hallucin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5438"/>
            <a:ext cx="8595360" cy="30561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example matches the exercise dataset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models hallucinate</a:t>
            </a:r>
          </a:p>
        </p:txBody>
      </p:sp>
      <p:pic>
        <p:nvPicPr>
          <p:cNvPr id="5" name="Picture 4" descr="Why models hallucin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9798"/>
            <a:ext cx="8595360" cy="35474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kinds of hallucination</a:t>
            </a:r>
          </a:p>
        </p:txBody>
      </p:sp>
      <p:pic>
        <p:nvPicPr>
          <p:cNvPr id="5" name="Picture 4" descr="Two kinds of hallucin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9817"/>
            <a:ext cx="8595360" cy="2647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intrinsic vs extrinsic framing, Ji et al. 2023 survey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Faithfulness vs factuality</a:t>
            </a:r>
          </a:p>
        </p:txBody>
      </p:sp>
      <p:pic>
        <p:nvPicPr>
          <p:cNvPr id="5" name="Picture 4" descr="Faithfulness vs factual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5798"/>
            <a:ext cx="8595360" cy="28554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Abstention: saying "I don't know"</a:t>
            </a:r>
          </a:p>
        </p:txBody>
      </p:sp>
      <p:pic>
        <p:nvPicPr>
          <p:cNvPr id="5" name="Picture 4" descr="Abstention: saying &quot;I don't know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75251"/>
            <a:ext cx="8595360" cy="2396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f the cost of a wrong answer is high, &quot;I don't know&quot; is the right answ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80060"/>
            <a:ext cx="9144000" cy="61036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Would you bet your job on this answer?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If the cost of a wrong answer is high, "I don't know" is the right answer.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https://images.unsplash.com/photo-1454165804606-c3d57bc86b40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do we measure factuality?</a:t>
            </a:r>
          </a:p>
        </p:txBody>
      </p:sp>
      <p:pic>
        <p:nvPicPr>
          <p:cNvPr id="5" name="Picture 4" descr="How do we measure factuality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03756"/>
            <a:ext cx="8595360" cy="31394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if the test set was already in the training data?</a:t>
            </a:r>
          </a:p>
        </p:txBody>
      </p:sp>
      <p:pic>
        <p:nvPicPr>
          <p:cNvPr id="5" name="Picture 4" descr="Then the score measures memorization, not ability. Benchmarks are public text, so they get scraped into pretraining corpor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6283"/>
            <a:ext cx="8595360" cy="33944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Evaluating responsibly</a:t>
            </a:r>
          </a:p>
        </p:txBody>
      </p:sp>
      <p:pic>
        <p:nvPicPr>
          <p:cNvPr id="5" name="Picture 4" descr="Evaluating responsib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9430"/>
            <a:ext cx="8595360" cy="31081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We do it all the time now. The question is whether to trust the verdic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Should a robot grade a robot?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We do it all the time now. The question is whether to trust the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LLM-as-a-judge</a:t>
            </a:r>
          </a:p>
        </p:txBody>
      </p:sp>
      <p:pic>
        <p:nvPicPr>
          <p:cNvPr id="5" name="Picture 4" descr="LLM-as-a-jud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57040"/>
            <a:ext cx="8595360" cy="2432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Zheng et al., 2023, arxiv.org/abs/2306.05685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judge has biases</a:t>
            </a:r>
          </a:p>
        </p:txBody>
      </p:sp>
      <p:pic>
        <p:nvPicPr>
          <p:cNvPr id="5" name="Picture 4" descr="The judge has bia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2514"/>
            <a:ext cx="8595360" cy="35619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Zheng et al., 2023, arxiv.org/abs/2306.05685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9</a:t>
            </a:r>
          </a:p>
        </p:txBody>
      </p:sp>
      <p:pic>
        <p:nvPicPr>
          <p:cNvPr id="5" name="Picture 4" descr="Clear your desk. Covers the Week 9 lecture + LoRA (Hu 2021); optional readings are never quizzed.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design a benchmark, then break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design a benchmark, then break it</a:t>
            </a:r>
          </a:p>
        </p:txBody>
      </p:sp>
      <p:pic>
        <p:nvPicPr>
          <p:cNvPr id="5" name="Picture 4" descr="Activity: design a benchmark, then break 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4009"/>
            <a:ext cx="8595360" cy="28189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Design an eval on paper, hand it to another team, and red-team theirs for contamination, position bias, and Goodhar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Build it, swap it, break it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Design an eval on paper, hand it to another team, and red-team theirs for contamination, position bias, and Goodharting.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https://images.unsplash.com/photo-1504917595217-d4dc5ebe6122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punchline: catch a biased 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provided swap-test makes every team's red-team concrete</a:t>
            </a:r>
          </a:p>
        </p:txBody>
      </p:sp>
      <p:pic>
        <p:nvPicPr>
          <p:cNvPr id="6" name="Picture 5" descr="The punchline: catch a biased jud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40" y="1078992"/>
            <a:ext cx="7475719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swap test, Zheng et al. 2023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Optional take-home: the eval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9955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Score items, flag the impossible one, and run the swap test in code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short demo today; the full harness is take-home</a:t>
            </a:r>
          </a:p>
        </p:txBody>
      </p:sp>
      <p:pic>
        <p:nvPicPr>
          <p:cNvPr id="6" name="Picture 5" descr="Optional take-home: the eval harn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257"/>
            <a:ext cx="8595360" cy="2383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weeks/week-09/class-02/exercise/eval_harness.py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benchmark is a map, not the territory</a:t>
            </a:r>
          </a:p>
        </p:txBody>
      </p:sp>
      <p:pic>
        <p:nvPicPr>
          <p:cNvPr id="6" name="Picture 5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384" y="1078992"/>
            <a:ext cx="681123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