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 id="282" r:id="rId47"/>
    <p:sldId id="283" r:id="rId48"/>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 Id="rId47" Type="http://schemas.openxmlformats.org/officeDocument/2006/relationships/slide" Target="slides/slide27.xml"/><Relationship Id="rId48"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Bubble sheets made grading kids scalable; MMLU grades models the same way. Ask the class: what can a bubble sheet never measure?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steps. Why grading a generative model is hard at all, the three benchmark families, hallucination, contamination, using a model as the judge, and then designing a benchmark and trying to break it.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grade students with exams. Benchmarks are the exams we write for models, and they are just as easy to get wrong.</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With a classifier there is one gold label and grading is a string comparison. The moment there is more than one right answer, accuracy stops meaning anything and you have to decide what good even is.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Always report the protocol. Two papers with different shot counts or prompt templates are not comparable.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Watch out for contamination (test items leaked into training inflate the score) and construct validity (does the score measure the capability you care about?). A high MMLU number promises nothing about truthfulness, calibration, or safety.</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Nine sentence-level tasks, one aggregate number. It drove real progress and then models passed the human baseline in about a year, which is why SuperGLUE existed almost immediately.</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Real items from 3 of the 57 subjects. Four options means random guessing scores 25%; multiple choice makes grading trivial but invites contamination. Real items from 3 of 57 subjects; with 4 options, random guessing scores 25%.</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Forces trade-offs into view that one accuracy number hides: this model summarizes acceptably while being badly calibrated about it. Cost: expensive to run, and no tidy rank, by design.</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Pick the metric that matches what you actually care about.</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Take a couple of answers before moving on. Contamination, a narrow metric and plain overfitting can all produce a top score with nothing behind it.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Why it is dangerous: the model optimizes for plausible text, not truth. Fluency is not accuracy, and the wrong answer sounds exactly as authoritative as a right one. You will deliberately catch one today.</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Mitigations, later weeks: retrieval grounding (RAG, Week 11), demand verifiable citations, calibrate confidence and let the model abstain.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Intrinsic contradicts the source, extrinsic invents something the source never mentioned. The second is more dangerous, because there is nothing to contradict and it reads perfectly.</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For RAG and summarization we grade faithfulness: the answer must come from the source. Factuality is the broader, harder world-truth test.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answer almost no model is trained to give. Silence is rarely rewarded during training, so a guess scores better than an admission, and you get a fluent number with nothing behind it.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Reframe it as cost. When a wrong answer is expensive, I do not know is not a failure, it is the correct output.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Caution: every automatic checker is itself imperfect. A factuality score is only as trustworthy as the source and the checker behind it.</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Then the score measures memorization, not ability. Benchmarks are public text, so they get scraped into pretraining corpora. Defenses: private or held-out test sets, canary strings, freshly collected items, and checking the corpus for verbatim overlap. It can mean the answers were memorized. Contamination breaks the one assumption a benchmark rests on: the model has never seen the test.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habits. Report the protocol so two numbers can be compared at all, use more than one benchmark, check for contamination, and look at the errors rather than only the aggregate.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already do, at scale. The question is not whether it happens but whether the verdict deserves trust, which is the next two slides.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Show a strong model both replies and a rubric, and let it pick. It correlates surprisingly well with human preference, which is why it is now everywhere.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question, same content, two orderings, and the judge changes its mind. It also prefers the longer answer. Any evaluation built on this needs the positions swapped and averaged, or it is measuring the judge. Fixes: run both orders and keep only verdicts that survive the swap, give an explicit rubric, compare pairwise, and judge with a different model family. Zheng et al. 2023.</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Clear your desk. Covers the Week 9 lecture + LoRA (Hu 2021); optional readings are never quizzed. Finish early and your break starts early; need more time and it comes out of the break.</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Flag a hallucination, then build the swap test that catches a biased judge.</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provided swap-test makes every team's red-team concrete. The punchline for the activity: the winner can depend on the slot, not the answer. Every team runs this on the eval they received, so the red-teaming ends with a number instead of an opinion.</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benchmark is a map, not the territory. Measure what you actually care about, then say what the number leaves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1.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image3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 Id="rId3" Type="http://schemas.openxmlformats.org/officeDocument/2006/relationships/image" Target="../media/image3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image" Target="../media/image3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Evaluation &amp; Benchmarks</a:t>
            </a:r>
          </a:p>
        </p:txBody>
      </p:sp>
      <p:sp>
        <p:nvSpPr>
          <p:cNvPr id="3" name="Subtitle 2"/>
          <p:cNvSpPr>
            <a:spLocks noGrp="1"/>
          </p:cNvSpPr>
          <p:nvPr>
            <p:ph type="subTitle" idx="1"/>
          </p:nvPr>
        </p:nvSpPr>
        <p:spPr>
          <a:xfrm>
            <a:off x="493926" y="3549825"/>
            <a:ext cx="6080610" cy="970800"/>
          </a:xfrm>
        </p:spPr>
        <p:txBody>
          <a:bodyPr wrap="square"/>
          <a:lstStyle/>
          <a:p>
            <a:pPr marL="0" indent="0">
              <a:buNone/>
            </a:pPr>
            <a:r>
              <a:t>Natural Language Processing &amp; Large Language Models</a:t>
            </a:r>
          </a:p>
          <a:p>
            <a:pPr marL="0" indent="0">
              <a:buNone/>
            </a:pPr>
            <a:r>
              <a:t>Week 9, Class 2  ·  Mon Oct 26, 2026</a:t>
            </a:r>
          </a:p>
        </p:txBody>
      </p:sp>
      <p:pic>
        <p:nvPicPr>
          <p:cNvPr id="5" name="Picture 4" descr="Evaluation &amp; Benchmarks"/>
          <p:cNvPicPr>
            <a:picLocks noChangeAspect="1"/>
          </p:cNvPicPr>
          <p:nvPr/>
        </p:nvPicPr>
        <p:blipFill>
          <a:blip r:embed="rId3"/>
          <a:stretch>
            <a:fillRect/>
          </a:stretch>
        </p:blipFill>
        <p:spPr>
          <a:xfrm>
            <a:off x="6803136" y="3474720"/>
            <a:ext cx="1975104"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Onderwijsgek, Wikimedia Commons, CC BY-SA 2.5 NL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Today's roadmap</a:t>
            </a:r>
          </a:p>
        </p:txBody>
      </p:sp>
      <p:pic>
        <p:nvPicPr>
          <p:cNvPr id="5" name="Picture 4" descr="Today's roadmap"/>
          <p:cNvPicPr>
            <a:picLocks noChangeAspect="1"/>
          </p:cNvPicPr>
          <p:nvPr/>
        </p:nvPicPr>
        <p:blipFill>
          <a:blip r:embed="rId3"/>
          <a:stretch>
            <a:fillRect/>
          </a:stretch>
        </p:blipFill>
        <p:spPr>
          <a:xfrm>
            <a:off x="686639" y="1078992"/>
            <a:ext cx="777072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photos: Unsplash; MMLU items: Hendrycks et al. 2021 (arXiv:2009.03300), Figs. 3-4; other tiles: course figures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How do you grade a machine?</a:t>
            </a:r>
          </a:p>
        </p:txBody>
      </p:sp>
      <p:pic>
        <p:nvPicPr>
          <p:cNvPr id="5" name="Picture 4" descr="How do you grade a machine?"/>
          <p:cNvPicPr>
            <a:picLocks noChangeAspect="1"/>
          </p:cNvPicPr>
          <p:nvPr/>
        </p:nvPicPr>
        <p:blipFill>
          <a:blip r:embed="rId3"/>
          <a:stretch>
            <a:fillRect/>
          </a:stretch>
        </p:blipFill>
        <p:spPr>
          <a:xfrm>
            <a:off x="1881076" y="1078992"/>
            <a:ext cx="53818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https://images.unsplash.com/photo-1434030216411-0b793f4b4173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is evaluating LLMs hard?</a:t>
            </a:r>
          </a:p>
        </p:txBody>
      </p:sp>
      <p:pic>
        <p:nvPicPr>
          <p:cNvPr id="5" name="Picture 4" descr="Why is evaluating LLMs hard?"/>
          <p:cNvPicPr>
            <a:picLocks noChangeAspect="1"/>
          </p:cNvPicPr>
          <p:nvPr/>
        </p:nvPicPr>
        <p:blipFill>
          <a:blip r:embed="rId3"/>
          <a:stretch>
            <a:fillRect/>
          </a:stretch>
        </p:blipFill>
        <p:spPr>
          <a:xfrm>
            <a:off x="274320" y="1143504"/>
            <a:ext cx="8595360" cy="345999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is a benchmark?</a:t>
            </a:r>
          </a:p>
        </p:txBody>
      </p:sp>
      <p:pic>
        <p:nvPicPr>
          <p:cNvPr id="5" name="Picture 4" descr="What is a benchmark?"/>
          <p:cNvPicPr>
            <a:picLocks noChangeAspect="1"/>
          </p:cNvPicPr>
          <p:nvPr/>
        </p:nvPicPr>
        <p:blipFill>
          <a:blip r:embed="rId3"/>
          <a:stretch>
            <a:fillRect/>
          </a:stretch>
        </p:blipFill>
        <p:spPr>
          <a:xfrm>
            <a:off x="693755" y="1078992"/>
            <a:ext cx="775649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Three landmark benchmarks</a:t>
            </a:r>
          </a:p>
        </p:txBody>
      </p:sp>
      <p:pic>
        <p:nvPicPr>
          <p:cNvPr id="5" name="Picture 4" descr="Three landmark benchmarks"/>
          <p:cNvPicPr>
            <a:picLocks noChangeAspect="1"/>
          </p:cNvPicPr>
          <p:nvPr/>
        </p:nvPicPr>
        <p:blipFill>
          <a:blip r:embed="rId3"/>
          <a:stretch>
            <a:fillRect/>
          </a:stretch>
        </p:blipFill>
        <p:spPr>
          <a:xfrm>
            <a:off x="274320" y="1103441"/>
            <a:ext cx="8595360" cy="354012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GLUE 1804.07461; MMLU 2009.03300; HELM 2211.09110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GLUE</a:t>
            </a:r>
          </a:p>
        </p:txBody>
      </p:sp>
      <p:pic>
        <p:nvPicPr>
          <p:cNvPr id="5" name="Picture 4" descr="GLUE"/>
          <p:cNvPicPr>
            <a:picLocks noChangeAspect="1"/>
          </p:cNvPicPr>
          <p:nvPr/>
        </p:nvPicPr>
        <p:blipFill>
          <a:blip r:embed="rId3"/>
          <a:stretch>
            <a:fillRect/>
          </a:stretch>
        </p:blipFill>
        <p:spPr>
          <a:xfrm>
            <a:off x="1908129" y="1078992"/>
            <a:ext cx="5327742"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Wang et al. 2018 (arXiv:1804.07461), Table 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MMLU</a:t>
            </a:r>
          </a:p>
        </p:txBody>
      </p:sp>
      <p:pic>
        <p:nvPicPr>
          <p:cNvPr id="5" name="Picture 4" descr="MMLU"/>
          <p:cNvPicPr>
            <a:picLocks noChangeAspect="1"/>
          </p:cNvPicPr>
          <p:nvPr/>
        </p:nvPicPr>
        <p:blipFill>
          <a:blip r:embed="rId3"/>
          <a:stretch>
            <a:fillRect/>
          </a:stretch>
        </p:blipFill>
        <p:spPr>
          <a:xfrm>
            <a:off x="1769302" y="1078992"/>
            <a:ext cx="5605396"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Hendrycks et al. 2021 (arXiv:2009.03300), Figs. 3-4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HELM</a:t>
            </a:r>
          </a:p>
        </p:txBody>
      </p:sp>
      <p:pic>
        <p:nvPicPr>
          <p:cNvPr id="5" name="Picture 4" descr="HELM"/>
          <p:cNvPicPr>
            <a:picLocks noChangeAspect="1"/>
          </p:cNvPicPr>
          <p:nvPr/>
        </p:nvPicPr>
        <p:blipFill>
          <a:blip r:embed="rId3"/>
          <a:stretch>
            <a:fillRect/>
          </a:stretch>
        </p:blipFill>
        <p:spPr>
          <a:xfrm>
            <a:off x="274320" y="1580556"/>
            <a:ext cx="8595360" cy="258589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Liang et al., 2022, arxiv.org/abs/2211.09110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Metrics matter as much as data</a:t>
            </a:r>
          </a:p>
        </p:txBody>
      </p:sp>
      <p:pic>
        <p:nvPicPr>
          <p:cNvPr id="5" name="Picture 4" descr="Metrics matter as much as data"/>
          <p:cNvPicPr>
            <a:picLocks noChangeAspect="1"/>
          </p:cNvPicPr>
          <p:nvPr/>
        </p:nvPicPr>
        <p:blipFill>
          <a:blip r:embed="rId3"/>
          <a:stretch>
            <a:fillRect/>
          </a:stretch>
        </p:blipFill>
        <p:spPr>
          <a:xfrm>
            <a:off x="721960" y="1078992"/>
            <a:ext cx="7700079"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Not necessarily. Contamination, narrow metrics, and overfitting can fake a high score."/>
          <p:cNvPicPr>
            <a:picLocks noChangeAspect="1"/>
          </p:cNvPicPr>
          <p:nvPr/>
        </p:nvPicPr>
        <p:blipFill>
          <a:blip r:embed="rId3"/>
          <a:stretch>
            <a:fillRect/>
          </a:stretch>
        </p:blipFill>
        <p:spPr>
          <a:xfrm>
            <a:off x="0" y="-468630"/>
            <a:ext cx="9144000" cy="608076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If a model tops every leaderboard, is it actually good?</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Not necessarily. Contamination, narrow metrics, and overfitting can fake a high score.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https://images.unsplash.com/photo-1453928582365-b6ad33cbcf64</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Hallucination</a:t>
            </a:r>
          </a:p>
        </p:txBody>
      </p:sp>
      <p:pic>
        <p:nvPicPr>
          <p:cNvPr id="5" name="Picture 4" descr="Hallucination"/>
          <p:cNvPicPr>
            <a:picLocks noChangeAspect="1"/>
          </p:cNvPicPr>
          <p:nvPr/>
        </p:nvPicPr>
        <p:blipFill>
          <a:blip r:embed="rId3"/>
          <a:stretch>
            <a:fillRect/>
          </a:stretch>
        </p:blipFill>
        <p:spPr>
          <a:xfrm>
            <a:off x="711301" y="1078992"/>
            <a:ext cx="772139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example matches the exercise dataset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models hallucinate</a:t>
            </a:r>
          </a:p>
        </p:txBody>
      </p:sp>
      <p:pic>
        <p:nvPicPr>
          <p:cNvPr id="5" name="Picture 4" descr="Why models hallucinate"/>
          <p:cNvPicPr>
            <a:picLocks noChangeAspect="1"/>
          </p:cNvPicPr>
          <p:nvPr/>
        </p:nvPicPr>
        <p:blipFill>
          <a:blip r:embed="rId3"/>
          <a:stretch>
            <a:fillRect/>
          </a:stretch>
        </p:blipFill>
        <p:spPr>
          <a:xfrm>
            <a:off x="515445" y="1078992"/>
            <a:ext cx="811311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Two kinds of hallucination</a:t>
            </a:r>
          </a:p>
        </p:txBody>
      </p:sp>
      <p:pic>
        <p:nvPicPr>
          <p:cNvPr id="5" name="Picture 4" descr="Two kinds of hallucination"/>
          <p:cNvPicPr>
            <a:picLocks noChangeAspect="1"/>
          </p:cNvPicPr>
          <p:nvPr/>
        </p:nvPicPr>
        <p:blipFill>
          <a:blip r:embed="rId3"/>
          <a:stretch>
            <a:fillRect/>
          </a:stretch>
        </p:blipFill>
        <p:spPr>
          <a:xfrm>
            <a:off x="274320" y="1291956"/>
            <a:ext cx="8595360" cy="316309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intrinsic vs extrinsic framing, Ji et al. 2023 survey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Faithfulness vs factuality</a:t>
            </a:r>
          </a:p>
        </p:txBody>
      </p:sp>
      <p:pic>
        <p:nvPicPr>
          <p:cNvPr id="5" name="Picture 4" descr="Faithfulness vs factuality"/>
          <p:cNvPicPr>
            <a:picLocks noChangeAspect="1"/>
          </p:cNvPicPr>
          <p:nvPr/>
        </p:nvPicPr>
        <p:blipFill>
          <a:blip r:embed="rId3"/>
          <a:stretch>
            <a:fillRect/>
          </a:stretch>
        </p:blipFill>
        <p:spPr>
          <a:xfrm>
            <a:off x="530928" y="1078992"/>
            <a:ext cx="808214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Abstention: saying "I don't know"</a:t>
            </a:r>
          </a:p>
        </p:txBody>
      </p:sp>
      <p:pic>
        <p:nvPicPr>
          <p:cNvPr id="5" name="Picture 4" descr="Abstention: saying &quot;I don't know&quot;"/>
          <p:cNvPicPr>
            <a:picLocks noChangeAspect="1"/>
          </p:cNvPicPr>
          <p:nvPr/>
        </p:nvPicPr>
        <p:blipFill>
          <a:blip r:embed="rId3"/>
          <a:stretch>
            <a:fillRect/>
          </a:stretch>
        </p:blipFill>
        <p:spPr>
          <a:xfrm>
            <a:off x="387174" y="1078992"/>
            <a:ext cx="836965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If the cost of a wrong answer is high, &quot;I don't know&quot; is the right answer."/>
          <p:cNvPicPr>
            <a:picLocks noChangeAspect="1"/>
          </p:cNvPicPr>
          <p:nvPr/>
        </p:nvPicPr>
        <p:blipFill>
          <a:blip r:embed="rId3"/>
          <a:stretch>
            <a:fillRect/>
          </a:stretch>
        </p:blipFill>
        <p:spPr>
          <a:xfrm>
            <a:off x="0" y="-480060"/>
            <a:ext cx="9144000" cy="610362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FFFFFF"/>
                </a:solidFill>
              </a:rPr>
              <a:t>Would you bet your job on this answer?</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If the cost of a wrong answer is high, "I don't know" is the right answer.</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https://images.unsplash.com/photo-1454165804606-c3d57bc86b40</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How do we measure factuality?</a:t>
            </a:r>
          </a:p>
        </p:txBody>
      </p:sp>
      <p:pic>
        <p:nvPicPr>
          <p:cNvPr id="5" name="Picture 4" descr="How do we measure factuality?"/>
          <p:cNvPicPr>
            <a:picLocks noChangeAspect="1"/>
          </p:cNvPicPr>
          <p:nvPr/>
        </p:nvPicPr>
        <p:blipFill>
          <a:blip r:embed="rId3"/>
          <a:stretch>
            <a:fillRect/>
          </a:stretch>
        </p:blipFill>
        <p:spPr>
          <a:xfrm>
            <a:off x="561542" y="1078992"/>
            <a:ext cx="802091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if the test set was already in the training data?</a:t>
            </a:r>
          </a:p>
        </p:txBody>
      </p:sp>
      <p:pic>
        <p:nvPicPr>
          <p:cNvPr id="5" name="Picture 4" descr="What if the test set was already in the training data?"/>
          <p:cNvPicPr>
            <a:picLocks noChangeAspect="1"/>
          </p:cNvPicPr>
          <p:nvPr/>
        </p:nvPicPr>
        <p:blipFill>
          <a:blip r:embed="rId3"/>
          <a:stretch>
            <a:fillRect/>
          </a:stretch>
        </p:blipFill>
        <p:spPr>
          <a:xfrm>
            <a:off x="274320" y="1139862"/>
            <a:ext cx="8595360" cy="34672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Evaluating responsibly</a:t>
            </a:r>
          </a:p>
        </p:txBody>
      </p:sp>
      <p:pic>
        <p:nvPicPr>
          <p:cNvPr id="5" name="Picture 4" descr="Evaluating responsibly"/>
          <p:cNvPicPr>
            <a:picLocks noChangeAspect="1"/>
          </p:cNvPicPr>
          <p:nvPr/>
        </p:nvPicPr>
        <p:blipFill>
          <a:blip r:embed="rId3"/>
          <a:stretch>
            <a:fillRect/>
          </a:stretch>
        </p:blipFill>
        <p:spPr>
          <a:xfrm>
            <a:off x="274320" y="1300244"/>
            <a:ext cx="8595360" cy="314651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We do it all the time now. The question is whether to trust the verdict."/>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FFFFFF"/>
                </a:solidFill>
              </a:rPr>
              <a:t>Should a robot grade a robot?</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We do it all the time now. The question is whether to trust the verdict.</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https://images.unsplash.com/photo-1589829545856-d10d557cf95f</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LLM-as-a-judge</a:t>
            </a:r>
          </a:p>
        </p:txBody>
      </p:sp>
      <p:pic>
        <p:nvPicPr>
          <p:cNvPr id="5" name="Picture 4" descr="LLM-as-a-judge"/>
          <p:cNvPicPr>
            <a:picLocks noChangeAspect="1"/>
          </p:cNvPicPr>
          <p:nvPr/>
        </p:nvPicPr>
        <p:blipFill>
          <a:blip r:embed="rId3"/>
          <a:stretch>
            <a:fillRect/>
          </a:stretch>
        </p:blipFill>
        <p:spPr>
          <a:xfrm>
            <a:off x="621400" y="1078992"/>
            <a:ext cx="790120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Zheng et al., 2023, arxiv.org/abs/2306.05685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judge has biases</a:t>
            </a:r>
          </a:p>
        </p:txBody>
      </p:sp>
      <p:pic>
        <p:nvPicPr>
          <p:cNvPr id="5" name="Picture 4" descr="The judge has biases"/>
          <p:cNvPicPr>
            <a:picLocks noChangeAspect="1"/>
          </p:cNvPicPr>
          <p:nvPr/>
        </p:nvPicPr>
        <p:blipFill>
          <a:blip r:embed="rId3"/>
          <a:stretch>
            <a:fillRect/>
          </a:stretch>
        </p:blipFill>
        <p:spPr>
          <a:xfrm>
            <a:off x="468276" y="1078992"/>
            <a:ext cx="82074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Zheng et al., 2023, arxiv.org/abs/2306.05685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9</a:t>
            </a:r>
          </a:p>
        </p:txBody>
      </p:sp>
      <p:pic>
        <p:nvPicPr>
          <p:cNvPr id="5" name="Picture 4" descr="Quiz 9"/>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design a benchmark, then break it."/>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Build the evaluation harness</a:t>
            </a:r>
          </a:p>
        </p:txBody>
      </p:sp>
      <p:pic>
        <p:nvPicPr>
          <p:cNvPr id="5" name="Picture 4" descr="Build the evaluation harness"/>
          <p:cNvPicPr>
            <a:picLocks noChangeAspect="1"/>
          </p:cNvPicPr>
          <p:nvPr/>
        </p:nvPicPr>
        <p:blipFill>
          <a:blip r:embed="rId3"/>
          <a:stretch>
            <a:fillRect/>
          </a:stretch>
        </p:blipFill>
        <p:spPr>
          <a:xfrm>
            <a:off x="274320" y="1681873"/>
            <a:ext cx="8595360" cy="238325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weeks/week-09/class-02/exercise/README.md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punchline: catch a biased judge</a:t>
            </a:r>
          </a:p>
        </p:txBody>
      </p:sp>
      <p:pic>
        <p:nvPicPr>
          <p:cNvPr id="5" name="Picture 4" descr="The punchline: catch a biased judge"/>
          <p:cNvPicPr>
            <a:picLocks noChangeAspect="1"/>
          </p:cNvPicPr>
          <p:nvPr/>
        </p:nvPicPr>
        <p:blipFill>
          <a:blip r:embed="rId3"/>
          <a:stretch>
            <a:fillRect/>
          </a:stretch>
        </p:blipFill>
        <p:spPr>
          <a:xfrm>
            <a:off x="491997" y="1078992"/>
            <a:ext cx="81600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swap test, Zheng et al. 2023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661784" y="1078992"/>
            <a:ext cx="782043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