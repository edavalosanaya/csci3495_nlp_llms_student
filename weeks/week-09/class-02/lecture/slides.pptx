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20"/>
  </p:notesMasterIdLst>
  <p:sldIdLst>
    <p:sldId id="256" r:id="rId2"/>
    <p:sldId id="271" r:id="rId3"/>
    <p:sldId id="274" r:id="rId4"/>
    <p:sldId id="272" r:id="rId5"/>
    <p:sldId id="262" r:id="rId6"/>
    <p:sldId id="273" r:id="rId7"/>
    <p:sldId id="276" r:id="rId8"/>
    <p:sldId id="258" r:id="rId9"/>
    <p:sldId id="259" r:id="rId10"/>
    <p:sldId id="275" r:id="rId11"/>
    <p:sldId id="277" r:id="rId12"/>
    <p:sldId id="281" r:id="rId13"/>
    <p:sldId id="278" r:id="rId14"/>
    <p:sldId id="280" r:id="rId15"/>
    <p:sldId id="279" r:id="rId16"/>
    <p:sldId id="266" r:id="rId17"/>
    <p:sldId id="267" r:id="rId18"/>
    <p:sldId id="282" r:id="rId19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1"/>
    </p:embeddedFont>
    <p:embeddedFont>
      <p:font typeface="Playfair Display" pitchFamily="2" charset="77"/>
      <p:regular r:id="rId22"/>
      <p:bold r:id="rId23"/>
      <p:italic r:id="rId24"/>
      <p:boldItalic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  <p:embeddedFont>
      <p:font typeface="Roboto Light" panose="020F030202020403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/>
    <p:restoredTop sz="94658"/>
  </p:normalViewPr>
  <p:slideViewPr>
    <p:cSldViewPr snapToGrid="0">
      <p:cViewPr varScale="1">
        <p:scale>
          <a:sx n="160" d="100"/>
          <a:sy n="160" d="100"/>
        </p:scale>
        <p:origin x="1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523" y="685800"/>
            <a:ext cx="4571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390300"/>
            <a:ext cx="91440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l="600" t="43847" r="-600" b="13732"/>
          <a:stretch/>
        </p:blipFill>
        <p:spPr>
          <a:xfrm>
            <a:off x="0" y="-70472"/>
            <a:ext cx="9198797" cy="346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2 Columns">
  <p:cSld name="2_Portfolio Thre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0957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2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3"/>
          </p:nvPr>
        </p:nvSpPr>
        <p:spPr>
          <a:xfrm>
            <a:off x="482712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3 Columns">
  <p:cSld name="1_Slide with Placehol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5521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3"/>
          </p:nvPr>
        </p:nvSpPr>
        <p:spPr>
          <a:xfrm>
            <a:off x="33374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4"/>
          </p:nvPr>
        </p:nvSpPr>
        <p:spPr>
          <a:xfrm>
            <a:off x="6160800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">
  <p:cSld name="Cover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 with Logo">
  <p:cSld name="Cover Slide_2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14" y="628706"/>
            <a:ext cx="4936973" cy="388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Acknowledgments Slide">
  <p:cSld name="Cover Slide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Playfair Display"/>
              <a:buNone/>
              <a:defRPr sz="560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509521" y="1401113"/>
            <a:ext cx="5120100" cy="1558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27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Custom Layou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ig Concept Slide">
  <p:cSld name="Slide with Placehol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509577" y="2245519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509577" y="3154509"/>
            <a:ext cx="6737700" cy="953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">
  <p:cSld name="Large Picture with Log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l="27412" r="6551" b="2009"/>
          <a:stretch/>
        </p:blipFill>
        <p:spPr>
          <a:xfrm>
            <a:off x="7006675" y="-56025"/>
            <a:ext cx="2176574" cy="4846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1">
  <p:cSld name="Large Picture with Logo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2">
  <p:cSld name="Large Picture with Logo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 l="27412" r="6551"/>
          <a:stretch/>
        </p:blipFill>
        <p:spPr>
          <a:xfrm>
            <a:off x="7006675" y="-57150"/>
            <a:ext cx="2137324" cy="48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l="8950"/>
          <a:stretch/>
        </p:blipFill>
        <p:spPr>
          <a:xfrm>
            <a:off x="7006665" y="-57150"/>
            <a:ext cx="6633784" cy="48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2"/>
          <p:cNvPicPr preferRelativeResize="0"/>
          <p:nvPr/>
        </p:nvPicPr>
        <p:blipFill rotWithShape="1">
          <a:blip r:embed="rId4">
            <a:alphaModFix/>
          </a:blip>
          <a:srcRect l="39028"/>
          <a:stretch/>
        </p:blipFill>
        <p:spPr>
          <a:xfrm>
            <a:off x="7006676" y="-57150"/>
            <a:ext cx="4442373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3">
  <p:cSld name="Large Picture with Logo_1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l="24210" r="1252"/>
          <a:stretch/>
        </p:blipFill>
        <p:spPr>
          <a:xfrm>
            <a:off x="7006675" y="-57150"/>
            <a:ext cx="5430948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4">
  <p:cSld name="Large Picture with Logo_1_1_1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l="34525"/>
          <a:stretch/>
        </p:blipFill>
        <p:spPr>
          <a:xfrm>
            <a:off x="7010075" y="-57150"/>
            <a:ext cx="2543048" cy="48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">
  <p:cSld name="3_Placehol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 1">
  <p:cSld name="3_Placeholder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ingle Statistic">
  <p:cSld name="1_Placehol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454066" y="182433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4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2"/>
          </p:nvPr>
        </p:nvSpPr>
        <p:spPr>
          <a:xfrm>
            <a:off x="454066" y="3127509"/>
            <a:ext cx="8353200" cy="715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3"/>
          </p:nvPr>
        </p:nvSpPr>
        <p:spPr>
          <a:xfrm>
            <a:off x="4838166" y="1824350"/>
            <a:ext cx="38664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 idx="4"/>
          </p:nvPr>
        </p:nvSpPr>
        <p:spPr>
          <a:xfrm>
            <a:off x="509577" y="837514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Multiple Statistics">
  <p:cSld name="1_Placeholder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454066" y="75948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2"/>
          </p:nvPr>
        </p:nvSpPr>
        <p:spPr>
          <a:xfrm>
            <a:off x="4759893" y="759488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title" idx="3"/>
          </p:nvPr>
        </p:nvSpPr>
        <p:spPr>
          <a:xfrm>
            <a:off x="454066" y="2037533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4"/>
          </p:nvPr>
        </p:nvSpPr>
        <p:spPr>
          <a:xfrm>
            <a:off x="4759893" y="2037533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title" idx="5"/>
          </p:nvPr>
        </p:nvSpPr>
        <p:spPr>
          <a:xfrm>
            <a:off x="454066" y="343770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6"/>
          </p:nvPr>
        </p:nvSpPr>
        <p:spPr>
          <a:xfrm>
            <a:off x="4759893" y="3437709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Quote">
  <p:cSld name="CUSTOM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/>
          <p:nvPr/>
        </p:nvSpPr>
        <p:spPr>
          <a:xfrm>
            <a:off x="5748887" y="1561152"/>
            <a:ext cx="1718100" cy="219300"/>
          </a:xfrm>
          <a:prstGeom prst="rect">
            <a:avLst/>
          </a:prstGeom>
          <a:solidFill>
            <a:srgbClr val="738D33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467434" y="1561152"/>
            <a:ext cx="1718100" cy="219300"/>
          </a:xfrm>
          <a:prstGeom prst="rect">
            <a:avLst/>
          </a:prstGeom>
          <a:solidFill>
            <a:srgbClr val="62557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0" y="1561152"/>
            <a:ext cx="1718100" cy="2193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1718076" y="1561152"/>
            <a:ext cx="1718100" cy="219300"/>
          </a:xfrm>
          <a:prstGeom prst="rect">
            <a:avLst/>
          </a:prstGeom>
          <a:solidFill>
            <a:srgbClr val="498DA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589051" y="975950"/>
            <a:ext cx="1965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818387"/>
                </a:solidFill>
              </a:rPr>
              <a:t>“</a:t>
            </a:r>
            <a:endParaRPr sz="12000" b="1">
              <a:solidFill>
                <a:srgbClr val="818387"/>
              </a:solidFill>
            </a:endParaRPr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1682308" y="2130769"/>
            <a:ext cx="5779500" cy="1962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3300470" y="3999056"/>
            <a:ext cx="2543100" cy="384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3_Title Slide">
  <p:cSld name="13_Title Sli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>
            <a:spLocks noGrp="1"/>
          </p:cNvSpPr>
          <p:nvPr>
            <p:ph type="pic" idx="2"/>
          </p:nvPr>
        </p:nvSpPr>
        <p:spPr>
          <a:xfrm>
            <a:off x="192505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0"/>
          <p:cNvSpPr>
            <a:spLocks noGrp="1"/>
          </p:cNvSpPr>
          <p:nvPr>
            <p:ph type="pic" idx="3"/>
          </p:nvPr>
        </p:nvSpPr>
        <p:spPr>
          <a:xfrm>
            <a:off x="1997242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>
            <a:spLocks noGrp="1"/>
          </p:cNvSpPr>
          <p:nvPr>
            <p:ph type="pic" idx="4"/>
          </p:nvPr>
        </p:nvSpPr>
        <p:spPr>
          <a:xfrm>
            <a:off x="3801980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>
            <a:spLocks noGrp="1"/>
          </p:cNvSpPr>
          <p:nvPr>
            <p:ph type="pic" idx="5"/>
          </p:nvPr>
        </p:nvSpPr>
        <p:spPr>
          <a:xfrm>
            <a:off x="5606716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0"/>
          <p:cNvSpPr>
            <a:spLocks noGrp="1"/>
          </p:cNvSpPr>
          <p:nvPr>
            <p:ph type="pic" idx="6"/>
          </p:nvPr>
        </p:nvSpPr>
        <p:spPr>
          <a:xfrm>
            <a:off x="7411453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 1">
  <p:cSld name="1_Cover Pag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-53437" y="3390300"/>
            <a:ext cx="91974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>
            <a:alphaModFix/>
          </a:blip>
          <a:srcRect t="43844" r="-563" b="13732"/>
          <a:stretch/>
        </p:blipFill>
        <p:spPr>
          <a:xfrm>
            <a:off x="-53437" y="-70462"/>
            <a:ext cx="9250875" cy="346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00" tIns="25700" rIns="25700" bIns="2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9577" y="1401113"/>
            <a:ext cx="80058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oboto"/>
              <a:buNone/>
              <a:defRPr sz="22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None/>
              <a:defRPr sz="15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sz="13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1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sz="5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22">
            <a:alphaModFix/>
          </a:blip>
          <a:srcRect t="35296"/>
          <a:stretch/>
        </p:blipFill>
        <p:spPr>
          <a:xfrm>
            <a:off x="0" y="4794384"/>
            <a:ext cx="9144000" cy="34911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PZXN7jm9IC0?feature=oembed" TargetMode="Externa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923" y="976378"/>
            <a:ext cx="5596776" cy="1824300"/>
          </a:xfrm>
        </p:spPr>
        <p:txBody>
          <a:bodyPr wrap="square"/>
          <a:lstStyle/>
          <a:p>
            <a:pPr marL="0" indent="0">
              <a:buNone/>
            </a:pPr>
            <a:r>
              <a:rPr dirty="0"/>
              <a:t>CSCI 3495</a:t>
            </a:r>
          </a:p>
          <a:p>
            <a:pPr marL="0" indent="0">
              <a:buNone/>
            </a:pPr>
            <a:r>
              <a:rPr dirty="0"/>
              <a:t>Scaling Laws &amp; Emergent Abilities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926" y="3549825"/>
            <a:ext cx="6080610" cy="970800"/>
          </a:xfrm>
        </p:spPr>
        <p:txBody>
          <a:bodyPr wrap="square"/>
          <a:lstStyle/>
          <a:p>
            <a:pPr marL="0" indent="0">
              <a:buNone/>
            </a:pPr>
            <a:r>
              <a:t>Natural Language Processing &amp; Large Language Models</a:t>
            </a:r>
          </a:p>
          <a:p>
            <a:pPr marL="0" indent="0">
              <a:buNone/>
            </a:pPr>
            <a:r>
              <a:t>Week 9, Class 2  ·  Wed Oct 21,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Source: Guerin Nicolas, Wikimedia Commons, CC BY-SA 3.0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C9DC12-5992-B1A3-67DE-73F54BB86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946" y="91440"/>
            <a:ext cx="2546458" cy="31918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A3016A-BBE3-FF80-0405-BA34EF479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21" y="406949"/>
            <a:ext cx="8124902" cy="4173001"/>
          </a:xfrm>
        </p:spPr>
        <p:txBody>
          <a:bodyPr/>
          <a:lstStyle/>
          <a:p>
            <a:r>
              <a:rPr lang="en-US" sz="13800" dirty="0"/>
              <a:t>How big is GPT-3?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F45A492-C58A-6910-EF9C-25FDC7389C8D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753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2F41C-F834-E201-E004-0D7B0E2CB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96D9F4-7292-78F5-9F12-58A20EB26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21" y="406949"/>
            <a:ext cx="8124902" cy="4173001"/>
          </a:xfrm>
        </p:spPr>
        <p:txBody>
          <a:bodyPr/>
          <a:lstStyle/>
          <a:p>
            <a:r>
              <a:rPr lang="en-US" sz="9600" dirty="0"/>
              <a:t>How long was GPT-3 Trained?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B1BC17A-7709-CEF9-6754-4C0C9454746E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872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E33989-676C-00DE-B381-CC04B579D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GPT-3 – The First Giant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79D7D0A-EA55-C34F-8B0B-185ECE108FE2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ED855AF2-8002-5EF6-1B71-B750A92C3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314" y="1066370"/>
            <a:ext cx="4786686" cy="40771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B30812-2FCD-C6BB-C2B2-9DE7AAE2570D}"/>
              </a:ext>
            </a:extLst>
          </p:cNvPr>
          <p:cNvSpPr txBox="1"/>
          <p:nvPr/>
        </p:nvSpPr>
        <p:spPr>
          <a:xfrm>
            <a:off x="135322" y="1320230"/>
            <a:ext cx="42935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GPT-3 with it being 175B was the first Large Language model as we know it.</a:t>
            </a:r>
          </a:p>
          <a:p>
            <a:endParaRPr lang="en-US" sz="1800" dirty="0"/>
          </a:p>
          <a:p>
            <a:r>
              <a:rPr lang="en-US" sz="1800" dirty="0"/>
              <a:t>Training took 2,880,000 to 3,552,000 GPU hours (</a:t>
            </a:r>
            <a:r>
              <a:rPr lang="en-US" sz="1800" b="1" dirty="0"/>
              <a:t>405 years in Nvidia V100</a:t>
            </a:r>
            <a:r>
              <a:rPr lang="en-US" sz="1800" dirty="0"/>
              <a:t>). </a:t>
            </a:r>
          </a:p>
          <a:p>
            <a:endParaRPr lang="en-US" sz="1800" dirty="0"/>
          </a:p>
          <a:p>
            <a:r>
              <a:rPr lang="en-US" sz="1800" dirty="0"/>
              <a:t>This cause the start of the LLM arms race:</a:t>
            </a:r>
          </a:p>
          <a:p>
            <a:pPr marL="342900" lvl="2" indent="-342900">
              <a:buFont typeface="+mj-lt"/>
              <a:buAutoNum type="arabicPeriod"/>
            </a:pPr>
            <a:r>
              <a:rPr lang="en-US" sz="1800" dirty="0"/>
              <a:t>More training dataset (300B+ tokens)</a:t>
            </a:r>
          </a:p>
          <a:p>
            <a:pPr marL="342900" lvl="2" indent="-342900">
              <a:buFont typeface="+mj-lt"/>
              <a:buAutoNum type="arabicPeriod"/>
            </a:pPr>
            <a:r>
              <a:rPr lang="en-US" sz="1800" dirty="0"/>
              <a:t>More model parameters (100B+)</a:t>
            </a:r>
          </a:p>
          <a:p>
            <a:pPr marL="342900" lvl="2" indent="-342900">
              <a:buFont typeface="+mj-lt"/>
              <a:buAutoNum type="arabicPeriod"/>
            </a:pPr>
            <a:r>
              <a:rPr lang="en-US" sz="1800" dirty="0"/>
              <a:t>More training compute (FLOPs)</a:t>
            </a:r>
          </a:p>
        </p:txBody>
      </p:sp>
    </p:spTree>
    <p:extLst>
      <p:ext uri="{BB962C8B-B14F-4D97-AF65-F5344CB8AC3E}">
        <p14:creationId xmlns:p14="http://schemas.microsoft.com/office/powerpoint/2010/main" val="1540204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Bigger models squeeze more from a prompt</a:t>
            </a:r>
          </a:p>
        </p:txBody>
      </p:sp>
      <p:pic>
        <p:nvPicPr>
          <p:cNvPr id="5" name="Picture 4" descr="Bigger models squeeze more from a promp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001" y="1048967"/>
            <a:ext cx="6297998" cy="37104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Brown et al. 2020, "Language Models are Few-Shot Learners" (arXiv:2005.14165), Fig. 1.2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59F7A9-ED7E-F76C-1800-64D33AAA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21" y="406950"/>
            <a:ext cx="3773400" cy="994200"/>
          </a:xfrm>
        </p:spPr>
        <p:txBody>
          <a:bodyPr/>
          <a:lstStyle/>
          <a:p>
            <a:r>
              <a:rPr lang="en-US" dirty="0"/>
              <a:t>LLMs Over the Years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D642B72-989C-62ED-491D-4F23F6AA540D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chart of different colored circles&#10;&#10;AI-generated content may be incorrect.">
            <a:extLst>
              <a:ext uri="{FF2B5EF4-FFF2-40B4-BE49-F238E27FC236}">
                <a16:creationId xmlns:a16="http://schemas.microsoft.com/office/drawing/2014/main" id="{F31EF5B8-A37F-A3AA-319D-88CB42394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921" y="0"/>
            <a:ext cx="4470772" cy="50999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FD3EF4-412E-449E-0CA0-24DB15171C91}"/>
              </a:ext>
            </a:extLst>
          </p:cNvPr>
          <p:cNvSpPr txBox="1"/>
          <p:nvPr/>
        </p:nvSpPr>
        <p:spPr>
          <a:xfrm>
            <a:off x="390307" y="1645920"/>
            <a:ext cx="389261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But we should be asking ourselves:</a:t>
            </a:r>
          </a:p>
          <a:p>
            <a:endParaRPr lang="en-US" sz="1800" dirty="0"/>
          </a:p>
          <a:p>
            <a:r>
              <a:rPr lang="en-US" sz="1800" dirty="0"/>
              <a:t>(1) How does performance change as we scale? </a:t>
            </a:r>
          </a:p>
          <a:p>
            <a:endParaRPr lang="en-US" sz="1800" dirty="0"/>
          </a:p>
          <a:p>
            <a:r>
              <a:rPr lang="en-US" sz="1800" dirty="0"/>
              <a:t>(2) For a fixed budget, what should we scale?</a:t>
            </a:r>
          </a:p>
          <a:p>
            <a:endParaRPr lang="en-US" sz="1800" dirty="0"/>
          </a:p>
          <a:p>
            <a:r>
              <a:rPr lang="en-US" sz="1800" dirty="0"/>
              <a:t>(3) Do new abilities appear, or just smaller error?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027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at lying on a computer&#10;&#10;AI-generated content may be incorrect.">
            <a:extLst>
              <a:ext uri="{FF2B5EF4-FFF2-40B4-BE49-F238E27FC236}">
                <a16:creationId xmlns:a16="http://schemas.microsoft.com/office/drawing/2014/main" id="{157E3965-A35E-50DD-7D63-DCC26E2BB7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66" b="20428"/>
          <a:stretch/>
        </p:blipFill>
        <p:spPr>
          <a:xfrm>
            <a:off x="3140766" y="1206119"/>
            <a:ext cx="5655542" cy="3795252"/>
          </a:xfrm>
          <a:prstGeom prst="rect">
            <a:avLst/>
          </a:prstGeo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A986A57E-E071-3586-AE89-4747EBA052D3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A chart of different colored circles&#10;&#10;AI-generated content may be incorrect.">
            <a:extLst>
              <a:ext uri="{FF2B5EF4-FFF2-40B4-BE49-F238E27FC236}">
                <a16:creationId xmlns:a16="http://schemas.microsoft.com/office/drawing/2014/main" id="{CE1DDFB0-41F8-5835-F2DB-E4130C187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793" y="2946611"/>
            <a:ext cx="1208774" cy="1378898"/>
          </a:xfrm>
          <a:prstGeom prst="rect">
            <a:avLst/>
          </a:prstGeom>
        </p:spPr>
      </p:pic>
      <p:sp>
        <p:nvSpPr>
          <p:cNvPr id="12" name="Oval Callout 11">
            <a:extLst>
              <a:ext uri="{FF2B5EF4-FFF2-40B4-BE49-F238E27FC236}">
                <a16:creationId xmlns:a16="http://schemas.microsoft.com/office/drawing/2014/main" id="{D25BDB3F-DEC0-95E0-2D9A-B0C4A9CC0288}"/>
              </a:ext>
            </a:extLst>
          </p:cNvPr>
          <p:cNvSpPr/>
          <p:nvPr/>
        </p:nvSpPr>
        <p:spPr>
          <a:xfrm>
            <a:off x="199477" y="866693"/>
            <a:ext cx="5083048" cy="2592125"/>
          </a:xfrm>
          <a:prstGeom prst="wedgeEllipseCallout">
            <a:avLst>
              <a:gd name="adj1" fmla="val 54379"/>
              <a:gd name="adj2" fmla="val 2811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ysClr val="windowText" lastClr="000000"/>
                </a:solidFill>
              </a:rPr>
              <a:t>But is bigger always better? Is this the best way?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CDBFC8-1B6A-4DDA-ABEA-3E208910578F}"/>
              </a:ext>
            </a:extLst>
          </p:cNvPr>
          <p:cNvSpPr txBox="1"/>
          <p:nvPr/>
        </p:nvSpPr>
        <p:spPr>
          <a:xfrm rot="20459369">
            <a:off x="6898326" y="284851"/>
            <a:ext cx="16929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Obviously, smart intelligent cat scientists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8E9FDC40-F317-1833-C162-2072E5EA0FC8}"/>
              </a:ext>
            </a:extLst>
          </p:cNvPr>
          <p:cNvSpPr/>
          <p:nvPr/>
        </p:nvSpPr>
        <p:spPr>
          <a:xfrm>
            <a:off x="6375635" y="1036305"/>
            <a:ext cx="1369158" cy="1453529"/>
          </a:xfrm>
          <a:custGeom>
            <a:avLst/>
            <a:gdLst>
              <a:gd name="connsiteX0" fmla="*/ 498528 w 1369158"/>
              <a:gd name="connsiteY0" fmla="*/ 0 h 1502979"/>
              <a:gd name="connsiteX1" fmla="*/ 36073 w 1369158"/>
              <a:gd name="connsiteY1" fmla="*/ 893379 h 1502979"/>
              <a:gd name="connsiteX2" fmla="*/ 1349866 w 1369158"/>
              <a:gd name="connsiteY2" fmla="*/ 987972 h 1502979"/>
              <a:gd name="connsiteX3" fmla="*/ 887410 w 1369158"/>
              <a:gd name="connsiteY3" fmla="*/ 1502979 h 150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9158" h="1502979">
                <a:moveTo>
                  <a:pt x="498528" y="0"/>
                </a:moveTo>
                <a:cubicBezTo>
                  <a:pt x="196355" y="364358"/>
                  <a:pt x="-105817" y="728717"/>
                  <a:pt x="36073" y="893379"/>
                </a:cubicBezTo>
                <a:cubicBezTo>
                  <a:pt x="177963" y="1058041"/>
                  <a:pt x="1207977" y="886372"/>
                  <a:pt x="1349866" y="987972"/>
                </a:cubicBezTo>
                <a:cubicBezTo>
                  <a:pt x="1491755" y="1089572"/>
                  <a:pt x="801576" y="1429407"/>
                  <a:pt x="887410" y="1502979"/>
                </a:cubicBezTo>
              </a:path>
            </a:pathLst>
          </a:custGeom>
          <a:noFill/>
          <a:ln w="38100">
            <a:tailEnd type="triangle" w="lg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38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rPr lang="en-US" dirty="0"/>
              <a:t>The Main Three Parameters</a:t>
            </a:r>
            <a:endParaRPr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2F59626-43C6-40BD-585D-F6976E1606BB}"/>
              </a:ext>
            </a:extLst>
          </p:cNvPr>
          <p:cNvGrpSpPr/>
          <p:nvPr/>
        </p:nvGrpSpPr>
        <p:grpSpPr>
          <a:xfrm>
            <a:off x="457200" y="1089948"/>
            <a:ext cx="2645664" cy="3480859"/>
            <a:chOff x="457200" y="1089948"/>
            <a:chExt cx="2645664" cy="348085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ABF7E95-02E7-3B8E-2B7E-1C852426289B}"/>
                </a:ext>
              </a:extLst>
            </p:cNvPr>
            <p:cNvGrpSpPr/>
            <p:nvPr/>
          </p:nvGrpSpPr>
          <p:grpSpPr>
            <a:xfrm>
              <a:off x="457200" y="3386659"/>
              <a:ext cx="2645664" cy="1184148"/>
              <a:chOff x="457200" y="2281428"/>
              <a:chExt cx="2645664" cy="1184148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457200" y="2281428"/>
                <a:ext cx="2645664" cy="1184148"/>
              </a:xfrm>
              <a:prstGeom prst="roundRect">
                <a:avLst>
                  <a:gd name="adj" fmla="val 10038"/>
                </a:avLst>
              </a:prstGeom>
              <a:solidFill>
                <a:srgbClr val="F5F5F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640080" y="2427732"/>
                <a:ext cx="2279904" cy="76174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l">
                  <a:spcAft>
                    <a:spcPts val="600"/>
                  </a:spcAft>
                  <a:buNone/>
                </a:pPr>
                <a:r>
                  <a:rPr sz="1100" b="1" spc="70" dirty="0">
                    <a:solidFill>
                      <a:srgbClr val="86868B"/>
                    </a:solidFill>
                    <a:latin typeface="Helvetica Neue"/>
                  </a:rPr>
                  <a:t>N, </a:t>
                </a:r>
                <a:r>
                  <a:rPr lang="en-US" sz="1100" b="1" spc="70" dirty="0">
                    <a:solidFill>
                      <a:srgbClr val="86868B"/>
                    </a:solidFill>
                    <a:latin typeface="Helvetica Neue"/>
                  </a:rPr>
                  <a:t>Parameters</a:t>
                </a:r>
              </a:p>
              <a:p>
                <a:pPr marL="0" indent="0">
                  <a:spcAft>
                    <a:spcPts val="300"/>
                  </a:spcAft>
                  <a:buNone/>
                </a:pPr>
                <a:r>
                  <a:rPr lang="en-US" sz="1900" b="0" u="none" dirty="0">
                    <a:solidFill>
                      <a:srgbClr val="1D1D1F"/>
                    </a:solidFill>
                    <a:latin typeface="Menlo"/>
                  </a:rPr>
                  <a:t>model size</a:t>
                </a:r>
              </a:p>
              <a:p>
                <a:pPr marL="0" indent="0" algn="l">
                  <a:spcAft>
                    <a:spcPts val="200"/>
                  </a:spcAft>
                  <a:buNone/>
                </a:pPr>
                <a:r>
                  <a:rPr sz="1200" b="0" dirty="0">
                    <a:solidFill>
                      <a:srgbClr val="86868B"/>
                    </a:solidFill>
                    <a:latin typeface="Helvetica Neue"/>
                  </a:rPr>
                  <a:t>the number of weights</a:t>
                </a:r>
              </a:p>
            </p:txBody>
          </p:sp>
        </p:grpSp>
        <p:pic>
          <p:nvPicPr>
            <p:cNvPr id="14" name="Picture 13" descr="A diagram of a computer&#10;&#10;AI-generated content may be incorrect.">
              <a:extLst>
                <a:ext uri="{FF2B5EF4-FFF2-40B4-BE49-F238E27FC236}">
                  <a16:creationId xmlns:a16="http://schemas.microsoft.com/office/drawing/2014/main" id="{86346D53-3F58-5EA4-BD66-FF7C1738F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1583" r="7542" b="16552"/>
            <a:stretch/>
          </p:blipFill>
          <p:spPr>
            <a:xfrm>
              <a:off x="1163542" y="1089948"/>
              <a:ext cx="1232980" cy="2166918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B8672F1-64DC-33C9-50F4-FDDD13B596FA}"/>
              </a:ext>
            </a:extLst>
          </p:cNvPr>
          <p:cNvGrpSpPr/>
          <p:nvPr/>
        </p:nvGrpSpPr>
        <p:grpSpPr>
          <a:xfrm>
            <a:off x="3224909" y="1225296"/>
            <a:ext cx="2706499" cy="3345511"/>
            <a:chOff x="3224909" y="1225296"/>
            <a:chExt cx="2706499" cy="334551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04BC973-D03D-91AB-EB95-E883518C22C0}"/>
                </a:ext>
              </a:extLst>
            </p:cNvPr>
            <p:cNvGrpSpPr/>
            <p:nvPr/>
          </p:nvGrpSpPr>
          <p:grpSpPr>
            <a:xfrm>
              <a:off x="3249168" y="3386659"/>
              <a:ext cx="2645664" cy="1184148"/>
              <a:chOff x="3249168" y="2281428"/>
              <a:chExt cx="2645664" cy="1184148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3249168" y="2281428"/>
                <a:ext cx="2645664" cy="1184148"/>
              </a:xfrm>
              <a:prstGeom prst="roundRect">
                <a:avLst>
                  <a:gd name="adj" fmla="val 10038"/>
                </a:avLst>
              </a:prstGeom>
              <a:solidFill>
                <a:srgbClr val="F5F5F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3432048" y="2427732"/>
                <a:ext cx="2279904" cy="76174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l">
                  <a:spcAft>
                    <a:spcPts val="600"/>
                  </a:spcAft>
                  <a:buNone/>
                </a:pPr>
                <a:r>
                  <a:rPr sz="1100" b="1" spc="70" dirty="0">
                    <a:solidFill>
                      <a:srgbClr val="86868B"/>
                    </a:solidFill>
                    <a:latin typeface="Helvetica Neue"/>
                  </a:rPr>
                  <a:t>D, </a:t>
                </a:r>
                <a:r>
                  <a:rPr lang="en-US" sz="1100" b="1" spc="70" dirty="0">
                    <a:solidFill>
                      <a:srgbClr val="86868B"/>
                    </a:solidFill>
                    <a:latin typeface="Helvetica Neue"/>
                  </a:rPr>
                  <a:t>Data</a:t>
                </a:r>
                <a:endParaRPr sz="1100" b="1" spc="70" dirty="0">
                  <a:solidFill>
                    <a:srgbClr val="86868B"/>
                  </a:solidFill>
                  <a:latin typeface="Helvetica Neue"/>
                </a:endParaRPr>
              </a:p>
              <a:p>
                <a:pPr marL="0" indent="0">
                  <a:spcAft>
                    <a:spcPts val="300"/>
                  </a:spcAft>
                  <a:buNone/>
                </a:pPr>
                <a:r>
                  <a:rPr sz="1900" b="0" u="none" dirty="0">
                    <a:solidFill>
                      <a:srgbClr val="1D1D1F"/>
                    </a:solidFill>
                    <a:latin typeface="Menlo"/>
                  </a:rPr>
                  <a:t>training tokens</a:t>
                </a:r>
              </a:p>
              <a:p>
                <a:pPr marL="0" indent="0" algn="l">
                  <a:spcAft>
                    <a:spcPts val="200"/>
                  </a:spcAft>
                  <a:buNone/>
                </a:pPr>
                <a:r>
                  <a:rPr sz="1200" b="0" dirty="0">
                    <a:solidFill>
                      <a:srgbClr val="86868B"/>
                    </a:solidFill>
                    <a:latin typeface="Helvetica Neue"/>
                  </a:rPr>
                  <a:t>how much text it saw</a:t>
                </a:r>
              </a:p>
            </p:txBody>
          </p:sp>
        </p:grpSp>
        <p:pic>
          <p:nvPicPr>
            <p:cNvPr id="16" name="Picture 15" descr="A diagram of a variety of colors&#10;&#10;AI-generated content may be incorrect.">
              <a:extLst>
                <a:ext uri="{FF2B5EF4-FFF2-40B4-BE49-F238E27FC236}">
                  <a16:creationId xmlns:a16="http://schemas.microsoft.com/office/drawing/2014/main" id="{62D948E1-E4D2-37BE-CA85-5835A39D9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24909" y="1225296"/>
              <a:ext cx="2706499" cy="1781426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DCB384E-B10E-C117-14A2-BF94885C8ED8}"/>
              </a:ext>
            </a:extLst>
          </p:cNvPr>
          <p:cNvGrpSpPr/>
          <p:nvPr/>
        </p:nvGrpSpPr>
        <p:grpSpPr>
          <a:xfrm>
            <a:off x="6041136" y="1458597"/>
            <a:ext cx="2645664" cy="3112210"/>
            <a:chOff x="6041136" y="1458597"/>
            <a:chExt cx="2645664" cy="311221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BDE6FAD-5AF7-F1C8-E21F-1EA6371A6DD8}"/>
                </a:ext>
              </a:extLst>
            </p:cNvPr>
            <p:cNvGrpSpPr/>
            <p:nvPr/>
          </p:nvGrpSpPr>
          <p:grpSpPr>
            <a:xfrm>
              <a:off x="6041136" y="3386659"/>
              <a:ext cx="2645664" cy="1184148"/>
              <a:chOff x="6041136" y="2281428"/>
              <a:chExt cx="2645664" cy="1184148"/>
            </a:xfrm>
          </p:grpSpPr>
          <p:sp>
            <p:nvSpPr>
              <p:cNvPr id="9" name="Rounded Rectangle 8"/>
              <p:cNvSpPr/>
              <p:nvPr/>
            </p:nvSpPr>
            <p:spPr>
              <a:xfrm>
                <a:off x="6041136" y="2281428"/>
                <a:ext cx="2645664" cy="1184148"/>
              </a:xfrm>
              <a:prstGeom prst="roundRect">
                <a:avLst>
                  <a:gd name="adj" fmla="val 10038"/>
                </a:avLst>
              </a:prstGeom>
              <a:solidFill>
                <a:srgbClr val="F5F5F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224016" y="2427732"/>
                <a:ext cx="2279904" cy="76174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marL="0" indent="0" algn="l">
                  <a:spcAft>
                    <a:spcPts val="600"/>
                  </a:spcAft>
                  <a:buNone/>
                </a:pPr>
                <a:r>
                  <a:rPr sz="1100" b="1" spc="70" dirty="0">
                    <a:solidFill>
                      <a:srgbClr val="86868B"/>
                    </a:solidFill>
                    <a:latin typeface="Helvetica Neue"/>
                  </a:rPr>
                  <a:t>C, </a:t>
                </a:r>
                <a:r>
                  <a:rPr lang="en-US" sz="1100" b="1" spc="70" dirty="0">
                    <a:solidFill>
                      <a:srgbClr val="86868B"/>
                    </a:solidFill>
                    <a:latin typeface="Helvetica Neue"/>
                  </a:rPr>
                  <a:t>Compute</a:t>
                </a:r>
                <a:endParaRPr sz="1100" b="1" spc="70" dirty="0">
                  <a:solidFill>
                    <a:srgbClr val="86868B"/>
                  </a:solidFill>
                  <a:latin typeface="Helvetica Neue"/>
                </a:endParaRPr>
              </a:p>
              <a:p>
                <a:pPr marL="0" indent="0">
                  <a:spcAft>
                    <a:spcPts val="300"/>
                  </a:spcAft>
                  <a:buNone/>
                </a:pPr>
                <a:r>
                  <a:rPr sz="1900" b="0" u="none" dirty="0">
                    <a:solidFill>
                      <a:srgbClr val="1D1D1F"/>
                    </a:solidFill>
                    <a:latin typeface="Menlo"/>
                  </a:rPr>
                  <a:t>total FLOPs</a:t>
                </a:r>
              </a:p>
              <a:p>
                <a:pPr marL="0" indent="0" algn="l">
                  <a:spcAft>
                    <a:spcPts val="200"/>
                  </a:spcAft>
                  <a:buNone/>
                </a:pPr>
                <a:r>
                  <a:rPr sz="1200" b="0" dirty="0">
                    <a:solidFill>
                      <a:srgbClr val="86868B"/>
                    </a:solidFill>
                    <a:latin typeface="Helvetica Neue"/>
                  </a:rPr>
                  <a:t>roughly N x D</a:t>
                </a:r>
              </a:p>
            </p:txBody>
          </p:sp>
        </p:grpSp>
        <p:pic>
          <p:nvPicPr>
            <p:cNvPr id="18" name="Picture 17" descr="A long shot of a server room&#10;&#10;AI-generated content may be incorrect.">
              <a:extLst>
                <a:ext uri="{FF2B5EF4-FFF2-40B4-BE49-F238E27FC236}">
                  <a16:creationId xmlns:a16="http://schemas.microsoft.com/office/drawing/2014/main" id="{49AB68DD-79DB-D22C-8E5F-0D7B6B68B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78460" y="1458597"/>
              <a:ext cx="2571016" cy="1468148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Scaling laws (Kaplan et al., 2020)</a:t>
            </a:r>
          </a:p>
        </p:txBody>
      </p:sp>
      <p:pic>
        <p:nvPicPr>
          <p:cNvPr id="5" name="Picture 4" descr="Scaling laws (Kaplan et al., 2020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87" y="1078992"/>
            <a:ext cx="8114025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Kaplan et al. 2020, "Scaling Laws for Neural Language Models" (arXiv:2001.08361), Fig.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68F3BE-DE2E-1818-6729-7675D1375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Law, what does that mean?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470443C-84B0-525B-B1B2-16F9B54E123E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 descr="A graph of a low scaling and a log-log space&#10;&#10;AI-generated content may be incorrect.">
            <a:extLst>
              <a:ext uri="{FF2B5EF4-FFF2-40B4-BE49-F238E27FC236}">
                <a16:creationId xmlns:a16="http://schemas.microsoft.com/office/drawing/2014/main" id="{873AD53E-8E62-D5B6-3FE9-1AF8B6482C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48" b="7660"/>
          <a:stretch/>
        </p:blipFill>
        <p:spPr>
          <a:xfrm>
            <a:off x="872807" y="1588875"/>
            <a:ext cx="7398385" cy="31874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6D91D6-1248-0ABB-6214-B237DFAD5FDA}"/>
                  </a:ext>
                </a:extLst>
              </p:cNvPr>
              <p:cNvSpPr txBox="1"/>
              <p:nvPr/>
            </p:nvSpPr>
            <p:spPr>
              <a:xfrm>
                <a:off x="2396277" y="1293428"/>
                <a:ext cx="104611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−0.3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6D91D6-1248-0ABB-6214-B237DFAD5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6277" y="1293428"/>
                <a:ext cx="1046119" cy="215444"/>
              </a:xfrm>
              <a:prstGeom prst="rect">
                <a:avLst/>
              </a:prstGeom>
              <a:blipFill>
                <a:blip r:embed="rId3"/>
                <a:stretch>
                  <a:fillRect l="-2381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5931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4FA2691-5016-2AD0-B1EC-2C78DDED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Chinchilla – DeepMind in 2022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1DA71DB-3644-ED1A-6086-46E061B3F28A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Online Media 8" descr="Chinchilla Explained: Compute-Optimal Massive Language Models">
            <a:hlinkClick r:id="" action="ppaction://media"/>
            <a:extLst>
              <a:ext uri="{FF2B5EF4-FFF2-40B4-BE49-F238E27FC236}">
                <a16:creationId xmlns:a16="http://schemas.microsoft.com/office/drawing/2014/main" id="{082C0CD3-499C-5143-EBC2-51316B29FB4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282977" y="1520294"/>
            <a:ext cx="4725742" cy="2670044"/>
          </a:xfrm>
          <a:prstGeom prst="rect">
            <a:avLst/>
          </a:prstGeom>
        </p:spPr>
      </p:pic>
      <p:pic>
        <p:nvPicPr>
          <p:cNvPr id="11" name="Picture 10" descr="A paper with text on it&#10;&#10;AI-generated content may be incorrect.">
            <a:extLst>
              <a:ext uri="{FF2B5EF4-FFF2-40B4-BE49-F238E27FC236}">
                <a16:creationId xmlns:a16="http://schemas.microsoft.com/office/drawing/2014/main" id="{E06D99F5-49A3-2298-3071-5EFA73C89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38" y="1170601"/>
            <a:ext cx="363272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10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95649D-E5CF-32D9-2A24-E3F44F18F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Chinchilla vs Gopher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EA5733B-A33F-FEB4-B24D-C6C950BEAA26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AAD0E2-404C-FA60-C687-72313C99F8F7}"/>
                  </a:ext>
                </a:extLst>
              </p:cNvPr>
              <p:cNvSpPr txBox="1"/>
              <p:nvPr/>
            </p:nvSpPr>
            <p:spPr>
              <a:xfrm>
                <a:off x="509521" y="1401150"/>
                <a:ext cx="80058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Research Question</a:t>
                </a:r>
              </a:p>
              <a:p>
                <a:r>
                  <a:rPr lang="en-US" sz="2400" dirty="0"/>
                  <a:t>Given the compute budget of Gopher (280B)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5.67 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</m:oMath>
                </a14:m>
                <a:r>
                  <a:rPr lang="en-US" sz="2400" dirty="0"/>
                  <a:t> FLOPs, could we train a model with a smaller parameter count to have better performance?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AAD0E2-404C-FA60-C687-72313C99F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21" y="1401150"/>
                <a:ext cx="8005800" cy="1569660"/>
              </a:xfrm>
              <a:prstGeom prst="rect">
                <a:avLst/>
              </a:prstGeom>
              <a:blipFill>
                <a:blip r:embed="rId2"/>
                <a:stretch>
                  <a:fillRect l="-1268" t="-3226"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363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F719CD8-88C1-CCAC-C573-C64A78BBA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57F64D3-A8E9-AB1E-D9E4-EBF6861E0995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A graph of a graph&#10;&#10;AI-generated content may be incorrect.">
            <a:extLst>
              <a:ext uri="{FF2B5EF4-FFF2-40B4-BE49-F238E27FC236}">
                <a16:creationId xmlns:a16="http://schemas.microsoft.com/office/drawing/2014/main" id="{80A8950D-89DE-6FC9-ADA4-FF6CEE166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68" y="1236880"/>
            <a:ext cx="8611263" cy="377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767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4C3C80-BDC7-651F-0456-362EA33FF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Findings: Compute-Optimal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EA5D2EF-0A55-E559-CC7C-28EAA61CDC9E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90BFF7-C7E2-1F8F-A2A9-4D83748FFB69}"/>
                  </a:ext>
                </a:extLst>
              </p:cNvPr>
              <p:cNvSpPr txBox="1"/>
              <p:nvPr/>
            </p:nvSpPr>
            <p:spPr>
              <a:xfrm>
                <a:off x="596349" y="1478943"/>
                <a:ext cx="4182386" cy="33032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Rule of thumb: 20 tokens per one parameter</a:t>
                </a:r>
              </a:p>
              <a:p>
                <a:endParaRPr lang="en-US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</a:rPr>
                  <a:t>For computing the optimal number of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and dataset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: 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120</m:t>
                              </m:r>
                            </m:den>
                          </m:f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</a:rPr>
                  <a:t>For computing the loss for a configuration: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0.3478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0.3658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=1.8171,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=482.01,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=2085.43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90BFF7-C7E2-1F8F-A2A9-4D83748FF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49" y="1478943"/>
                <a:ext cx="4182386" cy="3303212"/>
              </a:xfrm>
              <a:prstGeom prst="rect">
                <a:avLst/>
              </a:prstGeom>
              <a:blipFill>
                <a:blip r:embed="rId2"/>
                <a:stretch>
                  <a:fillRect l="-606" t="-383" b="-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32F4DF8E-6AF3-8A34-6DA7-A9C4A6D8B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58852"/>
            <a:ext cx="4467712" cy="31125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102695-FA02-DBB2-0D09-0007371E549D}"/>
              </a:ext>
            </a:extLst>
          </p:cNvPr>
          <p:cNvSpPr txBox="1"/>
          <p:nvPr/>
        </p:nvSpPr>
        <p:spPr>
          <a:xfrm>
            <a:off x="3108960" y="4835723"/>
            <a:ext cx="6766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Equations from both Chinchilla and follow-up work by </a:t>
            </a:r>
            <a:r>
              <a:rPr lang="en-US" dirty="0" err="1">
                <a:solidFill>
                  <a:schemeClr val="bg1"/>
                </a:solidFill>
              </a:rPr>
              <a:t>Besiroglu</a:t>
            </a:r>
            <a:r>
              <a:rPr lang="en-US" dirty="0">
                <a:solidFill>
                  <a:schemeClr val="bg1"/>
                </a:solidFill>
              </a:rPr>
              <a:t> et al. 2024</a:t>
            </a:r>
          </a:p>
        </p:txBody>
      </p:sp>
    </p:spTree>
    <p:extLst>
      <p:ext uri="{BB962C8B-B14F-4D97-AF65-F5344CB8AC3E}">
        <p14:creationId xmlns:p14="http://schemas.microsoft.com/office/powerpoint/2010/main" val="3545941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C6BECC-2111-ABCC-6FC4-F2201B55A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21" y="406950"/>
            <a:ext cx="4062479" cy="994200"/>
          </a:xfrm>
        </p:spPr>
        <p:txBody>
          <a:bodyPr/>
          <a:lstStyle/>
          <a:p>
            <a:r>
              <a:rPr lang="en-US" dirty="0"/>
              <a:t>Takeaway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23426DB-CC3D-4418-C21D-13E264275679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A graph with numbers and stars&#10;&#10;AI-generated content may be incorrect.">
            <a:extLst>
              <a:ext uri="{FF2B5EF4-FFF2-40B4-BE49-F238E27FC236}">
                <a16:creationId xmlns:a16="http://schemas.microsoft.com/office/drawing/2014/main" id="{8251758F-F1AB-C284-4CD8-F6DF36C2DF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225"/>
          <a:stretch/>
        </p:blipFill>
        <p:spPr>
          <a:xfrm>
            <a:off x="5637513" y="813905"/>
            <a:ext cx="3442877" cy="28357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245CD8-97E5-568E-7D60-F88EF718C819}"/>
              </a:ext>
            </a:extLst>
          </p:cNvPr>
          <p:cNvSpPr txBox="1"/>
          <p:nvPr/>
        </p:nvSpPr>
        <p:spPr>
          <a:xfrm>
            <a:off x="5780598" y="3742351"/>
            <a:ext cx="33634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Many LLMs are undertrained. Either not sufficient data or compute. </a:t>
            </a:r>
          </a:p>
        </p:txBody>
      </p:sp>
      <p:pic>
        <p:nvPicPr>
          <p:cNvPr id="9" name="Picture 8" descr="A cartoon character in armor chasing a cat&#10;&#10;AI-generated content may be incorrect.">
            <a:extLst>
              <a:ext uri="{FF2B5EF4-FFF2-40B4-BE49-F238E27FC236}">
                <a16:creationId xmlns:a16="http://schemas.microsoft.com/office/drawing/2014/main" id="{9A3A5262-5A6B-7ABF-79BA-B66B0062E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78" y="1401150"/>
            <a:ext cx="5427916" cy="305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499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Quiz 5 (paper)</a:t>
            </a:r>
          </a:p>
        </p:txBody>
      </p:sp>
      <p:pic>
        <p:nvPicPr>
          <p:cNvPr id="5" name="Picture 4" descr="Quiz 5 (paper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065" y="1078992"/>
            <a:ext cx="6579870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quizzes/quiz-05.md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Break</a:t>
            </a:r>
          </a:p>
        </p:txBody>
      </p:sp>
      <p:pic>
        <p:nvPicPr>
          <p:cNvPr id="5" name="Picture 4" descr="Five minutes: stretch, refill water, compare notes. Then you spend a compute budge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312"/>
            <a:ext cx="8595360" cy="3186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BD3BC2-1EE2-91B3-189A-7E66B251F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Turn: Compute-Optimal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0C50707-88ED-0702-E36E-974B0F0E84B0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50E64B6-7DE4-0505-A112-4119D6E2F11A}"/>
                  </a:ext>
                </a:extLst>
              </p:cNvPr>
              <p:cNvSpPr txBox="1"/>
              <p:nvPr/>
            </p:nvSpPr>
            <p:spPr>
              <a:xfrm>
                <a:off x="509521" y="1401150"/>
                <a:ext cx="7417929" cy="1624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Given</a:t>
                </a:r>
                <a:r>
                  <a:rPr lang="en-US" sz="2400" dirty="0"/>
                  <a:t>: a compute budget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=1.2 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</m:oMath>
                </a14:m>
                <a:r>
                  <a:rPr lang="en-US" sz="2400" dirty="0"/>
                  <a:t> FLOPs</a:t>
                </a:r>
              </a:p>
              <a:p>
                <a:r>
                  <a:rPr lang="en-US" sz="2400" b="1" dirty="0"/>
                  <a:t>Find</a:t>
                </a:r>
                <a:r>
                  <a:rPr lang="en-US" sz="2400" dirty="0"/>
                  <a:t>: 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sz="2400" dirty="0"/>
                  <a:t> (2)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𝑜𝑝𝑡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𝑜𝑝𝑡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  <a:p>
                <a:r>
                  <a:rPr lang="en-US" sz="2400" b="1" dirty="0"/>
                  <a:t>Discuss</a:t>
                </a:r>
                <a:r>
                  <a:rPr lang="en-US" sz="2400" dirty="0"/>
                  <a:t>: (a) Where would you find </a:t>
                </a:r>
                <a:r>
                  <a:rPr lang="en-US" sz="2400" dirty="0" err="1"/>
                  <a:t>D_opt</a:t>
                </a:r>
                <a:r>
                  <a:rPr lang="en-US" sz="2400" dirty="0"/>
                  <a:t> tokens of text? (b) Would this loss be competitive?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50E64B6-7DE4-0505-A112-4119D6E2F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21" y="1401150"/>
                <a:ext cx="7417929" cy="1624612"/>
              </a:xfrm>
              <a:prstGeom prst="rect">
                <a:avLst/>
              </a:prstGeom>
              <a:blipFill>
                <a:blip r:embed="rId2"/>
                <a:stretch>
                  <a:fillRect l="-1370" t="-3101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1322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">
      <a:dk1>
        <a:srgbClr val="434343"/>
      </a:dk1>
      <a:lt1>
        <a:srgbClr val="FFFFFF"/>
      </a:lt1>
      <a:dk2>
        <a:srgbClr val="818387"/>
      </a:dk2>
      <a:lt2>
        <a:srgbClr val="F6F7FA"/>
      </a:lt2>
      <a:accent1>
        <a:srgbClr val="723130"/>
      </a:accent1>
      <a:accent2>
        <a:srgbClr val="818387"/>
      </a:accent2>
      <a:accent3>
        <a:srgbClr val="FFB600"/>
      </a:accent3>
      <a:accent4>
        <a:srgbClr val="738D33"/>
      </a:accent4>
      <a:accent5>
        <a:srgbClr val="625578"/>
      </a:accent5>
      <a:accent6>
        <a:srgbClr val="498DA0"/>
      </a:accent6>
      <a:hlink>
        <a:srgbClr val="B1B4B5"/>
      </a:hlink>
      <a:folHlink>
        <a:srgbClr val="B0B1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485</Words>
  <Application>Microsoft Macintosh PowerPoint</Application>
  <PresentationFormat>On-screen Show (16:9)</PresentationFormat>
  <Paragraphs>70</Paragraphs>
  <Slides>18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Roboto</vt:lpstr>
      <vt:lpstr>Roboto Light</vt:lpstr>
      <vt:lpstr>Cambria Math</vt:lpstr>
      <vt:lpstr>Helvetica Neue</vt:lpstr>
      <vt:lpstr>Playfair Display</vt:lpstr>
      <vt:lpstr>Menlo</vt:lpstr>
      <vt:lpstr>Arial</vt:lpstr>
      <vt:lpstr>Office Theme</vt:lpstr>
      <vt:lpstr>CSCI 3495 Scaling Laws &amp; Emergent Abilities</vt:lpstr>
      <vt:lpstr>How big is GPT-3?</vt:lpstr>
      <vt:lpstr>How long was GPT-3 Trained?</vt:lpstr>
      <vt:lpstr>GPT-3 – The First Giant</vt:lpstr>
      <vt:lpstr>Bigger models squeeze more from a prompt</vt:lpstr>
      <vt:lpstr>LLMs Over the Years</vt:lpstr>
      <vt:lpstr>PowerPoint Presentation</vt:lpstr>
      <vt:lpstr>The Main Three Parameters</vt:lpstr>
      <vt:lpstr>Scaling laws (Kaplan et al., 2020)</vt:lpstr>
      <vt:lpstr>Power Law, what does that mean?</vt:lpstr>
      <vt:lpstr>Chinchilla – DeepMind in 2022</vt:lpstr>
      <vt:lpstr>Chinchilla vs Gopher</vt:lpstr>
      <vt:lpstr>Methodology</vt:lpstr>
      <vt:lpstr>Key Findings: Compute-Optimal</vt:lpstr>
      <vt:lpstr>Takeaway</vt:lpstr>
      <vt:lpstr>Quiz 5 (paper)</vt:lpstr>
      <vt:lpstr>Break</vt:lpstr>
      <vt:lpstr>Your Turn: Compute-Optimal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Davalos Anaya, Eduardo</cp:lastModifiedBy>
  <cp:revision>22</cp:revision>
  <dcterms:modified xsi:type="dcterms:W3CDTF">2026-10-21T00:19:37Z</dcterms:modified>
</cp:coreProperties>
</file>