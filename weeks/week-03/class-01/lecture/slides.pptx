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21"/>
    <p:sldId id="257" r:id="rId22"/>
    <p:sldId id="258" r:id="rId20"/>
    <p:sldId id="259" r:id="rId19"/>
    <p:sldId id="260" r:id="rId18"/>
    <p:sldId id="261" r:id="rId17"/>
    <p:sldId id="262" r:id="rId16"/>
    <p:sldId id="263" r:id="rId15"/>
    <p:sldId id="264" r:id="rId14"/>
    <p:sldId id="265" r:id="rId13"/>
    <p:sldId id="266" r:id="rId12"/>
    <p:sldId id="267" r:id="rId11"/>
    <p:sldId id="268" r:id="rId10"/>
    <p:sldId id="269" r:id="rId9"/>
    <p:sldId id="270" r:id="rId8"/>
    <p:sldId id="271" r:id="rId7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Roboto Mono Light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4.xml"/><Relationship Id="rId20" Type="http://schemas.openxmlformats.org/officeDocument/2006/relationships/slide" Target="slides/slide3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PlayfairDisplay-regular.fntdata"/><Relationship Id="rId28" Type="http://schemas.openxmlformats.org/officeDocument/2006/relationships/font" Target="fonts/PlayfairDisplay-bold.fntdata"/><Relationship Id="rId29" Type="http://schemas.openxmlformats.org/officeDocument/2006/relationships/font" Target="fonts/PlayfairDisplay-italic.fntdata"/><Relationship Id="rId30" Type="http://schemas.openxmlformats.org/officeDocument/2006/relationships/font" Target="fonts/PlayfairDisplay-boldItalic.fntdata"/><Relationship Id="rId31" Type="http://schemas.openxmlformats.org/officeDocument/2006/relationships/font" Target="fonts/RobotoMonoLight-regular.fntdata"/><Relationship Id="rId32" Type="http://schemas.openxmlformats.org/officeDocument/2006/relationships/font" Target="fonts/RobotoMonoLight-bold.fntdata"/><Relationship Id="rId33" Type="http://schemas.openxmlformats.org/officeDocument/2006/relationships/font" Target="fonts/RobotoMonoLight-italic.fntdata"/><Relationship Id="rId34" Type="http://schemas.openxmlformats.org/officeDocument/2006/relationships/font" Target="fonts/RobotoMonoLight-boldItalic.fntdata"/><Relationship Id="rId35" Type="http://schemas.openxmlformats.org/officeDocument/2006/relationships/font" Target="fonts/RobotoLight-regular.fntdata"/><Relationship Id="rId36" Type="http://schemas.openxmlformats.org/officeDocument/2006/relationships/font" Target="fonts/RobotoLight-bold.fntdata"/><Relationship Id="rId37" Type="http://schemas.openxmlformats.org/officeDocument/2006/relationships/font" Target="fonts/RobotoLight-italic.fntdata"/><Relationship Id="rId38" Type="http://schemas.openxmlformats.org/officeDocument/2006/relationships/font" Target="fonts/Roboto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523" y="685800"/>
            <a:ext cx="457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13732" l="600" r="-600" t="43847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2 Columns">
  <p:cSld name="2_Portfolio Thre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3 Columns">
  <p:cSld name="1_Slide with Placehol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3" type="body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4" type="body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">
  <p:cSld name="Cover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 with Logo">
  <p:cSld name="Cover Slide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cknowledgments Slide">
  <p:cSld name="Cover Slid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i="0" sz="5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ig Concept Slide">
  <p:cSld name="Slide with Placehol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">
  <p:cSld name="Large Picture with Log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009" l="27412" r="6551" t="0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1">
  <p:cSld name="Large Picture with Logo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2">
  <p:cSld name="Large Picture with Logo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b="0" l="27412" r="6551" t="0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b="0" l="8950" r="0" t="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b="0" l="39028" r="0" t="0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3">
  <p:cSld name="Large Picture with Logo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24210" r="1252" t="0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4">
  <p:cSld name="Large Picture with Logo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34525" r="0" t="0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">
  <p:cSld name="3_Placehol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 1">
  <p:cSld name="3_Placeholder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ingle Statistic">
  <p:cSld name="1_Placehol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subTitle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title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ultiple Statistics">
  <p:cSld name="1_Placeholder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subTitle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title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title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subTitle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Quote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818387"/>
                </a:solidFill>
              </a:rPr>
              <a:t>“</a:t>
            </a:r>
            <a:endParaRPr b="1" sz="12000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 showMasterSp="0">
  <p:cSld name="13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>
            <p:ph idx="2" type="pic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 1">
  <p:cSld name="1_Cover Pag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b="13732" l="0" r="-563" t="43844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i="0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sz="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CSCI 3495</a:t>
            </a:r>
          </a:p>
          <a:p>
            <a:pPr marL="0" indent="0">
              <a:buNone/>
            </a:pPr>
            <a:r>
              <a:t>Data Science for NLP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6090171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3, Class 1  ·  Wed Sep 9, 2026</a:t>
            </a:r>
          </a:p>
        </p:txBody>
      </p:sp>
      <p:pic>
        <p:nvPicPr>
          <p:cNvPr id="5" name="Picture 4" descr="Data Science for 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697" y="3474720"/>
            <a:ext cx="1965543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original figure, drawn from the course corpus of 240 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One environment for the whole term</a:t>
            </a:r>
          </a:p>
        </p:txBody>
      </p:sp>
      <p:pic>
        <p:nvPicPr>
          <p:cNvPr id="5" name="Picture 4" descr="One environment for the whole te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65356"/>
            <a:ext cx="8595360" cy="3416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scripts/cleanup_course_docker.py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Python, in one slide</a:t>
            </a:r>
          </a:p>
        </p:txBody>
      </p:sp>
      <p:pic>
        <p:nvPicPr>
          <p:cNvPr id="5" name="Picture 4" descr="Python, in one sl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42" y="1078992"/>
            <a:ext cx="8020915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Two things you do with them</a:t>
            </a:r>
          </a:p>
        </p:txBody>
      </p:sp>
      <p:pic>
        <p:nvPicPr>
          <p:cNvPr id="5" name="Picture 4" descr="Two things you do with th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84" y="1078992"/>
            <a:ext cx="7289231" cy="35890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 DataFrame answers questions</a:t>
            </a:r>
          </a:p>
        </p:txBody>
      </p:sp>
      <p:pic>
        <p:nvPicPr>
          <p:cNvPr id="5" name="Picture 4" descr="A DataFrame answers ques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54746"/>
            <a:ext cx="8595360" cy="3037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data from the course corpus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axis you name is the one that disappears</a:t>
            </a:r>
          </a:p>
        </p:txBody>
      </p:sp>
      <p:pic>
        <p:nvPicPr>
          <p:cNvPr id="5" name="Picture 4" descr="The axis you name is the one that disappea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10725"/>
            <a:ext cx="8595360" cy="3525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Broadcasting writes the loop for you</a:t>
            </a:r>
          </a:p>
        </p:txBody>
      </p:sp>
      <p:pic>
        <p:nvPicPr>
          <p:cNvPr id="5" name="Picture 4" descr="Broadcasting writes the loop for yo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49440"/>
            <a:ext cx="8595360" cy="28481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640080" y="1234440"/>
            <a:ext cx="78638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7C2529"/>
                </a:solidFill>
              </a:rPr>
              <a:t>Let's walk through Parts 1 and 2 in the notebook</a:t>
            </a:r>
          </a:p>
          <a:p>
            <a:pPr algn="ctr" marL="0" indent="0">
              <a:buNone/>
            </a:pPr>
            <a:r>
              <a:rPr sz="2000">
                <a:solidFill>
                  <a:srgbClr val="222222"/>
                </a:solidFill>
              </a:rPr>
              <a:t>Load it, filter it, group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Name the columns, seaborn draws</a:t>
            </a:r>
          </a:p>
        </p:txBody>
      </p:sp>
      <p:pic>
        <p:nvPicPr>
          <p:cNvPr id="5" name="Picture 4" descr="Name the columns, seaborn draw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49125"/>
            <a:ext cx="8595360" cy="32487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seaborn 0.13, data from the course corpus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640080" y="1234440"/>
            <a:ext cx="78638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4000" b="1">
                <a:solidFill>
                  <a:srgbClr val="7C2529"/>
                </a:solidFill>
              </a:rPr>
              <a:t>Let's walk through Part 3 in the notebook</a:t>
            </a:r>
          </a:p>
          <a:p>
            <a:pPr algn="ctr" marL="0" indent="0">
              <a:buNone/>
            </a:pPr>
            <a:r>
              <a:rPr sz="2000">
                <a:solidFill>
                  <a:srgbClr val="222222"/>
                </a:solidFill>
              </a:rPr>
              <a:t>Four charts, four 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One library, any number of axes</a:t>
            </a:r>
          </a:p>
        </p:txBody>
      </p:sp>
      <p:pic>
        <p:nvPicPr>
          <p:cNvPr id="5" name="Picture 4" descr="One library, any number of ax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60051"/>
            <a:ext cx="8595360" cy="32269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640080" y="1234440"/>
            <a:ext cx="78638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4000" b="1">
                <a:solidFill>
                  <a:srgbClr val="7C2529"/>
                </a:solidFill>
              </a:rPr>
              <a:t>Let's walk through Part 4 in the notebook</a:t>
            </a:r>
          </a:p>
          <a:p>
            <a:pPr algn="ctr" marL="0" indent="0">
              <a:buNone/>
            </a:pPr>
            <a:r>
              <a:rPr sz="2000">
                <a:solidFill>
                  <a:srgbClr val="222222"/>
                </a:solidFill>
              </a:rPr>
              <a:t>Shape, axis, broadcasting, masking.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Every model: fit, predict, score</a:t>
            </a:r>
          </a:p>
        </p:txBody>
      </p:sp>
      <p:pic>
        <p:nvPicPr>
          <p:cNvPr id="5" name="Picture 4" descr="Every model: fit, predict, sc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50788"/>
            <a:ext cx="8595360" cy="3445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scikit-learn 1.9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640080" y="1234440"/>
            <a:ext cx="78638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4000" b="1">
                <a:solidFill>
                  <a:srgbClr val="7C2529"/>
                </a:solidFill>
              </a:rPr>
              <a:t>Let's walk through Part 5 in the notebook</a:t>
            </a:r>
          </a:p>
          <a:p>
            <a:pPr algn="ctr" marL="0" indent="0">
              <a:buNone/>
            </a:pPr>
            <a:r>
              <a:rPr sz="2000">
                <a:solidFill>
                  <a:srgbClr val="222222"/>
                </a:solidFill>
              </a:rPr>
              <a:t>Split, vectorize, train, read the mistakes.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Then the two YOUR TURN cel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course-standard break figure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Your turn</a:t>
            </a:r>
          </a:p>
        </p:txBody>
      </p:sp>
      <p:pic>
        <p:nvPicPr>
          <p:cNvPr id="5" name="Picture 4" descr="Your tu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6114"/>
            <a:ext cx="8595360" cy="2454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