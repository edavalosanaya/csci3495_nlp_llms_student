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jpg"/><Relationship Id="rId3" Type="http://schemas.openxmlformats.org/officeDocument/2006/relationships/hyperlink" Target="https://www.youtube.com/watch?v=my5wFNQpFO0" TargetMode="External"/><Relationship Id="rId4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Vector Semantics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312514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3, Class 1</a:t>
            </a:r>
          </a:p>
        </p:txBody>
      </p:sp>
      <p:pic>
        <p:nvPicPr>
          <p:cNvPr id="5" name="Picture 4" descr="A starling is known by the flock it flies with. Can we learn a word the same way, from the words around it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474720"/>
            <a:ext cx="2743200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Skander Zarrad,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Figs. 5.2 &amp; 5.5; deck figures; run of exercise/search.py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Words as atomic symbols</a:t>
            </a:r>
          </a:p>
        </p:txBody>
      </p:sp>
      <p:pic>
        <p:nvPicPr>
          <p:cNvPr id="5" name="Picture 4" descr="Words as atomic symbol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813" y="1078992"/>
            <a:ext cx="740437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distributional hypothesis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You read the words around it. So can a mach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8585"/>
            <a:ext cx="9144000" cy="53606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How would you guess the meaning of a word you have never seen?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You read the words around it. So can a machine.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https://unsplash.com/photos/wE37SqLAO9M (Eli Francis)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"You shall know a word by the company it keeps"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86888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Words in similar contexts tend to have similar meanings</a:t>
            </a:r>
          </a:p>
        </p:txBody>
      </p:sp>
      <p:pic>
        <p:nvPicPr>
          <p:cNvPr id="6" name="Picture 5" descr="&quot;You shall know a word by the company it keeps&quot;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49219"/>
            <a:ext cx="8595360" cy="16462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J.R. Firth, 1957, A Synopsis of Linguistic Theory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Counting neighbors turns a word into numbers</a:t>
            </a:r>
          </a:p>
        </p:txBody>
      </p:sp>
      <p:pic>
        <p:nvPicPr>
          <p:cNvPr id="5" name="Picture 4" descr="Count how often each context word appears near a target word: each row is already a vector. Cherry and strawberry look alike; digital and information look alik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78008"/>
            <a:ext cx="8595360" cy="25909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5.2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Those numbers are coordinates</a:t>
            </a:r>
          </a:p>
        </p:txBody>
      </p:sp>
      <p:pic>
        <p:nvPicPr>
          <p:cNvPr id="5" name="Picture 4" descr="Plot two of the dimensions from real Wikipedia counts and words become points: digital and information land in the same corner of the spa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656" y="1078992"/>
            <a:ext cx="797468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5.4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Words and documents as vectors</a:t>
            </a:r>
          </a:p>
        </p:txBody>
      </p:sp>
      <p:pic>
        <p:nvPicPr>
          <p:cNvPr id="5" name="Picture 4" descr="Words and documents as vecto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252" y="1078992"/>
            <a:ext cx="701149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Raw counts mislead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78101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We want frequent-in-doc but rare-across-corpus words</a:t>
            </a:r>
          </a:p>
        </p:txBody>
      </p:sp>
      <p:pic>
        <p:nvPicPr>
          <p:cNvPr id="6" name="Picture 5" descr="Raw counts mislea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58007"/>
            <a:ext cx="8595360" cy="28286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TF-IDF</a:t>
            </a:r>
          </a:p>
        </p:txBody>
      </p:sp>
      <p:pic>
        <p:nvPicPr>
          <p:cNvPr id="5" name="Picture 4" descr="TF-I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539" y="1078992"/>
            <a:ext cx="696692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PPMI: word-word association</a:t>
            </a:r>
          </a:p>
        </p:txBody>
      </p:sp>
      <p:pic>
        <p:nvPicPr>
          <p:cNvPr id="5" name="Picture 4" descr="PPMI: word-word associ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4439"/>
            <a:ext cx="8595360" cy="30981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angle, not distance?</a:t>
            </a:r>
          </a:p>
        </p:txBody>
      </p:sp>
      <p:pic>
        <p:nvPicPr>
          <p:cNvPr id="5" name="Picture 4" descr="Frequent words get long vectors, so raw distance misleads. The ANGLE between cherry and information is large; between digital and information it is tin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432" y="1078992"/>
            <a:ext cx="615713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5.5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Cosine similarity</a:t>
            </a:r>
          </a:p>
        </p:txBody>
      </p:sp>
      <p:pic>
        <p:nvPicPr>
          <p:cNvPr id="5" name="Picture 4" descr="Cosine similar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347" y="1078992"/>
            <a:ext cx="74713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Putting it together: similarity search</a:t>
            </a:r>
          </a:p>
        </p:txBody>
      </p:sp>
      <p:pic>
        <p:nvPicPr>
          <p:cNvPr id="5" name="Picture 4" descr="Putting it together: similarity 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66917"/>
            <a:ext cx="8595360" cy="20131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This already runs in production</a:t>
            </a:r>
          </a:p>
        </p:txBody>
      </p:sp>
      <p:pic>
        <p:nvPicPr>
          <p:cNvPr id="5" name="Picture 4" descr="Vector similarity powers search and retrieval inside real data center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96" y="1078992"/>
            <a:ext cx="53768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https://unsplash.com/photos/woman-in-black-coat-tCTLkInyXVw (Christina @ wocintechchat.com)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Sparse vs. dense</a:t>
            </a:r>
          </a:p>
        </p:txBody>
      </p:sp>
      <p:pic>
        <p:nvPicPr>
          <p:cNvPr id="5" name="Picture 4" descr="Video: Embeddings (Google). Opens https://www.youtube.com/watch?v=my5wFNQpFO0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Embeddings (Google)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good and great stay orthogonal unless they co-occur</a:t>
            </a:r>
          </a:p>
        </p:txBody>
      </p:sp>
      <p:pic>
        <p:nvPicPr>
          <p:cNvPr id="8" name="Picture 7" descr="Sparse vs. dens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08" y="1207008"/>
            <a:ext cx="8265783" cy="30586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Relevance Ra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Exercise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the Relevance Race</a:t>
            </a:r>
          </a:p>
        </p:txBody>
      </p:sp>
      <p:pic>
        <p:nvPicPr>
          <p:cNvPr id="5" name="Picture 4" descr="Activity: the Relevance Ra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33209"/>
            <a:ext cx="8595360" cy="26805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weeks/week-03/class-01/exercise/search.py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Build a TF-IDF search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Rank tiny documents by similarity to a query</a:t>
            </a:r>
          </a:p>
        </p:txBody>
      </p:sp>
      <p:pic>
        <p:nvPicPr>
          <p:cNvPr id="6" name="Picture 5" descr="Build a TF-IDF search engi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0580" y="1078992"/>
            <a:ext cx="3042840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weeks/week-03/class-01/exercise/search.py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47387"/>
            <a:ext cx="8595360" cy="3052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 of solutions/search.py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70674"/>
            <a:ext cx="8595360" cy="28056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