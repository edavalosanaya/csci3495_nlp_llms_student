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starling is known by the flock it flies with. Can we learn a word the same way, from the words around it?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Count neighbours so words become vectors, weight the informative ones with TF-IDF, score word association with PPMI, compare by angle with cosine, put it together as similarity search, and then build one.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One-hot vectors are all orthogonal: every word is equally distant from every other. No notion that cat is closer to dog than to democracy.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a real guess from the room before revealing the line. Nobody looks a word up in a dictionary here; everyone reads the sentence around it. That instinct is the whole idea of the next forty minutes.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Words in similar contexts tend to have similar meanings.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how often each context word appears near a target word: each row is already a vector. Cherry and strawberry look alike; digital and information look alike.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Plot two of the dimensions from real Wikipedia counts and words become points: digital and information land in the same corner of the space.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four-document corpus we will use all class. Read it as a matrix: each row is a word, each column a document, each cell a count. The two sports documents share a direction and the two cooking documents share another, and that is what similarity is going to measure. Notice the row for the: huge in every column, useful in none.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want frequent-in-doc but rare-across-corpus words.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has the biggest raw count, yet its weight collapses to zero; the topical word goal wins.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PPMI = max(PMI, 0): negative associations are unreliable with sparse counts, so we clip them to zero.</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Frequent words get long vectors, so raw distance misleads. The ANGLE between cherry and information is large; between digital and information it is tiny.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Cosine is the dot product divided by both lengths, which is exactly what cancels the length out. A and B point the same way and score near 1 even though B is a much longer document, and C sits at a wide angle and scores near 0. Same topic beats same size.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steps, and they are the whole exercise: vectorize the query and the documents with TF-IDF, score every document with cosine, sort, keep the top k. This is classic search, and it is also the retrieval step of RAG in Week 11, where the only thing that changes is that the counts become learned dense vectors. This is the heart of classic search engines, and the retrieval step in RAG (Week 11), where we swap counts for learned dense vectors.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Vector similarity powers search and retrieval inside real data centers.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Good and great stay orthogonal unless they co-occur.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to write, tfidf_vector and cosine. build_index and the ranking loop are already written for them. Then run the three queries and spend the last stretch on the four break-it experiments, which are where the understanding actually happens.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tfidf_vector weights a token list, cosine compares two of those vectors. tokenize, build_index and search are already written, so nothing here is about plumbing.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right document lands first for every query, and the unrelated ones score exactly 0.000 because they share no terms with the query. That zero is worth pointing at: it is not a small number, it is orthogonality.</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Text into vectors, TF-IDF to discount the common words, PPMI to score association, cosine to compare by angle. Every vector here is long, sparse and hand-built. Next class we swap all of that for short, dense vectors that are learned. Next class swap long sparse counts for short, learned dense embeddings.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jpg"/><Relationship Id="rId4" Type="http://schemas.openxmlformats.org/officeDocument/2006/relationships/hyperlink" Target="https://www.youtube.com/watch?v=my5wFNQpFO0" TargetMode="External"/><Relationship Id="rId5"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Vector Semantics</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3, Class 1  ·  Wed Sep 9, 2026</a:t>
            </a:r>
          </a:p>
        </p:txBody>
      </p:sp>
      <p:pic>
        <p:nvPicPr>
          <p:cNvPr id="5" name="Picture 4" descr="Vector Semantics"/>
          <p:cNvPicPr>
            <a:picLocks noChangeAspect="1"/>
          </p:cNvPicPr>
          <p:nvPr/>
        </p:nvPicPr>
        <p:blipFill>
          <a:blip r:embed="rId3"/>
          <a:stretch>
            <a:fillRect/>
          </a:stretch>
        </p:blipFill>
        <p:spPr>
          <a:xfrm>
            <a:off x="6035040" y="3474720"/>
            <a:ext cx="274320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Skander Zarrad,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499843" y="1078992"/>
            <a:ext cx="81443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5.2 &amp; 5.5; deck figures; run of exercise/search.py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Words as atomic symbols</a:t>
            </a:r>
          </a:p>
        </p:txBody>
      </p:sp>
      <p:pic>
        <p:nvPicPr>
          <p:cNvPr id="5" name="Picture 4" descr="Words as atomic symbols"/>
          <p:cNvPicPr>
            <a:picLocks noChangeAspect="1"/>
          </p:cNvPicPr>
          <p:nvPr/>
        </p:nvPicPr>
        <p:blipFill>
          <a:blip r:embed="rId3"/>
          <a:stretch>
            <a:fillRect/>
          </a:stretch>
        </p:blipFill>
        <p:spPr>
          <a:xfrm>
            <a:off x="694319" y="1078992"/>
            <a:ext cx="77553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distributional hypothesis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You read the words around it. So can a machine."/>
          <p:cNvPicPr>
            <a:picLocks noChangeAspect="1"/>
          </p:cNvPicPr>
          <p:nvPr/>
        </p:nvPicPr>
        <p:blipFill>
          <a:blip r:embed="rId3"/>
          <a:stretch>
            <a:fillRect/>
          </a:stretch>
        </p:blipFill>
        <p:spPr>
          <a:xfrm>
            <a:off x="0" y="-108585"/>
            <a:ext cx="9144000" cy="536067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How would you guess the meaning of a word you have never seen?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You read the words around it. So can a machine.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https://unsplash.com/photos/wE37SqLAO9M (Eli Francis)</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shall know a word by the company it keeps"</a:t>
            </a:r>
          </a:p>
        </p:txBody>
      </p:sp>
      <p:pic>
        <p:nvPicPr>
          <p:cNvPr id="5" name="Picture 4" descr="&quot;You shall know a word by the company it keeps&quot;"/>
          <p:cNvPicPr>
            <a:picLocks noChangeAspect="1"/>
          </p:cNvPicPr>
          <p:nvPr/>
        </p:nvPicPr>
        <p:blipFill>
          <a:blip r:embed="rId3"/>
          <a:stretch>
            <a:fillRect/>
          </a:stretch>
        </p:blipFill>
        <p:spPr>
          <a:xfrm>
            <a:off x="274320" y="1507714"/>
            <a:ext cx="8595360" cy="27315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J.R. Firth, 1957, A Synopsis of Linguistic Theory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Counting neighbors turns a word into numbers</a:t>
            </a:r>
          </a:p>
        </p:txBody>
      </p:sp>
      <p:pic>
        <p:nvPicPr>
          <p:cNvPr id="5" name="Picture 4" descr="Counting neighbors turns a word into numbers"/>
          <p:cNvPicPr>
            <a:picLocks noChangeAspect="1"/>
          </p:cNvPicPr>
          <p:nvPr/>
        </p:nvPicPr>
        <p:blipFill>
          <a:blip r:embed="rId3"/>
          <a:stretch>
            <a:fillRect/>
          </a:stretch>
        </p:blipFill>
        <p:spPr>
          <a:xfrm>
            <a:off x="274320" y="1578008"/>
            <a:ext cx="8595360" cy="259098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Those numbers are coordinates</a:t>
            </a:r>
          </a:p>
        </p:txBody>
      </p:sp>
      <p:pic>
        <p:nvPicPr>
          <p:cNvPr id="5" name="Picture 4" descr="Those numbers are coordinates"/>
          <p:cNvPicPr>
            <a:picLocks noChangeAspect="1"/>
          </p:cNvPicPr>
          <p:nvPr/>
        </p:nvPicPr>
        <p:blipFill>
          <a:blip r:embed="rId3"/>
          <a:stretch>
            <a:fillRect/>
          </a:stretch>
        </p:blipFill>
        <p:spPr>
          <a:xfrm>
            <a:off x="584656" y="1078992"/>
            <a:ext cx="797468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Words and documents as vectors</a:t>
            </a:r>
          </a:p>
        </p:txBody>
      </p:sp>
      <p:pic>
        <p:nvPicPr>
          <p:cNvPr id="5" name="Picture 4" descr="Words and documents as vectors"/>
          <p:cNvPicPr>
            <a:picLocks noChangeAspect="1"/>
          </p:cNvPicPr>
          <p:nvPr/>
        </p:nvPicPr>
        <p:blipFill>
          <a:blip r:embed="rId3"/>
          <a:stretch>
            <a:fillRect/>
          </a:stretch>
        </p:blipFill>
        <p:spPr>
          <a:xfrm>
            <a:off x="1122280" y="1078992"/>
            <a:ext cx="68994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Raw counts mislead</a:t>
            </a:r>
          </a:p>
        </p:txBody>
      </p:sp>
      <p:pic>
        <p:nvPicPr>
          <p:cNvPr id="5" name="Picture 4" descr="Raw counts mislead"/>
          <p:cNvPicPr>
            <a:picLocks noChangeAspect="1"/>
          </p:cNvPicPr>
          <p:nvPr/>
        </p:nvPicPr>
        <p:blipFill>
          <a:blip r:embed="rId3"/>
          <a:stretch>
            <a:fillRect/>
          </a:stretch>
        </p:blipFill>
        <p:spPr>
          <a:xfrm>
            <a:off x="274320" y="1443547"/>
            <a:ext cx="8595360" cy="285991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TF-IDF</a:t>
            </a:r>
          </a:p>
        </p:txBody>
      </p:sp>
      <p:pic>
        <p:nvPicPr>
          <p:cNvPr id="5" name="Picture 4" descr="TF-IDF"/>
          <p:cNvPicPr>
            <a:picLocks noChangeAspect="1"/>
          </p:cNvPicPr>
          <p:nvPr/>
        </p:nvPicPr>
        <p:blipFill>
          <a:blip r:embed="rId3"/>
          <a:stretch>
            <a:fillRect/>
          </a:stretch>
        </p:blipFill>
        <p:spPr>
          <a:xfrm>
            <a:off x="910949" y="1078992"/>
            <a:ext cx="732210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PPMI: word-word association</a:t>
            </a:r>
          </a:p>
        </p:txBody>
      </p:sp>
      <p:pic>
        <p:nvPicPr>
          <p:cNvPr id="5" name="Picture 4" descr="PPMI: word-word association"/>
          <p:cNvPicPr>
            <a:picLocks noChangeAspect="1"/>
          </p:cNvPicPr>
          <p:nvPr/>
        </p:nvPicPr>
        <p:blipFill>
          <a:blip r:embed="rId3"/>
          <a:stretch>
            <a:fillRect/>
          </a:stretch>
        </p:blipFill>
        <p:spPr>
          <a:xfrm>
            <a:off x="617726" y="1078992"/>
            <a:ext cx="79085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angle, not distance?</a:t>
            </a:r>
          </a:p>
        </p:txBody>
      </p:sp>
      <p:pic>
        <p:nvPicPr>
          <p:cNvPr id="5" name="Picture 4" descr="Why angle, not distance?"/>
          <p:cNvPicPr>
            <a:picLocks noChangeAspect="1"/>
          </p:cNvPicPr>
          <p:nvPr/>
        </p:nvPicPr>
        <p:blipFill>
          <a:blip r:embed="rId3"/>
          <a:stretch>
            <a:fillRect/>
          </a:stretch>
        </p:blipFill>
        <p:spPr>
          <a:xfrm>
            <a:off x="1493432" y="1078992"/>
            <a:ext cx="61571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Cosine similarity</a:t>
            </a:r>
          </a:p>
        </p:txBody>
      </p:sp>
      <p:pic>
        <p:nvPicPr>
          <p:cNvPr id="5" name="Picture 4" descr="Cosine similarity"/>
          <p:cNvPicPr>
            <a:picLocks noChangeAspect="1"/>
          </p:cNvPicPr>
          <p:nvPr/>
        </p:nvPicPr>
        <p:blipFill>
          <a:blip r:embed="rId3"/>
          <a:stretch>
            <a:fillRect/>
          </a:stretch>
        </p:blipFill>
        <p:spPr>
          <a:xfrm>
            <a:off x="843601" y="1078992"/>
            <a:ext cx="745679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Putting it together: similarity search</a:t>
            </a:r>
          </a:p>
        </p:txBody>
      </p:sp>
      <p:pic>
        <p:nvPicPr>
          <p:cNvPr id="5" name="Picture 4" descr="Putting it together: similarity search"/>
          <p:cNvPicPr>
            <a:picLocks noChangeAspect="1"/>
          </p:cNvPicPr>
          <p:nvPr/>
        </p:nvPicPr>
        <p:blipFill>
          <a:blip r:embed="rId3"/>
          <a:stretch>
            <a:fillRect/>
          </a:stretch>
        </p:blipFill>
        <p:spPr>
          <a:xfrm>
            <a:off x="274320" y="1788141"/>
            <a:ext cx="8595360" cy="217072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This already runs in production</a:t>
            </a:r>
          </a:p>
        </p:txBody>
      </p:sp>
      <p:pic>
        <p:nvPicPr>
          <p:cNvPr id="5" name="Picture 4" descr="This already runs in production"/>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https://unsplash.com/photos/woman-in-black-coat-tCTLkInyXVw (Christina @ wocintechchat.com)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Sparse vs. dense</a:t>
            </a:r>
          </a:p>
        </p:txBody>
      </p:sp>
      <p:pic>
        <p:nvPicPr>
          <p:cNvPr id="5" name="Picture 4" descr="Video: Embeddings (Google). Opens https://www.youtube.com/watch?v=my5wFNQpFO0">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Embeddings (Google)</a:t>
            </a:r>
          </a:p>
        </p:txBody>
      </p:sp>
      <p:pic>
        <p:nvPicPr>
          <p:cNvPr id="7" name="Picture 6" descr="Sparse vs. dense"/>
          <p:cNvPicPr>
            <a:picLocks noChangeAspect="1"/>
          </p:cNvPicPr>
          <p:nvPr/>
        </p:nvPicPr>
        <p:blipFill>
          <a:blip r:embed="rId5"/>
          <a:stretch>
            <a:fillRect/>
          </a:stretch>
        </p:blipFill>
        <p:spPr>
          <a:xfrm>
            <a:off x="338150" y="1207008"/>
            <a:ext cx="8467699" cy="3461004"/>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elevance Race."/>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Tiny Search Engine</a:t>
            </a:r>
          </a:p>
        </p:txBody>
      </p:sp>
      <p:pic>
        <p:nvPicPr>
          <p:cNvPr id="5" name="Picture 4" descr="Tiny Search Engine"/>
          <p:cNvPicPr>
            <a:picLocks noChangeAspect="1"/>
          </p:cNvPicPr>
          <p:nvPr/>
        </p:nvPicPr>
        <p:blipFill>
          <a:blip r:embed="rId3"/>
          <a:stretch>
            <a:fillRect/>
          </a:stretch>
        </p:blipFill>
        <p:spPr>
          <a:xfrm>
            <a:off x="328469" y="1078992"/>
            <a:ext cx="848706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weeks/week-03/class-01/exercise/search.py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a TF-IDF search engine</a:t>
            </a:r>
          </a:p>
        </p:txBody>
      </p:sp>
      <p:pic>
        <p:nvPicPr>
          <p:cNvPr id="5" name="Picture 4" descr="Build a TF-IDF search engine"/>
          <p:cNvPicPr>
            <a:picLocks noChangeAspect="1"/>
          </p:cNvPicPr>
          <p:nvPr/>
        </p:nvPicPr>
        <p:blipFill>
          <a:blip r:embed="rId3"/>
          <a:stretch>
            <a:fillRect/>
          </a:stretch>
        </p:blipFill>
        <p:spPr>
          <a:xfrm>
            <a:off x="274320" y="1857356"/>
            <a:ext cx="8595360" cy="2032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weeks/week-03/class-01/exercise/search.py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274320" y="1347387"/>
            <a:ext cx="8595360" cy="30522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of solutions/search.py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628797"/>
            <a:ext cx="8595360" cy="248941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