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8" r:id="rId3"/>
  </p:sldMasterIdLst>
  <p:notesMasterIdLst>
    <p:notesMasterId r:id="rId4"/>
  </p:notesMasterIdLst>
  <p:sldIdLst>
    <p:sldId id="256" r:id="rId21"/>
    <p:sldId id="257" r:id="rId22"/>
    <p:sldId id="258" r:id="rId20"/>
    <p:sldId id="259" r:id="rId19"/>
    <p:sldId id="260" r:id="rId18"/>
    <p:sldId id="261" r:id="rId17"/>
    <p:sldId id="262" r:id="rId16"/>
    <p:sldId id="263" r:id="rId15"/>
    <p:sldId id="264" r:id="rId14"/>
    <p:sldId id="265" r:id="rId13"/>
    <p:sldId id="266" r:id="rId12"/>
    <p:sldId id="267" r:id="rId11"/>
    <p:sldId id="268" r:id="rId10"/>
    <p:sldId id="269" r:id="rId9"/>
    <p:sldId id="270" r:id="rId8"/>
    <p:sldId id="271" r:id="rId7"/>
    <p:sldId id="272" r:id="rId6"/>
    <p:sldId id="273" r:id="rId5"/>
    <p:sldId id="274" r:id="rId39"/>
    <p:sldId id="275" r:id="rId40"/>
    <p:sldId id="276" r:id="rId41"/>
    <p:sldId id="277" r:id="rId42"/>
    <p:sldId id="278" r:id="rId43"/>
    <p:sldId id="279" r:id="rId44"/>
    <p:sldId id="280" r:id="rId45"/>
    <p:sldId id="281" r:id="rId46"/>
    <p:sldId id="282" r:id="rId47"/>
  </p:sldIdLst>
  <p:sldSz cy="5143500" cx="9144000"/>
  <p:notesSz cx="6858000" cy="9144000"/>
  <p:embeddedFontLst>
    <p:embeddedFont>
      <p:font typeface="Roboto"/>
      <p:regular r:id="rId23"/>
      <p:bold r:id="rId24"/>
      <p:italic r:id="rId25"/>
      <p:boldItalic r:id="rId26"/>
    </p:embeddedFont>
    <p:embeddedFont>
      <p:font typeface="Playfair Display"/>
      <p:regular r:id="rId27"/>
      <p:bold r:id="rId28"/>
      <p:italic r:id="rId29"/>
      <p:boldItalic r:id="rId30"/>
    </p:embeddedFont>
    <p:embeddedFont>
      <p:font typeface="Roboto Mono Light"/>
      <p:regular r:id="rId31"/>
      <p:bold r:id="rId32"/>
      <p:italic r:id="rId33"/>
      <p:boldItalic r:id="rId34"/>
    </p:embeddedFont>
    <p:embeddedFont>
      <p:font typeface="Roboto Light"/>
      <p:regular r:id="rId35"/>
      <p:bold r:id="rId36"/>
      <p:italic r:id="rId37"/>
      <p:boldItalic r:id="rId3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8.xml"/><Relationship Id="rId6" Type="http://schemas.openxmlformats.org/officeDocument/2006/relationships/slide" Target="slides/slide17.xml"/><Relationship Id="rId7" Type="http://schemas.openxmlformats.org/officeDocument/2006/relationships/slide" Target="slides/slide16.xml"/><Relationship Id="rId8" Type="http://schemas.openxmlformats.org/officeDocument/2006/relationships/slide" Target="slides/slide15.xml"/><Relationship Id="rId9" Type="http://schemas.openxmlformats.org/officeDocument/2006/relationships/slide" Target="slides/slide14.xml"/><Relationship Id="rId10" Type="http://schemas.openxmlformats.org/officeDocument/2006/relationships/slide" Target="slides/slide13.xml"/><Relationship Id="rId11" Type="http://schemas.openxmlformats.org/officeDocument/2006/relationships/slide" Target="slides/slide12.xml"/><Relationship Id="rId12" Type="http://schemas.openxmlformats.org/officeDocument/2006/relationships/slide" Target="slides/slide11.xml"/><Relationship Id="rId13" Type="http://schemas.openxmlformats.org/officeDocument/2006/relationships/slide" Target="slides/slide10.xml"/><Relationship Id="rId14" Type="http://schemas.openxmlformats.org/officeDocument/2006/relationships/slide" Target="slides/slide9.xml"/><Relationship Id="rId15" Type="http://schemas.openxmlformats.org/officeDocument/2006/relationships/slide" Target="slides/slide8.xml"/><Relationship Id="rId16" Type="http://schemas.openxmlformats.org/officeDocument/2006/relationships/slide" Target="slides/slide7.xml"/><Relationship Id="rId17" Type="http://schemas.openxmlformats.org/officeDocument/2006/relationships/slide" Target="slides/slide6.xml"/><Relationship Id="rId18" Type="http://schemas.openxmlformats.org/officeDocument/2006/relationships/slide" Target="slides/slide5.xml"/><Relationship Id="rId19" Type="http://schemas.openxmlformats.org/officeDocument/2006/relationships/slide" Target="slides/slide4.xml"/><Relationship Id="rId20" Type="http://schemas.openxmlformats.org/officeDocument/2006/relationships/slide" Target="slides/slide3.xml"/><Relationship Id="rId21" Type="http://schemas.openxmlformats.org/officeDocument/2006/relationships/slide" Target="slides/slide1.xml"/><Relationship Id="rId22" Type="http://schemas.openxmlformats.org/officeDocument/2006/relationships/slide" Target="slides/slide2.xml"/><Relationship Id="rId23" Type="http://schemas.openxmlformats.org/officeDocument/2006/relationships/font" Target="fonts/Roboto-regular.fntdata"/><Relationship Id="rId24" Type="http://schemas.openxmlformats.org/officeDocument/2006/relationships/font" Target="fonts/Roboto-bold.fntdata"/><Relationship Id="rId25" Type="http://schemas.openxmlformats.org/officeDocument/2006/relationships/font" Target="fonts/Roboto-italic.fntdata"/><Relationship Id="rId26" Type="http://schemas.openxmlformats.org/officeDocument/2006/relationships/font" Target="fonts/Roboto-boldItalic.fntdata"/><Relationship Id="rId27" Type="http://schemas.openxmlformats.org/officeDocument/2006/relationships/font" Target="fonts/PlayfairDisplay-regular.fntdata"/><Relationship Id="rId28" Type="http://schemas.openxmlformats.org/officeDocument/2006/relationships/font" Target="fonts/PlayfairDisplay-bold.fntdata"/><Relationship Id="rId29" Type="http://schemas.openxmlformats.org/officeDocument/2006/relationships/font" Target="fonts/PlayfairDisplay-italic.fntdata"/><Relationship Id="rId30" Type="http://schemas.openxmlformats.org/officeDocument/2006/relationships/font" Target="fonts/PlayfairDisplay-boldItalic.fntdata"/><Relationship Id="rId31" Type="http://schemas.openxmlformats.org/officeDocument/2006/relationships/font" Target="fonts/RobotoMonoLight-regular.fntdata"/><Relationship Id="rId32" Type="http://schemas.openxmlformats.org/officeDocument/2006/relationships/font" Target="fonts/RobotoMonoLight-bold.fntdata"/><Relationship Id="rId33" Type="http://schemas.openxmlformats.org/officeDocument/2006/relationships/font" Target="fonts/RobotoMonoLight-italic.fntdata"/><Relationship Id="rId34" Type="http://schemas.openxmlformats.org/officeDocument/2006/relationships/font" Target="fonts/RobotoMonoLight-boldItalic.fntdata"/><Relationship Id="rId35" Type="http://schemas.openxmlformats.org/officeDocument/2006/relationships/font" Target="fonts/RobotoLight-regular.fntdata"/><Relationship Id="rId36" Type="http://schemas.openxmlformats.org/officeDocument/2006/relationships/font" Target="fonts/RobotoLight-bold.fntdata"/><Relationship Id="rId37" Type="http://schemas.openxmlformats.org/officeDocument/2006/relationships/font" Target="fonts/RobotoLight-italic.fntdata"/><Relationship Id="rId38" Type="http://schemas.openxmlformats.org/officeDocument/2006/relationships/font" Target="fonts/RobotoLight-boldItalic.fntdata"/><Relationship Id="rId39" Type="http://schemas.openxmlformats.org/officeDocument/2006/relationships/slide" Target="slides/slide19.xml"/><Relationship Id="rId40" Type="http://schemas.openxmlformats.org/officeDocument/2006/relationships/slide" Target="slides/slide20.xml"/><Relationship Id="rId41" Type="http://schemas.openxmlformats.org/officeDocument/2006/relationships/slide" Target="slides/slide21.xml"/><Relationship Id="rId42" Type="http://schemas.openxmlformats.org/officeDocument/2006/relationships/slide" Target="slides/slide22.xml"/><Relationship Id="rId43" Type="http://schemas.openxmlformats.org/officeDocument/2006/relationships/slide" Target="slides/slide23.xml"/><Relationship Id="rId44" Type="http://schemas.openxmlformats.org/officeDocument/2006/relationships/slide" Target="slides/slide24.xml"/><Relationship Id="rId45" Type="http://schemas.openxmlformats.org/officeDocument/2006/relationships/slide" Target="slides/slide25.xml"/><Relationship Id="rId46" Type="http://schemas.openxmlformats.org/officeDocument/2006/relationships/slide" Target="slides/slide26.xml"/><Relationship Id="rId47" Type="http://schemas.openxmlformats.org/officeDocument/2006/relationships/slide" Target="slides/slide2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523" y="685800"/>
            <a:ext cx="4571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3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8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jp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jpg"/><Relationship Id="rId3" Type="http://schemas.openxmlformats.org/officeDocument/2006/relationships/image" Target="../media/image26.jpg"/><Relationship Id="rId4" Type="http://schemas.openxmlformats.org/officeDocument/2006/relationships/image" Target="../media/image27.jp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8.jp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9.jp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4.jp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Cover Page" type="blank">
  <p:cSld name="BLANK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0" y="3390300"/>
            <a:ext cx="9144000" cy="175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1" name="Google Shape;11;p2"/>
          <p:cNvPicPr preferRelativeResize="0"/>
          <p:nvPr/>
        </p:nvPicPr>
        <p:blipFill rotWithShape="1">
          <a:blip r:embed="rId2">
            <a:alphaModFix/>
          </a:blip>
          <a:srcRect b="13732" l="600" r="-600" t="43847"/>
          <a:stretch/>
        </p:blipFill>
        <p:spPr>
          <a:xfrm>
            <a:off x="0" y="-70472"/>
            <a:ext cx="9198797" cy="3460774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Google Shape;12;p2"/>
          <p:cNvSpPr txBox="1"/>
          <p:nvPr>
            <p:ph type="title"/>
          </p:nvPr>
        </p:nvSpPr>
        <p:spPr>
          <a:xfrm>
            <a:off x="493923" y="976378"/>
            <a:ext cx="8005800" cy="182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Playfair Display"/>
              <a:buNone/>
              <a:defRPr i="0" sz="3600" u="none" cap="none" strike="noStrike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13" name="Google Shape;13;p2"/>
          <p:cNvSpPr txBox="1"/>
          <p:nvPr>
            <p:ph idx="1" type="subTitle"/>
          </p:nvPr>
        </p:nvSpPr>
        <p:spPr>
          <a:xfrm>
            <a:off x="493926" y="3549825"/>
            <a:ext cx="7661100" cy="9708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2" type="subTitle"/>
          </p:nvPr>
        </p:nvSpPr>
        <p:spPr>
          <a:xfrm>
            <a:off x="493923" y="4079316"/>
            <a:ext cx="7327800" cy="2987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8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+ 2 Columns">
  <p:cSld name="2_Portfolio Thre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idx="1" type="body"/>
          </p:nvPr>
        </p:nvSpPr>
        <p:spPr>
          <a:xfrm>
            <a:off x="509577" y="1369219"/>
            <a:ext cx="36882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7" name="Google Shape;17;p3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18" name="Google Shape;18;p3"/>
          <p:cNvSpPr txBox="1"/>
          <p:nvPr>
            <p:ph idx="2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3" type="body"/>
          </p:nvPr>
        </p:nvSpPr>
        <p:spPr>
          <a:xfrm>
            <a:off x="4827127" y="1369219"/>
            <a:ext cx="36882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+ 3 Columns">
  <p:cSld name="1_Slide with Placeholder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4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22" name="Google Shape;22;p4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2" type="body"/>
          </p:nvPr>
        </p:nvSpPr>
        <p:spPr>
          <a:xfrm>
            <a:off x="552175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24" name="Google Shape;24;p4"/>
          <p:cNvSpPr txBox="1"/>
          <p:nvPr>
            <p:ph idx="3" type="body"/>
          </p:nvPr>
        </p:nvSpPr>
        <p:spPr>
          <a:xfrm>
            <a:off x="3337475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25" name="Google Shape;25;p4"/>
          <p:cNvSpPr txBox="1"/>
          <p:nvPr>
            <p:ph idx="4" type="body"/>
          </p:nvPr>
        </p:nvSpPr>
        <p:spPr>
          <a:xfrm>
            <a:off x="6160800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over Slide">
  <p:cSld name="Cover Slide"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Google Shape;27;p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over Slide with Logo">
  <p:cSld name="Cover Slide_2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Google Shape;29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  <p:pic>
        <p:nvPicPr>
          <p:cNvPr id="30" name="Google Shape;30;p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03514" y="628706"/>
            <a:ext cx="4936973" cy="388558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Acknowledgments Slide">
  <p:cSld name="Cover Slide_1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oogle Shape;32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  <p:sp>
        <p:nvSpPr>
          <p:cNvPr id="33" name="Google Shape;33;p7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Font typeface="Playfair Display"/>
              <a:buNone/>
              <a:defRPr i="0" sz="5600" u="none" cap="none" strike="noStrike">
                <a:solidFill>
                  <a:schemeClr val="lt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34" name="Google Shape;34;p7"/>
          <p:cNvSpPr txBox="1"/>
          <p:nvPr>
            <p:ph idx="1" type="subTitle"/>
          </p:nvPr>
        </p:nvSpPr>
        <p:spPr>
          <a:xfrm>
            <a:off x="509521" y="1401113"/>
            <a:ext cx="5120100" cy="15582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2700">
                <a:solidFill>
                  <a:schemeClr val="l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tle only">
  <p:cSld name="Custom Layout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8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37" name="Google Shape;37;p8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Big Concept Slide">
  <p:cSld name="Slide with Placeholder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title"/>
          </p:nvPr>
        </p:nvSpPr>
        <p:spPr>
          <a:xfrm>
            <a:off x="509577" y="2245519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509577" y="3154509"/>
            <a:ext cx="6737700" cy="953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">
  <p:cSld name="Large Picture with Logo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3" name="Google Shape;43;p10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44" name="Google Shape;44;p10"/>
          <p:cNvPicPr preferRelativeResize="0"/>
          <p:nvPr/>
        </p:nvPicPr>
        <p:blipFill rotWithShape="1">
          <a:blip r:embed="rId2">
            <a:alphaModFix/>
          </a:blip>
          <a:srcRect b="2009" l="27412" r="6551" t="0"/>
          <a:stretch/>
        </p:blipFill>
        <p:spPr>
          <a:xfrm>
            <a:off x="7006675" y="-56025"/>
            <a:ext cx="2176574" cy="4846049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Google Shape;45;p10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1">
  <p:cSld name="Large Picture with Logo_1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1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8" name="Google Shape;48;p11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49" name="Google Shape;49;p11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2">
  <p:cSld name="Large Picture with Logo_1_1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2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52" name="Google Shape;52;p12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53" name="Google Shape;53;p12"/>
          <p:cNvPicPr preferRelativeResize="0"/>
          <p:nvPr/>
        </p:nvPicPr>
        <p:blipFill rotWithShape="1">
          <a:blip r:embed="rId2">
            <a:alphaModFix/>
          </a:blip>
          <a:srcRect b="0" l="27412" r="6551" t="0"/>
          <a:stretch/>
        </p:blipFill>
        <p:spPr>
          <a:xfrm>
            <a:off x="7006675" y="-57150"/>
            <a:ext cx="2137324" cy="4856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4" name="Google Shape;54;p12"/>
          <p:cNvPicPr preferRelativeResize="0"/>
          <p:nvPr/>
        </p:nvPicPr>
        <p:blipFill rotWithShape="1">
          <a:blip r:embed="rId3">
            <a:alphaModFix/>
          </a:blip>
          <a:srcRect b="0" l="8950" r="0" t="0"/>
          <a:stretch/>
        </p:blipFill>
        <p:spPr>
          <a:xfrm>
            <a:off x="7006665" y="-57150"/>
            <a:ext cx="6633784" cy="4856124"/>
          </a:xfrm>
          <a:prstGeom prst="rect">
            <a:avLst/>
          </a:prstGeom>
          <a:noFill/>
          <a:ln>
            <a:noFill/>
          </a:ln>
        </p:spPr>
      </p:pic>
      <p:pic>
        <p:nvPicPr>
          <p:cNvPr id="55" name="Google Shape;55;p12"/>
          <p:cNvPicPr preferRelativeResize="0"/>
          <p:nvPr/>
        </p:nvPicPr>
        <p:blipFill rotWithShape="1">
          <a:blip r:embed="rId4">
            <a:alphaModFix/>
          </a:blip>
          <a:srcRect b="0" l="39028" r="0" t="0"/>
          <a:stretch/>
        </p:blipFill>
        <p:spPr>
          <a:xfrm>
            <a:off x="7006676" y="-57150"/>
            <a:ext cx="4442373" cy="4856124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2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3">
  <p:cSld name="Large Picture with Logo_1_1_1"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3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59" name="Google Shape;59;p13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60" name="Google Shape;60;p13"/>
          <p:cNvPicPr preferRelativeResize="0"/>
          <p:nvPr/>
        </p:nvPicPr>
        <p:blipFill rotWithShape="1">
          <a:blip r:embed="rId2">
            <a:alphaModFix/>
          </a:blip>
          <a:srcRect b="0" l="24210" r="1252" t="0"/>
          <a:stretch/>
        </p:blipFill>
        <p:spPr>
          <a:xfrm>
            <a:off x="7006675" y="-57150"/>
            <a:ext cx="5430948" cy="4856124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61;p13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4">
  <p:cSld name="Large Picture with Logo_1_1_1_1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4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64" name="Google Shape;64;p14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65" name="Google Shape;65;p14"/>
          <p:cNvPicPr preferRelativeResize="0"/>
          <p:nvPr/>
        </p:nvPicPr>
        <p:blipFill rotWithShape="1">
          <a:blip r:embed="rId2">
            <a:alphaModFix/>
          </a:blip>
          <a:srcRect b="0" l="34525" r="0" t="0"/>
          <a:stretch/>
        </p:blipFill>
        <p:spPr>
          <a:xfrm>
            <a:off x="7010075" y="-57150"/>
            <a:ext cx="2543048" cy="4856125"/>
          </a:xfrm>
          <a:prstGeom prst="rect">
            <a:avLst/>
          </a:prstGeom>
          <a:noFill/>
          <a:ln>
            <a:noFill/>
          </a:ln>
        </p:spPr>
      </p:pic>
      <p:sp>
        <p:nvSpPr>
          <p:cNvPr id="66" name="Google Shape;66;p14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with Large Photo">
  <p:cSld name="3_Placeholder"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5"/>
          <p:cNvSpPr txBox="1"/>
          <p:nvPr>
            <p:ph type="title"/>
          </p:nvPr>
        </p:nvSpPr>
        <p:spPr>
          <a:xfrm>
            <a:off x="509577" y="702469"/>
            <a:ext cx="22071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Playfair Display"/>
              <a:buNone/>
              <a:defRPr i="0" sz="27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69" name="Google Shape;69;p15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0" name="Google Shape;70;p15"/>
          <p:cNvSpPr txBox="1"/>
          <p:nvPr>
            <p:ph idx="2" type="body"/>
          </p:nvPr>
        </p:nvSpPr>
        <p:spPr>
          <a:xfrm>
            <a:off x="509575" y="1902650"/>
            <a:ext cx="225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with Large Photo 1">
  <p:cSld name="3_Placeholder_1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6"/>
          <p:cNvSpPr txBox="1"/>
          <p:nvPr>
            <p:ph type="title"/>
          </p:nvPr>
        </p:nvSpPr>
        <p:spPr>
          <a:xfrm>
            <a:off x="509577" y="702469"/>
            <a:ext cx="22071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Playfair Display"/>
              <a:buNone/>
              <a:defRPr i="0" sz="27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73" name="Google Shape;73;p16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4" name="Google Shape;74;p16"/>
          <p:cNvSpPr txBox="1"/>
          <p:nvPr>
            <p:ph idx="2" type="body"/>
          </p:nvPr>
        </p:nvSpPr>
        <p:spPr>
          <a:xfrm>
            <a:off x="509575" y="1902650"/>
            <a:ext cx="225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Single Statistic">
  <p:cSld name="1_Placeholder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7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7" name="Google Shape;77;p17"/>
          <p:cNvSpPr txBox="1"/>
          <p:nvPr>
            <p:ph type="title"/>
          </p:nvPr>
        </p:nvSpPr>
        <p:spPr>
          <a:xfrm>
            <a:off x="454066" y="182433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9400">
                <a:solidFill>
                  <a:schemeClr val="accen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78" name="Google Shape;78;p17"/>
          <p:cNvSpPr txBox="1"/>
          <p:nvPr>
            <p:ph idx="2" type="subTitle"/>
          </p:nvPr>
        </p:nvSpPr>
        <p:spPr>
          <a:xfrm>
            <a:off x="454066" y="3127509"/>
            <a:ext cx="8353200" cy="7152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800"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9" name="Google Shape;79;p17"/>
          <p:cNvSpPr txBox="1"/>
          <p:nvPr>
            <p:ph idx="3" type="subTitle"/>
          </p:nvPr>
        </p:nvSpPr>
        <p:spPr>
          <a:xfrm>
            <a:off x="4838166" y="1824350"/>
            <a:ext cx="38664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0" name="Google Shape;80;p17"/>
          <p:cNvSpPr txBox="1"/>
          <p:nvPr>
            <p:ph idx="4" type="title"/>
          </p:nvPr>
        </p:nvSpPr>
        <p:spPr>
          <a:xfrm>
            <a:off x="509577" y="837514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Multiple Statistics">
  <p:cSld name="1_Placeholder_1"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8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3" name="Google Shape;83;p18"/>
          <p:cNvSpPr txBox="1"/>
          <p:nvPr>
            <p:ph type="title"/>
          </p:nvPr>
        </p:nvSpPr>
        <p:spPr>
          <a:xfrm>
            <a:off x="454066" y="75948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4" name="Google Shape;84;p18"/>
          <p:cNvSpPr txBox="1"/>
          <p:nvPr>
            <p:ph idx="2" type="subTitle"/>
          </p:nvPr>
        </p:nvSpPr>
        <p:spPr>
          <a:xfrm>
            <a:off x="4759893" y="759488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5" name="Google Shape;85;p18"/>
          <p:cNvSpPr txBox="1"/>
          <p:nvPr>
            <p:ph idx="3" type="title"/>
          </p:nvPr>
        </p:nvSpPr>
        <p:spPr>
          <a:xfrm>
            <a:off x="454066" y="2037533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5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6" name="Google Shape;86;p18"/>
          <p:cNvSpPr txBox="1"/>
          <p:nvPr>
            <p:ph idx="4" type="subTitle"/>
          </p:nvPr>
        </p:nvSpPr>
        <p:spPr>
          <a:xfrm>
            <a:off x="4759893" y="2037533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7" name="Google Shape;87;p18"/>
          <p:cNvSpPr txBox="1"/>
          <p:nvPr>
            <p:ph idx="5" type="title"/>
          </p:nvPr>
        </p:nvSpPr>
        <p:spPr>
          <a:xfrm>
            <a:off x="454066" y="343770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6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8" name="Google Shape;88;p18"/>
          <p:cNvSpPr txBox="1"/>
          <p:nvPr>
            <p:ph idx="6" type="subTitle"/>
          </p:nvPr>
        </p:nvSpPr>
        <p:spPr>
          <a:xfrm>
            <a:off x="4759893" y="3437709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Quote">
  <p:cSld name="CUSTOM"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9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91" name="Google Shape;91;p19"/>
          <p:cNvSpPr/>
          <p:nvPr/>
        </p:nvSpPr>
        <p:spPr>
          <a:xfrm>
            <a:off x="5748887" y="1561152"/>
            <a:ext cx="1718100" cy="219300"/>
          </a:xfrm>
          <a:prstGeom prst="rect">
            <a:avLst/>
          </a:prstGeom>
          <a:solidFill>
            <a:srgbClr val="738D33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" name="Google Shape;92;p19"/>
          <p:cNvSpPr/>
          <p:nvPr/>
        </p:nvSpPr>
        <p:spPr>
          <a:xfrm>
            <a:off x="7467434" y="1561152"/>
            <a:ext cx="1718100" cy="219300"/>
          </a:xfrm>
          <a:prstGeom prst="rect">
            <a:avLst/>
          </a:prstGeom>
          <a:solidFill>
            <a:srgbClr val="625578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9"/>
          <p:cNvSpPr/>
          <p:nvPr/>
        </p:nvSpPr>
        <p:spPr>
          <a:xfrm>
            <a:off x="0" y="1561152"/>
            <a:ext cx="1718100" cy="219300"/>
          </a:xfrm>
          <a:prstGeom prst="rect">
            <a:avLst/>
          </a:prstGeom>
          <a:solidFill>
            <a:srgbClr val="FFB600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" name="Google Shape;94;p19"/>
          <p:cNvSpPr/>
          <p:nvPr/>
        </p:nvSpPr>
        <p:spPr>
          <a:xfrm>
            <a:off x="1718076" y="1561152"/>
            <a:ext cx="1718100" cy="219300"/>
          </a:xfrm>
          <a:prstGeom prst="rect">
            <a:avLst/>
          </a:prstGeom>
          <a:solidFill>
            <a:srgbClr val="498DA0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9"/>
          <p:cNvSpPr txBox="1"/>
          <p:nvPr/>
        </p:nvSpPr>
        <p:spPr>
          <a:xfrm>
            <a:off x="3589051" y="975950"/>
            <a:ext cx="1965900" cy="875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0">
                <a:solidFill>
                  <a:srgbClr val="818387"/>
                </a:solidFill>
              </a:rPr>
              <a:t>“</a:t>
            </a:r>
            <a:endParaRPr b="1" sz="12000">
              <a:solidFill>
                <a:srgbClr val="818387"/>
              </a:solidFill>
            </a:endParaRPr>
          </a:p>
        </p:txBody>
      </p:sp>
      <p:sp>
        <p:nvSpPr>
          <p:cNvPr id="96" name="Google Shape;96;p19"/>
          <p:cNvSpPr txBox="1"/>
          <p:nvPr>
            <p:ph type="title"/>
          </p:nvPr>
        </p:nvSpPr>
        <p:spPr>
          <a:xfrm>
            <a:off x="1682308" y="2130769"/>
            <a:ext cx="5779500" cy="19626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97" name="Google Shape;97;p19"/>
          <p:cNvSpPr txBox="1"/>
          <p:nvPr>
            <p:ph idx="2" type="subTitle"/>
          </p:nvPr>
        </p:nvSpPr>
        <p:spPr>
          <a:xfrm>
            <a:off x="3300470" y="3999056"/>
            <a:ext cx="2543100" cy="3846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 algn="ctr">
              <a:spcBef>
                <a:spcPts val="700"/>
              </a:spcBef>
              <a:spcAft>
                <a:spcPts val="0"/>
              </a:spcAft>
              <a:buNone/>
              <a:defRPr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Title Slide" showMasterSp="0">
  <p:cSld name="13_Title Slide"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20"/>
          <p:cNvSpPr/>
          <p:nvPr>
            <p:ph idx="2" type="pic"/>
          </p:nvPr>
        </p:nvSpPr>
        <p:spPr>
          <a:xfrm>
            <a:off x="192505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0" name="Google Shape;100;p20"/>
          <p:cNvSpPr/>
          <p:nvPr>
            <p:ph idx="3" type="pic"/>
          </p:nvPr>
        </p:nvSpPr>
        <p:spPr>
          <a:xfrm>
            <a:off x="1997242" y="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1" name="Google Shape;101;p20"/>
          <p:cNvSpPr/>
          <p:nvPr>
            <p:ph idx="4" type="pic"/>
          </p:nvPr>
        </p:nvSpPr>
        <p:spPr>
          <a:xfrm>
            <a:off x="3801980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2" name="Google Shape;102;p20"/>
          <p:cNvSpPr/>
          <p:nvPr>
            <p:ph idx="5" type="pic"/>
          </p:nvPr>
        </p:nvSpPr>
        <p:spPr>
          <a:xfrm>
            <a:off x="5606716" y="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3" name="Google Shape;103;p20"/>
          <p:cNvSpPr/>
          <p:nvPr>
            <p:ph idx="6" type="pic"/>
          </p:nvPr>
        </p:nvSpPr>
        <p:spPr>
          <a:xfrm>
            <a:off x="7411453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Cover Page 1">
  <p:cSld name="1_Cover Page"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1"/>
          <p:cNvSpPr/>
          <p:nvPr/>
        </p:nvSpPr>
        <p:spPr>
          <a:xfrm>
            <a:off x="-53437" y="3390300"/>
            <a:ext cx="9197400" cy="175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6" name="Google Shape;106;p21"/>
          <p:cNvPicPr preferRelativeResize="0"/>
          <p:nvPr/>
        </p:nvPicPr>
        <p:blipFill rotWithShape="1">
          <a:blip r:embed="rId2">
            <a:alphaModFix/>
          </a:blip>
          <a:srcRect b="13732" l="0" r="-563" t="43844"/>
          <a:stretch/>
        </p:blipFill>
        <p:spPr>
          <a:xfrm>
            <a:off x="-53437" y="-70462"/>
            <a:ext cx="9250875" cy="3460759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21"/>
          <p:cNvSpPr txBox="1"/>
          <p:nvPr>
            <p:ph type="title"/>
          </p:nvPr>
        </p:nvSpPr>
        <p:spPr>
          <a:xfrm>
            <a:off x="493923" y="976378"/>
            <a:ext cx="8005800" cy="182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700" lIns="25700" spcFirstLastPara="1" rIns="25700" wrap="square" tIns="25700">
            <a:norm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700"/>
              <a:buFont typeface="Playfair Display"/>
              <a:buNone/>
              <a:defRPr i="0" sz="3600" u="none" cap="none" strike="noStrike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9pPr>
          </a:lstStyle>
          <a:p/>
        </p:txBody>
      </p:sp>
      <p:sp>
        <p:nvSpPr>
          <p:cNvPr id="108" name="Google Shape;108;p21"/>
          <p:cNvSpPr txBox="1"/>
          <p:nvPr>
            <p:ph idx="1" type="subTitle"/>
          </p:nvPr>
        </p:nvSpPr>
        <p:spPr>
          <a:xfrm>
            <a:off x="493926" y="3549825"/>
            <a:ext cx="7661100" cy="970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2pPr>
            <a:lvl3pPr lvl="2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3pPr>
            <a:lvl4pPr lvl="3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4pPr>
            <a:lvl5pPr lvl="4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5pPr>
            <a:lvl6pPr lvl="5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6pPr>
            <a:lvl7pPr lvl="6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7pPr>
            <a:lvl8pPr lvl="7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8pPr>
            <a:lvl9pPr lvl="8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None/>
              <a:defRPr/>
            </a:lvl9pPr>
          </a:lstStyle>
          <a:p/>
        </p:txBody>
      </p:sp>
      <p:sp>
        <p:nvSpPr>
          <p:cNvPr id="109" name="Google Shape;109;p21"/>
          <p:cNvSpPr txBox="1"/>
          <p:nvPr>
            <p:ph idx="2" type="subTitle"/>
          </p:nvPr>
        </p:nvSpPr>
        <p:spPr>
          <a:xfrm>
            <a:off x="493923" y="4079316"/>
            <a:ext cx="7327800" cy="29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800"/>
            </a:lvl1pPr>
            <a:lvl2pPr lvl="1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2pPr>
            <a:lvl3pPr lvl="2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3pPr>
            <a:lvl4pPr lvl="3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4pPr>
            <a:lvl5pPr lvl="4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5pPr>
            <a:lvl6pPr lvl="5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6pPr>
            <a:lvl7pPr lvl="6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7pPr>
            <a:lvl8pPr lvl="7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8pPr>
            <a:lvl9pPr lvl="8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image" Target="../media/image6.jp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16.xml"/><Relationship Id="rId18" Type="http://schemas.openxmlformats.org/officeDocument/2006/relationships/slideLayout" Target="../slideLayouts/slideLayout17.xml"/><Relationship Id="rId19" Type="http://schemas.openxmlformats.org/officeDocument/2006/relationships/slideLayout" Target="../slideLayouts/slideLayout18.xml"/><Relationship Id="rId20" Type="http://schemas.openxmlformats.org/officeDocument/2006/relationships/slideLayout" Target="../slideLayouts/slideLayout19.xml"/><Relationship Id="rId21" Type="http://schemas.openxmlformats.org/officeDocument/2006/relationships/slideLayout" Target="../slideLayouts/slideLayout20.xml"/><Relationship Id="rId2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509577" y="1401113"/>
            <a:ext cx="80058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dk2"/>
              </a:buClr>
              <a:buSzPts val="2200"/>
              <a:buFont typeface="Roboto"/>
              <a:buNone/>
              <a:defRPr i="0" sz="22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None/>
              <a:defRPr i="0" sz="18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Roboto"/>
              <a:buNone/>
              <a:defRPr i="0" sz="15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None/>
              <a:defRPr i="0" sz="13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None/>
              <a:defRPr i="0" sz="11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sz="5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pic>
        <p:nvPicPr>
          <p:cNvPr id="8" name="Google Shape;8;p1"/>
          <p:cNvPicPr preferRelativeResize="0"/>
          <p:nvPr/>
        </p:nvPicPr>
        <p:blipFill rotWithShape="1">
          <a:blip r:embed="rId1">
            <a:alphaModFix/>
          </a:blip>
          <a:srcRect b="0" l="0" r="0" t="35296"/>
          <a:stretch/>
        </p:blipFill>
        <p:spPr>
          <a:xfrm>
            <a:off x="0" y="4794384"/>
            <a:ext cx="9144000" cy="349116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  <p:sldLayoutId id="2147483660" r:id="rId14"/>
    <p:sldLayoutId id="2147483661" r:id="rId15"/>
    <p:sldLayoutId id="2147483662" r:id="rId16"/>
    <p:sldLayoutId id="2147483663" r:id="rId17"/>
    <p:sldLayoutId id="2147483664" r:id="rId18"/>
    <p:sldLayoutId id="2147483665" r:id="rId19"/>
    <p:sldLayoutId id="2147483666" r:id="rId20"/>
    <p:sldLayoutId id="2147483667" r:id="rId21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4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4.gif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8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9.jpg"/><Relationship Id="rId3" Type="http://schemas.openxmlformats.org/officeDocument/2006/relationships/hyperlink" Target="https://www.youtube.com/watch?v=59bMh59JQDo" TargetMode="External"/><Relationship Id="rId4" Type="http://schemas.openxmlformats.org/officeDocument/2006/relationships/image" Target="../media/image20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2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2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0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2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4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marL="0" indent="0">
              <a:buNone/>
            </a:pPr>
            <a:r>
              <a:t>CSCI 3495</a:t>
            </a:r>
          </a:p>
          <a:p>
            <a:pPr marL="0" indent="0">
              <a:buNone/>
            </a:pPr>
            <a:r>
              <a:t>Word Embeddings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93926" y="3549825"/>
            <a:ext cx="5937922" cy="970800"/>
          </a:xfrm>
        </p:spPr>
        <p:txBody>
          <a:bodyPr wrap="square"/>
          <a:lstStyle/>
          <a:p>
            <a:pPr marL="0" indent="0">
              <a:buNone/>
            </a:pPr>
            <a:r>
              <a:t>Natural Language Processing &amp; Large Language Models</a:t>
            </a:r>
          </a:p>
          <a:p>
            <a:pPr marL="0" indent="0">
              <a:buNone/>
            </a:pPr>
            <a:r>
              <a:t>Week 3, Class 2</a:t>
            </a:r>
          </a:p>
        </p:txBody>
      </p:sp>
      <p:pic>
        <p:nvPicPr>
          <p:cNvPr id="5" name="Picture 4" descr="king minus man plus woman equals queen. By the end of class you can do this arithmetic on meaning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0448" y="3474720"/>
            <a:ext cx="2117792" cy="14813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777777"/>
                </a:solidFill>
              </a:defRPr>
            </a:pPr>
            <a:r>
              <a:t>Source: Bubba73 (Jud McCranie), Wikimedia Commons, CC BY-SA 3.0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Today</a:t>
            </a:r>
          </a:p>
        </p:txBody>
      </p:sp>
      <p:pic>
        <p:nvPicPr>
          <p:cNvPr id="5" name="Picture 4" descr="Today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4277" y="1078992"/>
            <a:ext cx="8255445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Jurafsky &amp; Martin, SLP3 (Jan 2026 draft), Figs. 5.7 &amp; 5.9; Mikolov et al. 2013, Fig. 1; deck figures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5" name="Picture 4" descr="Embeddings scatter words like stars; nearby points share meaning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334328"/>
            <a:ext cx="9144000" cy="5812155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1143000"/>
            <a:ext cx="9144000" cy="2834640"/>
          </a:xfrm>
          <a:prstGeom prst="rect">
            <a:avLst/>
          </a:prstGeom>
          <a:solidFill>
            <a:srgbClr val="101012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40"/>
            <a:ext cx="7863840" cy="2651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marL="0" indent="0">
              <a:buNone/>
            </a:pPr>
            <a:r>
              <a:rPr sz="4000" b="1">
                <a:solidFill>
                  <a:srgbClr val="FFFFFF"/>
                </a:solidFill>
              </a:rPr>
              <a:t>Every word gets a place in one shared space</a:t>
            </a:r>
          </a:p>
          <a:p>
            <a:pPr algn="ctr" marL="0" indent="0">
              <a:buNone/>
            </a:pPr>
            <a:r>
              <a:rPr sz="2000">
                <a:solidFill>
                  <a:srgbClr val="FFFFFF"/>
                </a:solidFill>
              </a:rPr>
              <a:t>Embeddings scatter words like stars; nearby points share meaning.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Unsplash License, https://unsplash.com/photos/Y20JJ_ddy9M (Vincentiu Solomon)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From sparse counts to dense vectors</a:t>
            </a:r>
          </a:p>
        </p:txBody>
      </p:sp>
      <p:pic>
        <p:nvPicPr>
          <p:cNvPr id="5" name="Picture 4" descr="From sparse counts to dense vector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748093"/>
            <a:ext cx="8595360" cy="225081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74650"/>
            <a:ext cx="8229600" cy="994200"/>
          </a:xfrm>
        </p:spPr>
        <p:txBody>
          <a:bodyPr wrap="square"/>
          <a:lstStyle/>
          <a:p>
            <a:pPr marL="0" indent="0" algn="ctr">
              <a:buNone/>
            </a:pPr>
            <a:r>
              <a:t>word2vec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word2vec's trick: turn counting into a quiz</a:t>
            </a:r>
          </a:p>
        </p:txBody>
      </p:sp>
      <p:pic>
        <p:nvPicPr>
          <p:cNvPr id="5" name="Picture 4" descr="Instead of counting neighbors, train a yes/no classifier on a fake task. The quiz is a means to an end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536851"/>
            <a:ext cx="8595360" cy="267330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Jurafsky &amp; Martin, SLP3 (Jan 2026 draft), Ch. 5.5 running example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The labels are free: self-supervision</a:t>
            </a:r>
          </a:p>
        </p:txBody>
      </p:sp>
      <p:pic>
        <p:nvPicPr>
          <p:cNvPr id="5" name="Picture 4" descr="One window of running text hands us 4 positive pairs; k random noise words per real pair supply the negatives. This is skip-gram with negative sampling (SGNS)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573272"/>
            <a:ext cx="8595360" cy="26004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Jurafsky &amp; Martin, SLP3 (Jan 2026 draft), Ch. 5.5.2 training example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Score a pair: dot product, then sigmoid</a:t>
            </a:r>
          </a:p>
        </p:txBody>
      </p:sp>
      <p:pic>
        <p:nvPicPr>
          <p:cNvPr id="5" name="Picture 4" descr="Last class: similar words have similar vectors. word2vec runs it backwards: MAKE the dot product big for real neighbors, small for noise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565987"/>
            <a:ext cx="8595360" cy="261502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Jurafsky &amp; Martin, SLP3 (Jan 2026 draft), Eqs. 5.13-5.15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How the magic happens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357116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marL="0" indent="0">
              <a:buNone/>
            </a:pPr>
            <a:r>
              <a:rPr sz="1400">
                <a:solidFill>
                  <a:srgbClr val="222222"/>
                </a:solidFill>
              </a:rPr>
              <a:t>Negative sampling: k fake pairs per real one</a:t>
            </a:r>
          </a:p>
        </p:txBody>
      </p:sp>
      <p:pic>
        <p:nvPicPr>
          <p:cNvPr id="6" name="Picture 5" descr="Start with random vectors. One window of &quot;...apricot jam...&quot; becomes one gradient step: pull the true neighbor closer, push k random words away. Repeat over billions of windows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1977" y="1078992"/>
            <a:ext cx="4660045" cy="318668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Jurafsky &amp; Martin, SLP3 (Jan 2026 draft), Fig. 5.7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The word2vec family: skip-gram and CBOW</a:t>
            </a:r>
          </a:p>
        </p:txBody>
      </p:sp>
      <p:pic>
        <p:nvPicPr>
          <p:cNvPr id="5" name="Picture 4" descr="What we just built is skip-gram (right): the center word predicts each neighbor. CBOW (left) flips the arrows. The trained projection weights ARE the word vectors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9024" y="1078992"/>
            <a:ext cx="4765952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Mikolov et al. 2013 (arXiv:1301.3781), Fig. 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GloVe: factor global co-occurrence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19983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marL="0" indent="0">
              <a:buNone/>
            </a:pPr>
            <a:r>
              <a:rPr sz="1400">
                <a:solidFill>
                  <a:srgbClr val="222222"/>
                </a:solidFill>
              </a:rPr>
              <a:t>Optional paper, never quizzed</a:t>
            </a:r>
          </a:p>
        </p:txBody>
      </p:sp>
      <p:pic>
        <p:nvPicPr>
          <p:cNvPr id="6" name="Picture 5" descr="GloVe: factor global co-occurrenc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616125"/>
            <a:ext cx="8595360" cy="211241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Pennington et al., 2014, GloVe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74650"/>
            <a:ext cx="8229600" cy="994200"/>
          </a:xfrm>
        </p:spPr>
        <p:txBody>
          <a:bodyPr wrap="square"/>
          <a:lstStyle/>
          <a:p>
            <a:pPr marL="0" indent="0" algn="ctr">
              <a:buNone/>
            </a:pPr>
            <a:r>
              <a:t>Analogies &amp; bias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The famous result: analogies</a:t>
            </a:r>
          </a:p>
        </p:txBody>
      </p:sp>
      <p:pic>
        <p:nvPicPr>
          <p:cNvPr id="5" name="Picture 4" descr="The offset between man and woman is the same vector that joins king to queen. A 2D schematic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621" y="1078992"/>
            <a:ext cx="7690757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animation; Mikolov et al., 2013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It is not just king and queen</a:t>
            </a:r>
          </a:p>
        </p:txBody>
      </p:sp>
      <p:pic>
        <p:nvPicPr>
          <p:cNvPr id="5" name="Picture 4" descr="Real GloVe vectors, projected to 2D. Parallel offsets appear for gender pairs (a) and even for grammar: comparative and superlative forms (b). Nobody programmed this in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4827" y="1078992"/>
            <a:ext cx="6794345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Jurafsky &amp; Martin, SLP3 (Jan 2026 draft), Fig. 5.9 (GloVe vectors, Pennington et al. 2014)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Why this was a big deal</a:t>
            </a:r>
          </a:p>
        </p:txBody>
      </p:sp>
      <p:pic>
        <p:nvPicPr>
          <p:cNvPr id="5" name="Picture 4" descr="Why this was a big deal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29251"/>
            <a:ext cx="8595360" cy="308850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Static embeddings: the limitation</a:t>
            </a:r>
          </a:p>
        </p:txBody>
      </p:sp>
      <p:pic>
        <p:nvPicPr>
          <p:cNvPr id="5" name="Picture 4" descr="Static embeddings: the limitation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826937"/>
            <a:ext cx="8595360" cy="209312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5" name="Picture 4" descr="Embeddings learn whatever the text assumes, including who belongs where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1143000"/>
            <a:ext cx="9144000" cy="2834640"/>
          </a:xfrm>
          <a:prstGeom prst="rect">
            <a:avLst/>
          </a:prstGeom>
          <a:solidFill>
            <a:srgbClr val="101012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40"/>
            <a:ext cx="7863840" cy="18745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marL="0" indent="0">
              <a:buNone/>
            </a:pPr>
            <a:r>
              <a:rPr sz="3400" b="1">
                <a:solidFill>
                  <a:srgbClr val="FFFFFF"/>
                </a:solidFill>
              </a:rPr>
              <a:t>Should a machine learn that "programmer" means a man?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108959"/>
            <a:ext cx="78638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marL="0" indent="0">
              <a:buNone/>
            </a:pPr>
            <a:r>
              <a:rPr sz="2000">
                <a:solidFill>
                  <a:srgbClr val="FFFFFF"/>
                </a:solidFill>
              </a:rPr>
              <a:t>Embeddings learn whatever the text assumes, including who belongs where.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Unsplash License, https://unsplash.com/photos/iFgRcqHznqg (Helena Lopes)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indefinite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6537960" cy="822960"/>
          </a:xfrm>
        </p:spPr>
        <p:txBody>
          <a:bodyPr wrap="square"/>
          <a:lstStyle/>
          <a:p>
            <a:pPr marL="0" indent="0">
              <a:buNone/>
            </a:pPr>
            <a:r>
              <a:t>Embeddings encode bias</a:t>
            </a:r>
          </a:p>
        </p:txBody>
      </p:sp>
      <p:pic>
        <p:nvPicPr>
          <p:cNvPr id="5" name="Picture 4" descr="Video: 3 types of bias in AI. Opens https://www.youtube.com/watch?v=59bMh59JQDo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0" y="109728"/>
            <a:ext cx="1554480" cy="87416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931152" y="993038"/>
            <a:ext cx="1956816" cy="1737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marL="0" indent="0">
              <a:buNone/>
            </a:pPr>
            <a:r>
              <a:rPr sz="850" b="1">
                <a:solidFill>
                  <a:srgbClr val="7C2529"/>
                </a:solidFill>
              </a:rPr>
              <a:t>3 types of bias in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865712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marL="0" indent="0">
              <a:buNone/>
            </a:pPr>
            <a:r>
              <a:rPr sz="1400">
                <a:solidFill>
                  <a:srgbClr val="222222"/>
                </a:solidFill>
              </a:rPr>
              <a:t>Vectors learn stereotypes present in the text</a:t>
            </a:r>
          </a:p>
        </p:txBody>
      </p:sp>
      <p:pic>
        <p:nvPicPr>
          <p:cNvPr id="8" name="Picture 7" descr="Embeddings encode bias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320" y="1698412"/>
            <a:ext cx="8595360" cy="20758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Bolukbasi et al., 2016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Why bias matters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564705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marL="0" indent="0">
              <a:buNone/>
            </a:pPr>
            <a:r>
              <a:rPr sz="1400">
                <a:solidFill>
                  <a:srgbClr val="222222"/>
                </a:solidFill>
              </a:rPr>
              <a:t>Debiasing exists but is only a partial fix</a:t>
            </a:r>
          </a:p>
        </p:txBody>
      </p:sp>
      <p:pic>
        <p:nvPicPr>
          <p:cNvPr id="6" name="Picture 5" descr="Why bias matter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871403"/>
            <a:ext cx="8595360" cy="160186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Quiz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046219"/>
            <a:ext cx="8229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marL="0" indent="0">
              <a:buNone/>
            </a:pPr>
            <a:r>
              <a:rPr sz="1400">
                <a:solidFill>
                  <a:srgbClr val="222222"/>
                </a:solidFill>
              </a:rPr>
              <a:t>Finish early? Your break starts early</a:t>
            </a:r>
          </a:p>
          <a:p>
            <a:pPr algn="ctr" marL="0" indent="0">
              <a:buNone/>
            </a:pPr>
            <a:r>
              <a:rPr sz="1400">
                <a:solidFill>
                  <a:srgbClr val="222222"/>
                </a:solidFill>
              </a:rPr>
              <a:t>Need more time? It comes out of the break</a:t>
            </a:r>
          </a:p>
        </p:txBody>
      </p:sp>
      <p:pic>
        <p:nvPicPr>
          <p:cNvPr id="6" name="Picture 5" descr="Covers Week 3 lecture + word2vec (Mikolov et al., 2013). Clear your desk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5861" y="1078992"/>
            <a:ext cx="5272277" cy="287578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Break</a:t>
            </a:r>
          </a:p>
        </p:txBody>
      </p:sp>
      <p:pic>
        <p:nvPicPr>
          <p:cNvPr id="5" name="Picture 4" descr="Five minutes: stretch, refill water, compare notes. Then the king minus man whiteboard challenge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0312"/>
            <a:ext cx="8595360" cy="31863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74650"/>
            <a:ext cx="8229600" cy="994200"/>
          </a:xfrm>
        </p:spPr>
        <p:txBody>
          <a:bodyPr wrap="square"/>
          <a:lstStyle/>
          <a:p>
            <a:pPr marL="0" indent="0" algn="ctr">
              <a:buNone/>
            </a:pPr>
            <a:r>
              <a:t>Whiteboard &amp; Discussion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Whiteboard: king minus man plus woman</a:t>
            </a:r>
          </a:p>
        </p:txBody>
      </p:sp>
      <p:pic>
        <p:nvPicPr>
          <p:cNvPr id="5" name="Picture 4" descr="Whiteboard: king minus man plus woman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423946"/>
            <a:ext cx="8595360" cy="289911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toy vectors from exercise/embeddings.py; Mikolov et al. 2013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5" name="Picture 4" descr="A Socratic discussion. Hold this question; it sets up Week 15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477203"/>
            <a:ext cx="9144000" cy="6097905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1143000"/>
            <a:ext cx="9144000" cy="2834640"/>
          </a:xfrm>
          <a:prstGeom prst="rect">
            <a:avLst/>
          </a:prstGeom>
          <a:solidFill>
            <a:srgbClr val="101012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40"/>
            <a:ext cx="7863840" cy="18745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marL="0" indent="0">
              <a:buNone/>
            </a:pPr>
            <a:r>
              <a:rPr sz="3400" b="1">
                <a:solidFill>
                  <a:srgbClr val="FFFFFF"/>
                </a:solidFill>
              </a:rPr>
              <a:t>The algorithm is just doing math. So who owns the bias?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108959"/>
            <a:ext cx="78638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marL="0" indent="0">
              <a:buNone/>
            </a:pPr>
            <a:r>
              <a:rPr sz="2000">
                <a:solidFill>
                  <a:srgbClr val="FFFFFF"/>
                </a:solidFill>
              </a:rPr>
              <a:t>A Socratic discussion. Hold this question; it sets up Week 15.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Unsplash License, https://images.unsplash.com/photo-1589829545856-d10d557cf95f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indefinite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Discussion: who owns the bias?</a:t>
            </a:r>
          </a:p>
        </p:txBody>
      </p:sp>
      <p:pic>
        <p:nvPicPr>
          <p:cNvPr id="5" name="Picture 4" descr="Discussion: who owns the bias?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507714"/>
            <a:ext cx="8595360" cy="273157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Bolukbasi et al., 2016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Take-home lab: probe the embeddings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357116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marL="0" indent="0">
              <a:buNone/>
            </a:pPr>
            <a:r>
              <a:rPr sz="1400">
                <a:solidFill>
                  <a:srgbClr val="222222"/>
                </a:solidFill>
              </a:rPr>
              <a:t>Optional: confirm in code what you computed by hand today</a:t>
            </a:r>
          </a:p>
        </p:txBody>
      </p:sp>
      <p:pic>
        <p:nvPicPr>
          <p:cNvPr id="6" name="Picture 5" descr="Take-home lab: probe the embedding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3109" y="1078992"/>
            <a:ext cx="3797781" cy="318668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weeks/week-03/class-02/exercise/embeddings.py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Recap</a:t>
            </a:r>
          </a:p>
        </p:txBody>
      </p:sp>
      <p:pic>
        <p:nvPicPr>
          <p:cNvPr id="5" name="Picture 4" descr="Reca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44988"/>
            <a:ext cx="8595360" cy="30570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">
      <a:dk1>
        <a:srgbClr val="434343"/>
      </a:dk1>
      <a:lt1>
        <a:srgbClr val="FFFFFF"/>
      </a:lt1>
      <a:dk2>
        <a:srgbClr val="818387"/>
      </a:dk2>
      <a:lt2>
        <a:srgbClr val="F6F7FA"/>
      </a:lt2>
      <a:accent1>
        <a:srgbClr val="723130"/>
      </a:accent1>
      <a:accent2>
        <a:srgbClr val="818387"/>
      </a:accent2>
      <a:accent3>
        <a:srgbClr val="FFB600"/>
      </a:accent3>
      <a:accent4>
        <a:srgbClr val="738D33"/>
      </a:accent4>
      <a:accent5>
        <a:srgbClr val="625578"/>
      </a:accent5>
      <a:accent6>
        <a:srgbClr val="498DA0"/>
      </a:accent6>
      <a:hlink>
        <a:srgbClr val="B1B4B5"/>
      </a:hlink>
      <a:folHlink>
        <a:srgbClr val="B0B1B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