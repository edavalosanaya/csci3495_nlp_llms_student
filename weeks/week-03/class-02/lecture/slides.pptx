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By the end of class you can do this arithmetic on meaning.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Learn vectors by predicting context with word2vec, see the skip-gram, CBOW and GloVe variants, watch meaning turn into direction with analogies, meet the limit of one vector per word, and then the bias that comes with it. Quiz 3 after the lecture.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every word was a 50,000-long mostly-zero vector, and good and great shared no dimension at all, so they were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similar words have similar vectors. word2vec runs it backwards: MAKE the dot product big for real neighbors, small for noise.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with random vectors. One window of "...apricot jam..." becomes one gradient step: pull the true neighbor closer, push k random words away. Repeat over billions of windows. Negative sampling: k fake pairs per real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part people find strange, so say it slowly. The network is tiny: a one-hot input, one weight matrix W, a hidden layer with no activation function at all, a second matrix W-prime, and a prediction of the other word. Because the input is one-hot, multiplying by W does not compute anything, it just selects row i. The hidden layer is a lookup table, which is why we can call W the embedding table. Training is ordinary supervised learning on a task nobody wants solved, and when it finishes we throw away W-prime and the predictions and keep W. Every row of W is a 300-number vector for one word. Connect it back: the sigmoid version two slides ago was skip-gram with negative sampling, which replaces the expensive 50,000-way softmax at the end with k plus one yes/no decisions. Same two matrices, same embeddings, far cheaper.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paper, never quizzed.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GloVe is the optional paper and is never quizzed, so this is for understanding, not memorising. Start with the table, it is the whole insight and the numbers are the paper's own. Neither P(solid given ice) nor P(solid given steam) tells you much on its own, both are tiny. Their RATIO is 8.9, and that is the signal. Gas gives 0.085, the mirror image. Water and fashion both sit near 1, one because it is related to both and one because it is related to neither, and the ratio correctly says neither word discriminates. So GloVe designs an objective whose solution makes vector arithmetic reproduce those ratios, and the algebra collapses to something simple: the dot product of two word vectors should equal the log of how often they co-occur. The f in front is a weighting function that stops the rarest pairs from being noise and the most frequent from dominating. Two vectors are learned per word, and the paper recommends adding them, which is what you get when you download GloVe vectors. The contrast with word2vec is the useful bit: word2vec looks through a small window many times, GloVe looks at the whole matrix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GloVe vectors, projected to 2D. Parallel offsets appear for gender pairs (a) and even for grammar: comparative and superlative forms (b). Nobody programmed this in.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kicked off the modern pretrain-then-reuse paradigm we scale up all semester.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Zoom out. Before this, a word was a symbol with an index, and everything a model knew about language was a feature template a person wrote by hand, rebuilt for every new task. After it, meaning is learned once from raw text and handed to the model as geometry. That is the shift from counting to representation, and it is why the field pivoted to neural networks between about 2013 and 2015. Be fair about the history: the idea was not new, Bengio's neural language model in 2003 and Collobert and Weston in 2008 both learned word vectors. What word2vec and GloVe changed was the cost, from a research project to something you could train on a laptop over a weekend and download for free. Ubiquity, not novelty. And the idea never went away. Every LLM you will use this semester still begins with an embedding matrix, just over subword tokens instead of words. Week 6 makes those vectors depend on context, Week 11 uses them for retrieval, and the row-of-a-matrix picture from two slides ago is still exactly what is happening at the bottom of the stack.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vector must serve both senses: no way to disambiguate by context. ELMo / BERT (Week 6) fix this with contextual embeddings.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Vectors learn stereotypes present in the text.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Debiasing exists but is only a partial fix.</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3 lecture + word2vec (Mikolov et al., 2013). Clear your desk. Finish early? Your break starts early. Need more time?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question the next slide asks them to argue. Let it sit. It comes back in Week 15 when we do the pre-mortem.</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 teams, about thirteen minutes. Push them past blaming the data: someone chose the corpus, someone shipped the model, someone deployed it in hiring. Debiasing that hides the association is worth raising as its own trap.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analogy solver and the bias score. Cosine and nearest are given.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Dense vectors learned by predicting context, or by factoring global counts. Meaning becomes direction, which is why king minus man plus woman lands near queen. One static vector per word is the limit, and it also means the stereotypes in the text come along. Next week these vectors become the input layer of a neural network. Next weekneural networks for NLP, with these embeddings as the input layer.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jpg"/><Relationship Id="rId4" Type="http://schemas.openxmlformats.org/officeDocument/2006/relationships/hyperlink" Target="https://www.youtube.com/watch?v=59bMh59JQDo" TargetMode="External"/><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3, Class 2</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5.7 &amp; 5.9; Mikolov et al. 2013, Fig. 1; deck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word2vec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Score a pair: dot product, then sigmoid</a:t>
            </a:r>
          </a:p>
        </p:txBody>
      </p:sp>
      <p:pic>
        <p:nvPicPr>
          <p:cNvPr id="5" name="Picture 4" descr="Score a pair: dot product, then sigmoid"/>
          <p:cNvPicPr>
            <a:picLocks noChangeAspect="1"/>
          </p:cNvPicPr>
          <p:nvPr/>
        </p:nvPicPr>
        <p:blipFill>
          <a:blip r:embed="rId3"/>
          <a:stretch>
            <a:fillRect/>
          </a:stretch>
        </p:blipFill>
        <p:spPr>
          <a:xfrm>
            <a:off x="274320" y="1471293"/>
            <a:ext cx="8595360" cy="28044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5.13-5.15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magic happens</a:t>
            </a:r>
          </a:p>
        </p:txBody>
      </p:sp>
      <p:pic>
        <p:nvPicPr>
          <p:cNvPr id="5" name="Picture 4" descr="How the magic happens"/>
          <p:cNvPicPr>
            <a:picLocks noChangeAspect="1"/>
          </p:cNvPicPr>
          <p:nvPr/>
        </p:nvPicPr>
        <p:blipFill>
          <a:blip r:embed="rId3"/>
          <a:stretch>
            <a:fillRect/>
          </a:stretch>
        </p:blipFill>
        <p:spPr>
          <a:xfrm>
            <a:off x="1947799" y="1078992"/>
            <a:ext cx="52484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456724"/>
            <a:ext cx="8595360" cy="28335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architecture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GloVe: factor global co-occurrence</a:t>
            </a:r>
          </a:p>
        </p:txBody>
      </p:sp>
      <p:pic>
        <p:nvPicPr>
          <p:cNvPr id="5" name="Picture 4" descr="GloVe: factor global co-occurrence"/>
          <p:cNvPicPr>
            <a:picLocks noChangeAspect="1"/>
          </p:cNvPicPr>
          <p:nvPr/>
        </p:nvPicPr>
        <p:blipFill>
          <a:blip r:embed="rId3"/>
          <a:stretch>
            <a:fillRect/>
          </a:stretch>
        </p:blipFill>
        <p:spPr>
          <a:xfrm>
            <a:off x="538625" y="1078992"/>
            <a:ext cx="80667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GloVe actually fits</a:t>
            </a:r>
          </a:p>
        </p:txBody>
      </p:sp>
      <p:pic>
        <p:nvPicPr>
          <p:cNvPr id="5" name="Picture 4" descr="What GloVe actually fits"/>
          <p:cNvPicPr>
            <a:picLocks noChangeAspect="1"/>
          </p:cNvPicPr>
          <p:nvPr/>
        </p:nvPicPr>
        <p:blipFill>
          <a:blip r:embed="rId3"/>
          <a:stretch>
            <a:fillRect/>
          </a:stretch>
        </p:blipFill>
        <p:spPr>
          <a:xfrm>
            <a:off x="274320" y="1602409"/>
            <a:ext cx="8595360" cy="25421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 Table 1 and Eq.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Analogies &amp; bias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It is not just king and queen</a:t>
            </a:r>
          </a:p>
        </p:txBody>
      </p:sp>
      <p:pic>
        <p:nvPicPr>
          <p:cNvPr id="5" name="Picture 4" descr="It is not just king and queen"/>
          <p:cNvPicPr>
            <a:picLocks noChangeAspect="1"/>
          </p:cNvPicPr>
          <p:nvPr/>
        </p:nvPicPr>
        <p:blipFill>
          <a:blip r:embed="rId3"/>
          <a:stretch>
            <a:fillRect/>
          </a:stretch>
        </p:blipFill>
        <p:spPr>
          <a:xfrm>
            <a:off x="1174827" y="1078992"/>
            <a:ext cx="6794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5.9 (GloVe vectors, Pennington et al. 2014)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was a big deal</a:t>
            </a:r>
          </a:p>
        </p:txBody>
      </p:sp>
      <p:pic>
        <p:nvPicPr>
          <p:cNvPr id="5" name="Picture 4" descr="Why this was a big deal"/>
          <p:cNvPicPr>
            <a:picLocks noChangeAspect="1"/>
          </p:cNvPicPr>
          <p:nvPr/>
        </p:nvPicPr>
        <p:blipFill>
          <a:blip r:embed="rId3"/>
          <a:stretch>
            <a:fillRect/>
          </a:stretch>
        </p:blipFill>
        <p:spPr>
          <a:xfrm>
            <a:off x="274320" y="1252767"/>
            <a:ext cx="8595360" cy="3241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Static embeddings: the limitation</a:t>
            </a:r>
          </a:p>
        </p:txBody>
      </p:sp>
      <p:pic>
        <p:nvPicPr>
          <p:cNvPr id="5" name="Picture 4" descr="Static embeddings: the limitation"/>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Embeddings encode bias</a:t>
            </a:r>
          </a:p>
        </p:txBody>
      </p:sp>
      <p:pic>
        <p:nvPicPr>
          <p:cNvPr id="5" name="Picture 4" descr="Video: 3 types of bias in AI. Opens https://www.youtube.com/watch?v=59bMh59JQDo">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3 types of bias in AI</a:t>
            </a:r>
          </a:p>
        </p:txBody>
      </p:sp>
      <p:pic>
        <p:nvPicPr>
          <p:cNvPr id="7" name="Picture 6" descr="Embeddings encode bias"/>
          <p:cNvPicPr>
            <a:picLocks noChangeAspect="1"/>
          </p:cNvPicPr>
          <p:nvPr/>
        </p:nvPicPr>
        <p:blipFill>
          <a:blip r:embed="rId5"/>
          <a:stretch>
            <a:fillRect/>
          </a:stretch>
        </p:blipFill>
        <p:spPr>
          <a:xfrm>
            <a:off x="274320" y="1250873"/>
            <a:ext cx="8595360" cy="3373273"/>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bias matters</a:t>
            </a:r>
          </a:p>
        </p:txBody>
      </p:sp>
      <p:pic>
        <p:nvPicPr>
          <p:cNvPr id="5" name="Picture 4" descr="Why bias matters"/>
          <p:cNvPicPr>
            <a:picLocks noChangeAspect="1"/>
          </p:cNvPicPr>
          <p:nvPr/>
        </p:nvPicPr>
        <p:blipFill>
          <a:blip r:embed="rId3"/>
          <a:stretch>
            <a:fillRect/>
          </a:stretch>
        </p:blipFill>
        <p:spPr>
          <a:xfrm>
            <a:off x="274320" y="2056943"/>
            <a:ext cx="8595360" cy="16331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3</a:t>
            </a:r>
          </a:p>
        </p:txBody>
      </p:sp>
      <p:pic>
        <p:nvPicPr>
          <p:cNvPr id="5" name="Picture 4" descr="Quiz 3"/>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discussion and the coding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ocratic discussion. Hold this question; it sets up Week 15."/>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The algorithm is just doing math. So who owns the bias?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Socratic discussion. Hold this question; it sets up Week 15.</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Discussion: who owns the bias?</a:t>
            </a:r>
          </a:p>
        </p:txBody>
      </p:sp>
      <p:pic>
        <p:nvPicPr>
          <p:cNvPr id="5" name="Picture 4" descr="Discussion: who owns the bias?"/>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Analogies and a bias probe</a:t>
            </a:r>
          </a:p>
        </p:txBody>
      </p:sp>
      <p:pic>
        <p:nvPicPr>
          <p:cNvPr id="5" name="Picture 4" descr="Analogies and a bias probe"/>
          <p:cNvPicPr>
            <a:picLocks noChangeAspect="1"/>
          </p:cNvPicPr>
          <p:nvPr/>
        </p:nvPicPr>
        <p:blipFill>
          <a:blip r:embed="rId3"/>
          <a:stretch>
            <a:fillRect/>
          </a:stretch>
        </p:blipFill>
        <p:spPr>
          <a:xfrm>
            <a:off x="2463067" y="1078992"/>
            <a:ext cx="42178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weeks/week-03/class-02/exercise/README.md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6892"/>
            <a:ext cx="8595360" cy="27732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