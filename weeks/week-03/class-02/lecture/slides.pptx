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King minus man plus woman equals queen. By the end of class you can do this arithmetic on meaning.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Learn vectors by predicting context with word2vec, see the skip-gram, CBOW and GloVe variants, watch meaning turn into direction with analogies, meet the limit of one vector per word, and then the bias that comes with it. Quiz 3 after the lecture.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dot is a word, and nearness is meaning. Nothing here was hand labelled: the positions came out of reading text. Ask them what would sit near coffee, then near Tuesday.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every word was a 50,000-long mostly-zero vector, and good and great shared no dimension at all, so they were exactly as unrelated as good and asparagus. Today the vector is about 300 numbers, every one of them used, and it is learned rather than counted. That is the whole move.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Instead of counting neighbors, train a yes/no classifier on a fake task. The quiz is a means to an end. We never actually use this classifier. We train it, throw it away, and keep its learned weights: those are the embeddings.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window of running text hands us 4 positive pairs; k random noise words per real pair supply the negatives. This is skip-gram with negative sampling (SGNS). K = 2 noise words per real pair , no human labeled anything.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class: similar words have similar vectors. word2vec runs it backwards: MAKE the dot product big for real neighbors, small for noise.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with random vectors. One window of "...apricot jam..." becomes one gradient step: pull the true neighbor closer, push k random words away. Repeat over billions of windows. Negative sampling: k fake pairs per real one.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we just built is skip-gram (right): the center word predicts each neighbor. CBOW (left) flips the arrows. The trained projection weights ARE the word vectors.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Optional paper, never quizzed.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offset between man and woman is the same vector that joins king to queen. A 2D schematic.</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GloVe vectors, projected to 2D. Parallel offsets appear for gender pairs (a) and even for grammar: comparative and superlative forms (b). Nobody programmed this in.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kicked off the modern pretrain-then-reuse paradigm we scale up all semester.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vector must serve both senses: no way to disambiguate by context. ELMo / BERT (Week 6) fix this with contextual embeddings.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answer this one yet. The vectors are about to say something uncomfortable, and it is better if they see it in the numbers first.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Vectors learn stereotypes present in the text.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Debiasing exists but is only a partial fix.</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3 lecture + word2vec (Mikolov et al., 2013). Clear your desk. Finish early? Your break starts early. Need more time? It comes out of the break.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question the next slide asks them to argue. Let it sit. It comes back in Week 15 when we do the pre-mortem.</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 teams, about thirteen minutes. Push them past blaming the data: someone chose the corpus, someone shipped the model, someone deployed it in hiring. Debiasing that hides the association is worth raising as its own trap.</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functions to write: the analogy solver and the bias score. Cosine and nearest are given.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Dense vectors learned by predicting context, or by factoring global counts. Meaning becomes direction, which is why king minus man plus woman lands near queen. One static vector per word is the limit, and it also means the stereotypes in the text come along. Next week these vectors become the input layer of a neural network. Next weekneural networks for NLP, with these embeddings as the input layer.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jpg"/><Relationship Id="rId4" Type="http://schemas.openxmlformats.org/officeDocument/2006/relationships/hyperlink" Target="https://www.youtube.com/watch?v=59bMh59JQDo" TargetMode="External"/><Relationship Id="rId5"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Word Embeddings</a:t>
            </a:r>
          </a:p>
        </p:txBody>
      </p:sp>
      <p:sp>
        <p:nvSpPr>
          <p:cNvPr id="3" name="Subtitle 2"/>
          <p:cNvSpPr>
            <a:spLocks noGrp="1"/>
          </p:cNvSpPr>
          <p:nvPr>
            <p:ph type="subTitle" idx="1"/>
          </p:nvPr>
        </p:nvSpPr>
        <p:spPr>
          <a:xfrm>
            <a:off x="493926" y="3549825"/>
            <a:ext cx="5937922" cy="970800"/>
          </a:xfrm>
        </p:spPr>
        <p:txBody>
          <a:bodyPr wrap="square"/>
          <a:lstStyle/>
          <a:p>
            <a:pPr marL="0" indent="0">
              <a:buNone/>
            </a:pPr>
            <a:r>
              <a:t>Natural Language Processing &amp; Large Language Models</a:t>
            </a:r>
          </a:p>
          <a:p>
            <a:pPr marL="0" indent="0">
              <a:buNone/>
            </a:pPr>
            <a:r>
              <a:t>Week 3, Class 2</a:t>
            </a:r>
          </a:p>
        </p:txBody>
      </p:sp>
      <p:pic>
        <p:nvPicPr>
          <p:cNvPr id="5" name="Picture 4" descr="Word Embeddings"/>
          <p:cNvPicPr>
            <a:picLocks noChangeAspect="1"/>
          </p:cNvPicPr>
          <p:nvPr/>
        </p:nvPicPr>
        <p:blipFill>
          <a:blip r:embed="rId3"/>
          <a:stretch>
            <a:fillRect/>
          </a:stretch>
        </p:blipFill>
        <p:spPr>
          <a:xfrm>
            <a:off x="6660448" y="3474720"/>
            <a:ext cx="21177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Bubba73 (Jud McCranie),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5.7 &amp; 5.9; Mikolov et al. 2013, Fig. 1; deck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scatter words like stars; nearby points share meaning."/>
          <p:cNvPicPr>
            <a:picLocks noChangeAspect="1"/>
          </p:cNvPicPr>
          <p:nvPr/>
        </p:nvPicPr>
        <p:blipFill>
          <a:blip r:embed="rId3"/>
          <a:stretch>
            <a:fillRect/>
          </a:stretch>
        </p:blipFill>
        <p:spPr>
          <a:xfrm>
            <a:off x="0" y="-334328"/>
            <a:ext cx="9144000" cy="581215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Every word gets a place in one shared space</a:t>
            </a:r>
          </a:p>
          <a:p>
            <a:pPr algn="ctr" marL="0" indent="0">
              <a:buNone/>
            </a:pPr>
            <a:r>
              <a:rPr sz="2000">
                <a:solidFill>
                  <a:srgbClr val="FFFFFF"/>
                </a:solidFill>
              </a:rPr>
              <a:t>Embeddings scatter words like stars; nearby points share meaning.</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https://unsplash.com/photos/Y20JJ_ddy9M (Vincentiu Solomon)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sparse counts to dense vectors</a:t>
            </a:r>
          </a:p>
        </p:txBody>
      </p:sp>
      <p:pic>
        <p:nvPicPr>
          <p:cNvPr id="5" name="Picture 4" descr="From sparse counts to dense vectors"/>
          <p:cNvPicPr>
            <a:picLocks noChangeAspect="1"/>
          </p:cNvPicPr>
          <p:nvPr/>
        </p:nvPicPr>
        <p:blipFill>
          <a:blip r:embed="rId3"/>
          <a:stretch>
            <a:fillRect/>
          </a:stretch>
        </p:blipFill>
        <p:spPr>
          <a:xfrm>
            <a:off x="274320" y="1733524"/>
            <a:ext cx="8595360" cy="22799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word2vec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word2vec's trick: turn counting into a quiz</a:t>
            </a:r>
          </a:p>
        </p:txBody>
      </p:sp>
      <p:pic>
        <p:nvPicPr>
          <p:cNvPr id="5" name="Picture 4" descr="word2vec's trick: turn counting into a quiz"/>
          <p:cNvPicPr>
            <a:picLocks noChangeAspect="1"/>
          </p:cNvPicPr>
          <p:nvPr/>
        </p:nvPicPr>
        <p:blipFill>
          <a:blip r:embed="rId3"/>
          <a:stretch>
            <a:fillRect/>
          </a:stretch>
        </p:blipFill>
        <p:spPr>
          <a:xfrm>
            <a:off x="274320" y="1595124"/>
            <a:ext cx="8595360" cy="25567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 running example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labels are free: self-supervision</a:t>
            </a:r>
          </a:p>
        </p:txBody>
      </p:sp>
      <p:pic>
        <p:nvPicPr>
          <p:cNvPr id="5" name="Picture 4" descr="The labels are free: self-supervision"/>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5.5.2 training example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Score a pair: dot product, then sigmoid</a:t>
            </a:r>
          </a:p>
        </p:txBody>
      </p:sp>
      <p:pic>
        <p:nvPicPr>
          <p:cNvPr id="5" name="Picture 4" descr="Score a pair: dot product, then sigmoid"/>
          <p:cNvPicPr>
            <a:picLocks noChangeAspect="1"/>
          </p:cNvPicPr>
          <p:nvPr/>
        </p:nvPicPr>
        <p:blipFill>
          <a:blip r:embed="rId3"/>
          <a:stretch>
            <a:fillRect/>
          </a:stretch>
        </p:blipFill>
        <p:spPr>
          <a:xfrm>
            <a:off x="274320" y="1471293"/>
            <a:ext cx="8595360" cy="28044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5.13-5.15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magic happens</a:t>
            </a:r>
          </a:p>
        </p:txBody>
      </p:sp>
      <p:pic>
        <p:nvPicPr>
          <p:cNvPr id="5" name="Picture 4" descr="How the magic happens"/>
          <p:cNvPicPr>
            <a:picLocks noChangeAspect="1"/>
          </p:cNvPicPr>
          <p:nvPr/>
        </p:nvPicPr>
        <p:blipFill>
          <a:blip r:embed="rId3"/>
          <a:stretch>
            <a:fillRect/>
          </a:stretch>
        </p:blipFill>
        <p:spPr>
          <a:xfrm>
            <a:off x="1947799" y="1078992"/>
            <a:ext cx="524840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word2vec family: skip-gram and CBOW</a:t>
            </a:r>
          </a:p>
        </p:txBody>
      </p:sp>
      <p:pic>
        <p:nvPicPr>
          <p:cNvPr id="5" name="Picture 4" descr="The word2vec family: skip-gram and CBOW"/>
          <p:cNvPicPr>
            <a:picLocks noChangeAspect="1"/>
          </p:cNvPicPr>
          <p:nvPr/>
        </p:nvPicPr>
        <p:blipFill>
          <a:blip r:embed="rId3"/>
          <a:stretch>
            <a:fillRect/>
          </a:stretch>
        </p:blipFill>
        <p:spPr>
          <a:xfrm>
            <a:off x="2189024" y="1078992"/>
            <a:ext cx="47659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Mikolov et al. 2013 (arXiv:1301.3781), Fig.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GloVe: factor global co-occurrence</a:t>
            </a:r>
          </a:p>
        </p:txBody>
      </p:sp>
      <p:pic>
        <p:nvPicPr>
          <p:cNvPr id="5" name="Picture 4" descr="GloVe: factor global co-occurrence"/>
          <p:cNvPicPr>
            <a:picLocks noChangeAspect="1"/>
          </p:cNvPicPr>
          <p:nvPr/>
        </p:nvPicPr>
        <p:blipFill>
          <a:blip r:embed="rId3"/>
          <a:stretch>
            <a:fillRect/>
          </a:stretch>
        </p:blipFill>
        <p:spPr>
          <a:xfrm>
            <a:off x="538625" y="1078992"/>
            <a:ext cx="80667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Pennington et al., 2014, GloVe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Analogies &amp; bias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famous result: analogies</a:t>
            </a:r>
          </a:p>
        </p:txBody>
      </p:sp>
      <p:pic>
        <p:nvPicPr>
          <p:cNvPr id="5" name="Picture 4" descr="The famous result: analogies"/>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Mikolov et al., 2013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It is not just king and queen</a:t>
            </a:r>
          </a:p>
        </p:txBody>
      </p:sp>
      <p:pic>
        <p:nvPicPr>
          <p:cNvPr id="5" name="Picture 4" descr="It is not just king and queen"/>
          <p:cNvPicPr>
            <a:picLocks noChangeAspect="1"/>
          </p:cNvPicPr>
          <p:nvPr/>
        </p:nvPicPr>
        <p:blipFill>
          <a:blip r:embed="rId3"/>
          <a:stretch>
            <a:fillRect/>
          </a:stretch>
        </p:blipFill>
        <p:spPr>
          <a:xfrm>
            <a:off x="1174827" y="1078992"/>
            <a:ext cx="67943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5.9 (GloVe vectors, Pennington et al. 2014)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was a big deal</a:t>
            </a:r>
          </a:p>
        </p:txBody>
      </p:sp>
      <p:pic>
        <p:nvPicPr>
          <p:cNvPr id="5" name="Picture 4" descr="Why this was a big deal"/>
          <p:cNvPicPr>
            <a:picLocks noChangeAspect="1"/>
          </p:cNvPicPr>
          <p:nvPr/>
        </p:nvPicPr>
        <p:blipFill>
          <a:blip r:embed="rId3"/>
          <a:stretch>
            <a:fillRect/>
          </a:stretch>
        </p:blipFill>
        <p:spPr>
          <a:xfrm>
            <a:off x="274320" y="1252767"/>
            <a:ext cx="8595360" cy="32414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Static embeddings: the limitation</a:t>
            </a:r>
          </a:p>
        </p:txBody>
      </p:sp>
      <p:pic>
        <p:nvPicPr>
          <p:cNvPr id="5" name="Picture 4" descr="Static embeddings: the limitation"/>
          <p:cNvPicPr>
            <a:picLocks noChangeAspect="1"/>
          </p:cNvPicPr>
          <p:nvPr/>
        </p:nvPicPr>
        <p:blipFill>
          <a:blip r:embed="rId3"/>
          <a:stretch>
            <a:fillRect/>
          </a:stretch>
        </p:blipFill>
        <p:spPr>
          <a:xfrm>
            <a:off x="274320" y="1154430"/>
            <a:ext cx="8595360" cy="3438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Embeddings learn whatever the text assumes, including who belongs wher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Should a machine learn that "programmer" means a man?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Embeddings learn whatever the text assumes, including who belongs where.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https://unsplash.com/photos/iFgRcqHznqg (Helena Lopes)</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Embeddings encode bias</a:t>
            </a:r>
          </a:p>
        </p:txBody>
      </p:sp>
      <p:pic>
        <p:nvPicPr>
          <p:cNvPr id="5" name="Picture 4" descr="Video: 3 types of bias in AI. Opens https://www.youtube.com/watch?v=59bMh59JQDo">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3 types of bias in AI</a:t>
            </a:r>
          </a:p>
        </p:txBody>
      </p:sp>
      <p:pic>
        <p:nvPicPr>
          <p:cNvPr id="7" name="Picture 6" descr="Embeddings encode bias"/>
          <p:cNvPicPr>
            <a:picLocks noChangeAspect="1"/>
          </p:cNvPicPr>
          <p:nvPr/>
        </p:nvPicPr>
        <p:blipFill>
          <a:blip r:embed="rId5"/>
          <a:stretch>
            <a:fillRect/>
          </a:stretch>
        </p:blipFill>
        <p:spPr>
          <a:xfrm>
            <a:off x="274320" y="1250873"/>
            <a:ext cx="8595360" cy="3373273"/>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bias matters</a:t>
            </a:r>
          </a:p>
        </p:txBody>
      </p:sp>
      <p:pic>
        <p:nvPicPr>
          <p:cNvPr id="5" name="Picture 4" descr="Why bias matters"/>
          <p:cNvPicPr>
            <a:picLocks noChangeAspect="1"/>
          </p:cNvPicPr>
          <p:nvPr/>
        </p:nvPicPr>
        <p:blipFill>
          <a:blip r:embed="rId3"/>
          <a:stretch>
            <a:fillRect/>
          </a:stretch>
        </p:blipFill>
        <p:spPr>
          <a:xfrm>
            <a:off x="274320" y="2056943"/>
            <a:ext cx="8595360" cy="16331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3</a:t>
            </a:r>
          </a:p>
        </p:txBody>
      </p:sp>
      <p:pic>
        <p:nvPicPr>
          <p:cNvPr id="5" name="Picture 4" descr="Quiz 3"/>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discussion and the coding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ocratic discussion. Hold this question; it sets up Week 15."/>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The algorithm is just doing math. So who owns the bias?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Socratic discussion. Hold this question; it sets up Week 15.</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Discussion: who owns the bias?</a:t>
            </a:r>
          </a:p>
        </p:txBody>
      </p:sp>
      <p:pic>
        <p:nvPicPr>
          <p:cNvPr id="5" name="Picture 4" descr="Discussion: who owns the bias?"/>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Bolukbasi et al., 2016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Analogies and a bias probe</a:t>
            </a:r>
          </a:p>
        </p:txBody>
      </p:sp>
      <p:pic>
        <p:nvPicPr>
          <p:cNvPr id="5" name="Picture 4" descr="Analogies and a bias probe"/>
          <p:cNvPicPr>
            <a:picLocks noChangeAspect="1"/>
          </p:cNvPicPr>
          <p:nvPr/>
        </p:nvPicPr>
        <p:blipFill>
          <a:blip r:embed="rId3"/>
          <a:stretch>
            <a:fillRect/>
          </a:stretch>
        </p:blipFill>
        <p:spPr>
          <a:xfrm>
            <a:off x="2463067" y="1078992"/>
            <a:ext cx="42178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weeks/week-03/class-02/exercise/README.md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6892"/>
            <a:ext cx="8595360" cy="27732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