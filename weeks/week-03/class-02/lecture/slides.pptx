
<file path=[Content_Types].xml><?xml version="1.0" encoding="utf-8"?>
<Types xmlns="http://schemas.openxmlformats.org/package/2006/content-types">
  <Default Extension="fntdata" ContentType="application/x-fontdata"/>
  <Default Extension="gif" ContentType="image/gif"/>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 id="264" r:id="rId14"/>
    <p:sldId id="265" r:id="rId13"/>
    <p:sldId id="266" r:id="rId12"/>
    <p:sldId id="267" r:id="rId11"/>
    <p:sldId id="268" r:id="rId10"/>
    <p:sldId id="269" r:id="rId9"/>
    <p:sldId id="270" r:id="rId8"/>
    <p:sldId id="271" r:id="rId7"/>
    <p:sldId id="272" r:id="rId6"/>
    <p:sldId id="273" r:id="rId5"/>
    <p:sldId id="274" r:id="rId39"/>
    <p:sldId id="275" r:id="rId40"/>
    <p:sldId id="276" r:id="rId41"/>
    <p:sldId id="277" r:id="rId42"/>
    <p:sldId id="278" r:id="rId43"/>
    <p:sldId id="279" r:id="rId44"/>
    <p:sldId id="280" r:id="rId45"/>
    <p:sldId id="281" r:id="rId46"/>
    <p:sldId id="282" r:id="rId47"/>
    <p:sldId id="283" r:id="rId48"/>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8.xml"/><Relationship Id="rId6" Type="http://schemas.openxmlformats.org/officeDocument/2006/relationships/slide" Target="slides/slide17.xml"/><Relationship Id="rId7" Type="http://schemas.openxmlformats.org/officeDocument/2006/relationships/slide" Target="slides/slide16.xml"/><Relationship Id="rId8" Type="http://schemas.openxmlformats.org/officeDocument/2006/relationships/slide" Target="slides/slide15.xml"/><Relationship Id="rId9" Type="http://schemas.openxmlformats.org/officeDocument/2006/relationships/slide" Target="slides/slide14.xml"/><Relationship Id="rId10" Type="http://schemas.openxmlformats.org/officeDocument/2006/relationships/slide" Target="slides/slide13.xml"/><Relationship Id="rId11" Type="http://schemas.openxmlformats.org/officeDocument/2006/relationships/slide" Target="slides/slide12.xml"/><Relationship Id="rId12" Type="http://schemas.openxmlformats.org/officeDocument/2006/relationships/slide" Target="slides/slide11.xml"/><Relationship Id="rId13" Type="http://schemas.openxmlformats.org/officeDocument/2006/relationships/slide" Target="slides/slide10.xml"/><Relationship Id="rId14" Type="http://schemas.openxmlformats.org/officeDocument/2006/relationships/slide" Target="slides/slide9.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 Id="rId39" Type="http://schemas.openxmlformats.org/officeDocument/2006/relationships/slide" Target="slides/slide19.xml"/><Relationship Id="rId40" Type="http://schemas.openxmlformats.org/officeDocument/2006/relationships/slide" Target="slides/slide20.xml"/><Relationship Id="rId41" Type="http://schemas.openxmlformats.org/officeDocument/2006/relationships/slide" Target="slides/slide21.xml"/><Relationship Id="rId42" Type="http://schemas.openxmlformats.org/officeDocument/2006/relationships/slide" Target="slides/slide22.xml"/><Relationship Id="rId43" Type="http://schemas.openxmlformats.org/officeDocument/2006/relationships/slide" Target="slides/slide23.xml"/><Relationship Id="rId44" Type="http://schemas.openxmlformats.org/officeDocument/2006/relationships/slide" Target="slides/slide24.xml"/><Relationship Id="rId45" Type="http://schemas.openxmlformats.org/officeDocument/2006/relationships/slide" Target="slides/slide25.xml"/><Relationship Id="rId46" Type="http://schemas.openxmlformats.org/officeDocument/2006/relationships/slide" Target="slides/slide26.xml"/><Relationship Id="rId47" Type="http://schemas.openxmlformats.org/officeDocument/2006/relationships/slide" Target="slides/slide27.xml"/><Relationship Id="rId48"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King minus man plus woman equals queen. By the end of class you can do this arithmetic on meaning.</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Six steps. Learn vectors by predicting context with word2vec, see the skip-gram, CBOW and GloVe variants, watch meaning turn into direction with analogies, meet the limit of one vector per word, and then the bias that comes with it. Quiz 3 after the lecture.</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Every dot is a word, and nearness is meaning. Nothing here was hand labelled: the positions came out of reading text. Ask them what would sit near coffee, then near Tuesday.</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Last class every word was a 50,000-long mostly-zero vector, and good and great shared no dimension at all, so they were exactly as unrelated as good and asparagus. Today the vector is about 300 numbers, every one of them used, and it is learned rather than counted. That is the whole move.</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Instead of counting neighbors, train a yes/no classifier on a fake task. The quiz is a means to an end. We never actually use this classifier. We train it, throw it away, and keep its learned weights: those are the embeddings.</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One window of running text hands us 4 positive pairs; k random noise words per real pair supply the negatives. This is skip-gram with negative sampling (SGNS). K = 2 noise words per real pair , no human labeled anything.</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Last class: similar words have similar vectors. word2vec runs it backwards: MAKE the dot product big for real neighbors, small for noise.</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Start with random vectors. One window of "...apricot jam..." becomes one gradient step: pull the true neighbor closer, push k random words away. Repeat over billions of windows. Negative sampling: k fake pairs per real one.</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What we just built is skip-gram (right): the center word predicts each neighbor. CBOW (left) flips the arrows. The trained projection weights ARE the word vectors.</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Walk this left to right with CBOW, which is the easier direction: the context predicts the missing middle word. Three context words come in as one-hot vectors over a five-word vocabulary, so each is a column of zeros with a single one. Multiplying a one-hot by W does not compute anything, it selects a row, so this step is a lookup. CBOW then averages the three rows, and that average is h, the latent vector, the actual numbers on the slide. Then W-prime and a softmax turn h into a probability over the vocabulary, and apricot wins with 0.62. Two things to say out loud. First, there are no biases anywhere in this network and no activation function on the hidden layer, which is unusual for a neural net and is a large part of why it trains on billions of words so cheaply. Second, and this is the punchline: we do not want the prediction. We train the whole thing, throw away W-prime and the softmax, and keep W. Every row of W is one word's embedding. Skip-gram is the same picture with the arrows reversed, and the sigmoid version from three slides ago is skip-gram with negative sampling, which replaces this softmax over the whole vocabulary with k plus one yes-or-no decisions.</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Optional paper, never quizzed.</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GloVe is the optional paper and is never quizzed, so this is for understanding, not memorising. Start with the table, it is the whole insight and the numbers are the paper's own. Neither P(solid given ice) nor P(solid given steam) tells you much on its own, both are tiny. Their RATIO is 8.9, and that is the signal. Gas gives 0.085, the mirror image. Water and fashion both sit near 1, one because it is related to both and one because it is related to neither, and the ratio correctly says neither word discriminates. So GloVe designs an objective whose solution makes vector arithmetic reproduce those ratios, and the algebra collapses to something simple: the dot product of two word vectors should equal the log of how often they co-occur. The f in front is a weighting function that stops the rarest pairs from being noise and the most frequent from dominating. Two vectors are learned per word, and the paper recommends adding them, which is what you get when you download GloVe vectors. The contrast with word2vec is the useful bit: word2vec looks through a small window many times, GloVe looks at the whole matrix once.</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offset between man and woman is the same vector that joins king to queen. A 2D schematic.</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Real GloVe vectors, projected to 2D. Parallel offsets appear for gender pairs (a) and even for grammar: comparative and superlative forms (b). Nobody programmed this in.</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This kicked off the modern pretrain-then-reuse paradigm we scale up all semester.</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Three beats, and the slide only shows the shape, so this is the talking. Before 2013, a word was an index into a vocabulary. Everything a model knew about language came from tf-idf over tens of thousands of sparse dimensions plus feature templates a person wrote by hand and rebuilt for every new task, and good and great shared no dimension at all, so they were as unrelated as good and asparagus. Then word2vec in 2013 and GloVe in 2014 made it practical to learn meaning once from raw unlabeled text and hand it to any model as geometry, something you can add, subtract and measure. That is the shift from counting to representation, and it is why the field pivoted to neural networks between roughly 2013 and 2015. Be fair about the history if anyone asks: the idea was not new, Bengio's neural language model in 2003 and Collobert and Weston in 2008 both learned word vectors. What changed was the cost, from a research project to a free download you could train over a weekend. Ubiquity, not novelty. And it never went away. Every LLM in this course still begins with an embedding matrix, just over subword tokens rather than whole words, and it is the same row-of-a-matrix lookup we drew seven slides ago. Week 6 makes those vectors depend on context, Week 11 uses them for retrieval.</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One vector must serve both senses: no way to disambiguate by context. ELMo / BERT (Week 6) fix this with contextual embeddings.</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Do not answer this one yet. The vectors are about to say something uncomfortable, and it is better if they see it in the numbers first.</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Vectors learn stereotypes present in the text.</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Debiasing exists but is only a partial fix.</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Covers Week 3 lecture + word2vec (Mikolov et al., 2013). Clear your desk. Finish early? Your break starts early. Need more time? It comes out of the break.</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This is the question the next slide asks them to argue. Let it sit. It comes back in Week 15 when we do the pre-mortem.</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Small teams, about thirteen minutes. Push them past blaming the data: someone chose the corpus, someone shipped the model, someone deployed it in hiring. Debiasing that hides the association is worth raising as its own trap.</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Two functions to write: the analogy solver and the bias score. Cosine and nearest are given.</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Dense vectors learned by predicting context, or by factoring global counts. Meaning becomes direction, which is why king minus man plus woman lands near queen. One static vector per word is the limit, and it also means the stereotypes in the text come along. Next week these vectors become the input layer of a neural network. Next weekneural networks for NLP, with these embeddings as the input layer.</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 Id="rId3" Type="http://schemas.openxmlformats.org/officeDocument/2006/relationships/image" Target="../media/image4.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 Id="rId3"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image" Target="../media/image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 Id="rId3" Type="http://schemas.openxmlformats.org/officeDocument/2006/relationships/image" Target="../media/image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 Id="rId3" Type="http://schemas.openxmlformats.org/officeDocument/2006/relationships/image" Target="../media/image1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 Id="rId3"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 Id="rId3" Type="http://schemas.openxmlformats.org/officeDocument/2006/relationships/image" Target="../media/image1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 Id="rId3" Type="http://schemas.openxmlformats.org/officeDocument/2006/relationships/image" Target="../media/image16.gif"/></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image" Target="../media/image1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 Id="rId3" Type="http://schemas.openxmlformats.org/officeDocument/2006/relationships/image" Target="../media/image1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image" Target="../media/image1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 Id="rId3" Type="http://schemas.openxmlformats.org/officeDocument/2006/relationships/image" Target="../media/image2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image" Target="../media/image21.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image" Target="../media/image22.jpg"/><Relationship Id="rId4" Type="http://schemas.openxmlformats.org/officeDocument/2006/relationships/hyperlink" Target="https://www.youtube.com/watch?v=59bMh59JQDo" TargetMode="External"/><Relationship Id="rId5" Type="http://schemas.openxmlformats.org/officeDocument/2006/relationships/image" Target="../media/image3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 Id="rId3" Type="http://schemas.openxmlformats.org/officeDocument/2006/relationships/image" Target="../media/image3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image" Target="../media/image3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3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2.xml"/><Relationship Id="rId3" Type="http://schemas.openxmlformats.org/officeDocument/2006/relationships/image" Target="../media/image34.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3.xml"/><Relationship Id="rId3" Type="http://schemas.openxmlformats.org/officeDocument/2006/relationships/image" Target="../media/image3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image" Target="../media/image3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image" Target="../media/image37.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Word Embeddings</a:t>
            </a:r>
          </a:p>
        </p:txBody>
      </p:sp>
      <p:sp>
        <p:nvSpPr>
          <p:cNvPr id="3" name="Subtitle 2"/>
          <p:cNvSpPr>
            <a:spLocks noGrp="1"/>
          </p:cNvSpPr>
          <p:nvPr>
            <p:ph type="subTitle" idx="1"/>
          </p:nvPr>
        </p:nvSpPr>
        <p:spPr>
          <a:xfrm>
            <a:off x="493926" y="3549825"/>
            <a:ext cx="5937922" cy="970800"/>
          </a:xfrm>
        </p:spPr>
        <p:txBody>
          <a:bodyPr wrap="square"/>
          <a:lstStyle/>
          <a:p>
            <a:pPr marL="0" indent="0">
              <a:buNone/>
            </a:pPr>
            <a:r>
              <a:t>Natural Language Processing &amp; Large Language Models</a:t>
            </a:r>
          </a:p>
          <a:p>
            <a:pPr marL="0" indent="0">
              <a:buNone/>
            </a:pPr>
            <a:r>
              <a:t>Week 3, Class 2  ·  Mon Sep 14, 2026</a:t>
            </a:r>
          </a:p>
        </p:txBody>
      </p:sp>
      <p:pic>
        <p:nvPicPr>
          <p:cNvPr id="5" name="Picture 4" descr="Word Embeddings"/>
          <p:cNvPicPr>
            <a:picLocks noChangeAspect="1"/>
          </p:cNvPicPr>
          <p:nvPr/>
        </p:nvPicPr>
        <p:blipFill>
          <a:blip r:embed="rId3"/>
          <a:stretch>
            <a:fillRect/>
          </a:stretch>
        </p:blipFill>
        <p:spPr>
          <a:xfrm>
            <a:off x="6660448" y="3474720"/>
            <a:ext cx="2117792" cy="148132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Bubba73 (Jud McCranie), Wikimedia Commons, CC BY-SA 3.0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Today</a:t>
            </a:r>
          </a:p>
        </p:txBody>
      </p:sp>
      <p:pic>
        <p:nvPicPr>
          <p:cNvPr id="5" name="Picture 4" descr="Today"/>
          <p:cNvPicPr>
            <a:picLocks noChangeAspect="1"/>
          </p:cNvPicPr>
          <p:nvPr/>
        </p:nvPicPr>
        <p:blipFill>
          <a:blip r:embed="rId3"/>
          <a:stretch>
            <a:fillRect/>
          </a:stretch>
        </p:blipFill>
        <p:spPr>
          <a:xfrm>
            <a:off x="665133" y="1078992"/>
            <a:ext cx="7813733"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Figs. 5.7 &amp; 5.9; Mikolov et al. 2013, Fig. 1; deck figures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Embeddings scatter words like stars; nearby points share meaning."/>
          <p:cNvPicPr>
            <a:picLocks noChangeAspect="1"/>
          </p:cNvPicPr>
          <p:nvPr/>
        </p:nvPicPr>
        <p:blipFill>
          <a:blip r:embed="rId3"/>
          <a:stretch>
            <a:fillRect/>
          </a:stretch>
        </p:blipFill>
        <p:spPr>
          <a:xfrm>
            <a:off x="0" y="-334328"/>
            <a:ext cx="9144000" cy="5812155"/>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2651760"/>
          </a:xfrm>
          <a:prstGeom prst="rect">
            <a:avLst/>
          </a:prstGeom>
          <a:noFill/>
        </p:spPr>
        <p:txBody>
          <a:bodyPr wrap="square" anchor="ctr">
            <a:spAutoFit/>
          </a:bodyPr>
          <a:lstStyle/>
          <a:p>
            <a:pPr algn="ctr" marL="0" indent="0">
              <a:buNone/>
            </a:pPr>
            <a:r>
              <a:rPr sz="4000" b="1">
                <a:solidFill>
                  <a:srgbClr val="FFFFFF"/>
                </a:solidFill>
              </a:rPr>
              <a:t>Every word gets a place in one shared space</a:t>
            </a:r>
          </a:p>
          <a:p>
            <a:pPr algn="ctr" marL="0" indent="0">
              <a:buNone/>
            </a:pPr>
            <a:r>
              <a:rPr sz="2000">
                <a:solidFill>
                  <a:srgbClr val="FFFFFF"/>
                </a:solidFill>
              </a:rPr>
              <a:t>Embeddings scatter words like stars; nearby points share meaning.</a:t>
            </a:r>
          </a:p>
        </p:txBody>
      </p:sp>
      <p:sp>
        <p:nvSpPr>
          <p:cNvPr id="8" name="TextBox 7"/>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https://unsplash.com/photos/Y20JJ_ddy9M (Vincentiu Solomon)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From sparse counts to dense vectors</a:t>
            </a:r>
          </a:p>
        </p:txBody>
      </p:sp>
      <p:pic>
        <p:nvPicPr>
          <p:cNvPr id="5" name="Picture 4" descr="From sparse counts to dense vectors"/>
          <p:cNvPicPr>
            <a:picLocks noChangeAspect="1"/>
          </p:cNvPicPr>
          <p:nvPr/>
        </p:nvPicPr>
        <p:blipFill>
          <a:blip r:embed="rId3"/>
          <a:stretch>
            <a:fillRect/>
          </a:stretch>
        </p:blipFill>
        <p:spPr>
          <a:xfrm>
            <a:off x="274320" y="1733524"/>
            <a:ext cx="8595360" cy="2279955"/>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word2vec</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word2vec's trick: turn counting into a quiz</a:t>
            </a:r>
          </a:p>
        </p:txBody>
      </p:sp>
      <p:pic>
        <p:nvPicPr>
          <p:cNvPr id="5" name="Picture 4" descr="word2vec's trick: turn counting into a quiz"/>
          <p:cNvPicPr>
            <a:picLocks noChangeAspect="1"/>
          </p:cNvPicPr>
          <p:nvPr/>
        </p:nvPicPr>
        <p:blipFill>
          <a:blip r:embed="rId3"/>
          <a:stretch>
            <a:fillRect/>
          </a:stretch>
        </p:blipFill>
        <p:spPr>
          <a:xfrm>
            <a:off x="274320" y="1595124"/>
            <a:ext cx="8595360" cy="2556755"/>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Ch. 5.5 running example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labels are free: self-supervision</a:t>
            </a:r>
          </a:p>
        </p:txBody>
      </p:sp>
      <p:pic>
        <p:nvPicPr>
          <p:cNvPr id="5" name="Picture 4" descr="The labels are free: self-supervision"/>
          <p:cNvPicPr>
            <a:picLocks noChangeAspect="1"/>
          </p:cNvPicPr>
          <p:nvPr/>
        </p:nvPicPr>
        <p:blipFill>
          <a:blip r:embed="rId3"/>
          <a:stretch>
            <a:fillRect/>
          </a:stretch>
        </p:blipFill>
        <p:spPr>
          <a:xfrm>
            <a:off x="345410" y="1078992"/>
            <a:ext cx="845318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Ch. 5.5.2 training example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Score a pair: dot product, then sigmoid</a:t>
            </a:r>
          </a:p>
        </p:txBody>
      </p:sp>
      <p:pic>
        <p:nvPicPr>
          <p:cNvPr id="5" name="Picture 4" descr="Score a pair: dot product, then sigmoid"/>
          <p:cNvPicPr>
            <a:picLocks noChangeAspect="1"/>
          </p:cNvPicPr>
          <p:nvPr/>
        </p:nvPicPr>
        <p:blipFill>
          <a:blip r:embed="rId3"/>
          <a:stretch>
            <a:fillRect/>
          </a:stretch>
        </p:blipFill>
        <p:spPr>
          <a:xfrm>
            <a:off x="274320" y="1471293"/>
            <a:ext cx="8595360" cy="280441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Eqs. 5.13-5.15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How the magic happens</a:t>
            </a:r>
          </a:p>
        </p:txBody>
      </p:sp>
      <p:pic>
        <p:nvPicPr>
          <p:cNvPr id="5" name="Picture 4" descr="How the magic happens"/>
          <p:cNvPicPr>
            <a:picLocks noChangeAspect="1"/>
          </p:cNvPicPr>
          <p:nvPr/>
        </p:nvPicPr>
        <p:blipFill>
          <a:blip r:embed="rId3"/>
          <a:stretch>
            <a:fillRect/>
          </a:stretch>
        </p:blipFill>
        <p:spPr>
          <a:xfrm>
            <a:off x="1947799" y="1078992"/>
            <a:ext cx="5248401"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5.7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word2vec family: skip-gram and CBOW</a:t>
            </a:r>
          </a:p>
        </p:txBody>
      </p:sp>
      <p:pic>
        <p:nvPicPr>
          <p:cNvPr id="5" name="Picture 4" descr="The word2vec family: skip-gram and CBOW"/>
          <p:cNvPicPr>
            <a:picLocks noChangeAspect="1"/>
          </p:cNvPicPr>
          <p:nvPr/>
        </p:nvPicPr>
        <p:blipFill>
          <a:blip r:embed="rId3"/>
          <a:stretch>
            <a:fillRect/>
          </a:stretch>
        </p:blipFill>
        <p:spPr>
          <a:xfrm>
            <a:off x="2189024" y="1078992"/>
            <a:ext cx="476595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Mikolov et al. 2013 (arXiv:1301.3781), Fig. 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Train a network, then keep only its first layer</a:t>
            </a:r>
          </a:p>
        </p:txBody>
      </p:sp>
      <p:pic>
        <p:nvPicPr>
          <p:cNvPr id="5" name="Picture 4" descr="Train a network, then keep only its first layer"/>
          <p:cNvPicPr>
            <a:picLocks noChangeAspect="1"/>
          </p:cNvPicPr>
          <p:nvPr/>
        </p:nvPicPr>
        <p:blipFill>
          <a:blip r:embed="rId3"/>
          <a:stretch>
            <a:fillRect/>
          </a:stretch>
        </p:blipFill>
        <p:spPr>
          <a:xfrm>
            <a:off x="274320" y="1576914"/>
            <a:ext cx="8595360" cy="2593176"/>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Mikolov et al. 2013 (arXiv:1301.3781), CBOW</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GloVe: factor global co-occurrence</a:t>
            </a:r>
          </a:p>
        </p:txBody>
      </p:sp>
      <p:pic>
        <p:nvPicPr>
          <p:cNvPr id="5" name="Picture 4" descr="GloVe: factor global co-occurrence"/>
          <p:cNvPicPr>
            <a:picLocks noChangeAspect="1"/>
          </p:cNvPicPr>
          <p:nvPr/>
        </p:nvPicPr>
        <p:blipFill>
          <a:blip r:embed="rId3"/>
          <a:stretch>
            <a:fillRect/>
          </a:stretch>
        </p:blipFill>
        <p:spPr>
          <a:xfrm>
            <a:off x="538625" y="1078992"/>
            <a:ext cx="8066749"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Pennington et al., 2014, GloVe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GloVe actually fits</a:t>
            </a:r>
          </a:p>
        </p:txBody>
      </p:sp>
      <p:pic>
        <p:nvPicPr>
          <p:cNvPr id="5" name="Picture 4" descr="What GloVe actually fits"/>
          <p:cNvPicPr>
            <a:picLocks noChangeAspect="1"/>
          </p:cNvPicPr>
          <p:nvPr/>
        </p:nvPicPr>
        <p:blipFill>
          <a:blip r:embed="rId3"/>
          <a:stretch>
            <a:fillRect/>
          </a:stretch>
        </p:blipFill>
        <p:spPr>
          <a:xfrm>
            <a:off x="274320" y="1602409"/>
            <a:ext cx="8595360" cy="2542186"/>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Pennington et al., 2014, GloVe, Table 1 and Eq. 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Analogies &amp; bias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famous result: analogies</a:t>
            </a:r>
          </a:p>
        </p:txBody>
      </p:sp>
      <p:pic>
        <p:nvPicPr>
          <p:cNvPr id="5" name="Picture 4" descr="The famous result: analogies"/>
          <p:cNvPicPr>
            <a:picLocks noChangeAspect="1"/>
          </p:cNvPicPr>
          <p:nvPr/>
        </p:nvPicPr>
        <p:blipFill>
          <a:blip r:embed="rId3"/>
          <a:stretch>
            <a:fillRect/>
          </a:stretch>
        </p:blipFill>
        <p:spPr>
          <a:xfrm>
            <a:off x="726621" y="1078992"/>
            <a:ext cx="7690757"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animation; Mikolov et al., 2013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It is not just king and queen</a:t>
            </a:r>
          </a:p>
        </p:txBody>
      </p:sp>
      <p:pic>
        <p:nvPicPr>
          <p:cNvPr id="5" name="Picture 4" descr="It is not just king and queen"/>
          <p:cNvPicPr>
            <a:picLocks noChangeAspect="1"/>
          </p:cNvPicPr>
          <p:nvPr/>
        </p:nvPicPr>
        <p:blipFill>
          <a:blip r:embed="rId3"/>
          <a:stretch>
            <a:fillRect/>
          </a:stretch>
        </p:blipFill>
        <p:spPr>
          <a:xfrm>
            <a:off x="1174827" y="1078992"/>
            <a:ext cx="6794345"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5.9 (GloVe vectors, Pennington et al. 2014)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Why this was a big deal</a:t>
            </a:r>
          </a:p>
        </p:txBody>
      </p:sp>
      <p:pic>
        <p:nvPicPr>
          <p:cNvPr id="5" name="Picture 4" descr="Why this was a big deal"/>
          <p:cNvPicPr>
            <a:picLocks noChangeAspect="1"/>
          </p:cNvPicPr>
          <p:nvPr/>
        </p:nvPicPr>
        <p:blipFill>
          <a:blip r:embed="rId3"/>
          <a:stretch>
            <a:fillRect/>
          </a:stretch>
        </p:blipFill>
        <p:spPr>
          <a:xfrm>
            <a:off x="274320" y="1252767"/>
            <a:ext cx="8595360" cy="324147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turn that made modern NLP possible</a:t>
            </a:r>
          </a:p>
        </p:txBody>
      </p:sp>
      <p:pic>
        <p:nvPicPr>
          <p:cNvPr id="5" name="Picture 4" descr="The turn that made modern NLP possible"/>
          <p:cNvPicPr>
            <a:picLocks noChangeAspect="1"/>
          </p:cNvPicPr>
          <p:nvPr/>
        </p:nvPicPr>
        <p:blipFill>
          <a:blip r:embed="rId3"/>
          <a:stretch>
            <a:fillRect/>
          </a:stretch>
        </p:blipFill>
        <p:spPr>
          <a:xfrm>
            <a:off x="274320" y="1729882"/>
            <a:ext cx="8595360" cy="228723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Static embeddings: the limitation</a:t>
            </a:r>
          </a:p>
        </p:txBody>
      </p:sp>
      <p:pic>
        <p:nvPicPr>
          <p:cNvPr id="5" name="Picture 4" descr="Static embeddings: the limitation"/>
          <p:cNvPicPr>
            <a:picLocks noChangeAspect="1"/>
          </p:cNvPicPr>
          <p:nvPr/>
        </p:nvPicPr>
        <p:blipFill>
          <a:blip r:embed="rId3"/>
          <a:stretch>
            <a:fillRect/>
          </a:stretch>
        </p:blipFill>
        <p:spPr>
          <a:xfrm>
            <a:off x="274320" y="1154430"/>
            <a:ext cx="8595360" cy="3438144"/>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Embeddings learn whatever the text assumes, including who belongs where."/>
          <p:cNvPicPr>
            <a:picLocks noChangeAspect="1"/>
          </p:cNvPicPr>
          <p:nvPr/>
        </p:nvPicPr>
        <p:blipFill>
          <a:blip r:embed="rId3"/>
          <a:stretch>
            <a:fillRect/>
          </a:stretch>
        </p:blipFill>
        <p:spPr>
          <a:xfrm>
            <a:off x="0" y="0"/>
            <a:ext cx="9144000" cy="5143500"/>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1874519"/>
          </a:xfrm>
          <a:prstGeom prst="rect">
            <a:avLst/>
          </a:prstGeom>
          <a:noFill/>
        </p:spPr>
        <p:txBody>
          <a:bodyPr wrap="square" anchor="ctr">
            <a:spAutoFit/>
          </a:bodyPr>
          <a:lstStyle/>
          <a:p>
            <a:pPr algn="ctr" marL="0" indent="0">
              <a:buNone/>
            </a:pPr>
            <a:r>
              <a:rPr sz="3400" b="1">
                <a:solidFill>
                  <a:srgbClr val="FFFFFF"/>
                </a:solidFill>
              </a:rPr>
              <a:t>Should a machine learn that "programmer" means a man?</a:t>
            </a:r>
          </a:p>
        </p:txBody>
      </p:sp>
      <p:sp>
        <p:nvSpPr>
          <p:cNvPr id="8" name="TextBox 7"/>
          <p:cNvSpPr txBox="1"/>
          <p:nvPr/>
        </p:nvSpPr>
        <p:spPr>
          <a:xfrm>
            <a:off x="640080" y="3108959"/>
            <a:ext cx="7863840" cy="777240"/>
          </a:xfrm>
          <a:prstGeom prst="rect">
            <a:avLst/>
          </a:prstGeom>
          <a:noFill/>
        </p:spPr>
        <p:txBody>
          <a:bodyPr wrap="square" anchor="t">
            <a:spAutoFit/>
          </a:bodyPr>
          <a:lstStyle/>
          <a:p>
            <a:pPr algn="ctr" marL="0" indent="0">
              <a:buNone/>
            </a:pPr>
            <a:r>
              <a:rPr sz="2000">
                <a:solidFill>
                  <a:srgbClr val="FFFFFF"/>
                </a:solidFill>
              </a:rPr>
              <a:t>Embeddings learn whatever the text assumes, including who belongs where.</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https://unsplash.com/photos/iFgRcqHznqg (Helena Lopes)</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6537960" cy="822960"/>
          </a:xfrm>
        </p:spPr>
        <p:txBody>
          <a:bodyPr wrap="square"/>
          <a:lstStyle/>
          <a:p>
            <a:pPr marL="0" indent="0">
              <a:buNone/>
            </a:pPr>
            <a:r>
              <a:t>Embeddings encode bias</a:t>
            </a:r>
          </a:p>
        </p:txBody>
      </p:sp>
      <p:pic>
        <p:nvPicPr>
          <p:cNvPr id="5" name="Picture 4" descr="Video: 3 types of bias in AI. Opens https://www.youtube.com/watch?v=59bMh59JQDo">
            <a:hlinkClick r:id="rId4"/>
          </p:cNvPr>
          <p:cNvPicPr>
            <a:picLocks noChangeAspect="1"/>
          </p:cNvPicPr>
          <p:nvPr/>
        </p:nvPicPr>
        <p:blipFill>
          <a:blip r:embed="rId3"/>
          <a:stretch>
            <a:fillRect/>
          </a:stretch>
        </p:blipFill>
        <p:spPr>
          <a:xfrm>
            <a:off x="7132320" y="109728"/>
            <a:ext cx="1554480" cy="874166"/>
          </a:xfrm>
          <a:prstGeom prst="rect">
            <a:avLst/>
          </a:prstGeom>
        </p:spPr>
      </p:pic>
      <p:sp>
        <p:nvSpPr>
          <p:cNvPr id="6" name="TextBox 5"/>
          <p:cNvSpPr txBox="1"/>
          <p:nvPr/>
        </p:nvSpPr>
        <p:spPr>
          <a:xfrm>
            <a:off x="6931152" y="993038"/>
            <a:ext cx="1956816" cy="173736"/>
          </a:xfrm>
          <a:prstGeom prst="rect">
            <a:avLst/>
          </a:prstGeom>
          <a:noFill/>
        </p:spPr>
        <p:txBody>
          <a:bodyPr wrap="none">
            <a:spAutoFit/>
          </a:bodyPr>
          <a:lstStyle/>
          <a:p>
            <a:pPr algn="ctr" marL="0" indent="0">
              <a:buNone/>
            </a:pPr>
            <a:r>
              <a:rPr sz="850" b="1">
                <a:solidFill>
                  <a:srgbClr val="7C2529"/>
                </a:solidFill>
              </a:rPr>
              <a:t>3 types of bias in AI</a:t>
            </a:r>
          </a:p>
        </p:txBody>
      </p:sp>
      <p:pic>
        <p:nvPicPr>
          <p:cNvPr id="7" name="Picture 6" descr="Embeddings encode bias"/>
          <p:cNvPicPr>
            <a:picLocks noChangeAspect="1"/>
          </p:cNvPicPr>
          <p:nvPr/>
        </p:nvPicPr>
        <p:blipFill>
          <a:blip r:embed="rId5"/>
          <a:stretch>
            <a:fillRect/>
          </a:stretch>
        </p:blipFill>
        <p:spPr>
          <a:xfrm>
            <a:off x="274320" y="1250873"/>
            <a:ext cx="8595360" cy="3373273"/>
          </a:xfrm>
          <a:prstGeom prst="rect">
            <a:avLst/>
          </a:prstGeom>
        </p:spPr>
      </p:pic>
      <p:sp>
        <p:nvSpPr>
          <p:cNvPr id="8" name="TextBox 7"/>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Bolukbasi et al., 2016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Why bias matters</a:t>
            </a:r>
          </a:p>
        </p:txBody>
      </p:sp>
      <p:pic>
        <p:nvPicPr>
          <p:cNvPr id="5" name="Picture 4" descr="Why bias matters"/>
          <p:cNvPicPr>
            <a:picLocks noChangeAspect="1"/>
          </p:cNvPicPr>
          <p:nvPr/>
        </p:nvPicPr>
        <p:blipFill>
          <a:blip r:embed="rId3"/>
          <a:stretch>
            <a:fillRect/>
          </a:stretch>
        </p:blipFill>
        <p:spPr>
          <a:xfrm>
            <a:off x="274320" y="2056943"/>
            <a:ext cx="8595360" cy="163311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Quiz 3</a:t>
            </a:r>
          </a:p>
        </p:txBody>
      </p:sp>
      <p:pic>
        <p:nvPicPr>
          <p:cNvPr id="5" name="Picture 4" descr="Quiz 3"/>
          <p:cNvPicPr>
            <a:picLocks noChangeAspect="1"/>
          </p:cNvPicPr>
          <p:nvPr/>
        </p:nvPicPr>
        <p:blipFill>
          <a:blip r:embed="rId3"/>
          <a:stretch>
            <a:fillRect/>
          </a:stretch>
        </p:blipFill>
        <p:spPr>
          <a:xfrm>
            <a:off x="1282065" y="1078992"/>
            <a:ext cx="657987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Five minutes: stretch, refill water, compare notes. Then the discussion and the coding lab."/>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A Socratic discussion. Hold this question; it sets up Week 15."/>
          <p:cNvPicPr>
            <a:picLocks noChangeAspect="1"/>
          </p:cNvPicPr>
          <p:nvPr/>
        </p:nvPicPr>
        <p:blipFill>
          <a:blip r:embed="rId3"/>
          <a:stretch>
            <a:fillRect/>
          </a:stretch>
        </p:blipFill>
        <p:spPr>
          <a:xfrm>
            <a:off x="0" y="-477203"/>
            <a:ext cx="9144000" cy="6097905"/>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1874519"/>
          </a:xfrm>
          <a:prstGeom prst="rect">
            <a:avLst/>
          </a:prstGeom>
          <a:noFill/>
        </p:spPr>
        <p:txBody>
          <a:bodyPr wrap="square" anchor="ctr">
            <a:spAutoFit/>
          </a:bodyPr>
          <a:lstStyle/>
          <a:p>
            <a:pPr algn="ctr" marL="0" indent="0">
              <a:buNone/>
            </a:pPr>
            <a:r>
              <a:rPr sz="3400" b="1">
                <a:solidFill>
                  <a:srgbClr val="FFFFFF"/>
                </a:solidFill>
              </a:rPr>
              <a:t>The algorithm is just doing math. So who owns the bias?</a:t>
            </a:r>
          </a:p>
        </p:txBody>
      </p:sp>
      <p:sp>
        <p:nvSpPr>
          <p:cNvPr id="8" name="TextBox 7"/>
          <p:cNvSpPr txBox="1"/>
          <p:nvPr/>
        </p:nvSpPr>
        <p:spPr>
          <a:xfrm>
            <a:off x="640080" y="3108959"/>
            <a:ext cx="7863840" cy="777240"/>
          </a:xfrm>
          <a:prstGeom prst="rect">
            <a:avLst/>
          </a:prstGeom>
          <a:noFill/>
        </p:spPr>
        <p:txBody>
          <a:bodyPr wrap="square" anchor="t">
            <a:spAutoFit/>
          </a:bodyPr>
          <a:lstStyle/>
          <a:p>
            <a:pPr algn="ctr" marL="0" indent="0">
              <a:buNone/>
            </a:pPr>
            <a:r>
              <a:rPr sz="2000">
                <a:solidFill>
                  <a:srgbClr val="FFFFFF"/>
                </a:solidFill>
              </a:rPr>
              <a:t>A Socratic discussion. Hold this question; it sets up Week 15.</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https://images.unsplash.com/photo-1589829545856-d10d557cf95f</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Discussion: who owns the bias?</a:t>
            </a:r>
          </a:p>
        </p:txBody>
      </p:sp>
      <p:pic>
        <p:nvPicPr>
          <p:cNvPr id="5" name="Picture 4" descr="Discussion: who owns the bias?"/>
          <p:cNvPicPr>
            <a:picLocks noChangeAspect="1"/>
          </p:cNvPicPr>
          <p:nvPr/>
        </p:nvPicPr>
        <p:blipFill>
          <a:blip r:embed="rId3"/>
          <a:stretch>
            <a:fillRect/>
          </a:stretch>
        </p:blipFill>
        <p:spPr>
          <a:xfrm>
            <a:off x="274320" y="1493145"/>
            <a:ext cx="8595360" cy="2760713"/>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Bolukbasi et al., 2016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Analogies and a bias probe</a:t>
            </a:r>
          </a:p>
        </p:txBody>
      </p:sp>
      <p:pic>
        <p:nvPicPr>
          <p:cNvPr id="5" name="Picture 4" descr="Analogies and a bias probe"/>
          <p:cNvPicPr>
            <a:picLocks noChangeAspect="1"/>
          </p:cNvPicPr>
          <p:nvPr/>
        </p:nvPicPr>
        <p:blipFill>
          <a:blip r:embed="rId3"/>
          <a:stretch>
            <a:fillRect/>
          </a:stretch>
        </p:blipFill>
        <p:spPr>
          <a:xfrm>
            <a:off x="2463067" y="1078992"/>
            <a:ext cx="4217865"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weeks/week-03/class-02/exercise/README.md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Recap</a:t>
            </a:r>
          </a:p>
        </p:txBody>
      </p:sp>
      <p:pic>
        <p:nvPicPr>
          <p:cNvPr id="5" name="Picture 4" descr="Recap"/>
          <p:cNvPicPr>
            <a:picLocks noChangeAspect="1"/>
          </p:cNvPicPr>
          <p:nvPr/>
        </p:nvPicPr>
        <p:blipFill>
          <a:blip r:embed="rId3"/>
          <a:stretch>
            <a:fillRect/>
          </a:stretch>
        </p:blipFill>
        <p:spPr>
          <a:xfrm>
            <a:off x="274320" y="1486892"/>
            <a:ext cx="8595360" cy="277321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