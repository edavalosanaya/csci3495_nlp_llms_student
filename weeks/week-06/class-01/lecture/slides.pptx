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Rosetta Stone: one decree, three scripts. Reading any line meant constantly glancing back at the others. That glance is the whole idea today, and by the end of class we go from one glance to the architecture everything since 2017 is built on. After the break they take a real one apart with their hands.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machine translation system that worked before attention, and the shape of it is the problem. The encoder reads the source one word at a time and hands the decoder a single fixed vector, c. Everything the decoder will ever know about the source has to be in there: every word, every ending, every bit of word order, whether the sentence was three words or forty. Ask the room what happens as the sentence gets longer, and let somebody say it out loud. The vector does not get bigger. Performance falls off a cliff past about twenty words, and the fix on the next slide is almost embarrassingly simple: stop insisting on one vector, and let the decoder look back at all of them.</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output word re-weights the whole input. Watch the peak jump backwards when "chat noir" comes out reversed.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decoding step: every encoder state gets a weight (here .4, .3, .1, .2 from dot products with the previous decoder state), and their weighted sum becomes c_i, an input to the next decoder state. Repeat fresh for every output word.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learned weights, two examples: rows are French output words, columns the English source, white means high alpha. Left: "zone economique europeenne" reverses "European Economic Area". Right: French says "a dit l'homme" (said the man), and the weights jump backwards to "the man said". Nobody labeled any of this.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Attention fixed the bottleneck but not the clock. Step five still cannot start until step four finishes, so nothing parallelises across time, and a GPU sits mostly idle. That single constraint is what the Transformer removes next class.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example: building the representation of "it", the model attends hard to "chicken" and "road", the two things "it" could refer to. Every token does this over the whole context, at every layer.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Computing a_3, step by numbered step: generate k, q, v; compare q_3 to the keys; scale by sqrt(d_k); softmax; weigh the values; sum; reshape with W^O. Match each arrow to an equation on the previous slide.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practice one matrix multiply QK^T scores every pair at once (top), but the upper triangle is the FUTURE. The mask sets those cells to -infinity, so after softmax they get exactly zero weight (bottom): no information leaks backwards from tokens the model has not generated yet.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version with A = 4 heads: each head has its own W^Q, W^K, W^V, their outputs are concatenated and W^O projects back to model size. Same picture as the paper's, with the shapes written on every wire.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bare attention these look identical, we must inject position explicitly.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every position its own embedding and just ADD it to the token embedding; now "bites" at position 2 and "bites" at position 4 enter the stack as different vectors.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We are not implementing any of the last six slides; we are loading a trained transformer and looking at what it does. Part 1 turns a sentence into one vector per token, all positions at once. Part 2 pulls the attention weights out and draws them, which is the heatmap from the alignment slide except this model taught itself. Part 3 is the one to slow down on: the same word in two different sentences comes out as two different vectors, which is the thing a fixed embedding table could never do.</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in modern NLP. Every piece you have met is here: embeddings plus positional encoding, multi-head attention, feed-forward, residual Add &amp; Norm, stacked N=6 times per side. The decoder adds masked self-attention and cross-attention into the encoder.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attention machinery is the same, the masking and wiring differ.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result: the backbone of every modern LLM, from BERT and GPT onward. Short paths plus parallel training made scaling pay off (Weeks 8-9). Trade-off: comparing all pairs costs O(n ) in sequence length n.</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about twenty-five minutes, and almost no code: two helper functions are given and everything else is choosing sentences. The encoder fills in a blank, the decoder continues a prompt, and the job is to find out what each one does and does not know. Six starting questions are on the slide and teams should invent their own. Insist on evidence: a claim about the model has to come with the prompt that produced it and the numbers it returned. Last ten minutes, each team reports the single most surprising thing they found.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jpg"/><Relationship Id="rId4" Type="http://schemas.openxmlformats.org/officeDocument/2006/relationships/hyperlink" Target="https://www.youtube.com/watch?v=H39Z_720T5s" TargetMode="External"/><Relationship Id="rId5"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Attention and the Transformer</a:t>
            </a:r>
          </a:p>
        </p:txBody>
      </p:sp>
      <p:sp>
        <p:nvSpPr>
          <p:cNvPr id="3" name="Subtitle 2"/>
          <p:cNvSpPr>
            <a:spLocks noGrp="1"/>
          </p:cNvSpPr>
          <p:nvPr>
            <p:ph type="subTitle" idx="1"/>
          </p:nvPr>
        </p:nvSpPr>
        <p:spPr>
          <a:xfrm>
            <a:off x="493926" y="3549825"/>
            <a:ext cx="6789960" cy="970800"/>
          </a:xfrm>
        </p:spPr>
        <p:txBody>
          <a:bodyPr wrap="square"/>
          <a:lstStyle/>
          <a:p>
            <a:pPr marL="0" indent="0">
              <a:buNone/>
            </a:pPr>
            <a:r>
              <a:t>Natural Language Processing &amp; Large Language Models</a:t>
            </a:r>
          </a:p>
          <a:p>
            <a:pPr marL="0" indent="0">
              <a:buNone/>
            </a:pPr>
            <a:r>
              <a:t>Week 6, Class 1  ·  Wed Sep 30, 2026</a:t>
            </a:r>
          </a:p>
        </p:txBody>
      </p:sp>
      <p:pic>
        <p:nvPicPr>
          <p:cNvPr id="5" name="Picture 4" descr="Attention and the Transformer"/>
          <p:cNvPicPr>
            <a:picLocks noChangeAspect="1"/>
          </p:cNvPicPr>
          <p:nvPr/>
        </p:nvPicPr>
        <p:blipFill>
          <a:blip r:embed="rId3"/>
          <a:stretch>
            <a:fillRect/>
          </a:stretch>
        </p:blipFill>
        <p:spPr>
          <a:xfrm>
            <a:off x="7512486" y="3474720"/>
            <a:ext cx="126575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Hans Hillewaert,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vector has to carry the whole sentence</a:t>
            </a:r>
          </a:p>
        </p:txBody>
      </p:sp>
      <p:pic>
        <p:nvPicPr>
          <p:cNvPr id="5" name="Picture 4" descr="One vector has to carry the whole sentence"/>
          <p:cNvPicPr>
            <a:picLocks noChangeAspect="1"/>
          </p:cNvPicPr>
          <p:nvPr/>
        </p:nvPicPr>
        <p:blipFill>
          <a:blip r:embed="rId3"/>
          <a:stretch>
            <a:fillRect/>
          </a:stretch>
        </p:blipFill>
        <p:spPr>
          <a:xfrm>
            <a:off x="274320" y="1467651"/>
            <a:ext cx="8595360" cy="28117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architecture of Sutskever, Vinyals &amp; Le 2014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Attention in three steps</a:t>
            </a:r>
          </a:p>
        </p:txBody>
      </p:sp>
      <p:pic>
        <p:nvPicPr>
          <p:cNvPr id="5" name="Picture 4" descr="Attention in three step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computation, drawn</a:t>
            </a:r>
          </a:p>
        </p:txBody>
      </p:sp>
      <p:pic>
        <p:nvPicPr>
          <p:cNvPr id="5" name="Picture 4" descr="The whole computation, drawn"/>
          <p:cNvPicPr>
            <a:picLocks noChangeAspect="1"/>
          </p:cNvPicPr>
          <p:nvPr/>
        </p:nvPicPr>
        <p:blipFill>
          <a:blip r:embed="rId3"/>
          <a:stretch>
            <a:fillRect/>
          </a:stretch>
        </p:blipFill>
        <p:spPr>
          <a:xfrm>
            <a:off x="1315044" y="1078992"/>
            <a:ext cx="651391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attention as alignment</a:t>
            </a:r>
          </a:p>
        </p:txBody>
      </p:sp>
      <p:pic>
        <p:nvPicPr>
          <p:cNvPr id="5" name="Picture 4" descr="Reading attention as alignment"/>
          <p:cNvPicPr>
            <a:picLocks noChangeAspect="1"/>
          </p:cNvPicPr>
          <p:nvPr/>
        </p:nvPicPr>
        <p:blipFill>
          <a:blip r:embed="rId3"/>
          <a:stretch>
            <a:fillRect/>
          </a:stretch>
        </p:blipFill>
        <p:spPr>
          <a:xfrm>
            <a:off x="2004685" y="1078992"/>
            <a:ext cx="513463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Fig. 3 (a, 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Limitations that motivate the Transformer</a:t>
            </a:r>
          </a:p>
        </p:txBody>
      </p:sp>
      <p:pic>
        <p:nvPicPr>
          <p:cNvPr id="5" name="Picture 4" descr="Limitations that motivate the Transformer"/>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Self-attention: the core move</a:t>
            </a:r>
          </a:p>
        </p:txBody>
      </p:sp>
      <p:pic>
        <p:nvPicPr>
          <p:cNvPr id="5" name="Picture 4" descr="Self-attention: the core move"/>
          <p:cNvPicPr>
            <a:picLocks noChangeAspect="1"/>
          </p:cNvPicPr>
          <p:nvPr/>
        </p:nvPicPr>
        <p:blipFill>
          <a:blip r:embed="rId3"/>
          <a:stretch>
            <a:fillRect/>
          </a:stretch>
        </p:blipFill>
        <p:spPr>
          <a:xfrm>
            <a:off x="2148538" y="1078992"/>
            <a:ext cx="48469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same computation, drawn</a:t>
            </a:r>
          </a:p>
        </p:txBody>
      </p:sp>
      <p:pic>
        <p:nvPicPr>
          <p:cNvPr id="5" name="Picture 4" descr="The same computation, drawn"/>
          <p:cNvPicPr>
            <a:picLocks noChangeAspect="1"/>
          </p:cNvPicPr>
          <p:nvPr/>
        </p:nvPicPr>
        <p:blipFill>
          <a:blip r:embed="rId3"/>
          <a:stretch>
            <a:fillRect/>
          </a:stretch>
        </p:blipFill>
        <p:spPr>
          <a:xfrm>
            <a:off x="2449626" y="1078992"/>
            <a:ext cx="42447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All pairs at once, and the causal mask</a:t>
            </a:r>
          </a:p>
        </p:txBody>
      </p:sp>
      <p:pic>
        <p:nvPicPr>
          <p:cNvPr id="5" name="Picture 4" descr="All pairs at once, and the causal mask"/>
          <p:cNvPicPr>
            <a:picLocks noChangeAspect="1"/>
          </p:cNvPicPr>
          <p:nvPr/>
        </p:nvPicPr>
        <p:blipFill>
          <a:blip r:embed="rId3"/>
          <a:stretch>
            <a:fillRect/>
          </a:stretch>
        </p:blipFill>
        <p:spPr>
          <a:xfrm>
            <a:off x="2114150" y="1078992"/>
            <a:ext cx="49157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8.9-8.10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concretely</a:t>
            </a:r>
          </a:p>
        </p:txBody>
      </p:sp>
      <p:pic>
        <p:nvPicPr>
          <p:cNvPr id="5" name="Picture 4" descr="Multi-head, concretely"/>
          <p:cNvPicPr>
            <a:picLocks noChangeAspect="1"/>
          </p:cNvPicPr>
          <p:nvPr/>
        </p:nvPicPr>
        <p:blipFill>
          <a:blip r:embed="rId3"/>
          <a:stretch>
            <a:fillRect/>
          </a:stretch>
        </p:blipFill>
        <p:spPr>
          <a:xfrm>
            <a:off x="2060555" y="1078992"/>
            <a:ext cx="50228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But attention has no sense of order</a:t>
            </a:r>
          </a:p>
        </p:txBody>
      </p:sp>
      <p:pic>
        <p:nvPicPr>
          <p:cNvPr id="5" name="Picture 4" descr="But attention has no sense of order"/>
          <p:cNvPicPr>
            <a:picLocks noChangeAspect="1"/>
          </p:cNvPicPr>
          <p:nvPr/>
        </p:nvPicPr>
        <p:blipFill>
          <a:blip r:embed="rId3"/>
          <a:stretch>
            <a:fillRect/>
          </a:stretch>
        </p:blipFill>
        <p:spPr>
          <a:xfrm>
            <a:off x="274320" y="1752076"/>
            <a:ext cx="8595360" cy="224285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simple fix: add position embeddings</a:t>
            </a:r>
          </a:p>
        </p:txBody>
      </p:sp>
      <p:pic>
        <p:nvPicPr>
          <p:cNvPr id="5" name="Picture 4" descr="The simple fix: add position embeddings"/>
          <p:cNvPicPr>
            <a:picLocks noChangeAspect="1"/>
          </p:cNvPicPr>
          <p:nvPr/>
        </p:nvPicPr>
        <p:blipFill>
          <a:blip r:embed="rId3"/>
          <a:stretch>
            <a:fillRect/>
          </a:stretch>
        </p:blipFill>
        <p:spPr>
          <a:xfrm>
            <a:off x="919025" y="1078992"/>
            <a:ext cx="73059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2 and 3 in the notebook</a:t>
            </a:r>
          </a:p>
          <a:p>
            <a:pPr algn="ctr" marL="0" indent="0">
              <a:buNone/>
            </a:pPr>
            <a:r>
              <a:rPr sz="2000">
                <a:solidFill>
                  <a:srgbClr val="222222"/>
                </a:solidFill>
              </a:rPr>
              <a:t>A real transformer.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The full Transformer, assembled</a:t>
            </a:r>
          </a:p>
        </p:txBody>
      </p:sp>
      <p:pic>
        <p:nvPicPr>
          <p:cNvPr id="5" name="Picture 4" descr="Video: The Transformer (HF). Opens https://www.youtube.com/watch?v=H39Z_720T5s">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The Transformer (HF)</a:t>
            </a:r>
          </a:p>
        </p:txBody>
      </p:sp>
      <p:pic>
        <p:nvPicPr>
          <p:cNvPr id="7" name="Picture 6" descr="The full Transformer, assembled"/>
          <p:cNvPicPr>
            <a:picLocks noChangeAspect="1"/>
          </p:cNvPicPr>
          <p:nvPr/>
        </p:nvPicPr>
        <p:blipFill>
          <a:blip r:embed="rId5"/>
          <a:stretch>
            <a:fillRect/>
          </a:stretch>
        </p:blipFill>
        <p:spPr>
          <a:xfrm>
            <a:off x="3437984" y="1207008"/>
            <a:ext cx="2268032"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decoder, or both?</a:t>
            </a:r>
          </a:p>
        </p:txBody>
      </p:sp>
      <p:pic>
        <p:nvPicPr>
          <p:cNvPr id="5" name="Picture 4" descr="Encoder, decoder, or both?"/>
          <p:cNvPicPr>
            <a:picLocks noChangeAspect="1"/>
          </p:cNvPicPr>
          <p:nvPr/>
        </p:nvPicPr>
        <p:blipFill>
          <a:blip r:embed="rId3"/>
          <a:stretch>
            <a:fillRect/>
          </a:stretch>
        </p:blipFill>
        <p:spPr>
          <a:xfrm>
            <a:off x="684474" y="1078992"/>
            <a:ext cx="77750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Transformer won</a:t>
            </a:r>
          </a:p>
        </p:txBody>
      </p:sp>
      <p:pic>
        <p:nvPicPr>
          <p:cNvPr id="5" name="Picture 4" descr="Why the Transformer won"/>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you go and poke at a real one."/>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Experiment on a language model</a:t>
            </a:r>
          </a:p>
        </p:txBody>
      </p:sp>
      <p:pic>
        <p:nvPicPr>
          <p:cNvPr id="5" name="Picture 4" descr="Experiment on a language model"/>
          <p:cNvPicPr>
            <a:picLocks noChangeAspect="1"/>
          </p:cNvPicPr>
          <p:nvPr/>
        </p:nvPicPr>
        <p:blipFill>
          <a:blip r:embed="rId3"/>
          <a:stretch>
            <a:fillRect/>
          </a:stretch>
        </p:blipFill>
        <p:spPr>
          <a:xfrm>
            <a:off x="274320" y="1547777"/>
            <a:ext cx="8595360" cy="265145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distilbert-base-uncased and distilgpt2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