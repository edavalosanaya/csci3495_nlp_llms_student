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Cajal drew the cortex by hand in 1899: layers of tiny units, all wired to each other. Ask the class what survives when we shrink one of those cells down to w·x + b.</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Logistic regression's boundary w·x + b = 0 is a single straight line, however you train it. Search every orientation and the best line still gets 8 of these 24 points wrong; one closed curve gets none. This is why a hidden layer exists. Stacking straight cuts buys you a boundary that bends.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unit computes z = w·x + b, then a nonlinear activation a = g(z). Logistic regression is one neuron with g = sigmoid. X = input features (e.g. an averaged word embedding); w, b are learned; g = ReLU / tanh / sigmoid.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2-layer feedforward net and its math, side by side: W and U are the weight matrices, the gray +1 node carries the biases b, and each layer is one line of algebra. The worked softmax shows score 3.2 grabbing 74% of the probability.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Sigmoid, tanh, and ReLU. Without a nonlinearity, stacked linear layers collapse to one linear layer. ReLU is the modern default: no saturation for z &gt; 0 and trivially cheap to compute.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Bookmark this slide: every feedforward classifier this term is these three lines. The book writes sigma for ANY activation (sigmoid, tanh, ReLU).</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word's one-hot picks its row of the shared embedding matrix E; pooling (mean or sum) squeezes the N embeddings into one input vector. Fast, cheap, and a surprisingly strong baseline (Iyyer et al. 2015).</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previous slide said each word's one-hot picks its row of E. This is that sentence as a picture, because it is the step students most often take on faith. E is the embedding table: one row per vocabulary word, so it is |V| rows by d columns, and in a real model that is something like 50,000 by 300. To embed the word film, write it as a one-hot vector of length |V|, all zeros except a 1 in film's position, and multiply. Every other row gets multiplied by zero and vanishes, so what comes out is exactly row film, and nothing else in E contributed. Two things follow, and they are the reason this slide exists. First, no framework actually does that multiply: it is a table lookup by index, which is what nn.Embedding is, and the one-hot is just the notation for it. Second, E is made of ordinary parameters, so backprop updates the rows of the words that appeared in the batch, which is what "learning the embeddings" means on the slide two ahead.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"dog bites man" and "man bites dog" give the same averaged vector, word order is lost. To capture order, negation scope and syntax you need a model that reads in sequence, which is where the course goes next. It is also a lever in the exercise: max pooling keeps the strongest signal instead of diluting it.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feedforward language model concatenates the context embeddings side by side, so each position keeps its identity, and predicts the next word. The catch: the window is stuck at N words.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Everyone into today's lab.ipynb. Two thousand real film reviews, and the first job is the one the last four slides described: look up a row per word, average the rows, and you have a fixed-size vector for a variable-length document. Part 2 builds the network and prints the shape at every step. Make them read the shapes out loud; (4, 150) becomes (4, 150, 8) becomes (4, 8) becomes (4, 2), and that is the whole architecture.</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First the mechanics, because the animation assumes them: the gradient points uphill, so you step the opposite way, and the learning rate sets how far. Steps shrink on their own as the slope flattens, which is why the balls slow down near the bottom. Now the point of the picture. Both runs are the same algorithm on the same surface, and they start a third of a unit apart. One ends in the deep well at loss -3.04, the other in the shallow one at -1.67 and cannot get out, because every direction out of it is uphill and uphill is the one direction gradient descent will not go. So the honest summary is that gradient descent finds A minimum, not THE minimum, and which one depends on where the weights happened to be initialised. Do add the caveat if it comes up, because the naive version of this scares people: in the millions of dimensions a real network has, bad local minima turn out to be rare, saddle points are the more common obstacle, and the minima that SGD actually reaches tend to have similar loss to one another. This two-dimensional picture is the right intuition for what the algorithm can and cannot do, not a warning that training is a lottery.</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same four lines they have written before, now over a real classifier, and then F1 rather than accuracy because a model that always guesses one class should score badly. It lands at 0.584 on validation. Then run the bag-of-words baseline in the next cell: logistic regression on word counts gets 0.852. Sit with that for a moment. The neural network loses to counting, and fixing that is the whole second half of the class.</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thirty minutes. Everything is one dictionary called CONFIG and every number in it is deliberately bad. Two rules that matter. Tune on validation, and the test set gets run once, at the end, together. Anyone who tunes against test has stopped measuring anything. Put a column on the board and write scores up as they are called; the leaderboard is most of the fun.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Show the starting model, name the one thing wrong with it, and get out of the way. It has no hidden layer, so it is the straight cut from the start of class, and putting one in is worth 0.17 on its own. Do not tell them what else matters. MAX_WORDS is the sleeper: it is worth almost nothing until the model has the capacity to use the extra text, so a team that tries it early, gets nothing and abandons it has found the best discussion point of the day.</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seq2seq (Sutskever, Vinyals &amp; Le, 2014), the only quizzed reading. J&amp;M Ch. 6 &amp; 13 are optional. HW2 is out today, due W7C1.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4.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Neural Networks for NLP</a:t>
            </a:r>
          </a:p>
        </p:txBody>
      </p:sp>
      <p:sp>
        <p:nvSpPr>
          <p:cNvPr id="3" name="Subtitle 2"/>
          <p:cNvSpPr>
            <a:spLocks noGrp="1"/>
          </p:cNvSpPr>
          <p:nvPr>
            <p:ph type="subTitle" idx="1"/>
          </p:nvPr>
        </p:nvSpPr>
        <p:spPr>
          <a:xfrm>
            <a:off x="493926" y="3549825"/>
            <a:ext cx="5312514" cy="970800"/>
          </a:xfrm>
        </p:spPr>
        <p:txBody>
          <a:bodyPr wrap="square"/>
          <a:lstStyle/>
          <a:p>
            <a:pPr marL="0" indent="0">
              <a:buNone/>
            </a:pPr>
            <a:r>
              <a:t>Natural Language Processing &amp; Large Language Models</a:t>
            </a:r>
          </a:p>
          <a:p>
            <a:pPr marL="0" indent="0">
              <a:buNone/>
            </a:pPr>
            <a:r>
              <a:t>Week 6, Class 1  ·  Mon Sep 28, 2026</a:t>
            </a:r>
          </a:p>
        </p:txBody>
      </p:sp>
      <p:pic>
        <p:nvPicPr>
          <p:cNvPr id="5" name="Picture 4" descr="Neural Networks for NLP"/>
          <p:cNvPicPr>
            <a:picLocks noChangeAspect="1"/>
          </p:cNvPicPr>
          <p:nvPr/>
        </p:nvPicPr>
        <p:blipFill>
          <a:blip r:embed="rId3"/>
          <a:stretch>
            <a:fillRect/>
          </a:stretch>
        </p:blipFill>
        <p:spPr>
          <a:xfrm>
            <a:off x="6035040" y="3549995"/>
            <a:ext cx="2743200" cy="133077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Santiago Ramon y Cajal (1899), detail, Wikimedia Commons, public domain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straight cut is not enough</a:t>
            </a:r>
          </a:p>
        </p:txBody>
      </p:sp>
      <p:pic>
        <p:nvPicPr>
          <p:cNvPr id="5" name="Picture 4" descr="One straight cut is not enough"/>
          <p:cNvPicPr>
            <a:picLocks noChangeAspect="1"/>
          </p:cNvPicPr>
          <p:nvPr/>
        </p:nvPicPr>
        <p:blipFill>
          <a:blip r:embed="rId3"/>
          <a:stretch>
            <a:fillRect/>
          </a:stretch>
        </p:blipFill>
        <p:spPr>
          <a:xfrm>
            <a:off x="453830" y="1078992"/>
            <a:ext cx="82363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neuron</a:t>
            </a:r>
          </a:p>
        </p:txBody>
      </p:sp>
      <p:pic>
        <p:nvPicPr>
          <p:cNvPr id="5" name="Picture 4" descr="The neuron"/>
          <p:cNvPicPr>
            <a:picLocks noChangeAspect="1"/>
          </p:cNvPicPr>
          <p:nvPr/>
        </p:nvPicPr>
        <p:blipFill>
          <a:blip r:embed="rId3"/>
          <a:stretch>
            <a:fillRect/>
          </a:stretch>
        </p:blipFill>
        <p:spPr>
          <a:xfrm>
            <a:off x="274320" y="1462813"/>
            <a:ext cx="8595360" cy="282137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Stacking neurons into an MLP</a:t>
            </a:r>
          </a:p>
        </p:txBody>
      </p:sp>
      <p:pic>
        <p:nvPicPr>
          <p:cNvPr id="5" name="Picture 4" descr="Stacking neurons into an MLP"/>
          <p:cNvPicPr>
            <a:picLocks noChangeAspect="1"/>
          </p:cNvPicPr>
          <p:nvPr/>
        </p:nvPicPr>
        <p:blipFill>
          <a:blip r:embed="rId3"/>
          <a:stretch>
            <a:fillRect/>
          </a:stretch>
        </p:blipFill>
        <p:spPr>
          <a:xfrm>
            <a:off x="274320" y="1400493"/>
            <a:ext cx="8595360" cy="2946017"/>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6.8, Eqs. 6.8-6.11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Activations: why nonlinearity matters</a:t>
            </a:r>
          </a:p>
        </p:txBody>
      </p:sp>
      <p:pic>
        <p:nvPicPr>
          <p:cNvPr id="5" name="Picture 4" descr="Activations: why nonlinearity matters"/>
          <p:cNvPicPr>
            <a:picLocks noChangeAspect="1"/>
          </p:cNvPicPr>
          <p:nvPr/>
        </p:nvPicPr>
        <p:blipFill>
          <a:blip r:embed="rId3"/>
          <a:stretch>
            <a:fillRect/>
          </a:stretch>
        </p:blipFill>
        <p:spPr>
          <a:xfrm>
            <a:off x="274320" y="1553980"/>
            <a:ext cx="8595360" cy="2639044"/>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whole network, in three equations</a:t>
            </a:r>
          </a:p>
        </p:txBody>
      </p:sp>
      <p:pic>
        <p:nvPicPr>
          <p:cNvPr id="5" name="Picture 4" descr="The whole network, in three equations"/>
          <p:cNvPicPr>
            <a:picLocks noChangeAspect="1"/>
          </p:cNvPicPr>
          <p:nvPr/>
        </p:nvPicPr>
        <p:blipFill>
          <a:blip r:embed="rId3"/>
          <a:stretch>
            <a:fillRect/>
          </a:stretch>
        </p:blipFill>
        <p:spPr>
          <a:xfrm>
            <a:off x="274320" y="1097351"/>
            <a:ext cx="8595360" cy="355230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Eq. 6.12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From text to a vector: pool the embeddings</a:t>
            </a:r>
          </a:p>
        </p:txBody>
      </p:sp>
      <p:pic>
        <p:nvPicPr>
          <p:cNvPr id="5" name="Picture 4" descr="From text to a vector: pool the embeddings"/>
          <p:cNvPicPr>
            <a:picLocks noChangeAspect="1"/>
          </p:cNvPicPr>
          <p:nvPr/>
        </p:nvPicPr>
        <p:blipFill>
          <a:blip r:embed="rId3"/>
          <a:stretch>
            <a:fillRect/>
          </a:stretch>
        </p:blipFill>
        <p:spPr>
          <a:xfrm>
            <a:off x="2578292" y="1078992"/>
            <a:ext cx="398741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word in, one row out</a:t>
            </a:r>
          </a:p>
        </p:txBody>
      </p:sp>
      <p:pic>
        <p:nvPicPr>
          <p:cNvPr id="5" name="Picture 4" descr="One word in, one row out"/>
          <p:cNvPicPr>
            <a:picLocks noChangeAspect="1"/>
          </p:cNvPicPr>
          <p:nvPr/>
        </p:nvPicPr>
        <p:blipFill>
          <a:blip r:embed="rId3"/>
          <a:stretch>
            <a:fillRect/>
          </a:stretch>
        </p:blipFill>
        <p:spPr>
          <a:xfrm>
            <a:off x="274320" y="1198135"/>
            <a:ext cx="8595360" cy="33507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Jurafsky &amp; Martin, SLP3 (Jan 2026 draft), Ch. 6.8 notation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pooling throws away</a:t>
            </a:r>
          </a:p>
        </p:txBody>
      </p:sp>
      <p:pic>
        <p:nvPicPr>
          <p:cNvPr id="5" name="Picture 4" descr="What pooling throws away"/>
          <p:cNvPicPr>
            <a:picLocks noChangeAspect="1"/>
          </p:cNvPicPr>
          <p:nvPr/>
        </p:nvPicPr>
        <p:blipFill>
          <a:blip r:embed="rId3"/>
          <a:stretch>
            <a:fillRect/>
          </a:stretch>
        </p:blipFill>
        <p:spPr>
          <a:xfrm>
            <a:off x="274320" y="1226180"/>
            <a:ext cx="8595360" cy="329464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Keep the order: concatenate instead</a:t>
            </a:r>
          </a:p>
        </p:txBody>
      </p:sp>
      <p:pic>
        <p:nvPicPr>
          <p:cNvPr id="5" name="Picture 4" descr="Keep the order: concatenate instead"/>
          <p:cNvPicPr>
            <a:picLocks noChangeAspect="1"/>
          </p:cNvPicPr>
          <p:nvPr/>
        </p:nvPicPr>
        <p:blipFill>
          <a:blip r:embed="rId3"/>
          <a:stretch>
            <a:fillRect/>
          </a:stretch>
        </p:blipFill>
        <p:spPr>
          <a:xfrm>
            <a:off x="2737822" y="1078992"/>
            <a:ext cx="366835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6.14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A review becomes one vector, then a model to feed it 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Gradient descent</a:t>
            </a:r>
          </a:p>
        </p:txBody>
      </p:sp>
      <p:pic>
        <p:nvPicPr>
          <p:cNvPr id="5" name="Picture 4" descr="Gradient descent"/>
          <p:cNvPicPr>
            <a:picLocks noChangeAspect="1"/>
          </p:cNvPicPr>
          <p:nvPr/>
        </p:nvPicPr>
        <p:blipFill>
          <a:blip r:embed="rId3"/>
          <a:stretch>
            <a:fillRect/>
          </a:stretch>
        </p:blipFill>
        <p:spPr>
          <a:xfrm>
            <a:off x="366117" y="1078992"/>
            <a:ext cx="84117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scripts/viz/make_nonconvex_gif.py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7C2529"/>
                </a:solidFill>
              </a:rPr>
              <a:t>Let's walk through Part 3 in the notebook</a:t>
            </a:r>
          </a:p>
          <a:p>
            <a:pPr algn="ctr" marL="0" indent="0">
              <a:buNone/>
            </a:pPr>
            <a:r>
              <a:rPr sz="2000">
                <a:solidFill>
                  <a:srgbClr val="222222"/>
                </a:solidFill>
              </a:rPr>
              <a:t>Train it, score it, and find out it is bad.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MLP classifier lab."/>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Beat the baseline</a:t>
            </a:r>
          </a:p>
        </p:txBody>
      </p:sp>
      <p:pic>
        <p:nvPicPr>
          <p:cNvPr id="5" name="Picture 4" descr="Beat the baseline"/>
          <p:cNvPicPr>
            <a:picLocks noChangeAspect="1"/>
          </p:cNvPicPr>
          <p:nvPr/>
        </p:nvPicPr>
        <p:blipFill>
          <a:blip r:embed="rId3"/>
          <a:stretch>
            <a:fillRect/>
          </a:stretch>
        </p:blipFill>
        <p:spPr>
          <a:xfrm>
            <a:off x="274320" y="1496788"/>
            <a:ext cx="8595360" cy="27534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scores measured on the notebook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model you start from has no hidden layer</a:t>
            </a:r>
          </a:p>
        </p:txBody>
      </p:sp>
      <p:pic>
        <p:nvPicPr>
          <p:cNvPr id="5" name="Picture 4" descr="The model you start from has no hidden layer"/>
          <p:cNvPicPr>
            <a:picLocks noChangeAspect="1"/>
          </p:cNvPicPr>
          <p:nvPr/>
        </p:nvPicPr>
        <p:blipFill>
          <a:blip r:embed="rId3"/>
          <a:stretch>
            <a:fillRect/>
          </a:stretch>
        </p:blipFill>
        <p:spPr>
          <a:xfrm>
            <a:off x="274320" y="1434872"/>
            <a:ext cx="8595360" cy="287726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starting model in today's notebook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Reading &amp; homework</a:t>
            </a:r>
          </a:p>
        </p:txBody>
      </p:sp>
      <p:pic>
        <p:nvPicPr>
          <p:cNvPr id="5" name="Picture 4" descr="Reading &amp; homework"/>
          <p:cNvPicPr>
            <a:picLocks noChangeAspect="1"/>
          </p:cNvPicPr>
          <p:nvPr/>
        </p:nvPicPr>
        <p:blipFill>
          <a:blip r:embed="rId3"/>
          <a:stretch>
            <a:fillRect/>
          </a:stretch>
        </p:blipFill>
        <p:spPr>
          <a:xfrm>
            <a:off x="289647" y="1078992"/>
            <a:ext cx="85647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resources/landmark-papers.md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