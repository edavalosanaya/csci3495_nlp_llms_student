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Neural Networks for NLP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1  ·  Mon Sep 28, 2026</a:t>
            </a:r>
          </a:p>
        </p:txBody>
      </p:sp>
      <p:pic>
        <p:nvPicPr>
          <p:cNvPr id="5" name="Picture 4" descr="Neural Networks for NL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549995"/>
            <a:ext cx="2743200" cy="13307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Santiago Ramon y Cajal (1899), detail, Wikimedia Commons, public domain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straight cut is not enough</a:t>
            </a:r>
          </a:p>
        </p:txBody>
      </p:sp>
      <p:pic>
        <p:nvPicPr>
          <p:cNvPr id="5" name="Picture 4" descr="One straight cut is not enoug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830" y="1078992"/>
            <a:ext cx="823634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neuron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60906"/>
            <a:ext cx="1741932" cy="2225192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2024253"/>
            <a:ext cx="1412748" cy="1896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INPUTS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x1 x2 x3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66431" y="2718054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619756" y="1760906"/>
            <a:ext cx="1741932" cy="2225192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84348" y="2024253"/>
            <a:ext cx="1412748" cy="1896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WEIGHTED SUM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z = Wx + 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28987" y="2718054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782312" y="1760906"/>
            <a:ext cx="1741932" cy="2225192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2024253"/>
            <a:ext cx="1412748" cy="1896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NONLINEARITY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g(z)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91543" y="2718054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944868" y="1760906"/>
            <a:ext cx="1741932" cy="2225192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09460" y="2024253"/>
            <a:ext cx="1412748" cy="1896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OUTPUT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Stacking neurons into an MLP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W connects input i to unit j, applied element-wise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4535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4535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1994535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U maps h to one real number per class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0078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0078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SOFTMAX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910078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turns those scores into a probability distribution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25621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25621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FOR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825621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z = [0.6, 1.1, -1.5, 1.2, 3.2, -1.1]  -&gt;  0.74 on the fifth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6.8, Eqs. 6.8-6.11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Activations: why nonlinearity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2645664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2279904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SIGMOID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range (0, 1)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saturates at both 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272220"/>
            <a:ext cx="2645664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418524"/>
            <a:ext cx="2279904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TANH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range (-1, 1)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zero-centred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272220"/>
            <a:ext cx="2645664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418524"/>
            <a:ext cx="2279904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RELU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max(0, z)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cheap, and the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network, in three equations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HIDDEN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0">
                <a:solidFill>
                  <a:srgbClr val="1D1D1F"/>
                </a:solidFill>
                <a:latin typeface="Menlo"/>
              </a:rPr>
              <a:t>h = g(Wx + 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4535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4535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OUTPUT SCORES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1994535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0">
                <a:solidFill>
                  <a:srgbClr val="1D1D1F"/>
                </a:solidFill>
                <a:latin typeface="Menlo"/>
              </a:rPr>
              <a:t>z = Uh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0078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0078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PROBABILITIES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910078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0">
                <a:solidFill>
                  <a:srgbClr val="1D1D1F"/>
                </a:solidFill>
                <a:latin typeface="Menlo"/>
              </a:rPr>
              <a:t>y = softmax(z)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25621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25621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825621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0">
                <a:solidFill>
                  <a:srgbClr val="1D1D1F"/>
                </a:solidFill>
                <a:latin typeface="Menlo"/>
              </a:rPr>
              <a:t>x is d, W is dh x d, U is nc x dh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Eq. 6.12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From text to a vector: pool the embeddings</a:t>
            </a:r>
          </a:p>
        </p:txBody>
      </p:sp>
      <p:pic>
        <p:nvPicPr>
          <p:cNvPr id="5" name="Picture 4" descr="From text to a vector: pool the embedd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292" y="1078992"/>
            <a:ext cx="398741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6.13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 in, one row 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5102351" cy="2834640"/>
        </p:xfrm>
        <a:graphic>
          <a:graphicData uri="http://schemas.openxmlformats.org/drawingml/2006/table">
            <a:tbl>
              <a:tblPr firstRow="1" bandRow="0"/>
              <a:tblGrid>
                <a:gridCol w="1326611"/>
                <a:gridCol w="1258580"/>
                <a:gridCol w="1258580"/>
                <a:gridCol w="1258580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WORD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the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0.02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0.11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-0.05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film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0.21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-0.30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0.85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was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-0.07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0.16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0.09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brilliant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0.64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0.77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-0.12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456182"/>
            <a:ext cx="276148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ONE-HOT TIMES E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A one-hot for "film" times E does not compute anything.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It selects the "film" row: 0.21, -0.30, 0.85.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Jurafsky &amp; Martin, SLP3 (Jan 2026 draft), Ch. 6.8 notation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pooling throws away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23827"/>
            <a:ext cx="4041648" cy="899350"/>
          </a:xfrm>
          <a:prstGeom prst="roundRect">
            <a:avLst>
              <a:gd name="adj" fmla="val 132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70131"/>
            <a:ext cx="3675888" cy="6067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DOG BITES MAN</a:t>
            </a:r>
          </a:p>
          <a:p>
            <a:pPr marL="0" indent="0">
              <a:spcAft>
                <a:spcPts val="300"/>
              </a:spcAft>
              <a:buNone/>
            </a:pPr>
            <a:r>
              <a:rPr sz="1650" b="0" u="none">
                <a:solidFill>
                  <a:srgbClr val="1D1D1F"/>
                </a:solidFill>
                <a:latin typeface="Menlo"/>
              </a:rPr>
              <a:t>average of the three vectors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423827"/>
            <a:ext cx="4041648" cy="899350"/>
          </a:xfrm>
          <a:prstGeom prst="roundRect">
            <a:avLst>
              <a:gd name="adj" fmla="val 132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570131"/>
            <a:ext cx="3675888" cy="6067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MAN BITES DOG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650" b="0" u="none">
                <a:solidFill>
                  <a:srgbClr val="1D1D1F"/>
                </a:solidFill>
                <a:latin typeface="Menlo"/>
              </a:rPr>
              <a:t>the same average, exactly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Keep the order: concatenate instead</a:t>
            </a:r>
          </a:p>
        </p:txBody>
      </p:sp>
      <p:pic>
        <p:nvPicPr>
          <p:cNvPr id="5" name="Picture 4" descr="Keep the order: concatenate inste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7822" y="1078992"/>
            <a:ext cx="3668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6.14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Let's walk through Parts 1 and 2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A review becomes one vector, then a model to feed it 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Gradient descent</a:t>
            </a:r>
          </a:p>
        </p:txBody>
      </p:sp>
      <p:pic>
        <p:nvPicPr>
          <p:cNvPr id="5" name="Picture 4" descr="Gradient desc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17" y="1078992"/>
            <a:ext cx="841176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animation, scripts/viz/make_nonconvex_gif.py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3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Train it, score it, and find out it is bad.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MLP classifier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Beat the baseline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You start at 0.466. A linear model, no hidden layer at 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Counting words gets 0.852. Beat it and you have earned the network.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Tune on val. Call a score out and it goes on the 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test runs once, when time is called. That number is the one that counts.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scores measured on the notebook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model you start from has no hidden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5311"/>
            <a:ext cx="8229600" cy="3117596"/>
          </a:xfrm>
          <a:prstGeom prst="roundRect">
            <a:avLst>
              <a:gd name="adj" fmla="val 3519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25075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25075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25075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515935"/>
            <a:ext cx="7607808" cy="24409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class MyModel(nn.Module):</a:t>
            </a:r>
          </a:p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    def __init__(self, vocabulary):</a:t>
            </a:r>
          </a:p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        self.embedding = nn.Embedding(len(vocabulary), 8)</a:t>
            </a:r>
          </a:p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        self.output = nn.Linear(8, 2)</a:t>
            </a:r>
          </a:p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 </a:t>
            </a:r>
          </a:p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    def forward(self, ids, mask):</a:t>
            </a:r>
          </a:p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        pooled = pool_mean(self.embedding(ids), mask)</a:t>
            </a:r>
          </a:p>
          <a:p>
            <a:pPr marL="0" indent="0" algn="l">
              <a:lnSpc>
                <a:spcPts val="2402"/>
              </a:lnSpc>
              <a:spcAft>
                <a:spcPts val="0"/>
              </a:spcAft>
              <a:buNone/>
            </a:pPr>
            <a:r>
              <a:rPr sz="1550" b="0">
                <a:solidFill>
                  <a:srgbClr val="F5F5F7"/>
                </a:solidFill>
                <a:latin typeface="Menlo"/>
              </a:rPr>
              <a:t>        return self.output(pooled)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40923"/>
            <a:ext cx="7607808" cy="4387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Menlo"/>
              </a:rPr>
              <a:t>no hidden layer, no nonlinearity: one straight cut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the starting model in today's notebook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Six levers, and one of them beats the 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Give it a hidden layer and a ReLU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240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69240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69240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Wider. Deeper. Where does it stop helping?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0581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30581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30581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Pool differently: pool_max, or both joined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1922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291922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291922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Start from GloVe: glove_rows(vocab)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3263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353263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53263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Add nn.Dropout or nn.LayerNorm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4604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4944" y="414604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4604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Four settings at the top. One beats all of these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&amp; homework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6995"/>
            <a:ext cx="4041648" cy="993013"/>
          </a:xfrm>
          <a:prstGeom prst="roundRect">
            <a:avLst>
              <a:gd name="adj" fmla="val 119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23299"/>
            <a:ext cx="3675888" cy="700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050" b="1" spc="70">
                <a:solidFill>
                  <a:srgbClr val="86868B"/>
                </a:solidFill>
                <a:latin typeface="Helvetica Neue"/>
              </a:rPr>
              <a:t>READ BEFORE NEXT CLASS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50" b="0" u="none">
                <a:solidFill>
                  <a:srgbClr val="1D1D1F"/>
                </a:solidFill>
                <a:latin typeface="Menlo"/>
              </a:rPr>
              <a:t>seq2seq, Sutskever, Vinyals &amp; Le (2014)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50" b="0">
                <a:solidFill>
                  <a:srgbClr val="86868B"/>
                </a:solidFill>
                <a:latin typeface="Helvetica Neue"/>
              </a:rPr>
              <a:t>The only quizzed reading. Quiz 4 next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76995"/>
            <a:ext cx="4041648" cy="993013"/>
          </a:xfrm>
          <a:prstGeom prst="roundRect">
            <a:avLst>
              <a:gd name="adj" fmla="val 119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523299"/>
            <a:ext cx="3675888" cy="700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050" b="1" spc="70">
                <a:solidFill>
                  <a:srgbClr val="86868B"/>
                </a:solidFill>
                <a:latin typeface="Helvetica Neue"/>
              </a:rPr>
              <a:t>HOMEWORK 2 IS OUT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50" b="0" u="none">
                <a:solidFill>
                  <a:srgbClr val="1D1D1F"/>
                </a:solidFill>
                <a:latin typeface="Menlo"/>
              </a:rPr>
              <a:t>Text classification &amp; embeddings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50" b="0">
                <a:solidFill>
                  <a:srgbClr val="86868B"/>
                </a:solidFill>
                <a:latin typeface="Helvetica Neue"/>
              </a:rPr>
              <a:t>Builds on today's MLP. Due W7C1, so start early.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resources/landmark-papers.md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