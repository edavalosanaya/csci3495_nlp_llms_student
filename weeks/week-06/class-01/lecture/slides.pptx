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chameleon takes its color from its surroundings. Ask the class: which word in English does the same?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steps. Why static embeddings hit a wall, what a contextual representation is, ELMo as the first big answer, the pretrain then finetune paradigm that came with it, a live demo on word sense, and a jigsaw teach-back to close.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weeks in a line: word vectors, then sequences, then attention, and now context. This is the week the course crosses into the LLM era, because this is where reusable general-purpose language knowledge starts.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one or two answers. Bank, bat, lead, spring. Everyone knows the answer is no, and yet every vector we have built so far says yes.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Word2vec and GloVe: one fixed vector per word, looked up every time. One vector must average together all senses of a word. Real structure lives in that table. But bank gets the same row in every sentence, river or money, no way to tell.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static model is a card catalog: look up "bank", get the SAME card back every time, no matter which sentence you came from.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"river bank" and "savings bank" collapse to the same static vector. The meaning lives in the context, which static vectors throw away. A deep language model reads the whole sentence, so each token gets a representation that depends on its neighbors. Pretrain once, then transfer to many tasks.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Yes, that is THE Elmo, the diagram the internet learned this from. A forward LSTM LM reads left to right, a backward one reads right to left, two layers each; every word gets hidden states from BOTH directions. The conceptual leap from word2vec: the hidden states ARE the representations.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contextual embedding is built: concatenate each layer's forward and backward states, weight each layer (s_0, s_1, s_2 are learned per task), and sum. The result is the embedding of "stick" in THIS sentence. Bidirectional LSTM language model; representation = learned mix of all layers.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ELMo's empirical finding: lower layers capture syntax, higher layers capture word sense. Each downstream task learns its own layer weights to pull out what it needs.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GloVe's neighbors are stuck in sports; the biLM retrieves a sentence matching EACH sense of "play.".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forward LM and a backward LM, trained independently, then concatenated.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Pretrain once on cheap unlabeled text; reuse the features across many tasks. Transfer learning for NLP, finally working at scale, little labeled data needed per task. The expensive part is already paid for.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Feature-based (ELMo) freezes the model; fine-tuning (BERT, GPT) keeps training it. Both start from self-supervised language-model pretraining.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training signal comes from the text itself: predict the missing word. Predicting the next or missing word needs zero labels. The internet is a near infinite supply of such examples.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2018 flipped the default: start from a pretrained model, then finetune. One recipe, many problems, the road to today's LLMs.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frozen biLM, six different tasks: every baseline jumps past the prior state of the art.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problems, and both get fixed next class. It is still an LSTM, so word five waits on word four and the GPU idles. And its bidirectionality is shallow: two separate language models glued together at the end, never one model that genuinely sees both sides at once.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Static cosine = 1.000 (identical); contextual cosine is lower (sense-dependent). Two functions to write: the contextual vector and the static vector. The static vector cannot tell the two senses apart. The contextual one can. Expect: static == 1.000 (identical), contextual &lt; static (sense dependent).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Static gives one vector per word and cannot tell two senses apart. Contextual computes a vector per token from the whole sentence. ELMo does that with a deep biLSTM and combines all the layers. And pretrain then finetune is the paradigm that makes it reusable. Next class, BERT. Next class: BERT and masked language modeling plus Quiz 6 on the week's reading.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Contextual Representations &amp; Transfer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37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1  ·  Wed Sep 30, 2026</a:t>
            </a:r>
          </a:p>
        </p:txBody>
      </p:sp>
      <p:pic>
        <p:nvPicPr>
          <p:cNvPr id="5" name="Picture 4" descr="Contextual Representations &amp; Transfer Le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3474720"/>
            <a:ext cx="222199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Charles J. Sharp,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01" y="1078992"/>
            <a:ext cx="809759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Wikimedia Commons (CC BY-SA 3.0), Unsplash; ELMo diagram: Jay Alammar (jalammar.github.io)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we are in the course</a:t>
            </a:r>
          </a:p>
        </p:txBody>
      </p:sp>
      <p:pic>
        <p:nvPicPr>
          <p:cNvPr id="5" name="Picture 4" descr="Where we are in the cour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88" y="1078992"/>
            <a:ext cx="785722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figures: SLP3 Figs. 5.9, 13.13; Vaswani 2017 Fig. 1; Jay Alammar (jalammar.github.io)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Meaning lives in context. Hold that thought as we leave static vectors behin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Does a word mean the same thing every time you say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Meaning lives in context. Hold that thought as we leave static vectors behind.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https://images.unsplash.com/photo-1522202176988-66273c2fd55f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with static embeddings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Static word embeddings are frozen</a:t>
            </a:r>
          </a:p>
        </p:txBody>
      </p:sp>
      <p:pic>
        <p:nvPicPr>
          <p:cNvPr id="5" name="Picture 4" descr="Static word embeddings are froz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04" y="1078992"/>
            <a:ext cx="78143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card catalog: one fixed card per word</a:t>
            </a:r>
          </a:p>
        </p:txBody>
      </p:sp>
      <p:pic>
        <p:nvPicPr>
          <p:cNvPr id="5" name="Picture 4" descr="A card catalog: one fixed card per wo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0412" y="1078992"/>
            <a:ext cx="4243176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Dr. Marcus Gossler, Wikimedia Commons, CC BY-SA 3.0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polysemy problem</a:t>
            </a:r>
          </a:p>
        </p:txBody>
      </p:sp>
      <p:pic>
        <p:nvPicPr>
          <p:cNvPr id="5" name="Picture 4" descr="The polysemy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948" y="1078992"/>
            <a:ext cx="850410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Contextual representations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architecture: two LMs, forward and backward</a:t>
            </a:r>
          </a:p>
        </p:txBody>
      </p:sp>
      <p:pic>
        <p:nvPicPr>
          <p:cNvPr id="5" name="Picture 4" descr="ELMo's architecture: two LMs, forward and backw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48" y="1078992"/>
            <a:ext cx="7875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many vectors: mixing the LSTM layers</a:t>
            </a:r>
          </a:p>
        </p:txBody>
      </p:sp>
      <p:pic>
        <p:nvPicPr>
          <p:cNvPr id="5" name="Picture 4" descr="One word, many vectors: mixing the LSTM 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854" y="1078992"/>
            <a:ext cx="69202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combine all the layers?</a:t>
            </a:r>
          </a:p>
        </p:txBody>
      </p:sp>
      <p:pic>
        <p:nvPicPr>
          <p:cNvPr id="5" name="Picture 4" descr="Why combine all the layers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3291"/>
            <a:ext cx="8595360" cy="3560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2018, arXiv:1802.05365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famous "play" test</a:t>
            </a:r>
          </a:p>
        </p:txBody>
      </p:sp>
      <p:pic>
        <p:nvPicPr>
          <p:cNvPr id="5" name="Picture 4" descr="The famous &quot;play&quot; t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6756"/>
            <a:ext cx="8595360" cy="3153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"Shallow" bidirectionality</a:t>
            </a:r>
          </a:p>
        </p:txBody>
      </p:sp>
      <p:pic>
        <p:nvPicPr>
          <p:cNvPr id="5" name="Picture 4" descr="&quot;Shallow&quot; bidirectiona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86" y="1078992"/>
            <a:ext cx="8352628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Pretrain, then finetune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Feature-based transfer</a:t>
            </a:r>
          </a:p>
        </p:txBody>
      </p:sp>
      <p:pic>
        <p:nvPicPr>
          <p:cNvPr id="5" name="Picture 4" descr="Feature-based transf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27337"/>
            <a:ext cx="8595360" cy="3292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flavors of transfer</a:t>
            </a:r>
          </a:p>
        </p:txBody>
      </p:sp>
      <p:pic>
        <p:nvPicPr>
          <p:cNvPr id="5" name="Picture 4" descr="Two flavors of transf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21" y="1078992"/>
            <a:ext cx="76907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Self-supervised pretraining</a:t>
            </a:r>
          </a:p>
        </p:txBody>
      </p:sp>
      <p:pic>
        <p:nvPicPr>
          <p:cNvPr id="5" name="Picture 4" descr="Self-supervised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39" y="1078992"/>
            <a:ext cx="811552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was a turning point</a:t>
            </a:r>
          </a:p>
        </p:txBody>
      </p:sp>
      <p:pic>
        <p:nvPicPr>
          <p:cNvPr id="5" name="Picture 4" descr="Why this was a turning poi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17008"/>
            <a:ext cx="8595360" cy="23129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results</a:t>
            </a:r>
          </a:p>
        </p:txBody>
      </p:sp>
      <p:pic>
        <p:nvPicPr>
          <p:cNvPr id="5" name="Picture 4" descr="ELMo's 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69" y="1078992"/>
            <a:ext cx="820886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Limitations of ELMo</a:t>
            </a:r>
          </a:p>
        </p:txBody>
      </p:sp>
      <p:pic>
        <p:nvPicPr>
          <p:cNvPr id="5" name="Picture 4" descr="Limitations of ELM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00114"/>
            <a:ext cx="8595360" cy="3146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ontextual-embeddings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Measure polysemy live</a:t>
            </a:r>
          </a:p>
        </p:txBody>
      </p:sp>
      <p:pic>
        <p:nvPicPr>
          <p:cNvPr id="5" name="Picture 4" descr="Measure polysemy l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4" y="1078992"/>
            <a:ext cx="778529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prajjwal1/bert-tiny (illustrative values)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19198"/>
            <a:ext cx="8595360" cy="2908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