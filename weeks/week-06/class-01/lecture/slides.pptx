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Cajal drew the cortex by hand in 1899: layers of tiny units, all wired to each other. Ask the class what survives when we shrink one of those cells down to w·x + b.</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Logistic regression's boundary w·x + b = 0 is a single straight line, however you train it. Search every orientation and the best line still gets 8 of these 24 points wrong; one closed curve gets none. This is why a hidden layer exists. Stacking straight cuts buys you a boundary that bends.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unit computes z = w·x + b, then a nonlinear activation a = g(z). Logistic regression is one neuron with g = sigmoid. X = input features (e.g. an averaged word embedding); w, b are learned; g = ReLU / tanh / sigmoid.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2-layer feedforward net and its math, side by side: W and U are the weight matrices, the gray +1 node carries the biases b, and each layer is one line of algebra. The worked softmax shows score 3.2 grabbing 74% of the probability.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Sigmoid, tanh, and ReLU. Without a nonlinearity, stacked linear layers collapse to one linear layer. ReLU is the modern default: no saturation for z &gt; 0 and trivially cheap to compute.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Bookmark this slide: every feedforward classifier this term is these three lines. The book writes sigma for ANY activation (sigmoid, tanh, ReLU).</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word's one-hot picks its row of the shared embedding matrix E; pooling (mean or sum) squeezes the N embeddings into one input vector. Fast, cheap, and a surprisingly strong baseline (Iyyer et al. 2015).</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previous slide said each word's one-hot picks its row of E. This is that sentence as a picture, because it is the step students most often take on faith. E is the embedding table: one row per vocabulary word, so it is |V| rows by d columns, and in a real model that is something like 50,000 by 300. To embed the word film, write it as a one-hot vector of length |V|, all zeros except a 1 in film's position, and multiply. Every other row gets multiplied by zero and vanishes, so what comes out is exactly row film, and nothing else in E contributed. Two things follow, and they are the reason this slide exists. First, no framework actually does that multiply: it is a table lookup by index, which is what nn.Embedding is, and the one-hot is just the notation for it. Second, E is made of ordinary parameters, so backprop updates the rows of the words that appeared in the batch, which is what "learning the embeddings" means on the slide two ahead.</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"dog bites man" and "man bites dog" give the same averaged vector, word order is lost. To capture order, negation scope and syntax you need a model that reads in sequence, which is where the course goes next. It is also a lever in the exercise: max pooling keeps the strongest signal instead of diluting it.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feedforward language model concatenates the context embeddings side by side, so each position keeps its identity, and predicts the next word. The catch: the window is stuck at N words.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Two thousand real film reviews, and the first job is the one the last four slides described: look up a row per word, average the rows, and you have a fixed-size vector for a variable-length document. Part 2 builds the network and prints the shape at every step. Make them read the shapes out loud; (4, 150) becomes (4, 150, 8) becomes (4, 8) becomes (4, 2), and that is the whole architecture.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First the mechanics, because the animation assumes them: the gradient points uphill, so you step the opposite way, and the learning rate sets how far. Steps shrink on their own as the slope flattens, which is why the balls slow down near the bottom. Now the point of the picture. Both runs are the same algorithm on the same surface, and they start a third of a unit apart. One ends in the deep well at loss -3.04, the other in the shallow one at -1.67 and cannot get out, because every direction out of it is uphill and uphill is the one direction gradient descent will not go. So the honest summary is that gradient descent finds A minimum, not THE minimum, and which one depends on where the weights happened to be initialised. Do add the caveat if it comes up, because the naive version of this scares people: in the millions of dimensions a real network has, bad local minima turn out to be rare, saddle points are the more common obstacle, and the minima that SGD actually reaches tend to have similar loss to one another. This two-dimensional picture is the right intuition for what the algorithm can and cannot do, not a warning that training is a lottery.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four lines they have written before, now over a real classifier, and then F1 rather than accuracy because a model that always guesses one class should score badly. It lands at 0.584 on validation. Then run the bag-of-words baseline in the next cell: logistic regression on word counts gets 0.852. Sit with that for a moment. The neural network loses to counting, and fixing that is the whole second half of the class.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thirty minutes. Everything is one dictionary called CONFIG and every number in it is deliberately bad. Two rules that matter. Tune on validation, and the test set gets run once, at the end, together. Anyone who tunes against test has stopped measuring anything. Put a column on the board and write scores up as they are called; the leaderboard is most of the fun.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Show the starting model, name the one thing wrong with it, and get out of the way. It has no hidden layer, so it is the straight cut from the start of class, and putting one in is worth 0.17 on its own. Do not tell them what else matters. MAX_WORDS is the sleeper: it is worth almost nothing until the model has the capacity to use the extra text, so a team that tries it early, gets nothing and abandons it has found the best discussion point of the day.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them out and then stop talking. The last line is the useful one: there are four things you can set at the top of the notebook, and one of them moves the score more than any architecture change on this list. Let them find it rather than telling them, and expect the room to spend twenty minutes on hidden sizes before somebody tries GloVe.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Required: seq2seq (Sutskever, Vinyals &amp; Le, 2014), the only quizzed reading. J&amp;M Ch. 6 &amp; 13 are optional. HW2 is out today, due W7C1.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7.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Neural Networks for NLP</a:t>
            </a:r>
          </a:p>
        </p:txBody>
      </p:sp>
      <p:sp>
        <p:nvSpPr>
          <p:cNvPr id="3" name="Subtitle 2"/>
          <p:cNvSpPr>
            <a:spLocks noGrp="1"/>
          </p:cNvSpPr>
          <p:nvPr>
            <p:ph type="subTitle" idx="1"/>
          </p:nvPr>
        </p:nvSpPr>
        <p:spPr>
          <a:xfrm>
            <a:off x="493926" y="3549825"/>
            <a:ext cx="5312514" cy="970800"/>
          </a:xfrm>
        </p:spPr>
        <p:txBody>
          <a:bodyPr wrap="square"/>
          <a:lstStyle/>
          <a:p>
            <a:pPr marL="0" indent="0">
              <a:buNone/>
            </a:pPr>
            <a:r>
              <a:t>Natural Language Processing &amp; Large Language Models</a:t>
            </a:r>
          </a:p>
          <a:p>
            <a:pPr marL="0" indent="0">
              <a:buNone/>
            </a:pPr>
            <a:r>
              <a:t>Week 6, Class 1  ·  Mon Sep 28, 2026</a:t>
            </a:r>
          </a:p>
        </p:txBody>
      </p:sp>
      <p:pic>
        <p:nvPicPr>
          <p:cNvPr id="5" name="Picture 4" descr="Neural Networks for NLP"/>
          <p:cNvPicPr>
            <a:picLocks noChangeAspect="1"/>
          </p:cNvPicPr>
          <p:nvPr/>
        </p:nvPicPr>
        <p:blipFill>
          <a:blip r:embed="rId3"/>
          <a:stretch>
            <a:fillRect/>
          </a:stretch>
        </p:blipFill>
        <p:spPr>
          <a:xfrm>
            <a:off x="6035040" y="3549995"/>
            <a:ext cx="2743200" cy="133077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Santiago Ramon y Cajal (1899), detail, Wikimedia Commons, public domain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straight cut is not enough</a:t>
            </a:r>
          </a:p>
        </p:txBody>
      </p:sp>
      <p:pic>
        <p:nvPicPr>
          <p:cNvPr id="5" name="Picture 4" descr="One straight cut is not enough"/>
          <p:cNvPicPr>
            <a:picLocks noChangeAspect="1"/>
          </p:cNvPicPr>
          <p:nvPr/>
        </p:nvPicPr>
        <p:blipFill>
          <a:blip r:embed="rId3"/>
          <a:stretch>
            <a:fillRect/>
          </a:stretch>
        </p:blipFill>
        <p:spPr>
          <a:xfrm>
            <a:off x="453830" y="1078992"/>
            <a:ext cx="823634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neuron</a:t>
            </a:r>
          </a:p>
        </p:txBody>
      </p:sp>
      <p:sp>
        <p:nvSpPr>
          <p:cNvPr id="5" name="Rounded Rectangle 4"/>
          <p:cNvSpPr/>
          <p:nvPr/>
        </p:nvSpPr>
        <p:spPr>
          <a:xfrm>
            <a:off x="457200" y="1760906"/>
            <a:ext cx="1741932" cy="2225192"/>
          </a:xfrm>
          <a:prstGeom prst="roundRect">
            <a:avLst>
              <a:gd name="adj" fmla="val 629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1792" y="2024253"/>
            <a:ext cx="1412748" cy="1896008"/>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INPUTS</a:t>
            </a:r>
          </a:p>
          <a:p>
            <a:pPr marL="0" indent="0" algn="l">
              <a:lnSpc>
                <a:spcPts val="2400"/>
              </a:lnSpc>
              <a:spcAft>
                <a:spcPts val="0"/>
              </a:spcAft>
              <a:buNone/>
            </a:pPr>
            <a:r>
              <a:rPr sz="1600" b="0">
                <a:solidFill>
                  <a:srgbClr val="1D1D1F"/>
                </a:solidFill>
                <a:latin typeface="Menlo"/>
              </a:rPr>
              <a:t>x1 x2 x3</a:t>
            </a:r>
          </a:p>
        </p:txBody>
      </p:sp>
      <p:sp>
        <p:nvSpPr>
          <p:cNvPr id="7" name="Right Arrow 6"/>
          <p:cNvSpPr/>
          <p:nvPr/>
        </p:nvSpPr>
        <p:spPr>
          <a:xfrm>
            <a:off x="2266431" y="2718054"/>
            <a:ext cx="286024"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619756" y="1760906"/>
            <a:ext cx="1741932" cy="2225192"/>
          </a:xfrm>
          <a:prstGeom prst="roundRect">
            <a:avLst>
              <a:gd name="adj" fmla="val 629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784348" y="2024253"/>
            <a:ext cx="1412748" cy="1896008"/>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WEIGHTED SUM</a:t>
            </a:r>
          </a:p>
          <a:p>
            <a:pPr marL="0" indent="0" algn="l">
              <a:lnSpc>
                <a:spcPts val="2400"/>
              </a:lnSpc>
              <a:spcAft>
                <a:spcPts val="0"/>
              </a:spcAft>
              <a:buNone/>
            </a:pPr>
            <a:r>
              <a:rPr sz="1600" b="0">
                <a:solidFill>
                  <a:srgbClr val="1D1D1F"/>
                </a:solidFill>
                <a:latin typeface="Menlo"/>
              </a:rPr>
              <a:t>z = Wx + b</a:t>
            </a:r>
          </a:p>
        </p:txBody>
      </p:sp>
      <p:sp>
        <p:nvSpPr>
          <p:cNvPr id="10" name="Right Arrow 9"/>
          <p:cNvSpPr/>
          <p:nvPr/>
        </p:nvSpPr>
        <p:spPr>
          <a:xfrm>
            <a:off x="4428987" y="2718054"/>
            <a:ext cx="286024"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782312" y="1760906"/>
            <a:ext cx="1741932" cy="2225192"/>
          </a:xfrm>
          <a:prstGeom prst="roundRect">
            <a:avLst>
              <a:gd name="adj" fmla="val 629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946904" y="2024253"/>
            <a:ext cx="1412748" cy="1896008"/>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NONLINEARITY</a:t>
            </a:r>
          </a:p>
          <a:p>
            <a:pPr marL="0" indent="0" algn="l">
              <a:lnSpc>
                <a:spcPts val="2400"/>
              </a:lnSpc>
              <a:spcAft>
                <a:spcPts val="0"/>
              </a:spcAft>
              <a:buNone/>
            </a:pPr>
            <a:r>
              <a:rPr sz="1600" b="0">
                <a:solidFill>
                  <a:srgbClr val="1D1D1F"/>
                </a:solidFill>
                <a:latin typeface="Menlo"/>
              </a:rPr>
              <a:t>g(z)</a:t>
            </a:r>
          </a:p>
        </p:txBody>
      </p:sp>
      <p:sp>
        <p:nvSpPr>
          <p:cNvPr id="13" name="Right Arrow 12"/>
          <p:cNvSpPr/>
          <p:nvPr/>
        </p:nvSpPr>
        <p:spPr>
          <a:xfrm>
            <a:off x="6591543" y="2718054"/>
            <a:ext cx="286024"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944868" y="1760906"/>
            <a:ext cx="1741932" cy="2225192"/>
          </a:xfrm>
          <a:prstGeom prst="roundRect">
            <a:avLst>
              <a:gd name="adj" fmla="val 629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109460" y="2024253"/>
            <a:ext cx="1412748" cy="1896008"/>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OUTPUT</a:t>
            </a:r>
          </a:p>
          <a:p>
            <a:pPr marL="0" indent="0" algn="l">
              <a:lnSpc>
                <a:spcPts val="2400"/>
              </a:lnSpc>
              <a:spcAft>
                <a:spcPts val="0"/>
              </a:spcAft>
              <a:buNone/>
            </a:pPr>
            <a:r>
              <a:rPr sz="1600" b="0">
                <a:solidFill>
                  <a:srgbClr val="1D1D1F"/>
                </a:solidFill>
                <a:latin typeface="Menlo"/>
              </a:rPr>
              <a:t>a</a:t>
            </a:r>
          </a:p>
        </p:txBody>
      </p:sp>
      <p:sp>
        <p:nvSpPr>
          <p:cNvPr id="16" name="TextBox 1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Stacking neurons into an MLP</a:t>
            </a:r>
          </a:p>
        </p:txBody>
      </p:sp>
      <p:sp>
        <p:nvSpPr>
          <p:cNvPr id="5" name="Rounded Rectangle 4"/>
          <p:cNvSpPr/>
          <p:nvPr/>
        </p:nvSpPr>
        <p:spPr>
          <a:xfrm>
            <a:off x="457200" y="1078992"/>
            <a:ext cx="8229600" cy="842391"/>
          </a:xfrm>
          <a:prstGeom prst="roundRect">
            <a:avLst>
              <a:gd name="adj" fmla="val 108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1828800" cy="842391"/>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HIDDEN</a:t>
            </a:r>
          </a:p>
        </p:txBody>
      </p:sp>
      <p:sp>
        <p:nvSpPr>
          <p:cNvPr id="7" name="TextBox 6"/>
          <p:cNvSpPr txBox="1"/>
          <p:nvPr/>
        </p:nvSpPr>
        <p:spPr>
          <a:xfrm>
            <a:off x="2523744" y="1078992"/>
            <a:ext cx="5925312" cy="842391"/>
          </a:xfrm>
          <a:prstGeom prst="rect">
            <a:avLst/>
          </a:prstGeom>
          <a:noFill/>
        </p:spPr>
        <p:txBody>
          <a:bodyPr wrap="none" anchor="ctr" lIns="0" rIns="0" tIns="0" bIns="0">
            <a:spAutoFit/>
          </a:bodyPr>
          <a:lstStyle/>
          <a:p>
            <a:pPr marL="0" indent="0" algn="l">
              <a:spcAft>
                <a:spcPts val="0"/>
              </a:spcAft>
              <a:buNone/>
            </a:pPr>
            <a:r>
              <a:rPr sz="1250" b="0">
                <a:solidFill>
                  <a:srgbClr val="1D1D1F"/>
                </a:solidFill>
                <a:latin typeface="Menlo"/>
              </a:rPr>
              <a:t>W connects input i to unit j, applied element-wise</a:t>
            </a:r>
          </a:p>
        </p:txBody>
      </p:sp>
      <p:sp>
        <p:nvSpPr>
          <p:cNvPr id="8" name="Rounded Rectangle 7"/>
          <p:cNvSpPr/>
          <p:nvPr/>
        </p:nvSpPr>
        <p:spPr>
          <a:xfrm>
            <a:off x="457200" y="1994535"/>
            <a:ext cx="8229600" cy="842391"/>
          </a:xfrm>
          <a:prstGeom prst="roundRect">
            <a:avLst>
              <a:gd name="adj" fmla="val 108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4535"/>
            <a:ext cx="1828800" cy="842391"/>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OUTPUT</a:t>
            </a:r>
          </a:p>
        </p:txBody>
      </p:sp>
      <p:sp>
        <p:nvSpPr>
          <p:cNvPr id="10" name="TextBox 9"/>
          <p:cNvSpPr txBox="1"/>
          <p:nvPr/>
        </p:nvSpPr>
        <p:spPr>
          <a:xfrm>
            <a:off x="2523744" y="1994535"/>
            <a:ext cx="5925312" cy="842391"/>
          </a:xfrm>
          <a:prstGeom prst="rect">
            <a:avLst/>
          </a:prstGeom>
          <a:noFill/>
        </p:spPr>
        <p:txBody>
          <a:bodyPr wrap="none" anchor="ctr" lIns="0" rIns="0" tIns="0" bIns="0">
            <a:spAutoFit/>
          </a:bodyPr>
          <a:lstStyle/>
          <a:p>
            <a:pPr marL="0" indent="0" algn="l">
              <a:spcAft>
                <a:spcPts val="0"/>
              </a:spcAft>
              <a:buNone/>
            </a:pPr>
            <a:r>
              <a:rPr sz="1250" b="0">
                <a:solidFill>
                  <a:srgbClr val="1D1D1F"/>
                </a:solidFill>
                <a:latin typeface="Menlo"/>
              </a:rPr>
              <a:t>U maps h to one real number per class</a:t>
            </a:r>
          </a:p>
        </p:txBody>
      </p:sp>
      <p:sp>
        <p:nvSpPr>
          <p:cNvPr id="11" name="Rounded Rectangle 10"/>
          <p:cNvSpPr/>
          <p:nvPr/>
        </p:nvSpPr>
        <p:spPr>
          <a:xfrm>
            <a:off x="457200" y="2910078"/>
            <a:ext cx="8229600" cy="842391"/>
          </a:xfrm>
          <a:prstGeom prst="roundRect">
            <a:avLst>
              <a:gd name="adj" fmla="val 108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0078"/>
            <a:ext cx="1828800" cy="842391"/>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SOFTMAX</a:t>
            </a:r>
          </a:p>
        </p:txBody>
      </p:sp>
      <p:sp>
        <p:nvSpPr>
          <p:cNvPr id="13" name="TextBox 12"/>
          <p:cNvSpPr txBox="1"/>
          <p:nvPr/>
        </p:nvSpPr>
        <p:spPr>
          <a:xfrm>
            <a:off x="2523744" y="2910078"/>
            <a:ext cx="5925312" cy="842391"/>
          </a:xfrm>
          <a:prstGeom prst="rect">
            <a:avLst/>
          </a:prstGeom>
          <a:noFill/>
        </p:spPr>
        <p:txBody>
          <a:bodyPr wrap="none" anchor="ctr" lIns="0" rIns="0" tIns="0" bIns="0">
            <a:spAutoFit/>
          </a:bodyPr>
          <a:lstStyle/>
          <a:p>
            <a:pPr marL="0" indent="0" algn="l">
              <a:spcAft>
                <a:spcPts val="0"/>
              </a:spcAft>
              <a:buNone/>
            </a:pPr>
            <a:r>
              <a:rPr sz="1250" b="0">
                <a:solidFill>
                  <a:srgbClr val="1D1D1F"/>
                </a:solidFill>
                <a:latin typeface="Menlo"/>
              </a:rPr>
              <a:t>turns those scores into a probability distribution</a:t>
            </a:r>
          </a:p>
        </p:txBody>
      </p:sp>
      <p:sp>
        <p:nvSpPr>
          <p:cNvPr id="14" name="Rounded Rectangle 13"/>
          <p:cNvSpPr/>
          <p:nvPr/>
        </p:nvSpPr>
        <p:spPr>
          <a:xfrm>
            <a:off x="457200" y="3825621"/>
            <a:ext cx="8229600" cy="842391"/>
          </a:xfrm>
          <a:prstGeom prst="roundRect">
            <a:avLst>
              <a:gd name="adj" fmla="val 108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25621"/>
            <a:ext cx="1828800" cy="842391"/>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FOR EXAMPLE</a:t>
            </a:r>
          </a:p>
        </p:txBody>
      </p:sp>
      <p:sp>
        <p:nvSpPr>
          <p:cNvPr id="16" name="TextBox 15"/>
          <p:cNvSpPr txBox="1"/>
          <p:nvPr/>
        </p:nvSpPr>
        <p:spPr>
          <a:xfrm>
            <a:off x="2523744" y="3825621"/>
            <a:ext cx="5925312" cy="842391"/>
          </a:xfrm>
          <a:prstGeom prst="rect">
            <a:avLst/>
          </a:prstGeom>
          <a:noFill/>
        </p:spPr>
        <p:txBody>
          <a:bodyPr wrap="none" anchor="ctr" lIns="0" rIns="0" tIns="0" bIns="0">
            <a:spAutoFit/>
          </a:bodyPr>
          <a:lstStyle/>
          <a:p>
            <a:pPr marL="0" indent="0" algn="l">
              <a:spcAft>
                <a:spcPts val="0"/>
              </a:spcAft>
              <a:buNone/>
            </a:pPr>
            <a:r>
              <a:rPr sz="1250" b="0">
                <a:solidFill>
                  <a:srgbClr val="1D1D1F"/>
                </a:solidFill>
                <a:latin typeface="Menlo"/>
              </a:rPr>
              <a:t>z = [0.6, 1.1, -1.5, 1.2, 3.2, -1.1]  -&gt;  0.74 on the fifth</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6.8, Eqs. 6.8-6.11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Activations: why nonlinearity matters</a:t>
            </a:r>
          </a:p>
        </p:txBody>
      </p:sp>
      <p:sp>
        <p:nvSpPr>
          <p:cNvPr id="5" name="Rounded Rectangle 4"/>
          <p:cNvSpPr/>
          <p:nvPr/>
        </p:nvSpPr>
        <p:spPr>
          <a:xfrm>
            <a:off x="457200" y="2272220"/>
            <a:ext cx="2645664"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18524"/>
            <a:ext cx="2279904"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SIGMOID</a:t>
            </a:r>
          </a:p>
          <a:p>
            <a:pPr marL="0" indent="0">
              <a:spcAft>
                <a:spcPts val="300"/>
              </a:spcAft>
              <a:buNone/>
            </a:pPr>
            <a:r>
              <a:rPr sz="2000" b="0" u="none">
                <a:solidFill>
                  <a:srgbClr val="1D1D1F"/>
                </a:solidFill>
                <a:latin typeface="Menlo"/>
              </a:rPr>
              <a:t>range (0, 1)</a:t>
            </a:r>
          </a:p>
          <a:p>
            <a:pPr marL="0" indent="0" algn="l">
              <a:spcAft>
                <a:spcPts val="200"/>
              </a:spcAft>
              <a:buNone/>
            </a:pPr>
            <a:r>
              <a:rPr sz="1200" b="0">
                <a:solidFill>
                  <a:srgbClr val="86868B"/>
                </a:solidFill>
                <a:latin typeface="Helvetica Neue"/>
              </a:rPr>
              <a:t>saturates at both ends</a:t>
            </a:r>
          </a:p>
        </p:txBody>
      </p:sp>
      <p:sp>
        <p:nvSpPr>
          <p:cNvPr id="7" name="Rounded Rectangle 6"/>
          <p:cNvSpPr/>
          <p:nvPr/>
        </p:nvSpPr>
        <p:spPr>
          <a:xfrm>
            <a:off x="3249168" y="2272220"/>
            <a:ext cx="2645664"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32048" y="2418524"/>
            <a:ext cx="2279904"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TANH</a:t>
            </a:r>
          </a:p>
          <a:p>
            <a:pPr marL="0" indent="0">
              <a:spcAft>
                <a:spcPts val="300"/>
              </a:spcAft>
              <a:buNone/>
            </a:pPr>
            <a:r>
              <a:rPr sz="2000" b="0" u="none">
                <a:solidFill>
                  <a:srgbClr val="1D1D1F"/>
                </a:solidFill>
                <a:latin typeface="Menlo"/>
              </a:rPr>
              <a:t>range (-1, 1)</a:t>
            </a:r>
          </a:p>
          <a:p>
            <a:pPr marL="0" indent="0" algn="l">
              <a:spcAft>
                <a:spcPts val="200"/>
              </a:spcAft>
              <a:buNone/>
            </a:pPr>
            <a:r>
              <a:rPr sz="1200" b="0">
                <a:solidFill>
                  <a:srgbClr val="86868B"/>
                </a:solidFill>
                <a:latin typeface="Helvetica Neue"/>
              </a:rPr>
              <a:t>zero-centred</a:t>
            </a:r>
          </a:p>
        </p:txBody>
      </p:sp>
      <p:sp>
        <p:nvSpPr>
          <p:cNvPr id="9" name="Rounded Rectangle 8"/>
          <p:cNvSpPr/>
          <p:nvPr/>
        </p:nvSpPr>
        <p:spPr>
          <a:xfrm>
            <a:off x="6041136" y="2272220"/>
            <a:ext cx="2645664"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24016" y="2418524"/>
            <a:ext cx="2279904"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RELU</a:t>
            </a:r>
          </a:p>
          <a:p>
            <a:pPr marL="0" indent="0">
              <a:spcAft>
                <a:spcPts val="300"/>
              </a:spcAft>
              <a:buNone/>
            </a:pPr>
            <a:r>
              <a:rPr sz="2000" b="0" u="none">
                <a:solidFill>
                  <a:srgbClr val="1D1D1F"/>
                </a:solidFill>
                <a:latin typeface="Menlo"/>
              </a:rPr>
              <a:t>max(0, z)</a:t>
            </a:r>
          </a:p>
          <a:p>
            <a:pPr marL="0" indent="0" algn="l">
              <a:spcAft>
                <a:spcPts val="200"/>
              </a:spcAft>
              <a:buNone/>
            </a:pPr>
            <a:r>
              <a:rPr sz="1200" b="0">
                <a:solidFill>
                  <a:srgbClr val="86868B"/>
                </a:solidFill>
                <a:latin typeface="Helvetica Neue"/>
              </a:rPr>
              <a:t>cheap, and the default</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network, in three equations</a:t>
            </a:r>
          </a:p>
        </p:txBody>
      </p:sp>
      <p:sp>
        <p:nvSpPr>
          <p:cNvPr id="5" name="Rounded Rectangle 4"/>
          <p:cNvSpPr/>
          <p:nvPr/>
        </p:nvSpPr>
        <p:spPr>
          <a:xfrm>
            <a:off x="457200" y="1078992"/>
            <a:ext cx="8229600" cy="842391"/>
          </a:xfrm>
          <a:prstGeom prst="roundRect">
            <a:avLst>
              <a:gd name="adj" fmla="val 108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1828800" cy="842391"/>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HIDDEN LAYER</a:t>
            </a:r>
          </a:p>
        </p:txBody>
      </p:sp>
      <p:sp>
        <p:nvSpPr>
          <p:cNvPr id="7" name="TextBox 6"/>
          <p:cNvSpPr txBox="1"/>
          <p:nvPr/>
        </p:nvSpPr>
        <p:spPr>
          <a:xfrm>
            <a:off x="2523744" y="1078992"/>
            <a:ext cx="5925312" cy="842391"/>
          </a:xfrm>
          <a:prstGeom prst="rect">
            <a:avLst/>
          </a:prstGeom>
          <a:noFill/>
        </p:spPr>
        <p:txBody>
          <a:bodyPr wrap="none" anchor="ctr" lIns="0" rIns="0" tIns="0" bIns="0">
            <a:spAutoFit/>
          </a:bodyPr>
          <a:lstStyle/>
          <a:p>
            <a:pPr marL="0" indent="0" algn="l">
              <a:spcAft>
                <a:spcPts val="0"/>
              </a:spcAft>
              <a:buNone/>
            </a:pPr>
            <a:r>
              <a:rPr sz="1800" b="0">
                <a:solidFill>
                  <a:srgbClr val="1D1D1F"/>
                </a:solidFill>
                <a:latin typeface="Menlo"/>
              </a:rPr>
              <a:t>h = g(Wx + b)</a:t>
            </a:r>
          </a:p>
        </p:txBody>
      </p:sp>
      <p:sp>
        <p:nvSpPr>
          <p:cNvPr id="8" name="Rounded Rectangle 7"/>
          <p:cNvSpPr/>
          <p:nvPr/>
        </p:nvSpPr>
        <p:spPr>
          <a:xfrm>
            <a:off x="457200" y="1994535"/>
            <a:ext cx="8229600" cy="842391"/>
          </a:xfrm>
          <a:prstGeom prst="roundRect">
            <a:avLst>
              <a:gd name="adj" fmla="val 108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4535"/>
            <a:ext cx="1828800" cy="842391"/>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OUTPUT SCORES</a:t>
            </a:r>
          </a:p>
        </p:txBody>
      </p:sp>
      <p:sp>
        <p:nvSpPr>
          <p:cNvPr id="10" name="TextBox 9"/>
          <p:cNvSpPr txBox="1"/>
          <p:nvPr/>
        </p:nvSpPr>
        <p:spPr>
          <a:xfrm>
            <a:off x="2523744" y="1994535"/>
            <a:ext cx="5925312" cy="842391"/>
          </a:xfrm>
          <a:prstGeom prst="rect">
            <a:avLst/>
          </a:prstGeom>
          <a:noFill/>
        </p:spPr>
        <p:txBody>
          <a:bodyPr wrap="none" anchor="ctr" lIns="0" rIns="0" tIns="0" bIns="0">
            <a:spAutoFit/>
          </a:bodyPr>
          <a:lstStyle/>
          <a:p>
            <a:pPr marL="0" indent="0" algn="l">
              <a:spcAft>
                <a:spcPts val="0"/>
              </a:spcAft>
              <a:buNone/>
            </a:pPr>
            <a:r>
              <a:rPr sz="1800" b="0">
                <a:solidFill>
                  <a:srgbClr val="1D1D1F"/>
                </a:solidFill>
                <a:latin typeface="Menlo"/>
              </a:rPr>
              <a:t>z = Uh</a:t>
            </a:r>
          </a:p>
        </p:txBody>
      </p:sp>
      <p:sp>
        <p:nvSpPr>
          <p:cNvPr id="11" name="Rounded Rectangle 10"/>
          <p:cNvSpPr/>
          <p:nvPr/>
        </p:nvSpPr>
        <p:spPr>
          <a:xfrm>
            <a:off x="457200" y="2910078"/>
            <a:ext cx="8229600" cy="842391"/>
          </a:xfrm>
          <a:prstGeom prst="roundRect">
            <a:avLst>
              <a:gd name="adj" fmla="val 108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0078"/>
            <a:ext cx="1828800" cy="842391"/>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PROBABILITIES</a:t>
            </a:r>
          </a:p>
        </p:txBody>
      </p:sp>
      <p:sp>
        <p:nvSpPr>
          <p:cNvPr id="13" name="TextBox 12"/>
          <p:cNvSpPr txBox="1"/>
          <p:nvPr/>
        </p:nvSpPr>
        <p:spPr>
          <a:xfrm>
            <a:off x="2523744" y="2910078"/>
            <a:ext cx="5925312" cy="842391"/>
          </a:xfrm>
          <a:prstGeom prst="rect">
            <a:avLst/>
          </a:prstGeom>
          <a:noFill/>
        </p:spPr>
        <p:txBody>
          <a:bodyPr wrap="none" anchor="ctr" lIns="0" rIns="0" tIns="0" bIns="0">
            <a:spAutoFit/>
          </a:bodyPr>
          <a:lstStyle/>
          <a:p>
            <a:pPr marL="0" indent="0" algn="l">
              <a:spcAft>
                <a:spcPts val="0"/>
              </a:spcAft>
              <a:buNone/>
            </a:pPr>
            <a:r>
              <a:rPr sz="1800" b="0">
                <a:solidFill>
                  <a:srgbClr val="1D1D1F"/>
                </a:solidFill>
                <a:latin typeface="Menlo"/>
              </a:rPr>
              <a:t>y = softmax(z)</a:t>
            </a:r>
          </a:p>
        </p:txBody>
      </p:sp>
      <p:sp>
        <p:nvSpPr>
          <p:cNvPr id="14" name="Rounded Rectangle 13"/>
          <p:cNvSpPr/>
          <p:nvPr/>
        </p:nvSpPr>
        <p:spPr>
          <a:xfrm>
            <a:off x="457200" y="3825621"/>
            <a:ext cx="8229600" cy="842391"/>
          </a:xfrm>
          <a:prstGeom prst="roundRect">
            <a:avLst>
              <a:gd name="adj" fmla="val 108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25621"/>
            <a:ext cx="1828800" cy="842391"/>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SHAPES</a:t>
            </a:r>
          </a:p>
        </p:txBody>
      </p:sp>
      <p:sp>
        <p:nvSpPr>
          <p:cNvPr id="16" name="TextBox 15"/>
          <p:cNvSpPr txBox="1"/>
          <p:nvPr/>
        </p:nvSpPr>
        <p:spPr>
          <a:xfrm>
            <a:off x="2523744" y="3825621"/>
            <a:ext cx="5925312" cy="842391"/>
          </a:xfrm>
          <a:prstGeom prst="rect">
            <a:avLst/>
          </a:prstGeom>
          <a:noFill/>
        </p:spPr>
        <p:txBody>
          <a:bodyPr wrap="none" anchor="ctr" lIns="0" rIns="0" tIns="0" bIns="0">
            <a:spAutoFit/>
          </a:bodyPr>
          <a:lstStyle/>
          <a:p>
            <a:pPr marL="0" indent="0" algn="l">
              <a:spcAft>
                <a:spcPts val="0"/>
              </a:spcAft>
              <a:buNone/>
            </a:pPr>
            <a:r>
              <a:rPr sz="1800" b="0">
                <a:solidFill>
                  <a:srgbClr val="1D1D1F"/>
                </a:solidFill>
                <a:latin typeface="Menlo"/>
              </a:rPr>
              <a:t>x is d, W is dh x d, U is nc x dh</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 6.12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text to a vector: pool the embeddings</a:t>
            </a:r>
          </a:p>
        </p:txBody>
      </p:sp>
      <p:pic>
        <p:nvPicPr>
          <p:cNvPr id="5" name="Picture 4" descr="From text to a vector: pool the embeddings"/>
          <p:cNvPicPr>
            <a:picLocks noChangeAspect="1"/>
          </p:cNvPicPr>
          <p:nvPr/>
        </p:nvPicPr>
        <p:blipFill>
          <a:blip r:embed="rId3"/>
          <a:stretch>
            <a:fillRect/>
          </a:stretch>
        </p:blipFill>
        <p:spPr>
          <a:xfrm>
            <a:off x="2578292" y="1078992"/>
            <a:ext cx="39874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word in, one row out</a:t>
            </a:r>
          </a:p>
        </p:txBody>
      </p:sp>
      <p:graphicFrame>
        <p:nvGraphicFramePr>
          <p:cNvPr id="5" name="Table 4"/>
          <p:cNvGraphicFramePr>
            <a:graphicFrameLocks noGrp="1"/>
          </p:cNvGraphicFramePr>
          <p:nvPr/>
        </p:nvGraphicFramePr>
        <p:xfrm>
          <a:off x="457200" y="1456182"/>
          <a:ext cx="5102351" cy="2834640"/>
        </p:xfrm>
        <a:graphic>
          <a:graphicData uri="http://schemas.openxmlformats.org/drawingml/2006/table">
            <a:tbl>
              <a:tblPr firstRow="1" bandRow="0"/>
              <a:tblGrid>
                <a:gridCol w="1326611"/>
                <a:gridCol w="1258580"/>
                <a:gridCol w="1258580"/>
                <a:gridCol w="1258580"/>
              </a:tblGrid>
              <a:tr h="566928">
                <a:tc>
                  <a:txBody>
                    <a:bodyPr wrap="none"/>
                    <a:lstStyle/>
                    <a:p>
                      <a:pPr marL="0" indent="0" algn="l">
                        <a:spcAft>
                          <a:spcPts val="0"/>
                        </a:spcAft>
                        <a:buNone/>
                      </a:pPr>
                      <a:r>
                        <a:rPr sz="1100" b="1" spc="50">
                          <a:solidFill>
                            <a:srgbClr val="86868B"/>
                          </a:solidFill>
                          <a:latin typeface="Helvetica Neue"/>
                        </a:rPr>
                        <a:t>WORD</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the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0.11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film</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-0.30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0.85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was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0.16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0.09</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brilliant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0.64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0.77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-0.12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456182"/>
            <a:ext cx="2761488" cy="2834640"/>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ONE-HOT TIMES E</a:t>
            </a:r>
          </a:p>
          <a:p>
            <a:pPr marL="0" indent="0">
              <a:spcAft>
                <a:spcPts val="900"/>
              </a:spcAft>
              <a:buNone/>
            </a:pPr>
            <a:r>
              <a:rPr sz="1300">
                <a:solidFill>
                  <a:srgbClr val="1D1D1F"/>
                </a:solidFill>
                <a:latin typeface="Helvetica Neue"/>
              </a:rPr>
              <a:t>A one-hot for "film" times E does not compute anything.</a:t>
            </a:r>
          </a:p>
          <a:p>
            <a:pPr marL="0" indent="0">
              <a:spcAft>
                <a:spcPts val="900"/>
              </a:spcAft>
              <a:buNone/>
            </a:pPr>
            <a:r>
              <a:rPr sz="1300">
                <a:solidFill>
                  <a:srgbClr val="1D1D1F"/>
                </a:solidFill>
                <a:latin typeface="Helvetica Neue"/>
              </a:rPr>
              <a:t>It selects the "film" row: 0.21, -0.30, 0.85.</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Jurafsky &amp; Martin, SLP3 (Jan 2026 draft), Ch. 6.8 notation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pooling throws away</a:t>
            </a:r>
          </a:p>
        </p:txBody>
      </p:sp>
      <p:sp>
        <p:nvSpPr>
          <p:cNvPr id="5" name="Rounded Rectangle 4"/>
          <p:cNvSpPr/>
          <p:nvPr/>
        </p:nvSpPr>
        <p:spPr>
          <a:xfrm>
            <a:off x="457200" y="2423827"/>
            <a:ext cx="4041648" cy="899350"/>
          </a:xfrm>
          <a:prstGeom prst="roundRect">
            <a:avLst>
              <a:gd name="adj" fmla="val 1321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570131"/>
            <a:ext cx="3675888" cy="60674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DOG BITES MAN</a:t>
            </a:r>
          </a:p>
          <a:p>
            <a:pPr marL="0" indent="0">
              <a:spcAft>
                <a:spcPts val="300"/>
              </a:spcAft>
              <a:buNone/>
            </a:pPr>
            <a:r>
              <a:rPr sz="1650" b="0" u="none">
                <a:solidFill>
                  <a:srgbClr val="1D1D1F"/>
                </a:solidFill>
                <a:latin typeface="Menlo"/>
              </a:rPr>
              <a:t>average of the three vectors</a:t>
            </a:r>
          </a:p>
        </p:txBody>
      </p:sp>
      <p:sp>
        <p:nvSpPr>
          <p:cNvPr id="7" name="Rounded Rectangle 6"/>
          <p:cNvSpPr/>
          <p:nvPr/>
        </p:nvSpPr>
        <p:spPr>
          <a:xfrm>
            <a:off x="4645152" y="2423827"/>
            <a:ext cx="4041648" cy="899350"/>
          </a:xfrm>
          <a:prstGeom prst="roundRect">
            <a:avLst>
              <a:gd name="adj" fmla="val 1321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570131"/>
            <a:ext cx="3675888" cy="60674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MAN BITES DOG</a:t>
            </a:r>
          </a:p>
          <a:p>
            <a:pPr marL="0" indent="0">
              <a:spcAft>
                <a:spcPts val="300"/>
              </a:spcAft>
              <a:buNone/>
            </a:pPr>
            <a:r>
              <a:rPr sz="1650" b="0" u="none">
                <a:solidFill>
                  <a:srgbClr val="1D1D1F"/>
                </a:solidFill>
                <a:latin typeface="Menlo"/>
              </a:rPr>
              <a:t>the same average, exactly</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Keep the order: concatenate instead</a:t>
            </a:r>
          </a:p>
        </p:txBody>
      </p:sp>
      <p:pic>
        <p:nvPicPr>
          <p:cNvPr id="5" name="Picture 4" descr="Keep the order: concatenate instead"/>
          <p:cNvPicPr>
            <a:picLocks noChangeAspect="1"/>
          </p:cNvPicPr>
          <p:nvPr/>
        </p:nvPicPr>
        <p:blipFill>
          <a:blip r:embed="rId3"/>
          <a:stretch>
            <a:fillRect/>
          </a:stretch>
        </p:blipFill>
        <p:spPr>
          <a:xfrm>
            <a:off x="2737822" y="1078992"/>
            <a:ext cx="36683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1 and 2 in the notebook</a:t>
            </a:r>
          </a:p>
          <a:p>
            <a:pPr algn="ctr" marL="0" indent="0">
              <a:buNone/>
            </a:pPr>
            <a:r>
              <a:rPr sz="2000">
                <a:solidFill>
                  <a:srgbClr val="222222"/>
                </a:solidFill>
              </a:rPr>
              <a:t>A review becomes one vector, then a model to feed it 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Gradient descent</a:t>
            </a:r>
          </a:p>
        </p:txBody>
      </p:sp>
      <p:pic>
        <p:nvPicPr>
          <p:cNvPr id="5" name="Picture 4" descr="Gradient descent"/>
          <p:cNvPicPr>
            <a:picLocks noChangeAspect="1"/>
          </p:cNvPicPr>
          <p:nvPr/>
        </p:nvPicPr>
        <p:blipFill>
          <a:blip r:embed="rId3"/>
          <a:stretch>
            <a:fillRect/>
          </a:stretch>
        </p:blipFill>
        <p:spPr>
          <a:xfrm>
            <a:off x="366117" y="1078992"/>
            <a:ext cx="84117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scripts/viz/make_nonconvex_gif.py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Train it, score it, and find out it is bad.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MLP classifier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Beat the baseline</a:t>
            </a:r>
          </a:p>
        </p:txBody>
      </p:sp>
      <p:sp>
        <p:nvSpPr>
          <p:cNvPr id="5" name="Rounded Rectangle 4"/>
          <p:cNvSpPr/>
          <p:nvPr/>
        </p:nvSpPr>
        <p:spPr>
          <a:xfrm>
            <a:off x="457200" y="107899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1</a:t>
            </a:r>
          </a:p>
        </p:txBody>
      </p:sp>
      <p:sp>
        <p:nvSpPr>
          <p:cNvPr id="7" name="TextBox 6"/>
          <p:cNvSpPr txBox="1"/>
          <p:nvPr/>
        </p:nvSpPr>
        <p:spPr>
          <a:xfrm>
            <a:off x="1170432" y="1078992"/>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You start at 0.466. A linear model, no hidden layer at all.</a:t>
            </a:r>
          </a:p>
        </p:txBody>
      </p:sp>
      <p:sp>
        <p:nvSpPr>
          <p:cNvPr id="8" name="Rounded Rectangle 7"/>
          <p:cNvSpPr/>
          <p:nvPr/>
        </p:nvSpPr>
        <p:spPr>
          <a:xfrm>
            <a:off x="457200" y="199910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9107"/>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2</a:t>
            </a:r>
          </a:p>
        </p:txBody>
      </p:sp>
      <p:sp>
        <p:nvSpPr>
          <p:cNvPr id="10" name="TextBox 9"/>
          <p:cNvSpPr txBox="1"/>
          <p:nvPr/>
        </p:nvSpPr>
        <p:spPr>
          <a:xfrm>
            <a:off x="1170432" y="1999107"/>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Counting words gets 0.852. Beat it and you have earned the network.</a:t>
            </a:r>
          </a:p>
        </p:txBody>
      </p:sp>
      <p:sp>
        <p:nvSpPr>
          <p:cNvPr id="11" name="Rounded Rectangle 10"/>
          <p:cNvSpPr/>
          <p:nvPr/>
        </p:nvSpPr>
        <p:spPr>
          <a:xfrm>
            <a:off x="457200" y="291922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9222"/>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3</a:t>
            </a:r>
          </a:p>
        </p:txBody>
      </p:sp>
      <p:sp>
        <p:nvSpPr>
          <p:cNvPr id="13" name="TextBox 12"/>
          <p:cNvSpPr txBox="1"/>
          <p:nvPr/>
        </p:nvSpPr>
        <p:spPr>
          <a:xfrm>
            <a:off x="1170432" y="2919222"/>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Tune on val. Call a score out and it goes on the board.</a:t>
            </a:r>
          </a:p>
        </p:txBody>
      </p:sp>
      <p:sp>
        <p:nvSpPr>
          <p:cNvPr id="14" name="Rounded Rectangle 13"/>
          <p:cNvSpPr/>
          <p:nvPr/>
        </p:nvSpPr>
        <p:spPr>
          <a:xfrm>
            <a:off x="457200" y="383933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39337"/>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4</a:t>
            </a:r>
          </a:p>
        </p:txBody>
      </p:sp>
      <p:sp>
        <p:nvSpPr>
          <p:cNvPr id="16" name="TextBox 15"/>
          <p:cNvSpPr txBox="1"/>
          <p:nvPr/>
        </p:nvSpPr>
        <p:spPr>
          <a:xfrm>
            <a:off x="1170432" y="3839337"/>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test runs once, when time is called. That number is the one that counts.</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scores measured on the notebook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model you start from has no hidden layer</a:t>
            </a:r>
          </a:p>
        </p:txBody>
      </p:sp>
      <p:sp>
        <p:nvSpPr>
          <p:cNvPr id="5" name="Rounded Rectangle 4"/>
          <p:cNvSpPr/>
          <p:nvPr/>
        </p:nvSpPr>
        <p:spPr>
          <a:xfrm>
            <a:off x="457200" y="1095311"/>
            <a:ext cx="8229600" cy="3117596"/>
          </a:xfrm>
          <a:prstGeom prst="roundRect">
            <a:avLst>
              <a:gd name="adj" fmla="val 3519"/>
            </a:avLst>
          </a:prstGeom>
          <a:solidFill>
            <a:srgbClr val="1D1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68096" y="125075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125075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3856" y="125075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515935"/>
            <a:ext cx="7607808" cy="2440940"/>
          </a:xfrm>
          <a:prstGeom prst="rect">
            <a:avLst/>
          </a:prstGeom>
          <a:noFill/>
        </p:spPr>
        <p:txBody>
          <a:bodyPr wrap="none" anchor="t" lIns="0" rIns="0" tIns="0" bIns="0">
            <a:spAutoFit/>
          </a:bodyPr>
          <a:lstStyle/>
          <a:p>
            <a:pPr marL="0" indent="0" algn="l">
              <a:lnSpc>
                <a:spcPts val="2402"/>
              </a:lnSpc>
              <a:spcAft>
                <a:spcPts val="0"/>
              </a:spcAft>
              <a:buNone/>
            </a:pPr>
            <a:r>
              <a:rPr sz="1550" b="0">
                <a:solidFill>
                  <a:srgbClr val="F5F5F7"/>
                </a:solidFill>
                <a:latin typeface="Menlo"/>
              </a:rPr>
              <a:t>class MyModel(nn.Module):</a:t>
            </a:r>
          </a:p>
          <a:p>
            <a:pPr marL="0" indent="0" algn="l">
              <a:lnSpc>
                <a:spcPts val="2402"/>
              </a:lnSpc>
              <a:spcAft>
                <a:spcPts val="0"/>
              </a:spcAft>
              <a:buNone/>
            </a:pPr>
            <a:r>
              <a:rPr sz="1550" b="0">
                <a:solidFill>
                  <a:srgbClr val="F5F5F7"/>
                </a:solidFill>
                <a:latin typeface="Menlo"/>
              </a:rPr>
              <a:t>    def __init__(self, vocabulary):</a:t>
            </a:r>
          </a:p>
          <a:p>
            <a:pPr marL="0" indent="0" algn="l">
              <a:lnSpc>
                <a:spcPts val="2402"/>
              </a:lnSpc>
              <a:spcAft>
                <a:spcPts val="0"/>
              </a:spcAft>
              <a:buNone/>
            </a:pPr>
            <a:r>
              <a:rPr sz="1550" b="0">
                <a:solidFill>
                  <a:srgbClr val="F5F5F7"/>
                </a:solidFill>
                <a:latin typeface="Menlo"/>
              </a:rPr>
              <a:t>        self.embedding = nn.Embedding(len(vocabulary), 8)</a:t>
            </a:r>
          </a:p>
          <a:p>
            <a:pPr marL="0" indent="0" algn="l">
              <a:lnSpc>
                <a:spcPts val="2402"/>
              </a:lnSpc>
              <a:spcAft>
                <a:spcPts val="0"/>
              </a:spcAft>
              <a:buNone/>
            </a:pPr>
            <a:r>
              <a:rPr sz="1550" b="0">
                <a:solidFill>
                  <a:srgbClr val="F5F5F7"/>
                </a:solidFill>
                <a:latin typeface="Menlo"/>
              </a:rPr>
              <a:t>        self.output = nn.Linear(8, 2)</a:t>
            </a:r>
          </a:p>
          <a:p>
            <a:pPr marL="0" indent="0" algn="l">
              <a:lnSpc>
                <a:spcPts val="2402"/>
              </a:lnSpc>
              <a:spcAft>
                <a:spcPts val="0"/>
              </a:spcAft>
              <a:buNone/>
            </a:pPr>
            <a:r>
              <a:rPr sz="1550" b="0">
                <a:solidFill>
                  <a:srgbClr val="F5F5F7"/>
                </a:solidFill>
                <a:latin typeface="Menlo"/>
              </a:rPr>
              <a:t> </a:t>
            </a:r>
          </a:p>
          <a:p>
            <a:pPr marL="0" indent="0" algn="l">
              <a:lnSpc>
                <a:spcPts val="2402"/>
              </a:lnSpc>
              <a:spcAft>
                <a:spcPts val="0"/>
              </a:spcAft>
              <a:buNone/>
            </a:pPr>
            <a:r>
              <a:rPr sz="1550" b="0">
                <a:solidFill>
                  <a:srgbClr val="F5F5F7"/>
                </a:solidFill>
                <a:latin typeface="Menlo"/>
              </a:rPr>
              <a:t>    def forward(self, ids, mask):</a:t>
            </a:r>
          </a:p>
          <a:p>
            <a:pPr marL="0" indent="0" algn="l">
              <a:lnSpc>
                <a:spcPts val="2402"/>
              </a:lnSpc>
              <a:spcAft>
                <a:spcPts val="0"/>
              </a:spcAft>
              <a:buNone/>
            </a:pPr>
            <a:r>
              <a:rPr sz="1550" b="0">
                <a:solidFill>
                  <a:srgbClr val="F5F5F7"/>
                </a:solidFill>
                <a:latin typeface="Menlo"/>
              </a:rPr>
              <a:t>        pooled = pool_mean(self.embedding(ids), mask)</a:t>
            </a:r>
          </a:p>
          <a:p>
            <a:pPr marL="0" indent="0" algn="l">
              <a:lnSpc>
                <a:spcPts val="2402"/>
              </a:lnSpc>
              <a:spcAft>
                <a:spcPts val="0"/>
              </a:spcAft>
              <a:buNone/>
            </a:pPr>
            <a:r>
              <a:rPr sz="1550" b="0">
                <a:solidFill>
                  <a:srgbClr val="F5F5F7"/>
                </a:solidFill>
                <a:latin typeface="Menlo"/>
              </a:rPr>
              <a:t>        return self.output(pooled)</a:t>
            </a:r>
          </a:p>
        </p:txBody>
      </p:sp>
      <p:sp>
        <p:nvSpPr>
          <p:cNvPr id="10" name="TextBox 9"/>
          <p:cNvSpPr txBox="1"/>
          <p:nvPr/>
        </p:nvSpPr>
        <p:spPr>
          <a:xfrm>
            <a:off x="768096" y="4340923"/>
            <a:ext cx="7607808" cy="438785"/>
          </a:xfrm>
          <a:prstGeom prst="rect">
            <a:avLst/>
          </a:prstGeom>
          <a:noFill/>
        </p:spPr>
        <p:txBody>
          <a:bodyPr wrap="none" anchor="t" lIns="0" rIns="0" tIns="0" bIns="0">
            <a:spAutoFit/>
          </a:bodyPr>
          <a:lstStyle/>
          <a:p>
            <a:pPr marL="0" indent="0" algn="l">
              <a:lnSpc>
                <a:spcPts val="2015"/>
              </a:lnSpc>
              <a:spcAft>
                <a:spcPts val="0"/>
              </a:spcAft>
              <a:buNone/>
            </a:pPr>
            <a:r>
              <a:rPr sz="1300" b="0">
                <a:solidFill>
                  <a:srgbClr val="86868B"/>
                </a:solidFill>
                <a:latin typeface="Menlo"/>
              </a:rPr>
              <a:t>no hidden layer, no nonlinearity: one straight cut</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starting model in today's notebook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Six levers, and one of them beats the rest</a:t>
            </a:r>
          </a:p>
        </p:txBody>
      </p:sp>
      <p:sp>
        <p:nvSpPr>
          <p:cNvPr id="5" name="Rounded Rectangle 4"/>
          <p:cNvSpPr/>
          <p:nvPr/>
        </p:nvSpPr>
        <p:spPr>
          <a:xfrm>
            <a:off x="457200" y="107899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521970"/>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1</a:t>
            </a:r>
          </a:p>
        </p:txBody>
      </p:sp>
      <p:sp>
        <p:nvSpPr>
          <p:cNvPr id="7" name="TextBox 6"/>
          <p:cNvSpPr txBox="1"/>
          <p:nvPr/>
        </p:nvSpPr>
        <p:spPr>
          <a:xfrm>
            <a:off x="1170432" y="1078992"/>
            <a:ext cx="7278624" cy="521970"/>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Give it a hidden layer and a ReLU</a:t>
            </a:r>
          </a:p>
        </p:txBody>
      </p:sp>
      <p:sp>
        <p:nvSpPr>
          <p:cNvPr id="8" name="Rounded Rectangle 7"/>
          <p:cNvSpPr/>
          <p:nvPr/>
        </p:nvSpPr>
        <p:spPr>
          <a:xfrm>
            <a:off x="457200" y="169240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692402"/>
            <a:ext cx="475488" cy="521970"/>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2</a:t>
            </a:r>
          </a:p>
        </p:txBody>
      </p:sp>
      <p:sp>
        <p:nvSpPr>
          <p:cNvPr id="10" name="TextBox 9"/>
          <p:cNvSpPr txBox="1"/>
          <p:nvPr/>
        </p:nvSpPr>
        <p:spPr>
          <a:xfrm>
            <a:off x="1170432" y="1692402"/>
            <a:ext cx="7278624" cy="521970"/>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Wider. Deeper. Where does it stop helping?</a:t>
            </a:r>
          </a:p>
        </p:txBody>
      </p:sp>
      <p:sp>
        <p:nvSpPr>
          <p:cNvPr id="11" name="Rounded Rectangle 10"/>
          <p:cNvSpPr/>
          <p:nvPr/>
        </p:nvSpPr>
        <p:spPr>
          <a:xfrm>
            <a:off x="457200" y="230581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305812"/>
            <a:ext cx="475488" cy="521970"/>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3</a:t>
            </a:r>
          </a:p>
        </p:txBody>
      </p:sp>
      <p:sp>
        <p:nvSpPr>
          <p:cNvPr id="13" name="TextBox 12"/>
          <p:cNvSpPr txBox="1"/>
          <p:nvPr/>
        </p:nvSpPr>
        <p:spPr>
          <a:xfrm>
            <a:off x="1170432" y="2305812"/>
            <a:ext cx="7278624" cy="521970"/>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Pool differently: pool_max, or both joined</a:t>
            </a:r>
          </a:p>
        </p:txBody>
      </p:sp>
      <p:sp>
        <p:nvSpPr>
          <p:cNvPr id="14" name="Rounded Rectangle 13"/>
          <p:cNvSpPr/>
          <p:nvPr/>
        </p:nvSpPr>
        <p:spPr>
          <a:xfrm>
            <a:off x="457200" y="291922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2919222"/>
            <a:ext cx="475488" cy="521970"/>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4</a:t>
            </a:r>
          </a:p>
        </p:txBody>
      </p:sp>
      <p:sp>
        <p:nvSpPr>
          <p:cNvPr id="16" name="TextBox 15"/>
          <p:cNvSpPr txBox="1"/>
          <p:nvPr/>
        </p:nvSpPr>
        <p:spPr>
          <a:xfrm>
            <a:off x="1170432" y="2919222"/>
            <a:ext cx="7278624" cy="521970"/>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Start from GloVe: glove_rows(vocab)</a:t>
            </a:r>
          </a:p>
        </p:txBody>
      </p:sp>
      <p:sp>
        <p:nvSpPr>
          <p:cNvPr id="17" name="Rounded Rectangle 16"/>
          <p:cNvSpPr/>
          <p:nvPr/>
        </p:nvSpPr>
        <p:spPr>
          <a:xfrm>
            <a:off x="457200" y="353263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3532632"/>
            <a:ext cx="475488" cy="521970"/>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5</a:t>
            </a:r>
          </a:p>
        </p:txBody>
      </p:sp>
      <p:sp>
        <p:nvSpPr>
          <p:cNvPr id="19" name="TextBox 18"/>
          <p:cNvSpPr txBox="1"/>
          <p:nvPr/>
        </p:nvSpPr>
        <p:spPr>
          <a:xfrm>
            <a:off x="1170432" y="3532632"/>
            <a:ext cx="7278624" cy="521970"/>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Add nn.Dropout or nn.LayerNorm</a:t>
            </a:r>
          </a:p>
        </p:txBody>
      </p:sp>
      <p:sp>
        <p:nvSpPr>
          <p:cNvPr id="20" name="Rounded Rectangle 19"/>
          <p:cNvSpPr/>
          <p:nvPr/>
        </p:nvSpPr>
        <p:spPr>
          <a:xfrm>
            <a:off x="457200" y="414604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4944" y="4146042"/>
            <a:ext cx="475488" cy="521970"/>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6</a:t>
            </a:r>
          </a:p>
        </p:txBody>
      </p:sp>
      <p:sp>
        <p:nvSpPr>
          <p:cNvPr id="22" name="TextBox 21"/>
          <p:cNvSpPr txBox="1"/>
          <p:nvPr/>
        </p:nvSpPr>
        <p:spPr>
          <a:xfrm>
            <a:off x="1170432" y="4146042"/>
            <a:ext cx="7278624" cy="521970"/>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Four settings at the top. One beats all of these</a:t>
            </a:r>
          </a:p>
        </p:txBody>
      </p:sp>
      <p:sp>
        <p:nvSpPr>
          <p:cNvPr id="23" name="TextBox 22"/>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&amp; homework</a:t>
            </a:r>
          </a:p>
        </p:txBody>
      </p:sp>
      <p:sp>
        <p:nvSpPr>
          <p:cNvPr id="5" name="Rounded Rectangle 4"/>
          <p:cNvSpPr/>
          <p:nvPr/>
        </p:nvSpPr>
        <p:spPr>
          <a:xfrm>
            <a:off x="457200" y="2376995"/>
            <a:ext cx="4041648" cy="993013"/>
          </a:xfrm>
          <a:prstGeom prst="roundRect">
            <a:avLst>
              <a:gd name="adj" fmla="val 119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523299"/>
            <a:ext cx="3675888" cy="700405"/>
          </a:xfrm>
          <a:prstGeom prst="rect">
            <a:avLst/>
          </a:prstGeom>
          <a:noFill/>
        </p:spPr>
        <p:txBody>
          <a:bodyPr wrap="square" anchor="t" lIns="0" rIns="0" tIns="0" bIns="0">
            <a:spAutoFit/>
          </a:bodyPr>
          <a:lstStyle/>
          <a:p>
            <a:pPr marL="0" indent="0" algn="l">
              <a:spcAft>
                <a:spcPts val="600"/>
              </a:spcAft>
              <a:buNone/>
            </a:pPr>
            <a:r>
              <a:rPr sz="1050" b="1" spc="70">
                <a:solidFill>
                  <a:srgbClr val="86868B"/>
                </a:solidFill>
                <a:latin typeface="Helvetica Neue"/>
              </a:rPr>
              <a:t>READ BEFORE NEXT CLASS</a:t>
            </a:r>
          </a:p>
          <a:p>
            <a:pPr marL="0" indent="0">
              <a:spcAft>
                <a:spcPts val="300"/>
              </a:spcAft>
              <a:buNone/>
            </a:pPr>
            <a:r>
              <a:rPr sz="1150" b="0" u="none">
                <a:solidFill>
                  <a:srgbClr val="1D1D1F"/>
                </a:solidFill>
                <a:latin typeface="Menlo"/>
              </a:rPr>
              <a:t>seq2seq, Sutskever, Vinyals &amp; Le (2014)</a:t>
            </a:r>
          </a:p>
          <a:p>
            <a:pPr marL="0" indent="0" algn="l">
              <a:spcAft>
                <a:spcPts val="200"/>
              </a:spcAft>
              <a:buNone/>
            </a:pPr>
            <a:r>
              <a:rPr sz="950" b="0">
                <a:solidFill>
                  <a:srgbClr val="86868B"/>
                </a:solidFill>
                <a:latin typeface="Helvetica Neue"/>
              </a:rPr>
              <a:t>The only quizzed reading. Quiz 4 next class.</a:t>
            </a:r>
          </a:p>
        </p:txBody>
      </p:sp>
      <p:sp>
        <p:nvSpPr>
          <p:cNvPr id="7" name="Rounded Rectangle 6"/>
          <p:cNvSpPr/>
          <p:nvPr/>
        </p:nvSpPr>
        <p:spPr>
          <a:xfrm>
            <a:off x="4645152" y="2376995"/>
            <a:ext cx="4041648" cy="993013"/>
          </a:xfrm>
          <a:prstGeom prst="roundRect">
            <a:avLst>
              <a:gd name="adj" fmla="val 119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523299"/>
            <a:ext cx="3675888" cy="700405"/>
          </a:xfrm>
          <a:prstGeom prst="rect">
            <a:avLst/>
          </a:prstGeom>
          <a:noFill/>
        </p:spPr>
        <p:txBody>
          <a:bodyPr wrap="square" anchor="t" lIns="0" rIns="0" tIns="0" bIns="0">
            <a:spAutoFit/>
          </a:bodyPr>
          <a:lstStyle/>
          <a:p>
            <a:pPr marL="0" indent="0" algn="l">
              <a:spcAft>
                <a:spcPts val="600"/>
              </a:spcAft>
              <a:buNone/>
            </a:pPr>
            <a:r>
              <a:rPr sz="1050" b="1" spc="70">
                <a:solidFill>
                  <a:srgbClr val="86868B"/>
                </a:solidFill>
                <a:latin typeface="Helvetica Neue"/>
              </a:rPr>
              <a:t>HOMEWORK 2 IS OUT</a:t>
            </a:r>
          </a:p>
          <a:p>
            <a:pPr marL="0" indent="0">
              <a:spcAft>
                <a:spcPts val="300"/>
              </a:spcAft>
              <a:buNone/>
            </a:pPr>
            <a:r>
              <a:rPr sz="1150" b="0" u="none">
                <a:solidFill>
                  <a:srgbClr val="1D1D1F"/>
                </a:solidFill>
                <a:latin typeface="Menlo"/>
              </a:rPr>
              <a:t>Text classification &amp; embeddings</a:t>
            </a:r>
          </a:p>
          <a:p>
            <a:pPr marL="0" indent="0" algn="l">
              <a:spcAft>
                <a:spcPts val="200"/>
              </a:spcAft>
              <a:buNone/>
            </a:pPr>
            <a:r>
              <a:rPr sz="950" b="0">
                <a:solidFill>
                  <a:srgbClr val="86868B"/>
                </a:solidFill>
                <a:latin typeface="Helvetica Neue"/>
              </a:rPr>
              <a:t>Builds on today's MLP. Due W7C1, so start early.</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