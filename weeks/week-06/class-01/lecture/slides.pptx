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Contextual Representations &amp; Transfer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3372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6, Class 1</a:t>
            </a:r>
          </a:p>
        </p:txBody>
      </p:sp>
      <p:pic>
        <p:nvPicPr>
          <p:cNvPr id="5" name="Picture 4" descr="A chameleon takes its color from its surroundings. Ask the class: which word in English does the same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3474720"/>
            <a:ext cx="2221992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Charles J. Sharp,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01" y="1078992"/>
            <a:ext cx="809759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photos: Wikimedia Commons (CC BY-SA 3.0), Unsplash; ELMo diagram: Jay Alammar (jalammar.github.io)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we are in the course</a:t>
            </a:r>
          </a:p>
        </p:txBody>
      </p:sp>
      <p:pic>
        <p:nvPicPr>
          <p:cNvPr id="5" name="Picture 4" descr="Where we are in the cour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64324"/>
            <a:ext cx="8595360" cy="24183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figures: SLP3 Figs. 5.9, 13.13; Vaswani 2017 Fig. 1; Jay Alammar (jalammar.github.io)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Meaning lives in context. Hold that thought as we leave static vectors behin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Does a word mean the same thing every time you say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Meaning lives in context. Hold that thought as we leave static vectors behind.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https://images.unsplash.com/photo-1522202176988-66273c2fd55f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The problem with static embeddings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Static word embeddings are frozen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7848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One vector must average together all senses of a word</a:t>
            </a:r>
          </a:p>
        </p:txBody>
      </p:sp>
      <p:pic>
        <p:nvPicPr>
          <p:cNvPr id="6" name="Picture 5" descr="word2vec and GloVe: one fixed vector per word, looked up every tim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7623"/>
            <a:ext cx="8595360" cy="22294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card catalog: one fixed card per word</a:t>
            </a:r>
          </a:p>
        </p:txBody>
      </p:sp>
      <p:pic>
        <p:nvPicPr>
          <p:cNvPr id="5" name="Picture 4" descr="A static model is a card catalog: look up &quot;bank&quot;, get the SAME card back every time, no matter which sentence you came fro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412" y="1078992"/>
            <a:ext cx="4243176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Dr. Marcus Gossler, Wikimedia Commons, CC BY-SA 3.0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polysemy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35183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 meaning lives in the context, which static vectors throw away</a:t>
            </a:r>
          </a:p>
        </p:txBody>
      </p:sp>
      <p:pic>
        <p:nvPicPr>
          <p:cNvPr id="6" name="Picture 5" descr="&quot;river bank&quot; and &quot;savings bank&quot; collapse to the same static vecto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0925"/>
            <a:ext cx="8595360" cy="29428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Contextual representations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ELMo's architecture: two LMs, forward and backward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 conceptual leap from word2vec: the hidden states ARE the representations</a:t>
            </a:r>
          </a:p>
        </p:txBody>
      </p:sp>
      <p:pic>
        <p:nvPicPr>
          <p:cNvPr id="6" name="Picture 5" descr="Yes, that is THE Elmo, the diagram the internet learned this from. A forward LSTM LM reads left to right, a backward one reads right to left, two layers each; every word gets hidden states from BOTH direction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855" y="1078992"/>
            <a:ext cx="6992290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Jay Alammar, "The Illustrated BERT, ELMo, and co." (jalammar.github.io); ELMo: Peters et al. 2018, arXiv:1802.05365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word, many vectors: mixing the LSTM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Bidirectional LSTM language model; representation = learned mix of all layers</a:t>
            </a:r>
          </a:p>
        </p:txBody>
      </p:sp>
      <p:pic>
        <p:nvPicPr>
          <p:cNvPr id="6" name="Picture 5" descr="How the contextual embedding is built: concatenate each layer's forward and backward states, weight each layer (s_0, s_1, s_2 are learned per task), and sum. The result is the embedding of &quot;stick&quot; in THIS sente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743" y="1078992"/>
            <a:ext cx="6144514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Jay Alammar, "The Illustrated BERT, ELMo, and co." (jalammar.github.io); ELMo: Peters et al. 2018, arXiv:1802.05365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combine all the layers?</a:t>
            </a:r>
          </a:p>
        </p:txBody>
      </p:sp>
      <p:pic>
        <p:nvPicPr>
          <p:cNvPr id="5" name="Picture 4" descr="ELMo's empirical finding: lower layers capture syntax, higher layers capture word sen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87" y="1078992"/>
            <a:ext cx="792402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2018, arXiv:1802.05365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famous "play" test</a:t>
            </a:r>
          </a:p>
        </p:txBody>
      </p:sp>
      <p:pic>
        <p:nvPicPr>
          <p:cNvPr id="5" name="Picture 4" descr="GloVe's neighbors are stuck in sports; the biLM retrieves a sentence matching EACH sense of &quot;play.&quot;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6756"/>
            <a:ext cx="8595360" cy="3153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 (arXiv:1802.05365), Table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"Shallow" bidirectionality</a:t>
            </a:r>
          </a:p>
        </p:txBody>
      </p:sp>
      <p:pic>
        <p:nvPicPr>
          <p:cNvPr id="5" name="Picture 4" descr="A forward LM and a backward LM, trained independently, then concatenat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524" y="1078992"/>
            <a:ext cx="803295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Pretrain, then finetune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Feature-based transfer</a:t>
            </a:r>
          </a:p>
        </p:txBody>
      </p:sp>
      <p:pic>
        <p:nvPicPr>
          <p:cNvPr id="5" name="Picture 4" descr="Pretrain once on cheap unlabeled text; reuse the features across many task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5244"/>
            <a:ext cx="8595360" cy="28165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flavors of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804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Both start from self-supervised language-model pretraining</a:t>
            </a:r>
          </a:p>
        </p:txBody>
      </p:sp>
      <p:pic>
        <p:nvPicPr>
          <p:cNvPr id="6" name="Picture 5" descr="Feature-based (ELMo) freezes the model; fine-tuning (BERT, GPT) keeps training i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55691"/>
            <a:ext cx="8595360" cy="28332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Self-supervised pretraining</a:t>
            </a:r>
          </a:p>
        </p:txBody>
      </p:sp>
      <p:pic>
        <p:nvPicPr>
          <p:cNvPr id="5" name="Picture 4" descr="The training signal comes from the text itself: predict the missing wor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80429"/>
            <a:ext cx="8595360" cy="29861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this was a turning point</a:t>
            </a:r>
          </a:p>
        </p:txBody>
      </p:sp>
      <p:pic>
        <p:nvPicPr>
          <p:cNvPr id="5" name="Picture 4" descr="2018 flipped the default: start from a pretrained model, then finetu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67783"/>
            <a:ext cx="8595360" cy="26114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ELMo's results</a:t>
            </a:r>
          </a:p>
        </p:txBody>
      </p:sp>
      <p:pic>
        <p:nvPicPr>
          <p:cNvPr id="5" name="Picture 4" descr="One frozen biLM, six different tasks: every baseline jumps past the prior state of the ar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9" y="1078992"/>
            <a:ext cx="820886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 (arXiv:1802.05365), Table 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Limitations of ELMo</a:t>
            </a:r>
          </a:p>
        </p:txBody>
      </p:sp>
      <p:pic>
        <p:nvPicPr>
          <p:cNvPr id="5" name="Picture 4" descr="Limitations of ELM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36535"/>
            <a:ext cx="8595360" cy="30739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jigsaw teach-back in teams of thre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Activity: jigsaw teach-back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Each group owns one piece, becomes its expert, then teaches the rest of the tea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Teach each other the paradigm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Each group owns one piece, becomes its expert, then teaches the rest of the team.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https://images.unsplash.com/photo-1522071820081-009f0129c71c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jigsaw the pretrain to finetune story</a:t>
            </a:r>
          </a:p>
        </p:txBody>
      </p:sp>
      <p:pic>
        <p:nvPicPr>
          <p:cNvPr id="5" name="Picture 4" descr="Activity: jigsaw the pretrain to finetune stor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60682"/>
            <a:ext cx="8595360" cy="2425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Confirm it live: the polysemy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37462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Static cosine = 1.000 (identical); contextual cosine is lower (sense-dependent)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 3-function coding is now an optional take-home lab</a:t>
            </a:r>
          </a:p>
        </p:txBody>
      </p:sp>
      <p:pic>
        <p:nvPicPr>
          <p:cNvPr id="6" name="Picture 5" descr="Confirm it live: the polysemy dem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7750"/>
            <a:ext cx="8595360" cy="2458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prajjwal1/bert-tiny (illustrative values)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00012"/>
            <a:ext cx="8595360" cy="29469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