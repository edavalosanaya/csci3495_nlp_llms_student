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15"/>
  </p:notesMasterIdLst>
  <p:sldIdLst>
    <p:sldId id="256" r:id="rId2"/>
    <p:sldId id="275" r:id="rId3"/>
    <p:sldId id="271" r:id="rId4"/>
    <p:sldId id="270" r:id="rId5"/>
    <p:sldId id="274" r:id="rId6"/>
    <p:sldId id="273" r:id="rId7"/>
    <p:sldId id="276" r:id="rId8"/>
    <p:sldId id="277" r:id="rId9"/>
    <p:sldId id="278" r:id="rId10"/>
    <p:sldId id="279" r:id="rId11"/>
    <p:sldId id="280" r:id="rId12"/>
    <p:sldId id="269" r:id="rId13"/>
    <p:sldId id="272" r:id="rId14"/>
  </p:sldIdLst>
  <p:sldSz cx="9144000" cy="5143500" type="screen16x9"/>
  <p:notesSz cx="6858000" cy="9144000"/>
  <p:embeddedFontLst>
    <p:embeddedFont>
      <p:font typeface="Playfair Display" pitchFamily="2" charset="77"/>
      <p:regular r:id="rId16"/>
      <p:bold r:id="rId17"/>
      <p:italic r:id="rId18"/>
      <p:boldItalic r:id="rId19"/>
    </p:embeddedFont>
    <p:embeddedFont>
      <p:font typeface="Roboto" panose="02000000000000000000" pitchFamily="2" charset="0"/>
      <p:regular r:id="rId20"/>
      <p:bold r:id="rId21"/>
      <p:italic r:id="rId22"/>
      <p:boldItalic r:id="rId23"/>
    </p:embeddedFont>
    <p:embeddedFont>
      <p:font typeface="Roboto Light" panose="020F0302020204030204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58"/>
  </p:normalViewPr>
  <p:slideViewPr>
    <p:cSldViewPr snapToGrid="0">
      <p:cViewPr varScale="1">
        <p:scale>
          <a:sx n="160" d="100"/>
          <a:sy n="160" d="100"/>
        </p:scale>
        <p:origin x="2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523" y="685800"/>
            <a:ext cx="4571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jp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ver Page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390300"/>
            <a:ext cx="91440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l="600" t="43847" r="-600" b="13732"/>
          <a:stretch/>
        </p:blipFill>
        <p:spPr>
          <a:xfrm>
            <a:off x="0" y="-70472"/>
            <a:ext cx="9198797" cy="346077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layfair Display"/>
              <a:buNone/>
              <a:defRPr sz="3600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2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+ 2 Columns">
  <p:cSld name="2_Portfolio Thre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50957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2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3"/>
          </p:nvPr>
        </p:nvSpPr>
        <p:spPr>
          <a:xfrm>
            <a:off x="482712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+ 3 Columns">
  <p:cSld name="1_Slide with Placehol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2"/>
          </p:nvPr>
        </p:nvSpPr>
        <p:spPr>
          <a:xfrm>
            <a:off x="5521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3"/>
          </p:nvPr>
        </p:nvSpPr>
        <p:spPr>
          <a:xfrm>
            <a:off x="33374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4"/>
          </p:nvPr>
        </p:nvSpPr>
        <p:spPr>
          <a:xfrm>
            <a:off x="6160800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ver Slide">
  <p:cSld name="Cover Slid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ver Slide with Logo">
  <p:cSld name="Cover Slide_2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514" y="628706"/>
            <a:ext cx="4936973" cy="3885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Acknowledgments Slide">
  <p:cSld name="Cover Slide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Playfair Display"/>
              <a:buNone/>
              <a:defRPr sz="5600" i="0" u="none" strike="noStrike" cap="non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1"/>
          </p:nvPr>
        </p:nvSpPr>
        <p:spPr>
          <a:xfrm>
            <a:off x="509521" y="1401113"/>
            <a:ext cx="5120100" cy="15582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27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Custom Layou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ig Concept Slide">
  <p:cSld name="Slide with Placehol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509577" y="2245519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509577" y="3154509"/>
            <a:ext cx="6737700" cy="953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">
  <p:cSld name="Large Picture with Logo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44" name="Google Shape;44;p10"/>
          <p:cNvPicPr preferRelativeResize="0"/>
          <p:nvPr/>
        </p:nvPicPr>
        <p:blipFill rotWithShape="1">
          <a:blip r:embed="rId2">
            <a:alphaModFix/>
          </a:blip>
          <a:srcRect l="27412" r="6551" b="2009"/>
          <a:stretch/>
        </p:blipFill>
        <p:spPr>
          <a:xfrm>
            <a:off x="7006675" y="-56025"/>
            <a:ext cx="2176574" cy="484604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0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1">
  <p:cSld name="Large Picture with Logo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2">
  <p:cSld name="Large Picture with Logo_1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53" name="Google Shape;53;p12"/>
          <p:cNvPicPr preferRelativeResize="0"/>
          <p:nvPr/>
        </p:nvPicPr>
        <p:blipFill rotWithShape="1">
          <a:blip r:embed="rId2">
            <a:alphaModFix/>
          </a:blip>
          <a:srcRect l="27412" r="6551"/>
          <a:stretch/>
        </p:blipFill>
        <p:spPr>
          <a:xfrm>
            <a:off x="7006675" y="-57150"/>
            <a:ext cx="2137324" cy="485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2"/>
          <p:cNvPicPr preferRelativeResize="0"/>
          <p:nvPr/>
        </p:nvPicPr>
        <p:blipFill rotWithShape="1">
          <a:blip r:embed="rId3">
            <a:alphaModFix/>
          </a:blip>
          <a:srcRect l="8950"/>
          <a:stretch/>
        </p:blipFill>
        <p:spPr>
          <a:xfrm>
            <a:off x="7006665" y="-57150"/>
            <a:ext cx="6633784" cy="485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2"/>
          <p:cNvPicPr preferRelativeResize="0"/>
          <p:nvPr/>
        </p:nvPicPr>
        <p:blipFill rotWithShape="1">
          <a:blip r:embed="rId4">
            <a:alphaModFix/>
          </a:blip>
          <a:srcRect l="39028"/>
          <a:stretch/>
        </p:blipFill>
        <p:spPr>
          <a:xfrm>
            <a:off x="7006676" y="-57150"/>
            <a:ext cx="4442373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2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3">
  <p:cSld name="Large Picture with Logo_1_1_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2">
            <a:alphaModFix/>
          </a:blip>
          <a:srcRect l="24210" r="1252"/>
          <a:stretch/>
        </p:blipFill>
        <p:spPr>
          <a:xfrm>
            <a:off x="7006675" y="-57150"/>
            <a:ext cx="5430948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4">
  <p:cSld name="Large Picture with Logo_1_1_1_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2">
            <a:alphaModFix/>
          </a:blip>
          <a:srcRect l="34525"/>
          <a:stretch/>
        </p:blipFill>
        <p:spPr>
          <a:xfrm>
            <a:off x="7010075" y="-57150"/>
            <a:ext cx="2543048" cy="48561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with Large Photo">
  <p:cSld name="3_Placehol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sz="27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2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with Large Photo 1">
  <p:cSld name="3_Placeholder_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sz="27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2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ingle Statistic">
  <p:cSld name="1_Placeholder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454066" y="182433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4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ubTitle" idx="2"/>
          </p:nvPr>
        </p:nvSpPr>
        <p:spPr>
          <a:xfrm>
            <a:off x="454066" y="3127509"/>
            <a:ext cx="8353200" cy="7152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ubTitle" idx="3"/>
          </p:nvPr>
        </p:nvSpPr>
        <p:spPr>
          <a:xfrm>
            <a:off x="4838166" y="1824350"/>
            <a:ext cx="38664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title" idx="4"/>
          </p:nvPr>
        </p:nvSpPr>
        <p:spPr>
          <a:xfrm>
            <a:off x="509577" y="837514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Multiple Statistics">
  <p:cSld name="1_Placeholder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454066" y="75948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ubTitle" idx="2"/>
          </p:nvPr>
        </p:nvSpPr>
        <p:spPr>
          <a:xfrm>
            <a:off x="4759893" y="759488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title" idx="3"/>
          </p:nvPr>
        </p:nvSpPr>
        <p:spPr>
          <a:xfrm>
            <a:off x="454066" y="2037533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subTitle" idx="4"/>
          </p:nvPr>
        </p:nvSpPr>
        <p:spPr>
          <a:xfrm>
            <a:off x="4759893" y="2037533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title" idx="5"/>
          </p:nvPr>
        </p:nvSpPr>
        <p:spPr>
          <a:xfrm>
            <a:off x="454066" y="343770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subTitle" idx="6"/>
          </p:nvPr>
        </p:nvSpPr>
        <p:spPr>
          <a:xfrm>
            <a:off x="4759893" y="3437709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Quote">
  <p:cSld name="CUSTOM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/>
          <p:nvPr/>
        </p:nvSpPr>
        <p:spPr>
          <a:xfrm>
            <a:off x="5748887" y="1561152"/>
            <a:ext cx="1718100" cy="219300"/>
          </a:xfrm>
          <a:prstGeom prst="rect">
            <a:avLst/>
          </a:prstGeom>
          <a:solidFill>
            <a:srgbClr val="738D33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9"/>
          <p:cNvSpPr/>
          <p:nvPr/>
        </p:nvSpPr>
        <p:spPr>
          <a:xfrm>
            <a:off x="7467434" y="1561152"/>
            <a:ext cx="1718100" cy="219300"/>
          </a:xfrm>
          <a:prstGeom prst="rect">
            <a:avLst/>
          </a:prstGeom>
          <a:solidFill>
            <a:srgbClr val="625578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9"/>
          <p:cNvSpPr/>
          <p:nvPr/>
        </p:nvSpPr>
        <p:spPr>
          <a:xfrm>
            <a:off x="0" y="1561152"/>
            <a:ext cx="1718100" cy="2193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1718076" y="1561152"/>
            <a:ext cx="1718100" cy="219300"/>
          </a:xfrm>
          <a:prstGeom prst="rect">
            <a:avLst/>
          </a:prstGeom>
          <a:solidFill>
            <a:srgbClr val="498DA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3589051" y="975950"/>
            <a:ext cx="19659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>
                <a:solidFill>
                  <a:srgbClr val="818387"/>
                </a:solidFill>
              </a:rPr>
              <a:t>“</a:t>
            </a:r>
            <a:endParaRPr sz="12000" b="1">
              <a:solidFill>
                <a:srgbClr val="818387"/>
              </a:solidFill>
            </a:endParaRPr>
          </a:p>
        </p:txBody>
      </p:sp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1682308" y="2130769"/>
            <a:ext cx="5779500" cy="19626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2"/>
          </p:nvPr>
        </p:nvSpPr>
        <p:spPr>
          <a:xfrm>
            <a:off x="3300470" y="3999056"/>
            <a:ext cx="2543100" cy="3846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3_Title Slide">
  <p:cSld name="13_Title Sli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>
            <a:spLocks noGrp="1"/>
          </p:cNvSpPr>
          <p:nvPr>
            <p:ph type="pic" idx="2"/>
          </p:nvPr>
        </p:nvSpPr>
        <p:spPr>
          <a:xfrm>
            <a:off x="192505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20"/>
          <p:cNvSpPr>
            <a:spLocks noGrp="1"/>
          </p:cNvSpPr>
          <p:nvPr>
            <p:ph type="pic" idx="3"/>
          </p:nvPr>
        </p:nvSpPr>
        <p:spPr>
          <a:xfrm>
            <a:off x="1997242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20"/>
          <p:cNvSpPr>
            <a:spLocks noGrp="1"/>
          </p:cNvSpPr>
          <p:nvPr>
            <p:ph type="pic" idx="4"/>
          </p:nvPr>
        </p:nvSpPr>
        <p:spPr>
          <a:xfrm>
            <a:off x="3801980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20"/>
          <p:cNvSpPr>
            <a:spLocks noGrp="1"/>
          </p:cNvSpPr>
          <p:nvPr>
            <p:ph type="pic" idx="5"/>
          </p:nvPr>
        </p:nvSpPr>
        <p:spPr>
          <a:xfrm>
            <a:off x="5606716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20"/>
          <p:cNvSpPr>
            <a:spLocks noGrp="1"/>
          </p:cNvSpPr>
          <p:nvPr>
            <p:ph type="pic" idx="6"/>
          </p:nvPr>
        </p:nvSpPr>
        <p:spPr>
          <a:xfrm>
            <a:off x="7411453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ver Page 1">
  <p:cSld name="1_Cover Page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-53437" y="3390300"/>
            <a:ext cx="91974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1"/>
          <p:cNvPicPr preferRelativeResize="0"/>
          <p:nvPr/>
        </p:nvPicPr>
        <p:blipFill rotWithShape="1">
          <a:blip r:embed="rId2">
            <a:alphaModFix/>
          </a:blip>
          <a:srcRect t="43844" r="-563" b="13732"/>
          <a:stretch/>
        </p:blipFill>
        <p:spPr>
          <a:xfrm>
            <a:off x="-53437" y="-70462"/>
            <a:ext cx="9250875" cy="3460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>
            <a:spLocks noGrp="1"/>
          </p:cNvSpPr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00" tIns="25700" rIns="25700" bIns="2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fair Display"/>
              <a:buNone/>
              <a:defRPr sz="3600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subTitle" idx="1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subTitle" idx="2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09577" y="1401113"/>
            <a:ext cx="80058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Roboto"/>
              <a:buNone/>
              <a:defRPr sz="22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8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None/>
              <a:defRPr sz="15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None/>
              <a:defRPr sz="13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1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sz="5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22">
            <a:alphaModFix/>
          </a:blip>
          <a:srcRect t="35296"/>
          <a:stretch/>
        </p:blipFill>
        <p:spPr>
          <a:xfrm>
            <a:off x="0" y="4794384"/>
            <a:ext cx="9144000" cy="34911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teststudent@trinity.edu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mailto:teststudent@trinity.edu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deltech.com/blog/prompt-engineering-classification-of-techniques-and-prompt-tuning/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marL="0" indent="0">
              <a:buNone/>
            </a:pPr>
            <a:r>
              <a:rPr dirty="0"/>
              <a:t>CSCI 3495</a:t>
            </a:r>
          </a:p>
          <a:p>
            <a:pPr marL="0" indent="0">
              <a:buNone/>
            </a:pPr>
            <a:r>
              <a:rPr lang="en-US" dirty="0"/>
              <a:t>Prompt Engineering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926" y="3549825"/>
            <a:ext cx="5312514" cy="970800"/>
          </a:xfrm>
        </p:spPr>
        <p:txBody>
          <a:bodyPr wrap="square"/>
          <a:lstStyle/>
          <a:p>
            <a:pPr marL="0" indent="0">
              <a:buNone/>
            </a:pPr>
            <a:r>
              <a:t>Natural Language Processing &amp; Large Language Models</a:t>
            </a:r>
          </a:p>
          <a:p>
            <a:pPr marL="0" indent="0">
              <a:buNone/>
            </a:pPr>
            <a:r>
              <a:t>Week 6, Class 1  ·  Mon Sep 28, 2026</a:t>
            </a:r>
          </a:p>
        </p:txBody>
      </p:sp>
      <p:pic>
        <p:nvPicPr>
          <p:cNvPr id="7" name="Picture 6" descr="A person eating spaghetti&#10;&#10;AI-generated content may be incorrect.">
            <a:extLst>
              <a:ext uri="{FF2B5EF4-FFF2-40B4-BE49-F238E27FC236}">
                <a16:creationId xmlns:a16="http://schemas.microsoft.com/office/drawing/2014/main" id="{44165F41-40B8-329C-92BE-82DC31506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241" y="1817700"/>
            <a:ext cx="3048497" cy="30484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1493241-A162-E98C-ED1D-8E6521F9D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DGX Spark: Our Class Shared PC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9330FA3-BA29-006E-82C4-2D924990E45E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computer hardware with a screen&#10;&#10;AI-generated content may be incorrect.">
            <a:extLst>
              <a:ext uri="{FF2B5EF4-FFF2-40B4-BE49-F238E27FC236}">
                <a16:creationId xmlns:a16="http://schemas.microsoft.com/office/drawing/2014/main" id="{5011ED12-1E4A-952D-C840-9B675ACDFC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01" r="13226"/>
          <a:stretch/>
        </p:blipFill>
        <p:spPr>
          <a:xfrm>
            <a:off x="4946225" y="1293487"/>
            <a:ext cx="3855871" cy="3443063"/>
          </a:xfrm>
          <a:prstGeom prst="rect">
            <a:avLst/>
          </a:prstGeom>
        </p:spPr>
      </p:pic>
      <p:pic>
        <p:nvPicPr>
          <p:cNvPr id="9" name="Picture 8" descr="A table with text and numbers&#10;&#10;AI-generated content may be incorrect.">
            <a:extLst>
              <a:ext uri="{FF2B5EF4-FFF2-40B4-BE49-F238E27FC236}">
                <a16:creationId xmlns:a16="http://schemas.microsoft.com/office/drawing/2014/main" id="{ACFE0D01-F56F-BBD1-5C44-747BADA2F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878" y="1692242"/>
            <a:ext cx="4468086" cy="262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091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C94D68-E0A8-2541-046C-509F186A4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Resources Provided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A6DCCED-1795-B092-41A1-E617CF1F0E8C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4978FA6-0460-CF69-47BF-4789505BD6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8043" y="1766909"/>
            <a:ext cx="2997919" cy="12880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9717E1-0340-C03F-AD7D-9283E079E8CE}"/>
              </a:ext>
            </a:extLst>
          </p:cNvPr>
          <p:cNvSpPr txBox="1"/>
          <p:nvPr/>
        </p:nvSpPr>
        <p:spPr>
          <a:xfrm>
            <a:off x="6137072" y="3522426"/>
            <a:ext cx="2601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Jupyter</a:t>
            </a:r>
            <a:r>
              <a:rPr lang="en-US" dirty="0"/>
              <a:t> Notebooks with high-compute GPU/CPU access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C37B38-2BD8-1FE3-D068-4AAF1A7917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038" y="1544646"/>
            <a:ext cx="2997919" cy="18366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A690BEF-4B46-F7AD-91C7-9E21AC402C9E}"/>
              </a:ext>
            </a:extLst>
          </p:cNvPr>
          <p:cNvSpPr txBox="1"/>
          <p:nvPr/>
        </p:nvSpPr>
        <p:spPr>
          <a:xfrm>
            <a:off x="280956" y="3522426"/>
            <a:ext cx="2997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 </a:t>
            </a:r>
            <a:r>
              <a:rPr lang="en-US" dirty="0" err="1"/>
              <a:t>WebUI</a:t>
            </a:r>
            <a:r>
              <a:rPr lang="en-US" dirty="0"/>
              <a:t>: Open-source LLM Chat Interface</a:t>
            </a:r>
          </a:p>
        </p:txBody>
      </p:sp>
      <p:pic>
        <p:nvPicPr>
          <p:cNvPr id="13" name="Picture 12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4234E475-762C-D6A9-F208-8F6FED1E27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0857" y="1544646"/>
            <a:ext cx="2189506" cy="192285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1DC6620-1271-94E1-76D6-B7EF83183CB7}"/>
              </a:ext>
            </a:extLst>
          </p:cNvPr>
          <p:cNvSpPr txBox="1"/>
          <p:nvPr/>
        </p:nvSpPr>
        <p:spPr>
          <a:xfrm>
            <a:off x="3407267" y="3522426"/>
            <a:ext cx="2601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LLM API: Programmatic access to open-source LLMs</a:t>
            </a:r>
          </a:p>
        </p:txBody>
      </p:sp>
    </p:spTree>
    <p:extLst>
      <p:ext uri="{BB962C8B-B14F-4D97-AF65-F5344CB8AC3E}">
        <p14:creationId xmlns:p14="http://schemas.microsoft.com/office/powerpoint/2010/main" val="861707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CDAEC65-BED4-0AE5-851A-080AE6150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</a:t>
            </a:r>
            <a:r>
              <a:rPr lang="en-US" dirty="0" err="1"/>
              <a:t>WebUI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AF83364-A275-766A-5B77-0CC19C98C889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0A6F6D-958C-21B0-E94A-A81FC63F3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673" y="1588875"/>
            <a:ext cx="4280239" cy="26222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DEF2D5-D780-E9B9-4024-AB26D0F8CC61}"/>
              </a:ext>
            </a:extLst>
          </p:cNvPr>
          <p:cNvSpPr txBox="1"/>
          <p:nvPr/>
        </p:nvSpPr>
        <p:spPr>
          <a:xfrm>
            <a:off x="304157" y="1588875"/>
            <a:ext cx="426985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URL: </a:t>
            </a:r>
            <a:r>
              <a:rPr lang="en-US" sz="2000" u="sng" dirty="0"/>
              <a:t>spark.cs.trinity.edu:71</a:t>
            </a:r>
          </a:p>
          <a:p>
            <a:endParaRPr lang="en-US" sz="2000" dirty="0"/>
          </a:p>
          <a:p>
            <a:r>
              <a:rPr lang="en-US" sz="2000" dirty="0"/>
              <a:t>Test using your provide login credentials. </a:t>
            </a:r>
          </a:p>
          <a:p>
            <a:endParaRPr lang="en-US" sz="2000" dirty="0"/>
          </a:p>
          <a:p>
            <a:r>
              <a:rPr lang="en-US" sz="2000" dirty="0"/>
              <a:t>Test credentials: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hlinkClick r:id="rId3"/>
              </a:rPr>
              <a:t>teststudent@trinity.edu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fYEEENmiRUmsGcnW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16520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8E5C21-45D6-418D-F774-67C199C14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JupyterHub</a:t>
            </a:r>
            <a:r>
              <a:rPr lang="en-US" dirty="0"/>
              <a:t> in Spark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7BF86BA-F4F3-9D1D-0485-53C8A7658A5D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7DDCD2-8CDE-8154-C634-5D73A466D8CD}"/>
              </a:ext>
            </a:extLst>
          </p:cNvPr>
          <p:cNvSpPr txBox="1"/>
          <p:nvPr/>
        </p:nvSpPr>
        <p:spPr>
          <a:xfrm>
            <a:off x="302149" y="1588875"/>
            <a:ext cx="426985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URL: </a:t>
            </a:r>
            <a:r>
              <a:rPr lang="en-US" sz="2000" u="sng" dirty="0"/>
              <a:t>spark.cs.trinity.edu:71/</a:t>
            </a:r>
            <a:r>
              <a:rPr lang="en-US" sz="2000" u="sng" dirty="0" err="1"/>
              <a:t>jupyter</a:t>
            </a:r>
            <a:endParaRPr lang="en-US" sz="2000" u="sng" dirty="0"/>
          </a:p>
          <a:p>
            <a:endParaRPr lang="en-US" sz="2000" dirty="0"/>
          </a:p>
          <a:p>
            <a:r>
              <a:rPr lang="en-US" sz="2000" dirty="0"/>
              <a:t>Test using your provide login credentials. </a:t>
            </a:r>
          </a:p>
          <a:p>
            <a:endParaRPr lang="en-US" sz="2000" dirty="0"/>
          </a:p>
          <a:p>
            <a:r>
              <a:rPr lang="en-US" sz="2000" dirty="0"/>
              <a:t>Test credentials: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hlinkClick r:id="rId2"/>
              </a:rPr>
              <a:t>teststudent@trinity.edu</a:t>
            </a:r>
            <a:r>
              <a:rPr lang="en-US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fYEEENmiRUmsGcnW</a:t>
            </a:r>
            <a:endParaRPr lang="en-US" sz="2000" dirty="0"/>
          </a:p>
          <a:p>
            <a:endParaRPr lang="en-US" sz="2000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E071528-04CC-3EC6-CF4F-BB5A21EEA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212" y="1588875"/>
            <a:ext cx="4661788" cy="304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29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17BE918-B9DD-A7C6-6EB8-B88478FF6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API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F4DAD6A-8967-C428-C516-E51E37B9EB7A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948F5B-24EE-2255-304B-F3CA3DE014EB}"/>
              </a:ext>
            </a:extLst>
          </p:cNvPr>
          <p:cNvSpPr txBox="1"/>
          <p:nvPr/>
        </p:nvSpPr>
        <p:spPr>
          <a:xfrm>
            <a:off x="2104227" y="3326430"/>
            <a:ext cx="6219967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URL: </a:t>
            </a:r>
            <a:r>
              <a:rPr lang="en-US" sz="2000" u="sng" dirty="0"/>
              <a:t>spark.cs.trinity.edu:71/v1</a:t>
            </a:r>
          </a:p>
          <a:p>
            <a:endParaRPr lang="en-US" sz="2000" dirty="0"/>
          </a:p>
          <a:p>
            <a:r>
              <a:rPr lang="en-US" sz="2000" dirty="0"/>
              <a:t>Test API key:</a:t>
            </a:r>
          </a:p>
          <a:p>
            <a:r>
              <a:rPr lang="en-US" dirty="0"/>
              <a:t>sk-trin-TUcfv022BapUHhXeGOkDfSPWj2PGUA8H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137887-7EEE-46A1-6A93-82179996D1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02" b="23406"/>
          <a:stretch/>
        </p:blipFill>
        <p:spPr>
          <a:xfrm>
            <a:off x="1267000" y="1197783"/>
            <a:ext cx="6609999" cy="1860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434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0257199-F210-C3FD-5339-81BD902A4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API: OpenAI SDK 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6475EE6-D58F-83EE-CCE0-52D9515EFC3E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B145E1-911B-0BAC-7968-CE666B16DAF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6EFF3D-50EF-2C27-CD06-5B880D3A78CC}"/>
              </a:ext>
            </a:extLst>
          </p:cNvPr>
          <p:cNvSpPr txBox="1"/>
          <p:nvPr/>
        </p:nvSpPr>
        <p:spPr>
          <a:xfrm>
            <a:off x="302149" y="1588875"/>
            <a:ext cx="452497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Access the docs at: </a:t>
            </a:r>
            <a:r>
              <a:rPr lang="en-US" sz="1800" u="sng" dirty="0"/>
              <a:t>http://spark.cs.trinity.edu:71/docs</a:t>
            </a:r>
            <a:endParaRPr lang="en-US" sz="1800" dirty="0"/>
          </a:p>
          <a:p>
            <a:endParaRPr lang="en-US" sz="1800" dirty="0"/>
          </a:p>
          <a:p>
            <a:r>
              <a:rPr lang="en-US" dirty="0"/>
              <a:t>Try sending a request via Python</a:t>
            </a:r>
          </a:p>
          <a:p>
            <a:endParaRPr lang="en-US" sz="800" dirty="0"/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pip install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openai</a:t>
            </a:r>
            <a:endParaRPr lang="en-US" sz="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openai</a:t>
            </a:r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import OpenAI</a:t>
            </a:r>
          </a:p>
          <a:p>
            <a:endParaRPr lang="en-US" sz="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client = OpenAI(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base_url</a:t>
            </a:r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="http://spark.cs.trinity.edu:71/v1",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api_key</a:t>
            </a:r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</a:t>
            </a:r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-trin-...",  # your key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9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resp = 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client.chat.completions.create</a:t>
            </a:r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model="qwen2.5:0.5b",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messages=[{"role": "user", "content": "Explain Big-O in one sentence."}],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resp.choices</a:t>
            </a:r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[0].</a:t>
            </a:r>
            <a:r>
              <a:rPr lang="en-US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message.content</a:t>
            </a:r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800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A0BA26-FBC9-C8EB-2D30-0E48D023D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5123" y="1678042"/>
            <a:ext cx="4322734" cy="282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716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09C430-9D35-030E-B619-9FAEAEEDF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Fundamentals of Prompt Engineering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D3E6370-2355-7A7A-7BAD-54E16FC5332D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black screen with text and colorful circles&#10;&#10;AI-generated content may be incorrect.">
            <a:extLst>
              <a:ext uri="{FF2B5EF4-FFF2-40B4-BE49-F238E27FC236}">
                <a16:creationId xmlns:a16="http://schemas.microsoft.com/office/drawing/2014/main" id="{EA149DF9-A3F7-5AD2-75E0-CE942B068F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13" t="29309" r="9060"/>
          <a:stretch/>
        </p:blipFill>
        <p:spPr>
          <a:xfrm>
            <a:off x="445910" y="1327869"/>
            <a:ext cx="8005800" cy="3717816"/>
          </a:xfrm>
          <a:prstGeom prst="rect">
            <a:avLst/>
          </a:prstGeom>
        </p:spPr>
      </p:pic>
      <p:pic>
        <p:nvPicPr>
          <p:cNvPr id="9" name="Picture 8" descr="A person with her arms crossed&#10;&#10;AI-generated content may be incorrect.">
            <a:hlinkClick r:id="rId3"/>
            <a:extLst>
              <a:ext uri="{FF2B5EF4-FFF2-40B4-BE49-F238E27FC236}">
                <a16:creationId xmlns:a16="http://schemas.microsoft.com/office/drawing/2014/main" id="{8F775E4B-D47A-8B81-1412-DF1E177799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9155" y="336825"/>
            <a:ext cx="1392683" cy="704795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420740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448386F-F82B-6807-3388-E52FE2F15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GPT-3: In-Context Learning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421D044-8932-BE81-C09D-971749642DAB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505F6E0A-935C-8AF8-CD0B-8B668E87F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788" y="1503187"/>
            <a:ext cx="4800314" cy="27259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0C6D25-A58A-139E-95A7-C066100F799F}"/>
              </a:ext>
            </a:extLst>
          </p:cNvPr>
          <p:cNvSpPr txBox="1"/>
          <p:nvPr/>
        </p:nvSpPr>
        <p:spPr>
          <a:xfrm>
            <a:off x="4139853" y="4236169"/>
            <a:ext cx="48610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GPT-3 Paper: “</a:t>
            </a:r>
            <a:r>
              <a:rPr lang="en-US" b="1" dirty="0"/>
              <a:t>Larger models make increasingly efficient use of in-context information</a:t>
            </a:r>
            <a:r>
              <a:rPr lang="en-US" dirty="0"/>
              <a:t>.”</a:t>
            </a:r>
          </a:p>
        </p:txBody>
      </p:sp>
      <p:pic>
        <p:nvPicPr>
          <p:cNvPr id="10" name="Picture 9" descr="A document with text and images&#10;&#10;AI-generated content may be incorrect.">
            <a:extLst>
              <a:ext uri="{FF2B5EF4-FFF2-40B4-BE49-F238E27FC236}">
                <a16:creationId xmlns:a16="http://schemas.microsoft.com/office/drawing/2014/main" id="{D7525056-9464-148E-5493-C3F75B9BC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63" y="1588875"/>
            <a:ext cx="3052351" cy="3956357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2496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E3EE95-76A8-E7CD-089E-D476C6409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 and Few-Shot Learning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9F67781-3DC2-BD44-7EE5-97A0240827C6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CA2F4D73-53F7-11DD-40B8-94E9565D3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969" y="1305739"/>
            <a:ext cx="3600538" cy="1569106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90B051-0606-005A-548F-79DA0C505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969" y="2833152"/>
            <a:ext cx="3779766" cy="1960931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565A5BB-9950-12F8-6933-D85169E567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468" y="1588875"/>
            <a:ext cx="4562596" cy="298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982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DC073E-8F59-4994-D477-CE3113EA5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code it!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893D221-C8D8-EFE6-C19A-00BF34939739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robot holding a sign&#10;&#10;AI-generated content may be incorrect.">
            <a:extLst>
              <a:ext uri="{FF2B5EF4-FFF2-40B4-BE49-F238E27FC236}">
                <a16:creationId xmlns:a16="http://schemas.microsoft.com/office/drawing/2014/main" id="{30A65869-D964-AB90-3105-784F322E6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136" y="1388726"/>
            <a:ext cx="6425979" cy="321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443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Break</a:t>
            </a:r>
          </a:p>
        </p:txBody>
      </p:sp>
      <p:pic>
        <p:nvPicPr>
          <p:cNvPr id="5" name="Picture 4" descr="Five minutes: stretch, refill water, compare notes. Then the MLP classifier lab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312"/>
            <a:ext cx="8595360" cy="31863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B117B-6074-6B84-C9E9-E661781AA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435900-0C0C-3126-D14D-DA44DA174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 Worktime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727C52C-93DB-D1ED-CA55-6430CBE8112D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A group of people putting their hands together&#10;&#10;AI-generated content may be incorrect.">
            <a:extLst>
              <a:ext uri="{FF2B5EF4-FFF2-40B4-BE49-F238E27FC236}">
                <a16:creationId xmlns:a16="http://schemas.microsoft.com/office/drawing/2014/main" id="{6675D112-1C1C-B2C4-2125-B7AD772CD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1243815"/>
            <a:ext cx="7360920" cy="3680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270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">
      <a:dk1>
        <a:srgbClr val="434343"/>
      </a:dk1>
      <a:lt1>
        <a:srgbClr val="FFFFFF"/>
      </a:lt1>
      <a:dk2>
        <a:srgbClr val="818387"/>
      </a:dk2>
      <a:lt2>
        <a:srgbClr val="F6F7FA"/>
      </a:lt2>
      <a:accent1>
        <a:srgbClr val="723130"/>
      </a:accent1>
      <a:accent2>
        <a:srgbClr val="818387"/>
      </a:accent2>
      <a:accent3>
        <a:srgbClr val="FFB600"/>
      </a:accent3>
      <a:accent4>
        <a:srgbClr val="738D33"/>
      </a:accent4>
      <a:accent5>
        <a:srgbClr val="625578"/>
      </a:accent5>
      <a:accent6>
        <a:srgbClr val="498DA0"/>
      </a:accent6>
      <a:hlink>
        <a:srgbClr val="B1B4B5"/>
      </a:hlink>
      <a:folHlink>
        <a:srgbClr val="B0B1B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719</TotalTime>
  <Words>290</Words>
  <Application>Microsoft Macintosh PowerPoint</Application>
  <PresentationFormat>On-screen Show (16:9)</PresentationFormat>
  <Paragraphs>56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Roboto</vt:lpstr>
      <vt:lpstr>Roboto Light</vt:lpstr>
      <vt:lpstr>Courier New</vt:lpstr>
      <vt:lpstr>Playfair Display</vt:lpstr>
      <vt:lpstr>Arial</vt:lpstr>
      <vt:lpstr>Office Theme</vt:lpstr>
      <vt:lpstr>CSCI 3495 Prompt Engineering</vt:lpstr>
      <vt:lpstr>DGX Spark: Our Class Shared PC</vt:lpstr>
      <vt:lpstr>3 Resources Provided</vt:lpstr>
      <vt:lpstr>Open WebUI</vt:lpstr>
      <vt:lpstr>JupyterHub in Spark</vt:lpstr>
      <vt:lpstr>LLM API</vt:lpstr>
      <vt:lpstr>LLM API: OpenAI SDK </vt:lpstr>
      <vt:lpstr>Fundamentals of Prompt Engineering</vt:lpstr>
      <vt:lpstr>GPT-3: In-Context Learning</vt:lpstr>
      <vt:lpstr>Zero and Few-Shot Learning</vt:lpstr>
      <vt:lpstr>Let’s code it!</vt:lpstr>
      <vt:lpstr>Break</vt:lpstr>
      <vt:lpstr>Proposal Worktime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Davalos Anaya, Eduardo</cp:lastModifiedBy>
  <cp:revision>8</cp:revision>
  <dcterms:modified xsi:type="dcterms:W3CDTF">2026-09-28T03:56:39Z</dcterms:modified>
</cp:coreProperties>
</file>