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BERT &amp; Masked Language Modeling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2</a:t>
            </a:r>
          </a:p>
        </p:txBody>
      </p:sp>
      <p:pic>
        <p:nvPicPr>
          <p:cNvPr id="5" name="Picture 4" descr="You have been doing masked language modeling since elementary school. What word is _AN__AN, and how did your brain fill the blank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478149"/>
            <a:ext cx="2743200" cy="14744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"Hangman game," Wikimedia Commons, CC0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5" y="1078992"/>
            <a:ext cx="76307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Devlin et al. 2019 Figs. 1 &amp; 3; Jay Alammar (jalammar.github.io); letter-dice photo: Unsplash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shallow vs. deep bidirectionality</a:t>
            </a:r>
          </a:p>
        </p:txBody>
      </p:sp>
      <p:pic>
        <p:nvPicPr>
          <p:cNvPr id="5" name="Picture 4" descr="ELMo tapes two one-way LSTMs together; in BERT every layer sees both sides at o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3223"/>
            <a:ext cx="8595360" cy="35605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 (arXiv:1810.04805), Fig.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ransformers read every token in parallel. BERT uses that to look both ways at o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could read the whole sentence at once, would you still go left to right?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Transformers read every token in parallel. BERT uses that to look both ways at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BERT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BERT (Devlin et al., 2019)</a:t>
            </a:r>
          </a:p>
        </p:txBody>
      </p:sp>
      <p:pic>
        <p:nvPicPr>
          <p:cNvPr id="5" name="Picture 4" descr="Bidirectional Encoder Representations from Transformers, NAACL 2019 (posted Oct 2018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7846"/>
            <a:ext cx="8595360" cy="29513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Objective 1: Masked 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Now every layer can attend in both directions safely</a:t>
            </a:r>
          </a:p>
        </p:txBody>
      </p:sp>
      <p:pic>
        <p:nvPicPr>
          <p:cNvPr id="6" name="Picture 5" descr="80% become [MASK], 10% a random word, 10% are left alone and still predict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768" y="1078992"/>
            <a:ext cx="7242463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Devlin et al. 2019, arXiv:1810.04805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15% masking recipe</a:t>
            </a:r>
          </a:p>
        </p:txBody>
      </p:sp>
      <p:pic>
        <p:nvPicPr>
          <p:cNvPr id="5" name="Picture 4" descr="The 15% masking recip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1419"/>
            <a:ext cx="8595360" cy="2644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the training signal comes from</a:t>
            </a:r>
          </a:p>
        </p:txBody>
      </p:sp>
      <p:pic>
        <p:nvPicPr>
          <p:cNvPr id="5" name="Picture 4" descr="Loss flows only through the 3 selected tokens; &quot;the&quot; was swapped for &quot;apricot,&quot; yet the model must still recover &quot;the.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847" y="1078992"/>
            <a:ext cx="600430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9.3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Objective 2: Next Sentence Prediction</a:t>
            </a:r>
          </a:p>
        </p:txBody>
      </p:sp>
      <p:pic>
        <p:nvPicPr>
          <p:cNvPr id="5" name="Picture 4" descr="Predict whether segment B really follows segment A (50/50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5656"/>
            <a:ext cx="8595360" cy="2495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Inputs &amp; fine-tuning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BERT's input representation</a:t>
            </a:r>
          </a:p>
        </p:txBody>
      </p:sp>
      <p:pic>
        <p:nvPicPr>
          <p:cNvPr id="5" name="Picture 4" descr="Three embeddings summed per token; the A/B segment row is what lets ONE encoder take sentence pai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2422"/>
            <a:ext cx="8595360" cy="2922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 (arXiv:1810.04805), Fig.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[CLS] token</a:t>
            </a:r>
          </a:p>
        </p:txBody>
      </p:sp>
      <p:pic>
        <p:nvPicPr>
          <p:cNvPr id="5" name="Picture 4" descr="The [CLS] tok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95" y="1078992"/>
            <a:ext cx="657341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WordPiece tokenization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50565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We go deeper on subword tokenization (BPE) in Week 8</a:t>
            </a:r>
          </a:p>
        </p:txBody>
      </p:sp>
      <p:pic>
        <p:nvPicPr>
          <p:cNvPr id="6" name="Picture 5" descr="WordPiece tokeniz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5543"/>
            <a:ext cx="8595360" cy="27735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(Devlin et al. 2019)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pretrained model, every task</a:t>
            </a:r>
          </a:p>
        </p:txBody>
      </p:sp>
      <p:pic>
        <p:nvPicPr>
          <p:cNvPr id="5" name="Picture 4" descr="Everything transfers except the tiny output layer; MNLI, NER and SQuAD all start from the same weigh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321" y="1078992"/>
            <a:ext cx="62413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 (arXiv:1810.04805), Fig.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BERT-base vs. BERT-large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Today we use a tiny BERT so it runs on a laptop CPU in seconds</a:t>
            </a:r>
          </a:p>
        </p:txBody>
      </p:sp>
      <p:pic>
        <p:nvPicPr>
          <p:cNvPr id="6" name="Picture 5" descr="110M vs. 340M parameters; both dwarf ELMo and both fine-tune fa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519" y="1078992"/>
            <a:ext cx="448496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BERT's results</a:t>
            </a:r>
          </a:p>
        </p:txBody>
      </p:sp>
      <p:pic>
        <p:nvPicPr>
          <p:cNvPr id="5" name="Picture 4" descr="BERT's 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51" y="1078992"/>
            <a:ext cx="780869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Encoders, decoders &amp; the BERT family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Encoder vs. decoder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9116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BERT cannot generate fluently; it is built to understand</a:t>
            </a:r>
          </a:p>
        </p:txBody>
      </p:sp>
      <p:pic>
        <p:nvPicPr>
          <p:cNvPr id="6" name="Picture 5" descr="Encoder vs. decoder mode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946"/>
            <a:ext cx="8595360" cy="2454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BERT family</a:t>
            </a:r>
          </a:p>
        </p:txBody>
      </p:sp>
      <p:pic>
        <p:nvPicPr>
          <p:cNvPr id="5" name="Picture 4" descr="The BERT fami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1975"/>
            <a:ext cx="8595360" cy="2923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6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Covers Week 6 lecture + BERT (Devlin 2019)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Finish early and your break starts early; need more time and it comes out of the break</a:t>
            </a:r>
          </a:p>
        </p:txBody>
      </p:sp>
      <p:pic>
        <p:nvPicPr>
          <p:cNvPr id="6" name="Picture 5" descr="Clear your desk. Finish early and your break starts early; need more time and it comes out of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MASK roulette in pai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Activity + exercise: MLM then fine-tuning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Before we fine-tune, a quick competition: predict what BERT will put in the blan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Can you out-guess the model?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Before we fine-tune, a quick competition: predict what BERT will put in the blank.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https://images.unsplash.com/photo-1611996575749-79a3a250f948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MASK roulette</a:t>
            </a:r>
          </a:p>
        </p:txBody>
      </p:sp>
      <p:pic>
        <p:nvPicPr>
          <p:cNvPr id="5" name="Picture 4" descr="Activity: MASK roulet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6217"/>
            <a:ext cx="8595360" cy="32345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functions to implement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Fill the [MASK] with a fill-mask pipeline; fine-tune a tiny BERT classifier</a:t>
            </a:r>
          </a:p>
        </p:txBody>
      </p:sp>
      <p:pic>
        <p:nvPicPr>
          <p:cNvPr id="6" name="Picture 5" descr="Two functions to imple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173" y="1078992"/>
            <a:ext cx="4175654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weeks/week-06/class-02/exercise/bert_mlm.py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8586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Top [MASK] predictions, then test accuracy after a few epochs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0239"/>
            <a:ext cx="8595360" cy="3044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0896"/>
            <a:ext cx="8595360" cy="2805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