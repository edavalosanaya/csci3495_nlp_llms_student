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canal lock moves a boat one gated chamber at a time, and each gate decides what flows through. Ask the class what plays the part of the water once we call this an LSTM.</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six tokens, and only the model on the right can tell who sat on what. A bag of words cannot represent the difference at all, which is the whole reason to read a sentence in order.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Watch one time step at a time: read the next character plus the incoming memory, update the memory, emit a prediction. Every box is the SAME network; the animation loops in slideshow mode.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Backprop through time multiplies many Jacobians; factors &lt; 1 shrink the gradient to zero, &gt; 1 explode it. Factors &lt; 1 the gradient vanishes (no long-range learning); factors &gt; 1 it explodes (unstable).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conveyor belt from the last slide is the top c path. Find the three sigmoid gates guarding it: f (forget old memory), i (admit the tanh candidate g), o (expose h_t).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the outside, barely at all: a feedforward unit (a) takes x, an RNN unit (b) adds h_t-1, an LSTM unit (c) just adds the context line c. Same socket, smarter unit; the rest of the network never notices.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Everyone into today's lab.ipynb. We are not building an LSTM, we are using one, so Part 1 is three lines and two shapes. Feed a batch of sequences in and you get back two things: one output per time step, shape (batch, time, hidden), and the final state, shape (1, batch, hidden). Those two return values ARE the three jobs. Per-step outputs give you generation and tagging; the final state alone gives you classification. Make them say that out loud before moving on.</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Autoregressive generation: sample a word, feed it back in as the next input, repeat. Part 2 of the notebook does exactly this, one character at a time.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loop, different head: emit one output PER time step and you get sequence labeling, here part-of-speech tags for "Janet will back the bill".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Or keep ONLY the last hidden state, which has read everything, and hand it to a feedforward classifier. Spam filter, sentiment, sarcasm: one sequence in, one label out. This is the job they build after the break.</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small LSTMs are already trained and waiting in data/, so nothing here takes more than a second to run. Part 2 generates headlines a character at a time, Part 3 tags a sentence, Part 4 says whether a headline is sarcastic. Put the three forward methods side by side at the end: head(outputs) for the two per-step jobs, head(last_hidden) for the classifier. That single line is the entire difference between the three architectures on the previous slides.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Fig 13.15's panel (d) with real words: read "the green witch arrived", hand over ONE hidden state (the green h_n), and unroll Spanish from it. Your reading (Sutskever et al. 2014) built exactly this with LSTMs; feeding the source reversed lifted BLEU from 25.9 to 30.6.</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Clear your desk: closed-book quiz over Week 6 lecture + seq2seq (Sutskever et al., 2014), ~10 minutes. Finish early and your break starts early; need more time and it comes out of the break.</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three, about twenty-five minutes. Twenty-six thousand real headlines, half from The Onion and half from HuffPost, and the job is to tell them apart. They write the model themselves, and the starting point barely beats guessing. Counting words gets 0.840, so that is the number to chase. Read a few misclassified headlines at the end; the ones it gets wrong are usually the genuinely ambiguous ones, which is the honest finding.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Sequence Models</a:t>
            </a:r>
          </a:p>
        </p:txBody>
      </p:sp>
      <p:sp>
        <p:nvSpPr>
          <p:cNvPr id="3" name="Subtitle 2"/>
          <p:cNvSpPr>
            <a:spLocks noGrp="1"/>
          </p:cNvSpPr>
          <p:nvPr>
            <p:ph type="subTitle" idx="1"/>
          </p:nvPr>
        </p:nvSpPr>
        <p:spPr>
          <a:xfrm>
            <a:off x="493926" y="3549825"/>
            <a:ext cx="6080610" cy="970800"/>
          </a:xfrm>
        </p:spPr>
        <p:txBody>
          <a:bodyPr wrap="square"/>
          <a:lstStyle/>
          <a:p>
            <a:pPr marL="0" indent="0">
              <a:buNone/>
            </a:pPr>
            <a:r>
              <a:t>Natural Language Processing &amp; Large Language Models</a:t>
            </a:r>
          </a:p>
          <a:p>
            <a:pPr marL="0" indent="0">
              <a:buNone/>
            </a:pPr>
            <a:r>
              <a:t>Week 6, Class 2  ·  Wed Sep 30, 2026</a:t>
            </a:r>
          </a:p>
        </p:txBody>
      </p:sp>
      <p:pic>
        <p:nvPicPr>
          <p:cNvPr id="5" name="Picture 4" descr="Sequence Models"/>
          <p:cNvPicPr>
            <a:picLocks noChangeAspect="1"/>
          </p:cNvPicPr>
          <p:nvPr/>
        </p:nvPicPr>
        <p:blipFill>
          <a:blip r:embed="rId3"/>
          <a:stretch>
            <a:fillRect/>
          </a:stretch>
        </p:blipFill>
        <p:spPr>
          <a:xfrm>
            <a:off x="6803136" y="3474720"/>
            <a:ext cx="197510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Jaggery, Geograph Britain and Ireland, CC BY-SA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Averaging throws the order away</a:t>
            </a:r>
          </a:p>
        </p:txBody>
      </p:sp>
      <p:pic>
        <p:nvPicPr>
          <p:cNvPr id="5" name="Picture 4" descr="Averaging throws the order away"/>
          <p:cNvPicPr>
            <a:picLocks noChangeAspect="1"/>
          </p:cNvPicPr>
          <p:nvPr/>
        </p:nvPicPr>
        <p:blipFill>
          <a:blip r:embed="rId3"/>
          <a:stretch>
            <a:fillRect/>
          </a:stretch>
        </p:blipFill>
        <p:spPr>
          <a:xfrm>
            <a:off x="679497" y="1078992"/>
            <a:ext cx="7785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recurrent idea</a:t>
            </a:r>
          </a:p>
        </p:txBody>
      </p:sp>
      <p:pic>
        <p:nvPicPr>
          <p:cNvPr id="5" name="Picture 4" descr="The recurrent idea"/>
          <p:cNvPicPr>
            <a:picLocks noChangeAspect="1"/>
          </p:cNvPicPr>
          <p:nvPr/>
        </p:nvPicPr>
        <p:blipFill>
          <a:blip r:embed="rId3"/>
          <a:stretch>
            <a:fillRect/>
          </a:stretch>
        </p:blipFill>
        <p:spPr>
          <a:xfrm>
            <a:off x="499843" y="1078992"/>
            <a:ext cx="814431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(visuals/_gen_rnn_gif.py)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vanishing gradient problem</a:t>
            </a:r>
          </a:p>
        </p:txBody>
      </p:sp>
      <p:pic>
        <p:nvPicPr>
          <p:cNvPr id="5" name="Picture 4" descr="The vanishing gradient problem"/>
          <p:cNvPicPr>
            <a:picLocks noChangeAspect="1"/>
          </p:cNvPicPr>
          <p:nvPr/>
        </p:nvPicPr>
        <p:blipFill>
          <a:blip r:embed="rId3"/>
          <a:stretch>
            <a:fillRect/>
          </a:stretch>
        </p:blipFill>
        <p:spPr>
          <a:xfrm>
            <a:off x="274320" y="1815740"/>
            <a:ext cx="8595360" cy="211552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Inside the LSTM cell</a:t>
            </a:r>
          </a:p>
        </p:txBody>
      </p:sp>
      <p:pic>
        <p:nvPicPr>
          <p:cNvPr id="5" name="Picture 4" descr="Inside the LSTM cell"/>
          <p:cNvPicPr>
            <a:picLocks noChangeAspect="1"/>
          </p:cNvPicPr>
          <p:nvPr/>
        </p:nvPicPr>
        <p:blipFill>
          <a:blip r:embed="rId3"/>
          <a:stretch>
            <a:fillRect/>
          </a:stretch>
        </p:blipFill>
        <p:spPr>
          <a:xfrm>
            <a:off x="1140968" y="1078992"/>
            <a:ext cx="686206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different is an LSTM, really?</a:t>
            </a:r>
          </a:p>
        </p:txBody>
      </p:sp>
      <p:pic>
        <p:nvPicPr>
          <p:cNvPr id="5" name="Picture 4" descr="How different is an LSTM, really?"/>
          <p:cNvPicPr>
            <a:picLocks noChangeAspect="1"/>
          </p:cNvPicPr>
          <p:nvPr/>
        </p:nvPicPr>
        <p:blipFill>
          <a:blip r:embed="rId3"/>
          <a:stretch>
            <a:fillRect/>
          </a:stretch>
        </p:blipFill>
        <p:spPr>
          <a:xfrm>
            <a:off x="1221098" y="1078992"/>
            <a:ext cx="67018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1 in the notebook</a:t>
            </a:r>
          </a:p>
          <a:p>
            <a:pPr algn="ctr" marL="0" indent="0">
              <a:buNone/>
            </a:pPr>
            <a:r>
              <a:rPr sz="2000">
                <a:solidFill>
                  <a:srgbClr val="222222"/>
                </a:solidFill>
              </a:rPr>
              <a:t>What nn.LSTM hands back, and what you do with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Job 1: language modeling and generation</a:t>
            </a:r>
          </a:p>
        </p:txBody>
      </p:sp>
      <p:pic>
        <p:nvPicPr>
          <p:cNvPr id="5" name="Picture 4" descr="Job 1: language modeling and generation"/>
          <p:cNvPicPr>
            <a:picLocks noChangeAspect="1"/>
          </p:cNvPicPr>
          <p:nvPr/>
        </p:nvPicPr>
        <p:blipFill>
          <a:blip r:embed="rId3"/>
          <a:stretch>
            <a:fillRect/>
          </a:stretch>
        </p:blipFill>
        <p:spPr>
          <a:xfrm>
            <a:off x="1531042" y="1078992"/>
            <a:ext cx="608191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Job 2: label every token</a:t>
            </a:r>
          </a:p>
        </p:txBody>
      </p:sp>
      <p:pic>
        <p:nvPicPr>
          <p:cNvPr id="5" name="Picture 4" descr="Job 2: label every token"/>
          <p:cNvPicPr>
            <a:picLocks noChangeAspect="1"/>
          </p:cNvPicPr>
          <p:nvPr/>
        </p:nvPicPr>
        <p:blipFill>
          <a:blip r:embed="rId3"/>
          <a:stretch>
            <a:fillRect/>
          </a:stretch>
        </p:blipFill>
        <p:spPr>
          <a:xfrm>
            <a:off x="2131567" y="1078992"/>
            <a:ext cx="488086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Job 3: classify the whole sequence</a:t>
            </a:r>
          </a:p>
        </p:txBody>
      </p:sp>
      <p:pic>
        <p:nvPicPr>
          <p:cNvPr id="5" name="Picture 4" descr="Job 3: classify the whole sequence"/>
          <p:cNvPicPr>
            <a:picLocks noChangeAspect="1"/>
          </p:cNvPicPr>
          <p:nvPr/>
        </p:nvPicPr>
        <p:blipFill>
          <a:blip r:embed="rId3"/>
          <a:stretch>
            <a:fillRect/>
          </a:stretch>
        </p:blipFill>
        <p:spPr>
          <a:xfrm>
            <a:off x="1421061" y="1078992"/>
            <a:ext cx="630187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Let's walk through Parts 2, 3 and 4 in the notebook</a:t>
            </a:r>
          </a:p>
          <a:p>
            <a:pPr algn="ctr" marL="0" indent="0">
              <a:buNone/>
            </a:pPr>
            <a:r>
              <a:rPr sz="2000">
                <a:solidFill>
                  <a:srgbClr val="222222"/>
                </a:solidFill>
              </a:rPr>
              <a:t>Three trained models. One line different between them.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this matters: seq2seq</a:t>
            </a:r>
          </a:p>
        </p:txBody>
      </p:sp>
      <p:pic>
        <p:nvPicPr>
          <p:cNvPr id="5" name="Picture 4" descr="Why this matters: seq2seq"/>
          <p:cNvPicPr>
            <a:picLocks noChangeAspect="1"/>
          </p:cNvPicPr>
          <p:nvPr/>
        </p:nvPicPr>
        <p:blipFill>
          <a:blip r:embed="rId3"/>
          <a:stretch>
            <a:fillRect/>
          </a:stretch>
        </p:blipFill>
        <p:spPr>
          <a:xfrm>
            <a:off x="1245944" y="1078992"/>
            <a:ext cx="6652112"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4</a:t>
            </a:r>
          </a:p>
        </p:txBody>
      </p:sp>
      <p:pic>
        <p:nvPicPr>
          <p:cNvPr id="5" name="Picture 4" descr="Quiz 4"/>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quizzes/quiz-04.md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you train one yourself."/>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Train your own sarcasm detector</a:t>
            </a:r>
          </a:p>
        </p:txBody>
      </p:sp>
      <p:pic>
        <p:nvPicPr>
          <p:cNvPr id="5" name="Picture 4" descr="Train your own sarcasm detector"/>
          <p:cNvPicPr>
            <a:picLocks noChangeAspect="1"/>
          </p:cNvPicPr>
          <p:nvPr/>
        </p:nvPicPr>
        <p:blipFill>
          <a:blip r:embed="rId3"/>
          <a:stretch>
            <a:fillRect/>
          </a:stretch>
        </p:blipFill>
        <p:spPr>
          <a:xfrm>
            <a:off x="274320" y="1187209"/>
            <a:ext cx="8595360" cy="337258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the headline corpus in today's notebook</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