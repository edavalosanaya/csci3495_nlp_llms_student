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Sequence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6, Class 2  ·  Wed Sep 30, 2026</a:t>
            </a:r>
          </a:p>
        </p:txBody>
      </p:sp>
      <p:pic>
        <p:nvPicPr>
          <p:cNvPr id="5" name="Picture 4" descr="Sequence Mod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Jaggery, Geograph Britain and Ireland,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Averaging throws the order away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1428"/>
            <a:ext cx="4041648" cy="1184148"/>
          </a:xfrm>
          <a:prstGeom prst="roundRect">
            <a:avLst>
              <a:gd name="adj" fmla="val 1003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27732"/>
            <a:ext cx="3675888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 BAG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900" b="0" u="none">
                <a:solidFill>
                  <a:srgbClr val="1D1D1F"/>
                </a:solidFill>
                <a:latin typeface="Menlo"/>
              </a:rPr>
              <a:t>average the embeddings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Order vanishes. One blurred vector for the whole sentence.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81428"/>
            <a:ext cx="4041648" cy="1184148"/>
          </a:xfrm>
          <a:prstGeom prst="roundRect">
            <a:avLst>
              <a:gd name="adj" fmla="val 1003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27732"/>
            <a:ext cx="3675888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 STREAM</a:t>
            </a:r>
          </a:p>
          <a:p>
            <a:pPr marL="0" indent="0">
              <a:spcAft>
                <a:spcPts val="300"/>
              </a:spcAft>
              <a:buNone/>
            </a:pPr>
            <a:r>
              <a:rPr sz="1900" b="0" u="none">
                <a:solidFill>
                  <a:srgbClr val="1D1D1F"/>
                </a:solidFill>
                <a:latin typeface="Menlo"/>
              </a:rPr>
              <a:t>read one token at a time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A hidden state updates step by step, and carries what came before.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recurrent idea</a:t>
            </a:r>
          </a:p>
        </p:txBody>
      </p:sp>
      <p:pic>
        <p:nvPicPr>
          <p:cNvPr id="5" name="Picture 4" descr="The recurrent ide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(visuals/_gen_rnn_gif.py)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vanishing gradient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H1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1.0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66431" y="2361438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619756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84348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H2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0.4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28987" y="2361438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782312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46904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H3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0.1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91543" y="2361438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944868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09460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LOSS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0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457200" y="3627836"/>
            <a:ext cx="8229600" cy="237744"/>
          </a:xfrm>
          <a:prstGeom prst="leftArrow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7200" y="39387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300" b="0">
                <a:solidFill>
                  <a:srgbClr val="4C72B0"/>
                </a:solidFill>
                <a:latin typeface="Helvetica Neue"/>
              </a:rPr>
              <a:t>the gradient shrinks at every step back, until nothing reaches the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Inside the LSTM cell</a:t>
            </a:r>
          </a:p>
        </p:txBody>
      </p:sp>
      <p:pic>
        <p:nvPicPr>
          <p:cNvPr id="5" name="Picture 4" descr="Inside the LSTM ce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968" y="1078992"/>
            <a:ext cx="686206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different is an LSTM, really?</a:t>
            </a:r>
          </a:p>
        </p:txBody>
      </p:sp>
      <p:pic>
        <p:nvPicPr>
          <p:cNvPr id="5" name="Picture 4" descr="How different is an LSTM, really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098" y="1078992"/>
            <a:ext cx="67018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Let's walk through Part 1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What nn.LSTM hands back, and what you do with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1: language modeling and generation</a:t>
            </a:r>
          </a:p>
        </p:txBody>
      </p:sp>
      <p:pic>
        <p:nvPicPr>
          <p:cNvPr id="5" name="Picture 4" descr="Job 1: language modeling and gene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042" y="1078992"/>
            <a:ext cx="608191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2: label every token</a:t>
            </a:r>
          </a:p>
        </p:txBody>
      </p:sp>
      <p:pic>
        <p:nvPicPr>
          <p:cNvPr id="5" name="Picture 4" descr="Job 2: label every tok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1567" y="1078992"/>
            <a:ext cx="488086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3: classify the whole sequence</a:t>
            </a:r>
          </a:p>
        </p:txBody>
      </p:sp>
      <p:pic>
        <p:nvPicPr>
          <p:cNvPr id="5" name="Picture 4" descr="Job 3: classify the whole seque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061" y="1078992"/>
            <a:ext cx="630187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Let's walk through Parts 2, 3 and 4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Three trained models. One line different between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 matters: seq2seq</a:t>
            </a:r>
          </a:p>
        </p:txBody>
      </p:sp>
      <p:pic>
        <p:nvPicPr>
          <p:cNvPr id="5" name="Picture 4" descr="Why this matters: seq2seq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944" y="1078992"/>
            <a:ext cx="6652112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Then you train one yoursel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Train your own sarcasm detector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5102352" cy="2834640"/>
        </p:xfrm>
        <a:graphic>
          <a:graphicData uri="http://schemas.openxmlformats.org/drawingml/2006/table">
            <a:tbl>
              <a:tblPr firstRow="1" bandRow="0"/>
              <a:tblGrid>
                <a:gridCol w="1326611"/>
                <a:gridCol w="3775741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WHAT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ACCURACY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always guess the common label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0.562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the model you are given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0.675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counting words, no network at all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0.840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the LSTM from Part 4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0.843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456182"/>
            <a:ext cx="276148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26,602 HEADLINES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Onion or not? One run takes about a second.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Teams of three, scored on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the headline corpus in today's notebook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Six levers, and one beats the rest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Make it wider. Eight is not much of a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240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69240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69240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Read it both ways: bidirectional=True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0581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30581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30581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Stack two: num_layers=2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1922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291922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291922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Average the per-step outputs instead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3263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" y="353263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53263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Add nn.Dropout before the head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14604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94944" y="414604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4604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Four settings at the top of the given cell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