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8" r:id="rId1"/>
  </p:sldMasterIdLst>
  <p:notesMasterIdLst>
    <p:notesMasterId r:id="rId12"/>
  </p:notesMasterIdLst>
  <p:sldIdLst>
    <p:sldId id="256" r:id="rId2"/>
    <p:sldId id="271" r:id="rId3"/>
    <p:sldId id="272" r:id="rId4"/>
    <p:sldId id="270" r:id="rId5"/>
    <p:sldId id="269" r:id="rId6"/>
    <p:sldId id="274" r:id="rId7"/>
    <p:sldId id="273" r:id="rId8"/>
    <p:sldId id="275" r:id="rId9"/>
    <p:sldId id="268" r:id="rId10"/>
    <p:sldId id="277" r:id="rId11"/>
  </p:sldIdLst>
  <p:sldSz cx="9144000" cy="5143500" type="screen16x9"/>
  <p:notesSz cx="6858000" cy="9144000"/>
  <p:embeddedFontLst>
    <p:embeddedFont>
      <p:font typeface="Playfair Display" pitchFamily="2" charset="77"/>
      <p:regular r:id="rId13"/>
      <p:bold r:id="rId14"/>
      <p:italic r:id="rId15"/>
      <p:boldItalic r:id="rId16"/>
    </p:embeddedFont>
    <p:embeddedFont>
      <p:font typeface="Roboto" panose="02000000000000000000" pitchFamily="2" charset="0"/>
      <p:regular r:id="rId17"/>
      <p:bold r:id="rId18"/>
      <p:italic r:id="rId19"/>
      <p:boldItalic r:id="rId20"/>
    </p:embeddedFont>
    <p:embeddedFont>
      <p:font typeface="Roboto Light" panose="020F0302020204030204" pitchFamily="3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57"/>
    <p:restoredTop sz="94688"/>
  </p:normalViewPr>
  <p:slideViewPr>
    <p:cSldViewPr snapToGrid="0">
      <p:cViewPr varScale="1">
        <p:scale>
          <a:sx n="166" d="100"/>
          <a:sy n="166" d="100"/>
        </p:scale>
        <p:origin x="-1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523" y="685800"/>
            <a:ext cx="4571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jpg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ver Page" type="blank">
  <p:cSld name="BLANK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l="600" t="43847" r="-600" b="13732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sz="3600" i="0" u="none" strike="noStrike" cap="non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2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+ 2 Columns">
  <p:cSld name="2_Portfolio Thre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body" idx="1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2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3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+ 3 Columns">
  <p:cSld name="1_Slide with Placehol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2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3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4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Cover Slide">
  <p:cSld name="Cover Slid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Cover Slide with Logo">
  <p:cSld name="Cover Slide_2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Acknowledgments Slide">
  <p:cSld name="Cover Slide_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sz="560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ubTitle" idx="1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only">
  <p:cSld name="Custom Layou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Big Concept Slide">
  <p:cSld name="Slide with Placeholder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">
  <p:cSld name="Large Picture with Logo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l="27412" r="6551" b="2009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1">
  <p:cSld name="Large Picture with Logo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2">
  <p:cSld name="Large Picture with Logo_1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l="27412" r="6551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l="895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l="39028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3">
  <p:cSld name="Large Picture with Logo_1_1_1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l="24210" r="1252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and Photo 4">
  <p:cSld name="Large Picture with Logo_1_1_1_1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l="34525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>
            <a:spLocks noGrp="1"/>
          </p:cNvSpPr>
          <p:nvPr>
            <p:ph type="body" idx="2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with Large Photo">
  <p:cSld name="3_Placeholder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sz="27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body" idx="2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ext with Large Photo 1">
  <p:cSld name="3_Placeholder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sz="27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2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sz="22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marR="0" lvl="1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sz="18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marR="0" lvl="2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sz="15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marR="0" lvl="3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sz="13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marR="0" lvl="4" indent="-22860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sz="1100" i="0" u="none" strike="noStrike" cap="none"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marR="0" lvl="5" indent="-2857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ingle Statistic">
  <p:cSld name="1_Placeholder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8" name="Google Shape;78;p17"/>
          <p:cNvSpPr txBox="1">
            <a:spLocks noGrp="1"/>
          </p:cNvSpPr>
          <p:nvPr>
            <p:ph type="subTitle" idx="2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7"/>
          <p:cNvSpPr txBox="1">
            <a:spLocks noGrp="1"/>
          </p:cNvSpPr>
          <p:nvPr>
            <p:ph type="subTitle" idx="3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title" idx="4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Multiple Statistics">
  <p:cSld name="1_Placeholder_1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subTitle" idx="2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title" idx="3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subTitle" idx="4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title" idx="5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subTitle" idx="6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Quote">
  <p:cSld name="CUSTOM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100" b="1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0" b="1">
                <a:solidFill>
                  <a:srgbClr val="818387"/>
                </a:solidFill>
              </a:rPr>
              <a:t>“</a:t>
            </a:r>
            <a:endParaRPr sz="12000" b="1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>
            <a:spLocks noGrp="1"/>
          </p:cNvSpPr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ubTitle" idx="2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spcFirstLastPara="1" wrap="square" lIns="34275" tIns="34275" rIns="34275" bIns="34275" anchor="t" anchorCtr="0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3_Title Slide">
  <p:cSld name="13_Title Slide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>
            <a:spLocks noGrp="1"/>
          </p:cNvSpPr>
          <p:nvPr>
            <p:ph type="pic" idx="2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>
            <a:spLocks noGrp="1"/>
          </p:cNvSpPr>
          <p:nvPr>
            <p:ph type="pic" idx="3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>
            <a:spLocks noGrp="1"/>
          </p:cNvSpPr>
          <p:nvPr>
            <p:ph type="pic" idx="4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>
            <a:spLocks noGrp="1"/>
          </p:cNvSpPr>
          <p:nvPr>
            <p:ph type="pic" idx="5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>
            <a:spLocks noGrp="1"/>
          </p:cNvSpPr>
          <p:nvPr>
            <p:ph type="pic" idx="6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ver Page 1">
  <p:cSld name="1_Cover Page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t="43844" r="-563" b="13732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>
            <a:spLocks noGrp="1"/>
          </p:cNvSpPr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700" tIns="25700" rIns="25700" bIns="25700" anchor="ctr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sz="3600" i="0" u="none" strike="noStrike" cap="non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108" name="Google Shape;108;p21"/>
          <p:cNvSpPr txBox="1">
            <a:spLocks noGrp="1"/>
          </p:cNvSpPr>
          <p:nvPr>
            <p:ph type="subTitle" idx="1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1"/>
          <p:cNvSpPr txBox="1">
            <a:spLocks noGrp="1"/>
          </p:cNvSpPr>
          <p:nvPr>
            <p:ph type="subTitle" idx="2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sz="22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sz="18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sz="15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sz="13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sz="110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857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sz="9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730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sz="7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603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sz="5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54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sz="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22">
            <a:alphaModFix/>
          </a:blip>
          <a:srcRect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g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rPr dirty="0"/>
              <a:t>CSCI 3495</a:t>
            </a:r>
          </a:p>
          <a:p>
            <a:pPr marL="0" indent="0">
              <a:buNone/>
            </a:pPr>
            <a:r>
              <a:rPr lang="en-US" dirty="0"/>
              <a:t>Chain-of-Thought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6, Class 2  ·  Wed Sep 30,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Jaggery, Geograph Britain and Ireland, CC BY-SA 2.0</a:t>
            </a:r>
          </a:p>
        </p:txBody>
      </p:sp>
      <p:pic>
        <p:nvPicPr>
          <p:cNvPr id="7" name="Picture 6" descr="A close up of a person's face&#10;&#10;AI-generated content may be incorrect.">
            <a:extLst>
              <a:ext uri="{FF2B5EF4-FFF2-40B4-BE49-F238E27FC236}">
                <a16:creationId xmlns:a16="http://schemas.microsoft.com/office/drawing/2014/main" id="{C4E6C85B-0B35-DC9F-9669-724375BFA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771" y="1072755"/>
            <a:ext cx="3441813" cy="19667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8499E7B-B559-C254-4FEA-82841042B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012" y="767443"/>
            <a:ext cx="3786072" cy="3756849"/>
          </a:xfrm>
        </p:spPr>
        <p:txBody>
          <a:bodyPr/>
          <a:lstStyle/>
          <a:p>
            <a:r>
              <a:rPr lang="en-US" sz="7200" dirty="0"/>
              <a:t>Be mindful of your mind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1D7107B-3B1D-946C-79A5-58020326AF5E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F36FC36-B2B3-974A-C8CD-F9DB5B40F0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82977" y="116468"/>
            <a:ext cx="4630435" cy="4694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613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D4A0AB-C860-54A0-1845-2C917A28B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Internal Monologue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C1166A5-70E2-7C76-4E3A-EBD145FA798E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person looking at a mirror&#10;&#10;AI-generated content may be incorrect.">
            <a:extLst>
              <a:ext uri="{FF2B5EF4-FFF2-40B4-BE49-F238E27FC236}">
                <a16:creationId xmlns:a16="http://schemas.microsoft.com/office/drawing/2014/main" id="{970A8D2B-C108-1C27-8964-DF1F54E134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627" t="10457" r="9606" b="6394"/>
          <a:stretch/>
        </p:blipFill>
        <p:spPr>
          <a:xfrm>
            <a:off x="445793" y="1401149"/>
            <a:ext cx="3913348" cy="32633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6CA493D-F983-9CE1-3C99-1368FA98CCF2}"/>
              </a:ext>
            </a:extLst>
          </p:cNvPr>
          <p:cNvSpPr txBox="1"/>
          <p:nvPr/>
        </p:nvSpPr>
        <p:spPr>
          <a:xfrm>
            <a:off x="4690750" y="1401149"/>
            <a:ext cx="411929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Why do we talk to ourselves?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Does it affect our logical thought process?</a:t>
            </a:r>
          </a:p>
        </p:txBody>
      </p:sp>
    </p:spTree>
    <p:extLst>
      <p:ext uri="{BB962C8B-B14F-4D97-AF65-F5344CB8AC3E}">
        <p14:creationId xmlns:p14="http://schemas.microsoft.com/office/powerpoint/2010/main" val="2928308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CE0667-FFAB-C0A3-F1D0-029C9A579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521" y="406950"/>
            <a:ext cx="8005800" cy="9942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Let’s use our brains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B2BAE4FC-0E01-3970-AB92-15FAD22486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9577" y="219225"/>
            <a:ext cx="3773400" cy="2193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E242D8-A7CC-2708-C330-8106550B31D1}"/>
              </a:ext>
            </a:extLst>
          </p:cNvPr>
          <p:cNvSpPr txBox="1"/>
          <p:nvPr/>
        </p:nvSpPr>
        <p:spPr>
          <a:xfrm>
            <a:off x="341906" y="1272208"/>
            <a:ext cx="652802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5 years ago Kate was 5 times as old as her Son.</a:t>
            </a:r>
          </a:p>
          <a:p>
            <a:endParaRPr lang="en-US" sz="2800" dirty="0"/>
          </a:p>
          <a:p>
            <a:r>
              <a:rPr lang="en-US" sz="2800" dirty="0"/>
              <a:t>In 5 years her age will be 8 less than three times her Son's age at that time.</a:t>
            </a:r>
          </a:p>
          <a:p>
            <a:endParaRPr lang="en-US" sz="2800" dirty="0"/>
          </a:p>
          <a:p>
            <a:r>
              <a:rPr lang="en-US" sz="2800" dirty="0"/>
              <a:t>Find their ages.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02615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DE662F-9F44-925D-B779-71AAC09E1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Chain-of-Thought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AB27AF4D-4202-B868-0FBB-AFB6F961BF39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diagram of a process&#10;&#10;AI-generated content may be incorrect.">
            <a:extLst>
              <a:ext uri="{FF2B5EF4-FFF2-40B4-BE49-F238E27FC236}">
                <a16:creationId xmlns:a16="http://schemas.microsoft.com/office/drawing/2014/main" id="{0D54FFE4-C81E-3C56-2B1D-67E206F003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858"/>
          <a:stretch/>
        </p:blipFill>
        <p:spPr>
          <a:xfrm>
            <a:off x="3965818" y="1342384"/>
            <a:ext cx="4965379" cy="33941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2DBA8C4-6506-78B3-12CE-F0092B67BEB7}"/>
              </a:ext>
            </a:extLst>
          </p:cNvPr>
          <p:cNvSpPr txBox="1"/>
          <p:nvPr/>
        </p:nvSpPr>
        <p:spPr>
          <a:xfrm>
            <a:off x="357809" y="1630017"/>
            <a:ext cx="392516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Instead of asking for a direct answer, you give the LLM breathing room to breakdown the problem, think through each step, and reach a natural conclusion</a:t>
            </a:r>
          </a:p>
        </p:txBody>
      </p:sp>
    </p:spTree>
    <p:extLst>
      <p:ext uri="{BB962C8B-B14F-4D97-AF65-F5344CB8AC3E}">
        <p14:creationId xmlns:p14="http://schemas.microsoft.com/office/powerpoint/2010/main" val="1246360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13E6A4D-5402-8BCB-E579-361371B6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Chain-of-Thought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1DD8EAC-0912-256F-6EB7-BA0532530827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1E76109-E4D2-A24F-6A9E-EAE9DDDF68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257" y="1194416"/>
            <a:ext cx="6343481" cy="3554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985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6E9EB9F-0D6D-50B5-0673-BF6A10B5B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But, does it really work?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52EB285E-7F8F-2512-8FFB-1CBAAD5BD043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graph of different types of lines&#10;&#10;AI-generated content may be incorrect.">
            <a:extLst>
              <a:ext uri="{FF2B5EF4-FFF2-40B4-BE49-F238E27FC236}">
                <a16:creationId xmlns:a16="http://schemas.microsoft.com/office/drawing/2014/main" id="{C43427FA-5068-8E97-0208-65C079603A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829" y="1530969"/>
            <a:ext cx="6211481" cy="2939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DD4C2AF-C55A-4F4E-2916-2973B802202E}"/>
              </a:ext>
            </a:extLst>
          </p:cNvPr>
          <p:cNvSpPr txBox="1"/>
          <p:nvPr/>
        </p:nvSpPr>
        <p:spPr>
          <a:xfrm>
            <a:off x="357809" y="1630017"/>
            <a:ext cx="239902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Yes, it makes: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Across multiple tasks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Across multiple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9326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57234ED-EE7E-7F9B-C665-381A7E2B1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But, why?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194DAF0-F312-8253-BB16-99298F7A19C8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close-up of a sign&#10;&#10;AI-generated content may be incorrect.">
            <a:extLst>
              <a:ext uri="{FF2B5EF4-FFF2-40B4-BE49-F238E27FC236}">
                <a16:creationId xmlns:a16="http://schemas.microsoft.com/office/drawing/2014/main" id="{2784AB10-F3D1-A587-AE7C-950729E098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777" y="2043488"/>
            <a:ext cx="4897626" cy="1710065"/>
          </a:xfrm>
          <a:prstGeom prst="rect">
            <a:avLst/>
          </a:prstGeom>
        </p:spPr>
      </p:pic>
      <p:sp>
        <p:nvSpPr>
          <p:cNvPr id="8" name="Title 2">
            <a:extLst>
              <a:ext uri="{FF2B5EF4-FFF2-40B4-BE49-F238E27FC236}">
                <a16:creationId xmlns:a16="http://schemas.microsoft.com/office/drawing/2014/main" id="{0F655652-51AA-9D62-A05B-BF29933EB4A9}"/>
              </a:ext>
            </a:extLst>
          </p:cNvPr>
          <p:cNvSpPr txBox="1">
            <a:spLocks/>
          </p:cNvSpPr>
          <p:nvPr/>
        </p:nvSpPr>
        <p:spPr>
          <a:xfrm>
            <a:off x="4703416" y="1245158"/>
            <a:ext cx="4131355" cy="68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400" dirty="0"/>
              <a:t>Generative AI:</a:t>
            </a:r>
          </a:p>
          <a:p>
            <a:r>
              <a:rPr lang="en-US" sz="2400" b="1" dirty="0"/>
              <a:t>Autoregressive Generation</a:t>
            </a:r>
          </a:p>
        </p:txBody>
      </p:sp>
      <p:pic>
        <p:nvPicPr>
          <p:cNvPr id="10" name="Picture 9" descr="A diagram of a person's face&#10;&#10;AI-generated content may be incorrect.">
            <a:extLst>
              <a:ext uri="{FF2B5EF4-FFF2-40B4-BE49-F238E27FC236}">
                <a16:creationId xmlns:a16="http://schemas.microsoft.com/office/drawing/2014/main" id="{C32E54ED-610A-349D-6242-8DCF48140F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21" y="1846285"/>
            <a:ext cx="3423578" cy="2818706"/>
          </a:xfrm>
          <a:prstGeom prst="rect">
            <a:avLst/>
          </a:prstGeom>
        </p:spPr>
      </p:pic>
      <p:sp>
        <p:nvSpPr>
          <p:cNvPr id="11" name="Title 2">
            <a:extLst>
              <a:ext uri="{FF2B5EF4-FFF2-40B4-BE49-F238E27FC236}">
                <a16:creationId xmlns:a16="http://schemas.microsoft.com/office/drawing/2014/main" id="{4CBF8157-0D80-49B1-5BE0-BCD90414003C}"/>
              </a:ext>
            </a:extLst>
          </p:cNvPr>
          <p:cNvSpPr txBox="1">
            <a:spLocks/>
          </p:cNvSpPr>
          <p:nvPr/>
        </p:nvSpPr>
        <p:spPr>
          <a:xfrm>
            <a:off x="440645" y="1245159"/>
            <a:ext cx="4131355" cy="68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400" dirty="0"/>
              <a:t>Traditional AI</a:t>
            </a:r>
          </a:p>
        </p:txBody>
      </p:sp>
    </p:spTree>
    <p:extLst>
      <p:ext uri="{BB962C8B-B14F-4D97-AF65-F5344CB8AC3E}">
        <p14:creationId xmlns:p14="http://schemas.microsoft.com/office/powerpoint/2010/main" val="2363441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Then you train one yoursel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0C94E-90DB-54C0-E16F-2A729E1BB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1652C1E-836D-6EB1-621B-895E30437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 of Prompts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3EE533F-F4D7-133D-6F56-B4382CCB6737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" name="Picture 1" descr="A robot holding a sign&#10;&#10;AI-generated content may be incorrect.">
            <a:extLst>
              <a:ext uri="{FF2B5EF4-FFF2-40B4-BE49-F238E27FC236}">
                <a16:creationId xmlns:a16="http://schemas.microsoft.com/office/drawing/2014/main" id="{A6A71888-B819-1D7E-2952-73BEBCDA89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277" y="1401150"/>
            <a:ext cx="6425979" cy="32129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B545B0-4B02-B11C-B4C2-E1F62CCD6FF6}"/>
              </a:ext>
            </a:extLst>
          </p:cNvPr>
          <p:cNvSpPr txBox="1"/>
          <p:nvPr/>
        </p:nvSpPr>
        <p:spPr>
          <a:xfrm>
            <a:off x="174171" y="1480457"/>
            <a:ext cx="214448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Testing different prompts: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Zero-shot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Few-Shot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Chain-of-Thought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Ending with implementing two chatbots talking to each other.</a:t>
            </a:r>
          </a:p>
        </p:txBody>
      </p:sp>
    </p:spTree>
    <p:extLst>
      <p:ext uri="{BB962C8B-B14F-4D97-AF65-F5344CB8AC3E}">
        <p14:creationId xmlns:p14="http://schemas.microsoft.com/office/powerpoint/2010/main" val="1894162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706</TotalTime>
  <Words>183</Words>
  <Application>Microsoft Macintosh PowerPoint</Application>
  <PresentationFormat>On-screen Show (16:9)</PresentationFormat>
  <Paragraphs>39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Roboto</vt:lpstr>
      <vt:lpstr>Roboto Light</vt:lpstr>
      <vt:lpstr>Arial</vt:lpstr>
      <vt:lpstr>Playfair Display</vt:lpstr>
      <vt:lpstr>Office Theme</vt:lpstr>
      <vt:lpstr>CSCI 3495 Chain-of-Thought</vt:lpstr>
      <vt:lpstr>Be mindful of your mind</vt:lpstr>
      <vt:lpstr>Our Internal Monologue</vt:lpstr>
      <vt:lpstr>Let’s use our brains</vt:lpstr>
      <vt:lpstr>Chain-of-Thought</vt:lpstr>
      <vt:lpstr>Example of Chain-of-Thought</vt:lpstr>
      <vt:lpstr>But, does it really work?</vt:lpstr>
      <vt:lpstr>But, why?</vt:lpstr>
      <vt:lpstr>Break</vt:lpstr>
      <vt:lpstr>Exercises of Prompts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Davalos Anaya, Eduardo</cp:lastModifiedBy>
  <cp:revision>5</cp:revision>
  <dcterms:modified xsi:type="dcterms:W3CDTF">2026-09-30T22:57:32Z</dcterms:modified>
</cp:coreProperties>
</file>