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6" r:id="rId2"/>
    <p:sldId id="271" r:id="rId3"/>
    <p:sldId id="272" r:id="rId4"/>
    <p:sldId id="270" r:id="rId5"/>
    <p:sldId id="269" r:id="rId6"/>
    <p:sldId id="274" r:id="rId7"/>
    <p:sldId id="273" r:id="rId8"/>
    <p:sldId id="275" r:id="rId9"/>
    <p:sldId id="268" r:id="rId10"/>
    <p:sldId id="277" r:id="rId11"/>
  </p:sldIdLst>
  <p:sldSz cx="9144000" cy="5143500" type="screen16x9"/>
  <p:notesSz cx="6858000" cy="9144000"/>
  <p:embeddedFontLst>
    <p:embeddedFont>
      <p:font typeface="Playfair Display" pitchFamily="2" charset="77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Light" panose="020F03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 varScale="1">
        <p:scale>
          <a:sx n="118" d="100"/>
          <a:sy n="118" d="100"/>
        </p:scale>
        <p:origin x="2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dirty="0"/>
              <a:t>CSCI 3495</a:t>
            </a:r>
          </a:p>
          <a:p>
            <a:pPr marL="0" indent="0">
              <a:buNone/>
            </a:pPr>
            <a:r>
              <a:rPr lang="en-US" dirty="0"/>
              <a:t>Chain-of-Thought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6080610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6, Class 2  ·  Wed Sep 30,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Jaggery, Geograph Britain and Ireland, CC BY-SA 2.0</a:t>
            </a:r>
          </a:p>
        </p:txBody>
      </p:sp>
      <p:pic>
        <p:nvPicPr>
          <p:cNvPr id="7" name="Picture 6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C4E6C85B-0B35-DC9F-9669-724375BFA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771" y="1072755"/>
            <a:ext cx="3441813" cy="1966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499E7B-B559-C254-4FEA-82841042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12" y="1003297"/>
            <a:ext cx="3786072" cy="3520995"/>
          </a:xfrm>
        </p:spPr>
        <p:txBody>
          <a:bodyPr/>
          <a:lstStyle/>
          <a:p>
            <a:r>
              <a:rPr lang="en-US" sz="7200" dirty="0"/>
              <a:t>Be mindful of your mind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1D7107B-3B1D-946C-79A5-58020326AF5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36FC36-B2B3-974A-C8CD-F9DB5B40F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2977" y="116468"/>
            <a:ext cx="4630435" cy="469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1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D4A0AB-C860-54A0-1845-2C917A28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Internal Monologue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1166A5-70E2-7C76-4E3A-EBD145FA798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person looking at a mirror&#10;&#10;AI-generated content may be incorrect.">
            <a:extLst>
              <a:ext uri="{FF2B5EF4-FFF2-40B4-BE49-F238E27FC236}">
                <a16:creationId xmlns:a16="http://schemas.microsoft.com/office/drawing/2014/main" id="{970A8D2B-C108-1C27-8964-DF1F54E134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27" t="10457" r="9606" b="6394"/>
          <a:stretch/>
        </p:blipFill>
        <p:spPr>
          <a:xfrm>
            <a:off x="445793" y="1401149"/>
            <a:ext cx="3913348" cy="3263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CA493D-F983-9CE1-3C99-1368FA98CCF2}"/>
              </a:ext>
            </a:extLst>
          </p:cNvPr>
          <p:cNvSpPr txBox="1"/>
          <p:nvPr/>
        </p:nvSpPr>
        <p:spPr>
          <a:xfrm>
            <a:off x="4690750" y="1401149"/>
            <a:ext cx="41192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do we talk to ourselves?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Does it affect our logical thought process?</a:t>
            </a:r>
          </a:p>
        </p:txBody>
      </p:sp>
    </p:spTree>
    <p:extLst>
      <p:ext uri="{BB962C8B-B14F-4D97-AF65-F5344CB8AC3E}">
        <p14:creationId xmlns:p14="http://schemas.microsoft.com/office/powerpoint/2010/main" val="29283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CE0667-FFAB-C0A3-F1D0-029C9A57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Let’s use our brains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B2BAE4FC-0E01-3970-AB92-15FAD2248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242D8-A7CC-2708-C330-8106550B31D1}"/>
              </a:ext>
            </a:extLst>
          </p:cNvPr>
          <p:cNvSpPr txBox="1"/>
          <p:nvPr/>
        </p:nvSpPr>
        <p:spPr>
          <a:xfrm>
            <a:off x="341906" y="1272208"/>
            <a:ext cx="652802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5 years ago Kate was 5 times as old as her Son.</a:t>
            </a:r>
          </a:p>
          <a:p>
            <a:endParaRPr lang="en-US" sz="2800" dirty="0"/>
          </a:p>
          <a:p>
            <a:r>
              <a:rPr lang="en-US" sz="2800" dirty="0"/>
              <a:t>In 5 years her age will be 8 less than three times her Son's age at that time.</a:t>
            </a:r>
          </a:p>
          <a:p>
            <a:endParaRPr lang="en-US" sz="2800" dirty="0"/>
          </a:p>
          <a:p>
            <a:r>
              <a:rPr lang="en-US" sz="2800" dirty="0"/>
              <a:t>Find their ages.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261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DE662F-9F44-925D-B779-71AAC09E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Chain-of-Thought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B27AF4D-4202-B868-0FBB-AFB6F961BF39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0D54FFE4-C81E-3C56-2B1D-67E206F00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58"/>
          <a:stretch/>
        </p:blipFill>
        <p:spPr>
          <a:xfrm>
            <a:off x="3965818" y="1342384"/>
            <a:ext cx="4965379" cy="33941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DBA8C4-6506-78B3-12CE-F0092B67BEB7}"/>
              </a:ext>
            </a:extLst>
          </p:cNvPr>
          <p:cNvSpPr txBox="1"/>
          <p:nvPr/>
        </p:nvSpPr>
        <p:spPr>
          <a:xfrm>
            <a:off x="357809" y="1630017"/>
            <a:ext cx="39251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Instead of asking for a direct answer, you give the LLM breathing room to breakdown the problem, think through each step, and reach a natural conclusion</a:t>
            </a:r>
          </a:p>
        </p:txBody>
      </p:sp>
    </p:spTree>
    <p:extLst>
      <p:ext uri="{BB962C8B-B14F-4D97-AF65-F5344CB8AC3E}">
        <p14:creationId xmlns:p14="http://schemas.microsoft.com/office/powerpoint/2010/main" val="124636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3E6A4D-5402-8BCB-E579-361371B6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Chain-of-Thought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1DD8EAC-0912-256F-6EB7-BA053253082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E76109-E4D2-A24F-6A9E-EAE9DDDF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57" y="1194416"/>
            <a:ext cx="6343481" cy="355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8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E9EB9F-0D6D-50B5-0673-BF6A10B5B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does it really work?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2EB285E-7F8F-2512-8FFB-1CBAAD5BD04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C43427FA-5068-8E97-0208-65C079603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829" y="1530969"/>
            <a:ext cx="6211481" cy="2939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D4C2AF-C55A-4F4E-2916-2973B802202E}"/>
              </a:ext>
            </a:extLst>
          </p:cNvPr>
          <p:cNvSpPr txBox="1"/>
          <p:nvPr/>
        </p:nvSpPr>
        <p:spPr>
          <a:xfrm>
            <a:off x="357809" y="1630017"/>
            <a:ext cx="23990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Yes, it makes: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Across multiple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Across multiple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32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7234ED-EE7E-7F9B-C665-381A7E2B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why?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194DAF0-F312-8253-BB16-99298F7A19C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close-up of a sign&#10;&#10;AI-generated content may be incorrect.">
            <a:extLst>
              <a:ext uri="{FF2B5EF4-FFF2-40B4-BE49-F238E27FC236}">
                <a16:creationId xmlns:a16="http://schemas.microsoft.com/office/drawing/2014/main" id="{2784AB10-F3D1-A587-AE7C-950729E09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777" y="2043488"/>
            <a:ext cx="4897626" cy="1710065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F655652-51AA-9D62-A05B-BF29933EB4A9}"/>
              </a:ext>
            </a:extLst>
          </p:cNvPr>
          <p:cNvSpPr txBox="1">
            <a:spLocks/>
          </p:cNvSpPr>
          <p:nvPr/>
        </p:nvSpPr>
        <p:spPr>
          <a:xfrm>
            <a:off x="4703416" y="1245158"/>
            <a:ext cx="4131355" cy="68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Generative AI:</a:t>
            </a:r>
          </a:p>
          <a:p>
            <a:r>
              <a:rPr lang="en-US" sz="2400" b="1" dirty="0"/>
              <a:t>Autoregressive Generation</a:t>
            </a:r>
          </a:p>
        </p:txBody>
      </p:sp>
      <p:pic>
        <p:nvPicPr>
          <p:cNvPr id="10" name="Picture 9" descr="A diagram of a person's face&#10;&#10;AI-generated content may be incorrect.">
            <a:extLst>
              <a:ext uri="{FF2B5EF4-FFF2-40B4-BE49-F238E27FC236}">
                <a16:creationId xmlns:a16="http://schemas.microsoft.com/office/drawing/2014/main" id="{C32E54ED-610A-349D-6242-8DCF48140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21" y="1846285"/>
            <a:ext cx="3423578" cy="281870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4CBF8157-0D80-49B1-5BE0-BCD90414003C}"/>
              </a:ext>
            </a:extLst>
          </p:cNvPr>
          <p:cNvSpPr txBox="1">
            <a:spLocks/>
          </p:cNvSpPr>
          <p:nvPr/>
        </p:nvSpPr>
        <p:spPr>
          <a:xfrm>
            <a:off x="440645" y="1245159"/>
            <a:ext cx="4131355" cy="68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/>
              <a:t>Traditional AI</a:t>
            </a:r>
          </a:p>
        </p:txBody>
      </p:sp>
    </p:spTree>
    <p:extLst>
      <p:ext uri="{BB962C8B-B14F-4D97-AF65-F5344CB8AC3E}">
        <p14:creationId xmlns:p14="http://schemas.microsoft.com/office/powerpoint/2010/main" val="236344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Then you train one yourself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C94E-90DB-54C0-E16F-2A729E1B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652C1E-836D-6EB1-621B-895E3043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of Prompts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3EE533F-F4D7-133D-6F56-B4382CCB673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 descr="A robot holding a sign&#10;&#10;AI-generated content may be incorrect.">
            <a:extLst>
              <a:ext uri="{FF2B5EF4-FFF2-40B4-BE49-F238E27FC236}">
                <a16:creationId xmlns:a16="http://schemas.microsoft.com/office/drawing/2014/main" id="{A6A71888-B819-1D7E-2952-73BEBCDA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277" y="1401150"/>
            <a:ext cx="6425979" cy="3212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B545B0-4B02-B11C-B4C2-E1F62CCD6FF6}"/>
              </a:ext>
            </a:extLst>
          </p:cNvPr>
          <p:cNvSpPr txBox="1"/>
          <p:nvPr/>
        </p:nvSpPr>
        <p:spPr>
          <a:xfrm>
            <a:off x="174171" y="1480457"/>
            <a:ext cx="21444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Testing different prompts: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Zero-shot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Few-Shot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Chain-of-Thought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Ending with implementing two chatbots talking to each other.</a:t>
            </a:r>
          </a:p>
        </p:txBody>
      </p:sp>
    </p:spTree>
    <p:extLst>
      <p:ext uri="{BB962C8B-B14F-4D97-AF65-F5344CB8AC3E}">
        <p14:creationId xmlns:p14="http://schemas.microsoft.com/office/powerpoint/2010/main" val="1894162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183</Words>
  <Application>Microsoft Macintosh PowerPoint</Application>
  <PresentationFormat>On-screen Show (16:9)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Arial</vt:lpstr>
      <vt:lpstr>Roboto Light</vt:lpstr>
      <vt:lpstr>Playfair Display</vt:lpstr>
      <vt:lpstr>Office Theme</vt:lpstr>
      <vt:lpstr>CSCI 3495 Chain-of-Thought</vt:lpstr>
      <vt:lpstr>Be mindful of your mind</vt:lpstr>
      <vt:lpstr>Our Internal Monologue</vt:lpstr>
      <vt:lpstr>Let’s use our brains</vt:lpstr>
      <vt:lpstr>Chain-of-Thought</vt:lpstr>
      <vt:lpstr>Example of Chain-of-Thought</vt:lpstr>
      <vt:lpstr>But, does it really work?</vt:lpstr>
      <vt:lpstr>But, why?</vt:lpstr>
      <vt:lpstr>Break</vt:lpstr>
      <vt:lpstr>Exercises of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4</cp:revision>
  <dcterms:modified xsi:type="dcterms:W3CDTF">2026-09-29T23:45:07Z</dcterms:modified>
</cp:coreProperties>
</file>