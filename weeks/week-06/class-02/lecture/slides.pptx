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canal lock moves a boat one gated chamber at a time, and each gate decides what flows through. Ask the class what plays the part of the water once we call this an LSTM.</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six tokens, and only the model on the right can tell who sat on what. A bag of words cannot represent the difference at all, which is the whole reason to read a sentence in order.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Watch one time step at a time: read the next character plus the incoming memory, update the memory, emit a prediction. Every box is the SAME network; the animation loops in slideshow mode.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Backprop through time multiplies many Jacobians; factors &lt; 1 shrink the gradient to zero, &gt; 1 explode it. Factors &lt; 1 the gradient vanishes (no long-range learning); factors &gt; 1 it explodes (unstable).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conveyor belt from the last slide is the top c path. Find the three sigmoid gates guarding it: f (forget old memory), i (admit the tanh candidate g), o (expose h_t).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the outside, barely at all: a feedforward unit (a) takes x, an RNN unit (b) adds h_t-1, an LSTM unit (c) just adds the context line c. Same socket, smarter unit; the rest of the network never notices.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We are not building an LSTM, we are using one, so Part 1 is three lines and two shapes. Feed a batch of sequences in and you get back two things: one output per time step, shape (batch, time, hidden), and the final state, shape (1, batch, hidden). Those two return values ARE the three jobs. Per-step outputs give you generation and tagging; the final state alone gives you classification. Make them say that out loud before moving 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Autoregressive generation: sample a word, feed it back in as the next input, repeat. Part 2 of the notebook does exactly this, one character at a time.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loop, different head: emit one output PER time step and you get sequence labeling, here part-of-speech tags for "Janet will back the bill".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Or keep ONLY the last hidden state, which has read everything, and hand it to a feedforward classifier. Spam filter, sentiment, sarcasm: one sequence in, one label out. This is the job they build after the break.</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small LSTMs are already trained and waiting in data/, so nothing here takes more than a second to run. Part 2 generates headlines a character at a time, Part 3 tags a sentence, Part 4 says whether a headline is sarcastic. Put the three forward methods side by side at the end: head(outputs) for the two per-step jobs, head(last_hidden) for the classifier. That single line is the entire difference between the three architectures on the previous slides.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Fig 13.15's panel (d) with real words: read "the green witch arrived", hand over ONE hidden state (the green h_n), and unroll Spanish from it. Your reading (Sutskever et al. 2014) built exactly this with LSTMs; feeding the source reversed lifted BLEU from 25.9 to 30.6.</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about twenty-five minutes. Twenty-six thousand real headlines, half from The Onion and half from HuffPost, and the job is to tell them apart. They write the model themselves, and the starting point barely beats guessing. Counting words gets 0.840, so that is the number to chase. Read a few misclassified headlines at the end; the ones it gets wrong are usually the genuinely ambiguous ones, which is the honest finding.</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them and stop talking. The last line is the one that matters: four settings sit at the top of the given cell and one of them moves the score further than any architecture change on this list. Let them find it, and expect twenty minutes of hidden sizes before anybody touches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Sequence Models</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6, Class 2  ·  Wed Sep 30, 2026</a:t>
            </a:r>
          </a:p>
        </p:txBody>
      </p:sp>
      <p:pic>
        <p:nvPicPr>
          <p:cNvPr id="5" name="Picture 4" descr="Sequence Models"/>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Jaggery, Geograph Britain and Ireland, CC BY-SA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Averaging throws the order away</a:t>
            </a:r>
          </a:p>
        </p:txBody>
      </p:sp>
      <p:sp>
        <p:nvSpPr>
          <p:cNvPr id="5" name="Rounded Rectangle 4"/>
          <p:cNvSpPr/>
          <p:nvPr/>
        </p:nvSpPr>
        <p:spPr>
          <a:xfrm>
            <a:off x="457200" y="2281428"/>
            <a:ext cx="4041648" cy="1184148"/>
          </a:xfrm>
          <a:prstGeom prst="roundRect">
            <a:avLst>
              <a:gd name="adj" fmla="val 1003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27732"/>
            <a:ext cx="3675888" cy="89154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A BAG</a:t>
            </a:r>
          </a:p>
          <a:p>
            <a:pPr marL="0" indent="0">
              <a:spcAft>
                <a:spcPts val="300"/>
              </a:spcAft>
              <a:buNone/>
            </a:pPr>
            <a:r>
              <a:rPr sz="1900" b="0" u="none">
                <a:solidFill>
                  <a:srgbClr val="1D1D1F"/>
                </a:solidFill>
                <a:latin typeface="Menlo"/>
              </a:rPr>
              <a:t>average the embeddings</a:t>
            </a:r>
          </a:p>
          <a:p>
            <a:pPr marL="0" indent="0" algn="l">
              <a:spcAft>
                <a:spcPts val="200"/>
              </a:spcAft>
              <a:buNone/>
            </a:pPr>
            <a:r>
              <a:rPr sz="1200" b="0">
                <a:solidFill>
                  <a:srgbClr val="86868B"/>
                </a:solidFill>
                <a:latin typeface="Helvetica Neue"/>
              </a:rPr>
              <a:t>Order vanishes. One blurred vector for the whole sentence.</a:t>
            </a:r>
          </a:p>
        </p:txBody>
      </p:sp>
      <p:sp>
        <p:nvSpPr>
          <p:cNvPr id="7" name="Rounded Rectangle 6"/>
          <p:cNvSpPr/>
          <p:nvPr/>
        </p:nvSpPr>
        <p:spPr>
          <a:xfrm>
            <a:off x="4645152" y="2281428"/>
            <a:ext cx="4041648" cy="1184148"/>
          </a:xfrm>
          <a:prstGeom prst="roundRect">
            <a:avLst>
              <a:gd name="adj" fmla="val 10038"/>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27732"/>
            <a:ext cx="3675888" cy="89154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A STREAM</a:t>
            </a:r>
          </a:p>
          <a:p>
            <a:pPr marL="0" indent="0">
              <a:spcAft>
                <a:spcPts val="300"/>
              </a:spcAft>
              <a:buNone/>
            </a:pPr>
            <a:r>
              <a:rPr sz="1900" b="0" u="none">
                <a:solidFill>
                  <a:srgbClr val="1D1D1F"/>
                </a:solidFill>
                <a:latin typeface="Menlo"/>
              </a:rPr>
              <a:t>read one token at a time</a:t>
            </a:r>
          </a:p>
          <a:p>
            <a:pPr marL="0" indent="0" algn="l">
              <a:spcAft>
                <a:spcPts val="200"/>
              </a:spcAft>
              <a:buNone/>
            </a:pPr>
            <a:r>
              <a:rPr sz="1200" b="0">
                <a:solidFill>
                  <a:srgbClr val="86868B"/>
                </a:solidFill>
                <a:latin typeface="Helvetica Neue"/>
              </a:rPr>
              <a:t>A hidden state updates step by step, and carries what came before.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recurrent idea</a:t>
            </a:r>
          </a:p>
        </p:txBody>
      </p:sp>
      <p:pic>
        <p:nvPicPr>
          <p:cNvPr id="5" name="Picture 4" descr="The recurrent idea"/>
          <p:cNvPicPr>
            <a:picLocks noChangeAspect="1"/>
          </p:cNvPicPr>
          <p:nvPr/>
        </p:nvPicPr>
        <p:blipFill>
          <a:blip r:embed="rId3"/>
          <a:stretch>
            <a:fillRect/>
          </a:stretch>
        </p:blipFill>
        <p:spPr>
          <a:xfrm>
            <a:off x="499843" y="1078992"/>
            <a:ext cx="81443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(visuals/_gen_rnn_gif.py)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vanishing gradient problem</a:t>
            </a:r>
          </a:p>
        </p:txBody>
      </p:sp>
      <p:sp>
        <p:nvSpPr>
          <p:cNvPr id="5" name="Rounded Rectangle 4"/>
          <p:cNvSpPr/>
          <p:nvPr/>
        </p:nvSpPr>
        <p:spPr>
          <a:xfrm>
            <a:off x="457200" y="1625392"/>
            <a:ext cx="1741932" cy="1782988"/>
          </a:xfrm>
          <a:prstGeom prst="roundRect">
            <a:avLst>
              <a:gd name="adj" fmla="val 629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1792" y="1888739"/>
            <a:ext cx="1412748" cy="1453804"/>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H1</a:t>
            </a:r>
          </a:p>
          <a:p>
            <a:pPr marL="0" indent="0" algn="l">
              <a:lnSpc>
                <a:spcPts val="2400"/>
              </a:lnSpc>
              <a:spcAft>
                <a:spcPts val="0"/>
              </a:spcAft>
              <a:buNone/>
            </a:pPr>
            <a:r>
              <a:rPr sz="1600" b="0">
                <a:solidFill>
                  <a:srgbClr val="1D1D1F"/>
                </a:solidFill>
                <a:latin typeface="Menlo"/>
              </a:rPr>
              <a:t>1.0</a:t>
            </a:r>
          </a:p>
        </p:txBody>
      </p:sp>
      <p:sp>
        <p:nvSpPr>
          <p:cNvPr id="7" name="Right Arrow 6"/>
          <p:cNvSpPr/>
          <p:nvPr/>
        </p:nvSpPr>
        <p:spPr>
          <a:xfrm>
            <a:off x="2266431" y="2361438"/>
            <a:ext cx="286024"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619756" y="1625392"/>
            <a:ext cx="1741932" cy="1782988"/>
          </a:xfrm>
          <a:prstGeom prst="roundRect">
            <a:avLst>
              <a:gd name="adj" fmla="val 629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784348" y="1888739"/>
            <a:ext cx="1412748" cy="1453804"/>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H2</a:t>
            </a:r>
          </a:p>
          <a:p>
            <a:pPr marL="0" indent="0" algn="l">
              <a:lnSpc>
                <a:spcPts val="2400"/>
              </a:lnSpc>
              <a:spcAft>
                <a:spcPts val="0"/>
              </a:spcAft>
              <a:buNone/>
            </a:pPr>
            <a:r>
              <a:rPr sz="1600" b="0">
                <a:solidFill>
                  <a:srgbClr val="1D1D1F"/>
                </a:solidFill>
                <a:latin typeface="Menlo"/>
              </a:rPr>
              <a:t>0.4</a:t>
            </a:r>
          </a:p>
        </p:txBody>
      </p:sp>
      <p:sp>
        <p:nvSpPr>
          <p:cNvPr id="10" name="Right Arrow 9"/>
          <p:cNvSpPr/>
          <p:nvPr/>
        </p:nvSpPr>
        <p:spPr>
          <a:xfrm>
            <a:off x="4428987" y="2361438"/>
            <a:ext cx="286024"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782312" y="1625392"/>
            <a:ext cx="1741932" cy="1782988"/>
          </a:xfrm>
          <a:prstGeom prst="roundRect">
            <a:avLst>
              <a:gd name="adj" fmla="val 629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946904" y="1888739"/>
            <a:ext cx="1412748" cy="1453804"/>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H3</a:t>
            </a:r>
          </a:p>
          <a:p>
            <a:pPr marL="0" indent="0" algn="l">
              <a:lnSpc>
                <a:spcPts val="2400"/>
              </a:lnSpc>
              <a:spcAft>
                <a:spcPts val="0"/>
              </a:spcAft>
              <a:buNone/>
            </a:pPr>
            <a:r>
              <a:rPr sz="1600" b="0">
                <a:solidFill>
                  <a:srgbClr val="1D1D1F"/>
                </a:solidFill>
                <a:latin typeface="Menlo"/>
              </a:rPr>
              <a:t>0.1</a:t>
            </a:r>
          </a:p>
        </p:txBody>
      </p:sp>
      <p:sp>
        <p:nvSpPr>
          <p:cNvPr id="13" name="Right Arrow 12"/>
          <p:cNvSpPr/>
          <p:nvPr/>
        </p:nvSpPr>
        <p:spPr>
          <a:xfrm>
            <a:off x="6591543" y="2361438"/>
            <a:ext cx="286024"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944868" y="1625392"/>
            <a:ext cx="1741932" cy="1782988"/>
          </a:xfrm>
          <a:prstGeom prst="roundRect">
            <a:avLst>
              <a:gd name="adj" fmla="val 629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109460" y="1888739"/>
            <a:ext cx="1412748" cy="1453804"/>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LOSS</a:t>
            </a:r>
          </a:p>
          <a:p>
            <a:pPr marL="0" indent="0" algn="l">
              <a:lnSpc>
                <a:spcPts val="2400"/>
              </a:lnSpc>
              <a:spcAft>
                <a:spcPts val="0"/>
              </a:spcAft>
              <a:buNone/>
            </a:pPr>
            <a:r>
              <a:rPr sz="1600" b="0">
                <a:solidFill>
                  <a:srgbClr val="1D1D1F"/>
                </a:solidFill>
                <a:latin typeface="Menlo"/>
              </a:rPr>
              <a:t>0</a:t>
            </a:r>
          </a:p>
        </p:txBody>
      </p:sp>
      <p:sp>
        <p:nvSpPr>
          <p:cNvPr id="16" name="Left Arrow 15"/>
          <p:cNvSpPr/>
          <p:nvPr/>
        </p:nvSpPr>
        <p:spPr>
          <a:xfrm>
            <a:off x="457200" y="3627836"/>
            <a:ext cx="8229600" cy="237744"/>
          </a:xfrm>
          <a:prstGeom prst="leftArrow">
            <a:avLst/>
          </a:prstGeom>
          <a:solidFill>
            <a:srgbClr val="4C72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57200" y="3938732"/>
            <a:ext cx="8229600" cy="274320"/>
          </a:xfrm>
          <a:prstGeom prst="rect">
            <a:avLst/>
          </a:prstGeom>
          <a:noFill/>
        </p:spPr>
        <p:txBody>
          <a:bodyPr wrap="square" anchor="t" lIns="0" rIns="0" tIns="0" bIns="0">
            <a:spAutoFit/>
          </a:bodyPr>
          <a:lstStyle/>
          <a:p>
            <a:pPr marL="0" indent="0" algn="ctr">
              <a:spcAft>
                <a:spcPts val="0"/>
              </a:spcAft>
              <a:buNone/>
            </a:pPr>
            <a:r>
              <a:rPr sz="1300" b="0">
                <a:solidFill>
                  <a:srgbClr val="4C72B0"/>
                </a:solidFill>
                <a:latin typeface="Helvetica Neue"/>
              </a:rPr>
              <a:t>the gradient shrinks at every step back, until nothing reaches the start</a:t>
            </a:r>
          </a:p>
        </p:txBody>
      </p:sp>
      <p:sp>
        <p:nvSpPr>
          <p:cNvPr id="18" name="TextBox 1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Inside the LSTM cell</a:t>
            </a:r>
          </a:p>
        </p:txBody>
      </p:sp>
      <p:pic>
        <p:nvPicPr>
          <p:cNvPr id="5" name="Picture 4" descr="Inside the LSTM cell"/>
          <p:cNvPicPr>
            <a:picLocks noChangeAspect="1"/>
          </p:cNvPicPr>
          <p:nvPr/>
        </p:nvPicPr>
        <p:blipFill>
          <a:blip r:embed="rId3"/>
          <a:stretch>
            <a:fillRect/>
          </a:stretch>
        </p:blipFill>
        <p:spPr>
          <a:xfrm>
            <a:off x="1140968" y="1078992"/>
            <a:ext cx="686206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different is an LSTM, really?</a:t>
            </a:r>
          </a:p>
        </p:txBody>
      </p:sp>
      <p:pic>
        <p:nvPicPr>
          <p:cNvPr id="5" name="Picture 4" descr="How different is an LSTM, really?"/>
          <p:cNvPicPr>
            <a:picLocks noChangeAspect="1"/>
          </p:cNvPicPr>
          <p:nvPr/>
        </p:nvPicPr>
        <p:blipFill>
          <a:blip r:embed="rId3"/>
          <a:stretch>
            <a:fillRect/>
          </a:stretch>
        </p:blipFill>
        <p:spPr>
          <a:xfrm>
            <a:off x="1221098" y="1078992"/>
            <a:ext cx="67018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1 in the notebook</a:t>
            </a:r>
          </a:p>
          <a:p>
            <a:pPr algn="ctr" marL="0" indent="0">
              <a:buNone/>
            </a:pPr>
            <a:r>
              <a:rPr sz="2000">
                <a:solidFill>
                  <a:srgbClr val="222222"/>
                </a:solidFill>
              </a:rPr>
              <a:t>What nn.LSTM hands back, and what you do with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Job 1: language modeling and generation</a:t>
            </a:r>
          </a:p>
        </p:txBody>
      </p:sp>
      <p:pic>
        <p:nvPicPr>
          <p:cNvPr id="5" name="Picture 4" descr="Job 1: language modeling and generation"/>
          <p:cNvPicPr>
            <a:picLocks noChangeAspect="1"/>
          </p:cNvPicPr>
          <p:nvPr/>
        </p:nvPicPr>
        <p:blipFill>
          <a:blip r:embed="rId3"/>
          <a:stretch>
            <a:fillRect/>
          </a:stretch>
        </p:blipFill>
        <p:spPr>
          <a:xfrm>
            <a:off x="1531042" y="1078992"/>
            <a:ext cx="608191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Job 2: label every token</a:t>
            </a:r>
          </a:p>
        </p:txBody>
      </p:sp>
      <p:pic>
        <p:nvPicPr>
          <p:cNvPr id="5" name="Picture 4" descr="Job 2: label every token"/>
          <p:cNvPicPr>
            <a:picLocks noChangeAspect="1"/>
          </p:cNvPicPr>
          <p:nvPr/>
        </p:nvPicPr>
        <p:blipFill>
          <a:blip r:embed="rId3"/>
          <a:stretch>
            <a:fillRect/>
          </a:stretch>
        </p:blipFill>
        <p:spPr>
          <a:xfrm>
            <a:off x="2131567" y="1078992"/>
            <a:ext cx="488086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Job 3: classify the whole sequence</a:t>
            </a:r>
          </a:p>
        </p:txBody>
      </p:sp>
      <p:pic>
        <p:nvPicPr>
          <p:cNvPr id="5" name="Picture 4" descr="Job 3: classify the whole sequence"/>
          <p:cNvPicPr>
            <a:picLocks noChangeAspect="1"/>
          </p:cNvPicPr>
          <p:nvPr/>
        </p:nvPicPr>
        <p:blipFill>
          <a:blip r:embed="rId3"/>
          <a:stretch>
            <a:fillRect/>
          </a:stretch>
        </p:blipFill>
        <p:spPr>
          <a:xfrm>
            <a:off x="1421061" y="1078992"/>
            <a:ext cx="630187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2, 3 and 4 in the notebook</a:t>
            </a:r>
          </a:p>
          <a:p>
            <a:pPr algn="ctr" marL="0" indent="0">
              <a:buNone/>
            </a:pPr>
            <a:r>
              <a:rPr sz="2000">
                <a:solidFill>
                  <a:srgbClr val="222222"/>
                </a:solidFill>
              </a:rPr>
              <a:t>Three trained models. One line different between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this matters: seq2seq</a:t>
            </a:r>
          </a:p>
        </p:txBody>
      </p:sp>
      <p:pic>
        <p:nvPicPr>
          <p:cNvPr id="5" name="Picture 4" descr="Why this matters: seq2seq"/>
          <p:cNvPicPr>
            <a:picLocks noChangeAspect="1"/>
          </p:cNvPicPr>
          <p:nvPr/>
        </p:nvPicPr>
        <p:blipFill>
          <a:blip r:embed="rId3"/>
          <a:stretch>
            <a:fillRect/>
          </a:stretch>
        </p:blipFill>
        <p:spPr>
          <a:xfrm>
            <a:off x="1245944" y="1078992"/>
            <a:ext cx="665211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13.17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you train one yoursel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Train your own sarcasm detector</a:t>
            </a:r>
          </a:p>
        </p:txBody>
      </p:sp>
      <p:graphicFrame>
        <p:nvGraphicFramePr>
          <p:cNvPr id="5" name="Table 4"/>
          <p:cNvGraphicFramePr>
            <a:graphicFrameLocks noGrp="1"/>
          </p:cNvGraphicFramePr>
          <p:nvPr/>
        </p:nvGraphicFramePr>
        <p:xfrm>
          <a:off x="457200" y="1456182"/>
          <a:ext cx="5102352" cy="2834640"/>
        </p:xfrm>
        <a:graphic>
          <a:graphicData uri="http://schemas.openxmlformats.org/drawingml/2006/table">
            <a:tbl>
              <a:tblPr firstRow="1" bandRow="0"/>
              <a:tblGrid>
                <a:gridCol w="1326611"/>
                <a:gridCol w="3775741"/>
              </a:tblGrid>
              <a:tr h="566928">
                <a:tc>
                  <a:txBody>
                    <a:bodyPr wrap="none"/>
                    <a:lstStyle/>
                    <a:p>
                      <a:pPr marL="0" indent="0" algn="l">
                        <a:spcAft>
                          <a:spcPts val="0"/>
                        </a:spcAft>
                        <a:buNone/>
                      </a:pPr>
                      <a:r>
                        <a:rPr sz="1100" b="1" spc="50">
                          <a:solidFill>
                            <a:srgbClr val="86868B"/>
                          </a:solidFill>
                          <a:latin typeface="Helvetica Neue"/>
                        </a:rPr>
                        <a:t>WHAT</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ACCURACY</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always guess the common label</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0.562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the model you are given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0.675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counting words, no network at all</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0.840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the LSTM from Part 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0.843</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456182"/>
            <a:ext cx="2761488" cy="2834640"/>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26,602 HEADLINES</a:t>
            </a:r>
          </a:p>
          <a:p>
            <a:pPr marL="0" indent="0">
              <a:spcAft>
                <a:spcPts val="900"/>
              </a:spcAft>
              <a:buNone/>
            </a:pPr>
            <a:r>
              <a:rPr sz="1300">
                <a:solidFill>
                  <a:srgbClr val="1D1D1F"/>
                </a:solidFill>
                <a:latin typeface="Helvetica Neue"/>
              </a:rPr>
              <a:t>Onion or not? One run takes about a second.</a:t>
            </a:r>
          </a:p>
          <a:p>
            <a:pPr marL="0" indent="0">
              <a:spcAft>
                <a:spcPts val="900"/>
              </a:spcAft>
              <a:buNone/>
            </a:pPr>
            <a:r>
              <a:rPr sz="1300">
                <a:solidFill>
                  <a:srgbClr val="1D1D1F"/>
                </a:solidFill>
                <a:latin typeface="Helvetica Neue"/>
              </a:rPr>
              <a:t>Teams of three, scored on accuracy.</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headline corpus in today's notebook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Six levers, and one beats the rest</a:t>
            </a:r>
          </a:p>
        </p:txBody>
      </p:sp>
      <p:sp>
        <p:nvSpPr>
          <p:cNvPr id="5" name="Rounded Rectangle 4"/>
          <p:cNvSpPr/>
          <p:nvPr/>
        </p:nvSpPr>
        <p:spPr>
          <a:xfrm>
            <a:off x="457200" y="107899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521970"/>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1</a:t>
            </a:r>
          </a:p>
        </p:txBody>
      </p:sp>
      <p:sp>
        <p:nvSpPr>
          <p:cNvPr id="7" name="TextBox 6"/>
          <p:cNvSpPr txBox="1"/>
          <p:nvPr/>
        </p:nvSpPr>
        <p:spPr>
          <a:xfrm>
            <a:off x="1170432" y="1078992"/>
            <a:ext cx="7278624" cy="521970"/>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Make it wider. Eight is not much of a memory</a:t>
            </a:r>
          </a:p>
        </p:txBody>
      </p:sp>
      <p:sp>
        <p:nvSpPr>
          <p:cNvPr id="8" name="Rounded Rectangle 7"/>
          <p:cNvSpPr/>
          <p:nvPr/>
        </p:nvSpPr>
        <p:spPr>
          <a:xfrm>
            <a:off x="457200" y="169240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692402"/>
            <a:ext cx="475488" cy="521970"/>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2</a:t>
            </a:r>
          </a:p>
        </p:txBody>
      </p:sp>
      <p:sp>
        <p:nvSpPr>
          <p:cNvPr id="10" name="TextBox 9"/>
          <p:cNvSpPr txBox="1"/>
          <p:nvPr/>
        </p:nvSpPr>
        <p:spPr>
          <a:xfrm>
            <a:off x="1170432" y="1692402"/>
            <a:ext cx="7278624" cy="521970"/>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Read it both ways: bidirectional=True</a:t>
            </a:r>
          </a:p>
        </p:txBody>
      </p:sp>
      <p:sp>
        <p:nvSpPr>
          <p:cNvPr id="11" name="Rounded Rectangle 10"/>
          <p:cNvSpPr/>
          <p:nvPr/>
        </p:nvSpPr>
        <p:spPr>
          <a:xfrm>
            <a:off x="457200" y="230581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305812"/>
            <a:ext cx="475488" cy="521970"/>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3</a:t>
            </a:r>
          </a:p>
        </p:txBody>
      </p:sp>
      <p:sp>
        <p:nvSpPr>
          <p:cNvPr id="13" name="TextBox 12"/>
          <p:cNvSpPr txBox="1"/>
          <p:nvPr/>
        </p:nvSpPr>
        <p:spPr>
          <a:xfrm>
            <a:off x="1170432" y="2305812"/>
            <a:ext cx="7278624" cy="521970"/>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Stack two: num_layers=2</a:t>
            </a:r>
          </a:p>
        </p:txBody>
      </p:sp>
      <p:sp>
        <p:nvSpPr>
          <p:cNvPr id="14" name="Rounded Rectangle 13"/>
          <p:cNvSpPr/>
          <p:nvPr/>
        </p:nvSpPr>
        <p:spPr>
          <a:xfrm>
            <a:off x="457200" y="291922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2919222"/>
            <a:ext cx="475488" cy="521970"/>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4</a:t>
            </a:r>
          </a:p>
        </p:txBody>
      </p:sp>
      <p:sp>
        <p:nvSpPr>
          <p:cNvPr id="16" name="TextBox 15"/>
          <p:cNvSpPr txBox="1"/>
          <p:nvPr/>
        </p:nvSpPr>
        <p:spPr>
          <a:xfrm>
            <a:off x="1170432" y="2919222"/>
            <a:ext cx="7278624" cy="521970"/>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Average the per-step outputs instead</a:t>
            </a:r>
          </a:p>
        </p:txBody>
      </p:sp>
      <p:sp>
        <p:nvSpPr>
          <p:cNvPr id="17" name="Rounded Rectangle 16"/>
          <p:cNvSpPr/>
          <p:nvPr/>
        </p:nvSpPr>
        <p:spPr>
          <a:xfrm>
            <a:off x="457200" y="353263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3532632"/>
            <a:ext cx="475488" cy="521970"/>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5</a:t>
            </a:r>
          </a:p>
        </p:txBody>
      </p:sp>
      <p:sp>
        <p:nvSpPr>
          <p:cNvPr id="19" name="TextBox 18"/>
          <p:cNvSpPr txBox="1"/>
          <p:nvPr/>
        </p:nvSpPr>
        <p:spPr>
          <a:xfrm>
            <a:off x="1170432" y="3532632"/>
            <a:ext cx="7278624" cy="521970"/>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Add nn.Dropout before the head</a:t>
            </a:r>
          </a:p>
        </p:txBody>
      </p:sp>
      <p:sp>
        <p:nvSpPr>
          <p:cNvPr id="20" name="Rounded Rectangle 19"/>
          <p:cNvSpPr/>
          <p:nvPr/>
        </p:nvSpPr>
        <p:spPr>
          <a:xfrm>
            <a:off x="457200" y="4146042"/>
            <a:ext cx="8229600" cy="521970"/>
          </a:xfrm>
          <a:prstGeom prst="roundRect">
            <a:avLst>
              <a:gd name="adj" fmla="val 1927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4944" y="4146042"/>
            <a:ext cx="475488" cy="521970"/>
          </a:xfrm>
          <a:prstGeom prst="rect">
            <a:avLst/>
          </a:prstGeom>
          <a:noFill/>
        </p:spPr>
        <p:txBody>
          <a:bodyPr wrap="none" anchor="ctr" lIns="0" rIns="0" tIns="0" bIns="0">
            <a:spAutoFit/>
          </a:bodyPr>
          <a:lstStyle/>
          <a:p>
            <a:pPr marL="0" indent="0" algn="l">
              <a:spcAft>
                <a:spcPts val="0"/>
              </a:spcAft>
              <a:buNone/>
            </a:pPr>
            <a:r>
              <a:rPr sz="2200" b="1">
                <a:solidFill>
                  <a:srgbClr val="1D1D1F"/>
                </a:solidFill>
                <a:latin typeface="Helvetica Neue"/>
              </a:rPr>
              <a:t>6</a:t>
            </a:r>
          </a:p>
        </p:txBody>
      </p:sp>
      <p:sp>
        <p:nvSpPr>
          <p:cNvPr id="22" name="TextBox 21"/>
          <p:cNvSpPr txBox="1"/>
          <p:nvPr/>
        </p:nvSpPr>
        <p:spPr>
          <a:xfrm>
            <a:off x="1170432" y="4146042"/>
            <a:ext cx="7278624" cy="521970"/>
          </a:xfrm>
          <a:prstGeom prst="rect">
            <a:avLst/>
          </a:prstGeom>
          <a:noFill/>
        </p:spPr>
        <p:txBody>
          <a:bodyPr wrap="square" anchor="ctr" lIns="0" rIns="0" tIns="0" bIns="0">
            <a:spAutoFit/>
          </a:bodyPr>
          <a:lstStyle/>
          <a:p>
            <a:pPr marL="0" indent="0" algn="l">
              <a:spcAft>
                <a:spcPts val="0"/>
              </a:spcAft>
              <a:buNone/>
            </a:pPr>
            <a:r>
              <a:rPr sz="1600" b="0">
                <a:solidFill>
                  <a:srgbClr val="1D1D1F"/>
                </a:solidFill>
                <a:latin typeface="Menlo"/>
              </a:rPr>
              <a:t>Four settings at the top of the given cell</a:t>
            </a:r>
          </a:p>
        </p:txBody>
      </p:sp>
      <p:sp>
        <p:nvSpPr>
          <p:cNvPr id="23" name="TextBox 22"/>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