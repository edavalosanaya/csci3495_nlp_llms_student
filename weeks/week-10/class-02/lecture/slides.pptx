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10, Class 2  ·  Wed Oct 28, 2026</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pic>
        <p:nvPicPr>
          <p:cNvPr id="5" name="Picture 4" descr="Capable is not the same as aligned"/>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pic>
        <p:nvPicPr>
          <p:cNvPr id="5" name="Picture 4" descr="Why not just write more demonstrations?"/>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pic>
        <p:nvPicPr>
          <p:cNvPr id="5" name="Picture 4" descr="Stage 1: Supervised fine-tuning"/>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pic>
        <p:nvPicPr>
          <p:cNvPr id="5" name="Picture 4" descr="Stage 2: Reward model"/>
          <p:cNvPicPr>
            <a:picLocks noChangeAspect="1"/>
          </p:cNvPicPr>
          <p:nvPr/>
        </p:nvPicPr>
        <p:blipFill>
          <a:blip r:embed="rId3"/>
          <a:stretch>
            <a:fillRect/>
          </a:stretch>
        </p:blipFill>
        <p:spPr>
          <a:xfrm>
            <a:off x="411839" y="1078992"/>
            <a:ext cx="832032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pic>
        <p:nvPicPr>
          <p:cNvPr id="5" name="Picture 4" descr="RLHF is powerful but painful"/>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pic>
        <p:nvPicPr>
          <p:cNvPr id="5" name="Picture 4" descr="DPO vs. RLHF"/>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pic>
        <p:nvPicPr>
          <p:cNvPr id="5" name="Picture 4" descr="RLVR: Reinforcement Learning with Verifiable Rewards"/>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pic>
        <p:nvPicPr>
          <p:cNvPr id="5" name="Picture 4" descr="GRPO: score answers against each other"/>
          <p:cNvPicPr>
            <a:picLocks noChangeAspect="1"/>
          </p:cNvPicPr>
          <p:nvPr/>
        </p:nvPicPr>
        <p:blipFill>
          <a:blip r:embed="rId3"/>
          <a:stretch>
            <a:fillRect/>
          </a:stretch>
        </p:blipFill>
        <p:spPr>
          <a:xfrm>
            <a:off x="274320" y="1431230"/>
            <a:ext cx="8595360" cy="2884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pic>
        <p:nvPicPr>
          <p:cNvPr id="5" name="Picture 4" descr="RLHF vs. DPO vs. RLVR"/>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pic>
        <p:nvPicPr>
          <p:cNvPr id="5" name="Picture 4" descr="Helpfulness vs. harmlessnes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pic>
        <p:nvPicPr>
          <p:cNvPr id="5" name="Picture 4" descr="Who decides what is preferre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pic>
        <p:nvPicPr>
          <p:cNvPr id="5" name="Picture 4" descr="The reward-model standoff"/>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pic>
        <p:nvPicPr>
          <p:cNvPr id="5" name="Picture 4" descr="Then fit the reward model"/>
          <p:cNvPicPr>
            <a:picLocks noChangeAspect="1"/>
          </p:cNvPicPr>
          <p:nvPr/>
        </p:nvPicPr>
        <p:blipFill>
          <a:blip r:embed="rId3"/>
          <a:stretch>
            <a:fillRect/>
          </a:stretch>
        </p:blipFill>
        <p:spPr>
          <a:xfrm>
            <a:off x="274320" y="1095825"/>
            <a:ext cx="8595360" cy="35553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weeks/week-10/class-02/exercise/preferences.py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282337"/>
            <a:ext cx="8595360" cy="31823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weeks/week-10/class-02/solutions/preferences.py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