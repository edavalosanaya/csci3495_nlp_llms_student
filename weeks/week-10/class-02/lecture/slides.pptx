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weight</c:v>
                </c:pt>
              </c:strCache>
            </c:strRef>
          </c:tx>
          <c:spPr>
            <a:solidFill>
              <a:srgbClr val="4C72B0"/>
            </a:solidFill>
            <a:ln>
              <a:noFill/>
            </a:ln>
          </c:spPr>
          <c:dPt>
            <c:idx val="0"/>
            <c:spPr>
              <a:solidFill>
                <a:srgbClr val="4C72B0"/>
              </a:solidFill>
            </c:spPr>
          </c:dPt>
          <c:dPt>
            <c:idx val="1"/>
            <c:spPr>
              <a:solidFill>
                <a:srgbClr val="4C72B0"/>
              </a:solidFill>
            </c:spPr>
          </c:dPt>
          <c:dPt>
            <c:idx val="2"/>
            <c:spPr>
              <a:solidFill>
                <a:srgbClr val="4C72B0"/>
              </a:solidFill>
            </c:spPr>
          </c:dPt>
          <c:dPt>
            <c:idx val="3"/>
            <c:spPr>
              <a:solidFill>
                <a:srgbClr val="4C72B0"/>
              </a:solidFill>
            </c:spPr>
          </c:dPt>
          <c:cat>
            <c:strRef>
              <c:f>Sheet1!$A$2:$A$5</c:f>
              <c:strCache>
                <c:ptCount val="4"/>
                <c:pt idx="0">
                  <c:v>reward model</c:v>
                </c:pt>
                <c:pt idx="1">
                  <c:v>reference</c:v>
                </c:pt>
                <c:pt idx="2">
                  <c:v>value model</c:v>
                </c:pt>
                <c:pt idx="3">
                  <c:v>policy</c:v>
                </c:pt>
              </c:strCache>
            </c:strRef>
          </c:cat>
          <c:val>
            <c:numRef>
              <c:f>Sheet1!$B$2:$B$5</c:f>
              <c:numCache>
                <c:formatCode>General</c:formatCode>
                <c:ptCount val="4"/>
                <c:pt idx="0">
                  <c:v>14.0</c:v>
                </c:pt>
                <c:pt idx="1">
                  <c:v>14.0</c:v>
                </c:pt>
                <c:pt idx="2">
                  <c:v>112.0</c:v>
                </c:pt>
                <c:pt idx="3">
                  <c:v>112.0</c:v>
                </c:pt>
              </c:numCache>
            </c:numRef>
          </c:val>
        </c:ser>
        <c:dLbls>
          <c:numFmt formatCode="0" sourceLinked="0"/>
          <c:txPr>
            <a:bodyPr/>
            <a:lstStyle/>
            <a:p>
              <a:pPr>
                <a:defRPr sz="1500" b="1">
                  <a:solidFill>
                    <a:srgbClr val="1D1D1F"/>
                  </a:solidFill>
                  <a:latin typeface="Helvetica Neue"/>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none"/>
        <c:minorTickMark val="none"/>
        <c:tickLblPos val="nextTo"/>
        <c:spPr>
          <a:ln>
            <a:solidFill>
              <a:srgbClr val="D2D2D7"/>
            </a:solidFill>
          </a:ln>
        </c:spPr>
        <c:txPr>
          <a:bodyPr/>
          <a:lstStyle/>
          <a:p>
            <a:pPr>
              <a:defRPr sz="1200">
                <a:solidFill>
                  <a:srgbClr val="86868B"/>
                </a:solidFill>
                <a:latin typeface="Helvetica Neue"/>
              </a:defRPr>
            </a:pPr>
          </a:p>
        </c:txPr>
        <c:crossAx val="-2113994440"/>
        <c:crosses val="autoZero"/>
        <c:auto val="1"/>
        <c:lblAlgn val="ctr"/>
        <c:lblOffset val="100"/>
        <c:noMultiLvlLbl val="0"/>
      </c:catAx>
      <c:valAx>
        <c:axId val="-2113994440"/>
        <c:scaling/>
        <c:delete val="0"/>
        <c:axPos val="b"/>
        <c:majorTickMark val="none"/>
        <c:minorTickMark val="none"/>
        <c:tickLblPos val="none"/>
        <c:spPr>
          <a:ln>
            <a:noFill/>
          </a:ln>
        </c:spPr>
        <c:crossAx val="-2068027336"/>
        <c:crosses val="autoZero"/>
      </c:valAx>
    </c:plotArea>
    <c:dispBlanksAs val="gap"/>
  </c:chart>
  <c:txPr>
    <a:bodyPr/>
    <a:lstStyle/>
    <a:p>
      <a:pPr>
        <a:defRPr sz="1200">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1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1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10, Class 2  ·  Wed Oct 28, 2026</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sp>
        <p:nvSpPr>
          <p:cNvPr id="5" name="Rounded Rectangle 4"/>
          <p:cNvSpPr/>
          <p:nvPr/>
        </p:nvSpPr>
        <p:spPr>
          <a:xfrm>
            <a:off x="457200" y="2313654"/>
            <a:ext cx="4041648" cy="1119695"/>
          </a:xfrm>
          <a:prstGeom prst="roundRect">
            <a:avLst>
              <a:gd name="adj" fmla="val 1061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59958"/>
            <a:ext cx="3675888" cy="82708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PRETRAINED LM</a:t>
            </a:r>
          </a:p>
          <a:p>
            <a:pPr marL="0" indent="0">
              <a:spcAft>
                <a:spcPts val="300"/>
              </a:spcAft>
              <a:buNone/>
            </a:pPr>
            <a:r>
              <a:rPr sz="1550" b="0" u="none">
                <a:solidFill>
                  <a:srgbClr val="1D1D1F"/>
                </a:solidFill>
                <a:latin typeface="Menlo"/>
              </a:rPr>
              <a:t>fluent, grammatical, on topic</a:t>
            </a:r>
          </a:p>
          <a:p>
            <a:pPr marL="0" indent="0" algn="l">
              <a:spcAft>
                <a:spcPts val="200"/>
              </a:spcAft>
              <a:buNone/>
            </a:pPr>
            <a:r>
              <a:rPr sz="1200" b="0">
                <a:solidFill>
                  <a:srgbClr val="86868B"/>
                </a:solidFill>
                <a:latin typeface="Helvetica Neue"/>
              </a:rPr>
              <a:t>"Explain the moon landing to a 6 year old." comes back as more questions like it. It is continuing a list.</a:t>
            </a:r>
          </a:p>
        </p:txBody>
      </p:sp>
      <p:sp>
        <p:nvSpPr>
          <p:cNvPr id="7" name="Rounded Rectangle 6"/>
          <p:cNvSpPr/>
          <p:nvPr/>
        </p:nvSpPr>
        <p:spPr>
          <a:xfrm>
            <a:off x="4645152" y="2313654"/>
            <a:ext cx="4041648" cy="1119695"/>
          </a:xfrm>
          <a:prstGeom prst="roundRect">
            <a:avLst>
              <a:gd name="adj" fmla="val 1061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59958"/>
            <a:ext cx="3675888" cy="82708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WHAT YOU WANTED</a:t>
            </a:r>
          </a:p>
          <a:p>
            <a:pPr marL="0" indent="0">
              <a:spcAft>
                <a:spcPts val="300"/>
              </a:spcAft>
              <a:buNone/>
            </a:pPr>
            <a:r>
              <a:rPr sz="1550" b="0" u="none">
                <a:solidFill>
                  <a:srgbClr val="1D1D1F"/>
                </a:solidFill>
                <a:latin typeface="Menlo"/>
              </a:rPr>
              <a:t>an answer</a:t>
            </a:r>
          </a:p>
          <a:p>
            <a:pPr marL="0" indent="0" algn="l">
              <a:spcAft>
                <a:spcPts val="200"/>
              </a:spcAft>
              <a:buNone/>
            </a:pPr>
            <a:r>
              <a:rPr sz="1200" b="0">
                <a:solidFill>
                  <a:srgbClr val="86868B"/>
                </a:solidFill>
                <a:latin typeface="Helvetica Neue"/>
              </a:rPr>
              <a:t>Capable is not the same as aligned.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JOB A, WRITE THE IDEAL ANSWER</a:t>
            </a:r>
          </a:p>
          <a:p>
            <a:pPr marL="0" indent="0">
              <a:spcAft>
                <a:spcPts val="300"/>
              </a:spcAft>
              <a:buNone/>
            </a:pPr>
            <a:r>
              <a:rPr sz="2000" b="0" u="none">
                <a:solidFill>
                  <a:srgbClr val="1D1D1F"/>
                </a:solidFill>
                <a:latin typeface="Menlo"/>
              </a:rPr>
              <a:t>from a blank page</a:t>
            </a:r>
          </a:p>
          <a:p>
            <a:pPr marL="0" indent="0" algn="l">
              <a:spcAft>
                <a:spcPts val="200"/>
              </a:spcAft>
              <a:buNone/>
            </a:pPr>
            <a:r>
              <a:rPr sz="1200" b="0">
                <a:solidFill>
                  <a:srgbClr val="86868B"/>
                </a:solidFill>
                <a:latin typeface="Helvetica Neue"/>
              </a:rPr>
              <a:t>Hard for humans. The labeler has to invent the gold standard.</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JOB B, JUDGE TWO THE MODEL WROTE</a:t>
            </a:r>
          </a:p>
          <a:p>
            <a:pPr marL="0" indent="0">
              <a:spcAft>
                <a:spcPts val="300"/>
              </a:spcAft>
              <a:buNone/>
            </a:pPr>
            <a:r>
              <a:rPr sz="2000" b="0" u="none">
                <a:solidFill>
                  <a:srgbClr val="1D1D1F"/>
                </a:solidFill>
                <a:latin typeface="Menlo"/>
              </a:rPr>
              <a:t>pick the better one</a:t>
            </a:r>
          </a:p>
          <a:p>
            <a:pPr marL="0" indent="0" algn="l">
              <a:spcAft>
                <a:spcPts val="200"/>
              </a:spcAft>
              <a:buNone/>
            </a:pPr>
            <a:r>
              <a:rPr sz="1200" b="0">
                <a:solidFill>
                  <a:srgbClr val="86868B"/>
                </a:solidFill>
                <a:latin typeface="Helvetica Neue"/>
              </a:rPr>
              <a:t>Far easier, far faster, and far more consistent between labelers.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sp>
        <p:nvSpPr>
          <p:cNvPr id="5" name="Rounded Rectangle 4"/>
          <p:cNvSpPr/>
          <p:nvPr/>
        </p:nvSpPr>
        <p:spPr>
          <a:xfrm>
            <a:off x="457200" y="1078992"/>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PROMPT</a:t>
            </a:r>
          </a:p>
        </p:txBody>
      </p:sp>
      <p:sp>
        <p:nvSpPr>
          <p:cNvPr id="7" name="TextBox 6"/>
          <p:cNvSpPr txBox="1"/>
          <p:nvPr/>
        </p:nvSpPr>
        <p:spPr>
          <a:xfrm>
            <a:off x="2523744" y="1078992"/>
            <a:ext cx="5925312" cy="1147572"/>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sampled from real user traffic</a:t>
            </a:r>
          </a:p>
        </p:txBody>
      </p:sp>
      <p:sp>
        <p:nvSpPr>
          <p:cNvPr id="8" name="Rounded Rectangle 7"/>
          <p:cNvSpPr/>
          <p:nvPr/>
        </p:nvSpPr>
        <p:spPr>
          <a:xfrm>
            <a:off x="457200" y="2299716"/>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299716"/>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LABELER</a:t>
            </a:r>
          </a:p>
        </p:txBody>
      </p:sp>
      <p:sp>
        <p:nvSpPr>
          <p:cNvPr id="10" name="TextBox 9"/>
          <p:cNvSpPr txBox="1"/>
          <p:nvPr/>
        </p:nvSpPr>
        <p:spPr>
          <a:xfrm>
            <a:off x="2523744" y="2299716"/>
            <a:ext cx="5925312" cy="1147572"/>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writes the ideal answer, by hand</a:t>
            </a:r>
          </a:p>
        </p:txBody>
      </p:sp>
      <p:sp>
        <p:nvSpPr>
          <p:cNvPr id="11" name="Rounded Rectangle 10"/>
          <p:cNvSpPr/>
          <p:nvPr/>
        </p:nvSpPr>
        <p:spPr>
          <a:xfrm>
            <a:off x="457200" y="3520440"/>
            <a:ext cx="8229600" cy="1147572"/>
          </a:xfrm>
          <a:prstGeom prst="roundRect">
            <a:avLst>
              <a:gd name="adj" fmla="val 79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20440"/>
            <a:ext cx="1828800" cy="1147572"/>
          </a:xfrm>
          <a:prstGeom prst="rect">
            <a:avLst/>
          </a:prstGeom>
          <a:noFill/>
        </p:spPr>
        <p:txBody>
          <a:bodyPr wrap="square" anchor="ctr" lIns="0" rIns="0" tIns="0" bIns="0">
            <a:spAutoFit/>
          </a:bodyPr>
          <a:lstStyle/>
          <a:p>
            <a:pPr marL="0" indent="0" algn="l">
              <a:spcAft>
                <a:spcPts val="0"/>
              </a:spcAft>
              <a:buNone/>
            </a:pPr>
            <a:r>
              <a:rPr sz="1100" b="1" spc="60">
                <a:solidFill>
                  <a:srgbClr val="86868B"/>
                </a:solidFill>
                <a:latin typeface="Helvetica Neue"/>
              </a:rPr>
              <a:t>FINE-TUNE</a:t>
            </a:r>
          </a:p>
        </p:txBody>
      </p:sp>
      <p:sp>
        <p:nvSpPr>
          <p:cNvPr id="13" name="TextBox 12"/>
          <p:cNvSpPr txBox="1"/>
          <p:nvPr/>
        </p:nvSpPr>
        <p:spPr>
          <a:xfrm>
            <a:off x="2523744" y="3520440"/>
            <a:ext cx="5925312" cy="1147572"/>
          </a:xfrm>
          <a:prstGeom prst="rect">
            <a:avLst/>
          </a:prstGeom>
          <a:noFill/>
        </p:spPr>
        <p:txBody>
          <a:bodyPr wrap="none" anchor="ctr" lIns="0" rIns="0" tIns="0" bIns="0">
            <a:spAutoFit/>
          </a:bodyPr>
          <a:lstStyle/>
          <a:p>
            <a:pPr marL="0" indent="0" algn="l">
              <a:spcAft>
                <a:spcPts val="0"/>
              </a:spcAft>
              <a:buNone/>
            </a:pPr>
            <a:r>
              <a:rPr sz="1800" b="0">
                <a:solidFill>
                  <a:srgbClr val="1D1D1F"/>
                </a:solidFill>
                <a:latin typeface="Menlo"/>
              </a:rPr>
              <a:t>the same next-token loss, on those pairs</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graphicFrame>
        <p:nvGraphicFramePr>
          <p:cNvPr id="5" name="Table 4"/>
          <p:cNvGraphicFramePr>
            <a:graphicFrameLocks noGrp="1"/>
          </p:cNvGraphicFramePr>
          <p:nvPr/>
        </p:nvGraphicFramePr>
        <p:xfrm>
          <a:off x="457200" y="1456182"/>
          <a:ext cx="5102352" cy="2834640"/>
        </p:xfrm>
        <a:graphic>
          <a:graphicData uri="http://schemas.openxmlformats.org/drawingml/2006/table">
            <a:tbl>
              <a:tblPr firstRow="1" bandRow="0"/>
              <a:tblGrid>
                <a:gridCol w="1122517"/>
                <a:gridCol w="3979835"/>
              </a:tblGrid>
              <a:tr h="566928">
                <a:tc>
                  <a:txBody>
                    <a:bodyPr wrap="none"/>
                    <a:lstStyle/>
                    <a:p>
                      <a:pPr marL="0" indent="0" algn="l">
                        <a:spcAft>
                          <a:spcPts val="0"/>
                        </a:spcAft>
                        <a:buNone/>
                      </a:pPr>
                      <a:r>
                        <a:rPr sz="1100" b="1" spc="50">
                          <a:solidFill>
                            <a:srgbClr val="86868B"/>
                          </a:solidFill>
                          <a:latin typeface="Helvetica Neue"/>
                        </a:rPr>
                        <a:t>RANK</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WHY THE LABELER PUT IT THERE</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correct, and pitched at a ten-year-old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correct, but reads like a textbook</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vague, and hedges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confidently wrong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WHAT GETS TRAINED</a:t>
            </a:r>
          </a:p>
          <a:p>
            <a:pPr marL="0" indent="0">
              <a:spcAft>
                <a:spcPts val="900"/>
              </a:spcAft>
              <a:buNone/>
            </a:pPr>
            <a:r>
              <a:rPr sz="1300">
                <a:solidFill>
                  <a:srgbClr val="1D1D1F"/>
                </a:solidFill>
                <a:latin typeface="Helvetica Neue"/>
              </a:rPr>
              <a:t>Not the answer. A model r(x, y) that reproduces this ordering.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sp>
        <p:nvSpPr>
          <p:cNvPr id="5" name="TextBox 4"/>
          <p:cNvSpPr txBox="1"/>
          <p:nvPr/>
        </p:nvSpPr>
        <p:spPr>
          <a:xfrm>
            <a:off x="457200" y="1078992"/>
            <a:ext cx="8229600" cy="310896"/>
          </a:xfrm>
          <a:prstGeom prst="rect">
            <a:avLst/>
          </a:prstGeom>
          <a:noFill/>
        </p:spPr>
        <p:txBody>
          <a:bodyPr wrap="square" anchor="t" lIns="0" rIns="0" tIns="0" bIns="0">
            <a:spAutoFit/>
          </a:bodyPr>
          <a:lstStyle/>
          <a:p>
            <a:pPr marL="0" indent="0" algn="l">
              <a:spcAft>
                <a:spcPts val="0"/>
              </a:spcAft>
              <a:buNone/>
            </a:pPr>
            <a:r>
              <a:rPr sz="1300" b="0">
                <a:solidFill>
                  <a:srgbClr val="86868B"/>
                </a:solidFill>
                <a:latin typeface="Helvetica Neue"/>
              </a:rPr>
              <a:t>Four models resident at once, 7B each, in GB</a:t>
            </a:r>
          </a:p>
        </p:txBody>
      </p:sp>
      <p:graphicFrame>
        <p:nvGraphicFramePr>
          <p:cNvPr id="6" name="Chart 5"/>
          <p:cNvGraphicFramePr>
            <a:graphicFrameLocks noGrp="1"/>
          </p:cNvGraphicFramePr>
          <p:nvPr/>
        </p:nvGraphicFramePr>
        <p:xfrm>
          <a:off x="457200" y="1389888"/>
          <a:ext cx="8229600" cy="3278124"/>
        </p:xfrm>
        <a:graphic>
          <a:graphicData uri="http://schemas.openxmlformats.org/drawingml/2006/chart">
            <c:chart xmlns:c="http://schemas.openxmlformats.org/drawingml/2006/chart" r:id="rId3"/>
          </a:graphicData>
        </a:graphic>
      </p:graphicFrame>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sp>
        <p:nvSpPr>
          <p:cNvPr id="5" name="Rounded Rectangle 4"/>
          <p:cNvSpPr/>
          <p:nvPr/>
        </p:nvSpPr>
        <p:spPr>
          <a:xfrm>
            <a:off x="457200"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RLHF WITH PPO</a:t>
            </a:r>
          </a:p>
          <a:p>
            <a:pPr marL="0" indent="0">
              <a:spcAft>
                <a:spcPts val="300"/>
              </a:spcAft>
              <a:buNone/>
            </a:pPr>
            <a:r>
              <a:rPr sz="1250" b="0" u="none">
                <a:solidFill>
                  <a:srgbClr val="1D1D1F"/>
                </a:solidFill>
                <a:latin typeface="Menlo"/>
              </a:rPr>
              <a:t>preferences, a reward model, then RL</a:t>
            </a:r>
          </a:p>
          <a:p>
            <a:pPr marL="0" indent="0" algn="l">
              <a:spcAft>
                <a:spcPts val="200"/>
              </a:spcAft>
              <a:buNone/>
            </a:pPr>
            <a:r>
              <a:rPr sz="1050" b="0">
                <a:solidFill>
                  <a:srgbClr val="86868B"/>
                </a:solidFill>
                <a:latin typeface="Helvetica Neue"/>
              </a:rPr>
              <a:t>Three stages, four models resident, and a leash to tune.</a:t>
            </a:r>
          </a:p>
        </p:txBody>
      </p:sp>
      <p:sp>
        <p:nvSpPr>
          <p:cNvPr id="7" name="Rounded Rectangle 6"/>
          <p:cNvSpPr/>
          <p:nvPr/>
        </p:nvSpPr>
        <p:spPr>
          <a:xfrm>
            <a:off x="4645152"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DPO</a:t>
            </a:r>
          </a:p>
          <a:p>
            <a:pPr marL="0" indent="0">
              <a:spcAft>
                <a:spcPts val="300"/>
              </a:spcAft>
              <a:buNone/>
            </a:pPr>
            <a:r>
              <a:rPr sz="1250" b="0" u="none">
                <a:solidFill>
                  <a:srgbClr val="1D1D1F"/>
                </a:solidFill>
                <a:latin typeface="Menlo"/>
              </a:rPr>
              <a:t>one loss, straight from the pairs</a:t>
            </a:r>
          </a:p>
          <a:p>
            <a:pPr marL="0" indent="0" algn="l">
              <a:spcAft>
                <a:spcPts val="200"/>
              </a:spcAft>
              <a:buNone/>
            </a:pPr>
            <a:r>
              <a:rPr sz="1050" b="0">
                <a:solidFill>
                  <a:srgbClr val="86868B"/>
                </a:solidFill>
                <a:latin typeface="Helvetica Neue"/>
              </a:rPr>
              <a:t>Same data in. No reward model, no sampling loop.</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sp>
        <p:nvSpPr>
          <p:cNvPr id="5" name="Rounded Rectangle 4"/>
          <p:cNvSpPr/>
          <p:nvPr/>
        </p:nvSpPr>
        <p:spPr>
          <a:xfrm>
            <a:off x="457200" y="1813814"/>
            <a:ext cx="8229600" cy="1680591"/>
          </a:xfrm>
          <a:prstGeom prst="roundRect">
            <a:avLst>
              <a:gd name="adj" fmla="val 6529"/>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96926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96926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96926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234438"/>
            <a:ext cx="7607808" cy="1003935"/>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8E8E93"/>
                </a:solidFill>
                <a:latin typeface="Menlo"/>
              </a:rPr>
              <a:t># the verifier is code, not a model</a:t>
            </a:r>
          </a:p>
          <a:p>
            <a:pPr marL="0" indent="0" algn="l">
              <a:lnSpc>
                <a:spcPts val="2635"/>
              </a:lnSpc>
              <a:spcAft>
                <a:spcPts val="0"/>
              </a:spcAft>
              <a:buNone/>
            </a:pPr>
            <a:r>
              <a:rPr sz="1700" b="0">
                <a:solidFill>
                  <a:srgbClr val="F5F5F7"/>
                </a:solidFill>
                <a:latin typeface="Menlo"/>
              </a:rPr>
              <a:t>pred = extract_final(completion)        # '72'</a:t>
            </a:r>
          </a:p>
          <a:p>
            <a:pPr marL="0" indent="0" algn="l">
              <a:lnSpc>
                <a:spcPts val="2635"/>
              </a:lnSpc>
              <a:spcAft>
                <a:spcPts val="0"/>
              </a:spcAft>
              <a:buNone/>
            </a:pPr>
            <a:r>
              <a:rPr sz="1700" b="0">
                <a:solidFill>
                  <a:srgbClr val="F5F5F7"/>
                </a:solidFill>
                <a:latin typeface="Menlo"/>
              </a:rPr>
              <a:t>reward = 1.0 if pred == gold else 0.0</a:t>
            </a:r>
          </a:p>
        </p:txBody>
      </p:sp>
      <p:sp>
        <p:nvSpPr>
          <p:cNvPr id="10" name="TextBox 9"/>
          <p:cNvSpPr txBox="1"/>
          <p:nvPr/>
        </p:nvSpPr>
        <p:spPr>
          <a:xfrm>
            <a:off x="768096" y="3622421"/>
            <a:ext cx="7607808" cy="43878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correct, reward 1. Wrong, reward 0. Nothing in between, and nothing to argue about.</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graphicFrame>
        <p:nvGraphicFramePr>
          <p:cNvPr id="5" name="Table 4"/>
          <p:cNvGraphicFramePr>
            <a:graphicFrameLocks noGrp="1"/>
          </p:cNvGraphicFramePr>
          <p:nvPr/>
        </p:nvGraphicFramePr>
        <p:xfrm>
          <a:off x="457200" y="1456182"/>
          <a:ext cx="5102351" cy="2834640"/>
        </p:xfrm>
        <a:graphic>
          <a:graphicData uri="http://schemas.openxmlformats.org/drawingml/2006/table">
            <a:tbl>
              <a:tblPr firstRow="1" bandRow="0"/>
              <a:tblGrid>
                <a:gridCol w="2090293"/>
                <a:gridCol w="1506029"/>
                <a:gridCol w="1506029"/>
              </a:tblGrid>
              <a:tr h="566928">
                <a:tc>
                  <a:txBody>
                    <a:bodyPr wrap="none"/>
                    <a:lstStyle/>
                    <a:p>
                      <a:pPr marL="0" indent="0" algn="l">
                        <a:spcAft>
                          <a:spcPts val="0"/>
                        </a:spcAft>
                        <a:buNone/>
                      </a:pPr>
                      <a:r>
                        <a:rPr sz="1100" b="1" spc="50">
                          <a:solidFill>
                            <a:srgbClr val="86868B"/>
                          </a:solidFill>
                          <a:latin typeface="Helvetica Neue"/>
                        </a:rPr>
                        <a:t>SAMPLED ANSWER</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REWARD</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ADVANTAGE</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A, reaches 42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B, reaches 42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 reaches 36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 reaches 36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THE GROUP IS THE BASELINE</a:t>
            </a:r>
          </a:p>
          <a:p>
            <a:pPr marL="0" indent="0">
              <a:spcAft>
                <a:spcPts val="900"/>
              </a:spcAft>
              <a:buNone/>
            </a:pPr>
            <a:r>
              <a:rPr sz="1300">
                <a:solidFill>
                  <a:srgbClr val="1D1D1F"/>
                </a:solidFill>
                <a:latin typeface="Helvetica Neue"/>
              </a:rPr>
              <a:t>No value model. An answer is good relative to the others drawn for the same prompt.</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graphicFrame>
        <p:nvGraphicFramePr>
          <p:cNvPr id="5" name="Table 4"/>
          <p:cNvGraphicFramePr>
            <a:graphicFrameLocks noGrp="1"/>
          </p:cNvGraphicFramePr>
          <p:nvPr/>
        </p:nvGraphicFramePr>
        <p:xfrm>
          <a:off x="457200" y="1456182"/>
          <a:ext cx="8229598" cy="2834640"/>
        </p:xfrm>
        <a:graphic>
          <a:graphicData uri="http://schemas.openxmlformats.org/drawingml/2006/table">
            <a:tbl>
              <a:tblPr firstRow="1" bandRow="0"/>
              <a:tblGrid>
                <a:gridCol w="2225230"/>
                <a:gridCol w="2001456"/>
                <a:gridCol w="2001456"/>
                <a:gridCol w="2001456"/>
              </a:tblGrid>
              <a:tr h="566928">
                <a:tc>
                  <a:txBody>
                    <a:bodyPr wrap="none"/>
                    <a:lstStyle/>
                    <a:p>
                      <a:pPr marL="0" indent="0" algn="l">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RLHF + PPO</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DPO</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RLVR + GRPO</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reward source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learned model</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the LM itself</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 program checks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models resident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four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two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two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needs sampling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yes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no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yes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works when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taste matters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taste matters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there is a right answer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sp>
        <p:nvSpPr>
          <p:cNvPr id="5" name="Rounded Rectangle 4"/>
          <p:cNvSpPr/>
          <p:nvPr/>
        </p:nvSpPr>
        <p:spPr>
          <a:xfrm>
            <a:off x="457200" y="2399220"/>
            <a:ext cx="2645664" cy="948563"/>
          </a:xfrm>
          <a:prstGeom prst="roundRect">
            <a:avLst>
              <a:gd name="adj" fmla="val 125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45524"/>
            <a:ext cx="2279904" cy="655955"/>
          </a:xfrm>
          <a:prstGeom prst="rect">
            <a:avLst/>
          </a:prstGeom>
          <a:noFill/>
        </p:spPr>
        <p:txBody>
          <a:bodyPr wrap="square" anchor="t" lIns="0" rIns="0" tIns="0" bIns="0">
            <a:spAutoFit/>
          </a:bodyPr>
          <a:lstStyle/>
          <a:p>
            <a:pPr marL="0" indent="0" algn="l">
              <a:spcAft>
                <a:spcPts val="600"/>
              </a:spcAft>
              <a:buNone/>
            </a:pPr>
            <a:r>
              <a:rPr sz="950" b="1" spc="70">
                <a:solidFill>
                  <a:srgbClr val="86868B"/>
                </a:solidFill>
                <a:latin typeface="Helvetica Neue"/>
              </a:rPr>
              <a:t>REFUSES EVERYTHING</a:t>
            </a:r>
          </a:p>
          <a:p>
            <a:pPr marL="0" indent="0">
              <a:spcAft>
                <a:spcPts val="300"/>
              </a:spcAft>
              <a:buNone/>
            </a:pPr>
            <a:r>
              <a:rPr sz="1050" b="0" u="none">
                <a:solidFill>
                  <a:srgbClr val="1D1D1F"/>
                </a:solidFill>
                <a:latin typeface="Menlo"/>
              </a:rPr>
              <a:t>"I cannot help with that."</a:t>
            </a:r>
          </a:p>
          <a:p>
            <a:pPr marL="0" indent="0" algn="l">
              <a:spcAft>
                <a:spcPts val="200"/>
              </a:spcAft>
              <a:buNone/>
            </a:pPr>
            <a:r>
              <a:rPr sz="900" b="0">
                <a:solidFill>
                  <a:srgbClr val="86868B"/>
                </a:solidFill>
                <a:latin typeface="Helvetica Neue"/>
              </a:rPr>
              <a:t>Safe, and useless to the locksmith and the tenant locked out.</a:t>
            </a:r>
          </a:p>
        </p:txBody>
      </p:sp>
      <p:sp>
        <p:nvSpPr>
          <p:cNvPr id="7" name="Rounded Rectangle 6"/>
          <p:cNvSpPr/>
          <p:nvPr/>
        </p:nvSpPr>
        <p:spPr>
          <a:xfrm>
            <a:off x="3249168" y="2399220"/>
            <a:ext cx="2645664" cy="948563"/>
          </a:xfrm>
          <a:prstGeom prst="roundRect">
            <a:avLst>
              <a:gd name="adj" fmla="val 125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545524"/>
            <a:ext cx="2279904" cy="655955"/>
          </a:xfrm>
          <a:prstGeom prst="rect">
            <a:avLst/>
          </a:prstGeom>
          <a:noFill/>
        </p:spPr>
        <p:txBody>
          <a:bodyPr wrap="square" anchor="t" lIns="0" rIns="0" tIns="0" bIns="0">
            <a:spAutoFit/>
          </a:bodyPr>
          <a:lstStyle/>
          <a:p>
            <a:pPr marL="0" indent="0" algn="l">
              <a:spcAft>
                <a:spcPts val="600"/>
              </a:spcAft>
              <a:buNone/>
            </a:pPr>
            <a:r>
              <a:rPr sz="950" b="1" spc="70">
                <a:solidFill>
                  <a:srgbClr val="86868B"/>
                </a:solidFill>
                <a:latin typeface="Helvetica Neue"/>
              </a:rPr>
              <a:t>TUNED HERE</a:t>
            </a:r>
          </a:p>
          <a:p>
            <a:pPr marL="0" indent="0">
              <a:spcAft>
                <a:spcPts val="300"/>
              </a:spcAft>
              <a:buNone/>
            </a:pPr>
            <a:r>
              <a:rPr sz="1050" b="0" u="none">
                <a:solidFill>
                  <a:srgbClr val="1D1D1F"/>
                </a:solidFill>
                <a:latin typeface="Menlo"/>
              </a:rPr>
              <a:t>the compromise nobody loves</a:t>
            </a:r>
          </a:p>
          <a:p>
            <a:pPr marL="0" indent="0" algn="l">
              <a:spcAft>
                <a:spcPts val="200"/>
              </a:spcAft>
              <a:buNone/>
            </a:pPr>
            <a:r>
              <a:rPr sz="900" b="0">
                <a:solidFill>
                  <a:srgbClr val="86868B"/>
                </a:solidFill>
                <a:latin typeface="Helvetica Neue"/>
              </a:rPr>
              <a:t>Where every shipped model actually sits.</a:t>
            </a:r>
          </a:p>
        </p:txBody>
      </p:sp>
      <p:sp>
        <p:nvSpPr>
          <p:cNvPr id="9" name="Rounded Rectangle 8"/>
          <p:cNvSpPr/>
          <p:nvPr/>
        </p:nvSpPr>
        <p:spPr>
          <a:xfrm>
            <a:off x="6041136" y="2399220"/>
            <a:ext cx="2645664" cy="948563"/>
          </a:xfrm>
          <a:prstGeom prst="roundRect">
            <a:avLst>
              <a:gd name="adj" fmla="val 125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545524"/>
            <a:ext cx="2279904" cy="655955"/>
          </a:xfrm>
          <a:prstGeom prst="rect">
            <a:avLst/>
          </a:prstGeom>
          <a:noFill/>
        </p:spPr>
        <p:txBody>
          <a:bodyPr wrap="square" anchor="t" lIns="0" rIns="0" tIns="0" bIns="0">
            <a:spAutoFit/>
          </a:bodyPr>
          <a:lstStyle/>
          <a:p>
            <a:pPr marL="0" indent="0" algn="l">
              <a:spcAft>
                <a:spcPts val="600"/>
              </a:spcAft>
              <a:buNone/>
            </a:pPr>
            <a:r>
              <a:rPr sz="950" b="1" spc="70">
                <a:solidFill>
                  <a:srgbClr val="86868B"/>
                </a:solidFill>
                <a:latin typeface="Helvetica Neue"/>
              </a:rPr>
              <a:t>ANSWERS ANYTHING</a:t>
            </a:r>
          </a:p>
          <a:p>
            <a:pPr marL="0" indent="0">
              <a:spcAft>
                <a:spcPts val="300"/>
              </a:spcAft>
              <a:buNone/>
            </a:pPr>
            <a:r>
              <a:rPr sz="1050" b="0" u="none">
                <a:solidFill>
                  <a:srgbClr val="1D1D1F"/>
                </a:solidFill>
                <a:latin typeface="Menlo"/>
              </a:rPr>
              <a:t>no refusal at all</a:t>
            </a:r>
          </a:p>
          <a:p>
            <a:pPr marL="0" indent="0" algn="l">
              <a:spcAft>
                <a:spcPts val="200"/>
              </a:spcAft>
              <a:buNone/>
            </a:pPr>
            <a:r>
              <a:rPr sz="900" b="0">
                <a:solidFill>
                  <a:srgbClr val="86868B"/>
                </a:solidFill>
                <a:latin typeface="Helvetica Neue"/>
              </a:rPr>
              <a:t>Useful, right up until it is not.</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sp>
        <p:nvSpPr>
          <p:cNvPr id="5" name="Rounded Rectangle 4"/>
          <p:cNvSpPr/>
          <p:nvPr/>
        </p:nvSpPr>
        <p:spPr>
          <a:xfrm>
            <a:off x="457200"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LABELER 1 PICKS A</a:t>
            </a:r>
          </a:p>
          <a:p>
            <a:pPr marL="0" indent="0">
              <a:spcAft>
                <a:spcPts val="300"/>
              </a:spcAft>
              <a:buNone/>
            </a:pPr>
            <a:r>
              <a:rPr sz="1250" b="0" u="none">
                <a:solidFill>
                  <a:srgbClr val="1D1D1F"/>
                </a:solidFill>
                <a:latin typeface="Menlo"/>
              </a:rPr>
              <a:t>"It's very persuasive. Nice work!"</a:t>
            </a:r>
          </a:p>
          <a:p>
            <a:pPr marL="0" indent="0" algn="l">
              <a:spcAft>
                <a:spcPts val="200"/>
              </a:spcAft>
              <a:buNone/>
            </a:pPr>
            <a:r>
              <a:rPr sz="1050" b="0">
                <a:solidFill>
                  <a:srgbClr val="86868B"/>
                </a:solidFill>
                <a:latin typeface="Helvetica Neue"/>
              </a:rPr>
              <a:t>"They asked for feedback on the writing. Be supportive."</a:t>
            </a:r>
          </a:p>
        </p:txBody>
      </p:sp>
      <p:sp>
        <p:nvSpPr>
          <p:cNvPr id="7" name="Rounded Rectangle 6"/>
          <p:cNvSpPr/>
          <p:nvPr/>
        </p:nvSpPr>
        <p:spPr>
          <a:xfrm>
            <a:off x="4645152"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LABELER 2 PICKS B</a:t>
            </a:r>
          </a:p>
          <a:p>
            <a:pPr marL="0" indent="0">
              <a:spcAft>
                <a:spcPts val="300"/>
              </a:spcAft>
              <a:buNone/>
            </a:pPr>
            <a:r>
              <a:rPr sz="1250" b="0" u="none">
                <a:solidFill>
                  <a:srgbClr val="1D1D1F"/>
                </a:solidFill>
                <a:latin typeface="Menlo"/>
              </a:rPr>
              <a:t>"The claim contradicts the evidence."</a:t>
            </a:r>
          </a:p>
          <a:p>
            <a:pPr marL="0" indent="0" algn="l">
              <a:spcAft>
                <a:spcPts val="200"/>
              </a:spcAft>
              <a:buNone/>
            </a:pPr>
            <a:r>
              <a:rPr sz="1050" b="0">
                <a:solidFill>
                  <a:srgbClr val="86868B"/>
                </a:solidFill>
                <a:latin typeface="Helvetica Neue"/>
              </a:rPr>
              <a:t>"Never endorse a false claim. Honesty beats flattery."</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Label alone. Each team ranks the same four items, no talking across teams</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Compare boards. Where do you agree, and where do you clash?</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Diagnose each clash: is it about sycophancy, honesty, or harm?</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0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00" b="0">
                <a:solidFill>
                  <a:srgbClr val="1D1D1F"/>
                </a:solidFill>
                <a:latin typeface="Menlo"/>
              </a:rPr>
              <a:t>Feed your labels to preferences.py and watch the reward model recover them</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sp>
        <p:nvSpPr>
          <p:cNvPr id="5" name="Rounded Rectangle 4"/>
          <p:cNvSpPr/>
          <p:nvPr/>
        </p:nvSpPr>
        <p:spPr>
          <a:xfrm>
            <a:off x="457200" y="1961451"/>
            <a:ext cx="8229600" cy="1444371"/>
          </a:xfrm>
          <a:prstGeom prst="roundRect">
            <a:avLst>
              <a:gd name="adj" fmla="val 7596"/>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211689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11689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211689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82075"/>
            <a:ext cx="7607808" cy="76771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F5F5F7"/>
                </a:solidFill>
                <a:latin typeface="Menlo"/>
              </a:rPr>
              <a:t>def fit_reward_model(prefs, lr=0.5, steps=500) -&gt; dict[str, float]:</a:t>
            </a:r>
          </a:p>
          <a:p>
            <a:pPr marL="0" indent="0" algn="l">
              <a:lnSpc>
                <a:spcPts val="2015"/>
              </a:lnSpc>
              <a:spcAft>
                <a:spcPts val="0"/>
              </a:spcAft>
              <a:buNone/>
            </a:pPr>
            <a:r>
              <a:rPr sz="1300" b="0">
                <a:solidFill>
                  <a:srgbClr val="8E8E93"/>
                </a:solidFill>
                <a:latin typeface="Menlo"/>
              </a:rPr>
              <a:t>    # Start every score at 0.0. For each (winner, loser), the gradient of</a:t>
            </a:r>
          </a:p>
          <a:p>
            <a:pPr marL="0" indent="0" algn="l">
              <a:lnSpc>
                <a:spcPts val="2015"/>
              </a:lnSpc>
              <a:spcAft>
                <a:spcPts val="0"/>
              </a:spcAft>
              <a:buNone/>
            </a:pPr>
            <a:r>
              <a:rPr sz="1300" b="0">
                <a:solidFill>
                  <a:srgbClr val="8E8E93"/>
                </a:solidFill>
                <a:latin typeface="Menlo"/>
              </a:rPr>
              <a:t>    # -log sigmoid(s_w - s_l) pushes s_w up and s_l down.</a:t>
            </a:r>
          </a:p>
        </p:txBody>
      </p:sp>
      <p:sp>
        <p:nvSpPr>
          <p:cNvPr id="10" name="TextBox 9"/>
          <p:cNvSpPr txBox="1"/>
          <p:nvPr/>
        </p:nvSpPr>
        <p:spPr>
          <a:xfrm>
            <a:off x="768096" y="3533838"/>
            <a:ext cx="7607808" cy="379730"/>
          </a:xfrm>
          <a:prstGeom prst="rect">
            <a:avLst/>
          </a:prstGeom>
          <a:noFill/>
        </p:spPr>
        <p:txBody>
          <a:bodyPr wrap="none" anchor="t" lIns="0" rIns="0" tIns="0" bIns="0">
            <a:spAutoFit/>
          </a:bodyPr>
          <a:lstStyle/>
          <a:p>
            <a:pPr marL="0" indent="0" algn="l">
              <a:lnSpc>
                <a:spcPts val="1550"/>
              </a:lnSpc>
              <a:spcAft>
                <a:spcPts val="0"/>
              </a:spcAft>
              <a:buNone/>
            </a:pPr>
            <a:r>
              <a:rPr sz="1000" b="0">
                <a:solidFill>
                  <a:srgbClr val="86868B"/>
                </a:solidFill>
                <a:latin typeface="Menlo"/>
              </a:rPr>
              <a:t>one scalar per response, fitted by gradient descent on the Bradley-Terry loss</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weeks/week-10/class-02/exercise/preferences.py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sp>
        <p:nvSpPr>
          <p:cNvPr id="5" name="Rounded Rectangle 4"/>
          <p:cNvSpPr/>
          <p:nvPr/>
        </p:nvSpPr>
        <p:spPr>
          <a:xfrm>
            <a:off x="457200" y="1865884"/>
            <a:ext cx="8229600" cy="2015236"/>
          </a:xfrm>
          <a:prstGeom prst="roundRect">
            <a:avLst>
              <a:gd name="adj" fmla="val 5444"/>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202133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02133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202133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286508"/>
            <a:ext cx="7607808" cy="1338580"/>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 python preferences.py</a:t>
            </a:r>
          </a:p>
          <a:p>
            <a:pPr marL="0" indent="0" algn="l">
              <a:lnSpc>
                <a:spcPts val="2635"/>
              </a:lnSpc>
              <a:spcAft>
                <a:spcPts val="0"/>
              </a:spcAft>
              <a:buNone/>
            </a:pPr>
            <a:r>
              <a:rPr sz="1700" b="0">
                <a:solidFill>
                  <a:srgbClr val="F5F5F7"/>
                </a:solidFill>
                <a:latin typeface="Menlo"/>
              </a:rPr>
              <a:t>Learned reward-model scores (higher = more preferred):</a:t>
            </a:r>
          </a:p>
          <a:p>
            <a:pPr marL="0" indent="0" algn="l">
              <a:lnSpc>
                <a:spcPts val="2635"/>
              </a:lnSpc>
              <a:spcAft>
                <a:spcPts val="0"/>
              </a:spcAft>
              <a:buNone/>
            </a:pPr>
            <a:r>
              <a:rPr sz="1700" b="0">
                <a:solidFill>
                  <a:srgbClr val="F5F5F7"/>
                </a:solidFill>
                <a:latin typeface="Menlo"/>
              </a:rPr>
              <a:t>  A: +5.010    B: +1.579    C: -1.579    D: -5.010</a:t>
            </a:r>
          </a:p>
          <a:p>
            <a:pPr marL="0" indent="0" algn="l">
              <a:lnSpc>
                <a:spcPts val="2635"/>
              </a:lnSpc>
              <a:spcAft>
                <a:spcPts val="0"/>
              </a:spcAft>
              <a:buNone/>
            </a:pPr>
            <a:r>
              <a:rPr sz="1700" b="0">
                <a:solidFill>
                  <a:srgbClr val="F5F5F7"/>
                </a:solidFill>
                <a:latin typeface="Menlo"/>
              </a:rPr>
              <a:t>Implied ranking: A &gt; B &gt; C &gt; D</a:t>
            </a:r>
          </a:p>
        </p:txBody>
      </p:sp>
      <p:sp>
        <p:nvSpPr>
          <p:cNvPr id="10" name="TextBox 9"/>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weeks/week-10/class-02/solutions/preferences.py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