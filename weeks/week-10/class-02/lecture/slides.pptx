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nudge, then every step sets up the next. What happens when one domino is out of line?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ideas carry forward. New tasks come from the prompt with no training run, and a prompt is something you test against a held-out set with the decoding pinned.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information is in there. Demanding the answer immediately leaves the model nowhere to do the work.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them an actual multi-step arithmetic problem for five seconds. Nobody solves it at a glance. Then make the point: we ask models to do exactly that constantly.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of the prompting era. Only the highlighted worked solution differs between the two prompts, yet it flips the cafeteria answer from 27 to 9.</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asking students to show your work: the steps make the answer better.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Blue pulls away from black only at each family's largest model; small models gain nothing or get worse.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Elicits reasoning zero-shot: cheap, surprisingly effective, the first thing to try.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Self-consistency: greedy decoding commits to one flawed path ($14); sampling at temperature &gt; 0 explores several, and the stray $26 path is outvoted by the two that agree on $18.</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three foreshadow agents (Weeks 12 to 14), where each step becomes a tool call.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2024 to 2025 turn. Instead of writing let us think step by step every time, train the chain in as a behaviour and reward the correct final answer.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Inference-time scaling: a fixed model that generates a long reasoning chain, samples many tries, or checks its work can beat a much larger model that answers in one shot.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chain moves from something you write to something the model learned to do on its own.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 on verifiable rewards, the Week 8 alignment idea aimed at reasoning: AIME accuracy climbs past the average human competitor while responses grow 10x longer. Thinking longer is learned, never prompted. Same skepticism applies: plausible chain does not guarantee a correct answer.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for a tagged final line, Therefore, the answer is X., then parse the last marked answer. Reliability comes from format discipline (Week 11).</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all tools: use it where it pays for itself, and measure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stated reasoning may be a post-hoc rationalization. Do not equate "shows steps" with "is right": verify the final answer, not the vibe.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is the hinge. Next week those reasoning steps get forced into a structure the code can read, and in Weeks 12 to 14 each step becomes an action that touches the world.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10 lecture + Chain-of-Thought (Wei et al. 2022); optional readings are never quizzed. Clear your desk: finish early and your break starts early, need more time and it comes out of the break. Clear your desk: finish early and your break starts early; need more time and it comes out of your break.</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twenty-five minutes. Hand-write the trace first, then a decomposition tree for the second problem, and only then run it. Committing to an answer on the board before running is what makes the comparison worth anything.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Did the scores match what you predicted?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buys large gains on multi-step tasks, and mostly at scale. Zero-shot CoT gets some of it for free from one sentence. Self-consistency samples many chains and votes. Decomposition splits the problem before solving it.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handwritten 8.5 x 11 sheet, both sides, name on it, handed in with the exam. Study guide has a full-length practice exam.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Chain-of-Thought, Self-Consistency &amp; Decomposition</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10, Class 2</a:t>
            </a:r>
          </a:p>
        </p:txBody>
      </p:sp>
      <p:pic>
        <p:nvPicPr>
          <p:cNvPr id="5" name="Picture 4" descr="Chain-of-Thought, Self-Consistency &amp; Decomposition"/>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Kurt:S,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274320" y="1365982"/>
            <a:ext cx="8595360" cy="30150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One-step answers fail multi-step problems</a:t>
            </a:r>
          </a:p>
        </p:txBody>
      </p:sp>
      <p:pic>
        <p:nvPicPr>
          <p:cNvPr id="5" name="Picture 4" descr="One-step answers fail multi-step problems"/>
          <p:cNvPicPr>
            <a:picLocks noChangeAspect="1"/>
          </p:cNvPicPr>
          <p:nvPr/>
        </p:nvPicPr>
        <p:blipFill>
          <a:blip r:embed="rId3"/>
          <a:stretch>
            <a:fillRect/>
          </a:stretch>
        </p:blipFill>
        <p:spPr>
          <a:xfrm>
            <a:off x="274320" y="1605459"/>
            <a:ext cx="8595360" cy="25360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ard problems need steps. So do language model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solve this in one glance, or do you need to show your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Hard problems need steps. So do language models.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Chain-of-thought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put the steps in the exemplar</a:t>
            </a:r>
          </a:p>
        </p:txBody>
      </p:sp>
      <p:pic>
        <p:nvPicPr>
          <p:cNvPr id="5" name="Picture 4" descr="CoT: put the steps in the exemplar"/>
          <p:cNvPicPr>
            <a:picLocks noChangeAspect="1"/>
          </p:cNvPicPr>
          <p:nvPr/>
        </p:nvPicPr>
        <p:blipFill>
          <a:blip r:embed="rId3"/>
          <a:stretch>
            <a:fillRect/>
          </a:stretch>
        </p:blipFill>
        <p:spPr>
          <a:xfrm>
            <a:off x="1374661" y="1078992"/>
            <a:ext cx="63946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CoT help?</a:t>
            </a:r>
          </a:p>
        </p:txBody>
      </p:sp>
      <p:pic>
        <p:nvPicPr>
          <p:cNvPr id="5" name="Picture 4" descr="Why does CoT help?"/>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(arXiv:2201.11903)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5086871" cy="822960"/>
          </a:xfrm>
        </p:spPr>
        <p:txBody>
          <a:bodyPr wrap="square"/>
          <a:lstStyle/>
          <a:p>
            <a:pPr marL="0" indent="0">
              <a:buNone/>
            </a:pPr>
            <a:r>
              <a:t>CoT and scale</a:t>
            </a:r>
          </a:p>
        </p:txBody>
      </p:sp>
      <p:pic>
        <p:nvPicPr>
          <p:cNvPr id="5" name="Picture 4" descr="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
          <p:cNvPicPr>
            <a:picLocks noChangeAspect="1"/>
          </p:cNvPicPr>
          <p:nvPr/>
        </p:nvPicPr>
        <p:blipFill>
          <a:blip r:embed="rId3"/>
          <a:srcRect b="20000"/>
          <a:stretch>
            <a:fillRect/>
          </a:stretch>
        </p:blipFill>
        <p:spPr>
          <a:xfrm>
            <a:off x="5818391" y="256032"/>
            <a:ext cx="2868409" cy="4411980"/>
          </a:xfrm>
          <a:prstGeom prst="rect">
            <a:avLst/>
          </a:prstGeom>
        </p:spPr>
      </p:pic>
      <p:sp>
        <p:nvSpPr>
          <p:cNvPr id="6" name="TextBox 5"/>
          <p:cNvSpPr txBox="1"/>
          <p:nvPr/>
        </p:nvSpPr>
        <p:spPr>
          <a:xfrm>
            <a:off x="457200" y="1188720"/>
            <a:ext cx="5086871" cy="3479292"/>
          </a:xfrm>
          <a:prstGeom prst="rect">
            <a:avLst/>
          </a:prstGeom>
          <a:noFill/>
        </p:spPr>
        <p:txBody>
          <a:bodyPr wrap="square">
            <a:spAutoFit/>
          </a:bodyPr>
          <a:lstStyle/>
          <a:p>
            <a:pPr marL="0" indent="0">
              <a:spcAft>
                <a:spcPts val="800"/>
              </a:spcAft>
              <a:buNone/>
            </a:pPr>
            <a:r>
              <a:rPr sz="1300">
                <a:solidFill>
                  <a:srgbClr val="222222"/>
                </a:solidFill>
              </a:rPr>
              <a:t>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Zero-shot CoT</a:t>
            </a:r>
          </a:p>
        </p:txBody>
      </p:sp>
      <p:pic>
        <p:nvPicPr>
          <p:cNvPr id="5" name="Picture 4" descr="Zero-shot CoT"/>
          <p:cNvPicPr>
            <a:picLocks noChangeAspect="1"/>
          </p:cNvPicPr>
          <p:nvPr/>
        </p:nvPicPr>
        <p:blipFill>
          <a:blip r:embed="rId3"/>
          <a:stretch>
            <a:fillRect/>
          </a:stretch>
        </p:blipFill>
        <p:spPr>
          <a:xfrm>
            <a:off x="274320" y="1127569"/>
            <a:ext cx="8595360" cy="34918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Kojima et al. 2022 (arXiv:2205.11916)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Sample many chains, then vote</a:t>
            </a:r>
          </a:p>
        </p:txBody>
      </p:sp>
      <p:pic>
        <p:nvPicPr>
          <p:cNvPr id="5" name="Picture 4" descr="Sample many chains, then vote"/>
          <p:cNvPicPr>
            <a:picLocks noChangeAspect="1"/>
          </p:cNvPicPr>
          <p:nvPr/>
        </p:nvPicPr>
        <p:blipFill>
          <a:blip r:embed="rId3"/>
          <a:srcRect t="17700"/>
          <a:stretch>
            <a:fillRect/>
          </a:stretch>
        </p:blipFill>
        <p:spPr>
          <a:xfrm>
            <a:off x="1539812" y="1078992"/>
            <a:ext cx="6064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2022 (arXiv:2203.11171), Fig.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Decomposition: break the task apart</a:t>
            </a:r>
          </a:p>
        </p:txBody>
      </p:sp>
      <p:pic>
        <p:nvPicPr>
          <p:cNvPr id="5" name="Picture 4" descr="Decomposition: break the task apart"/>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least-to-most, Zhou et al. 2022 (arXiv:2205.10625)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From CoT to Thinking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2024 to 2025 idea: make the chain a learned behavior, not a prompt you writ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stopped prompting for reasoning and trained it in?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2024 to 2025 idea: make the chain a learned behavior, not a prompt you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 inference, not just parameters</a:t>
            </a:r>
          </a:p>
        </p:txBody>
      </p:sp>
      <p:pic>
        <p:nvPicPr>
          <p:cNvPr id="5" name="Picture 4" descr="Scale inference, not just parameters"/>
          <p:cNvPicPr>
            <a:picLocks noChangeAspect="1"/>
          </p:cNvPicPr>
          <p:nvPr/>
        </p:nvPicPr>
        <p:blipFill>
          <a:blip r:embed="rId3"/>
          <a:stretch>
            <a:fillRect/>
          </a:stretch>
        </p:blipFill>
        <p:spPr>
          <a:xfrm>
            <a:off x="320143" y="1078992"/>
            <a:ext cx="85037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schematic; test-time compute scaling, Snell et al. 2024 (arXiv:2408.03314)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to trained reasoning</a:t>
            </a:r>
          </a:p>
        </p:txBody>
      </p:sp>
      <p:pic>
        <p:nvPicPr>
          <p:cNvPr id="5" name="Picture 4" descr="CoT to trained reasoning"/>
          <p:cNvPicPr>
            <a:picLocks noChangeAspect="1"/>
          </p:cNvPicPr>
          <p:nvPr/>
        </p:nvPicPr>
        <p:blipFill>
          <a:blip r:embed="rId3"/>
          <a:stretch>
            <a:fillRect/>
          </a:stretch>
        </p:blipFill>
        <p:spPr>
          <a:xfrm>
            <a:off x="274320" y="1749727"/>
            <a:ext cx="8595360" cy="2247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(2201.11903); DeepSeek-R1 2025 (2501.12948)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Reasoning models: what RL training buys</a:t>
            </a:r>
          </a:p>
        </p:txBody>
      </p:sp>
      <p:pic>
        <p:nvPicPr>
          <p:cNvPr id="5" name="Picture 4" descr="Reasoning models: what RL training buys"/>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DeepSeek-AI 2025 (arXiv:2501.12948), Fig.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Extract the answer reliably</a:t>
            </a:r>
          </a:p>
        </p:txBody>
      </p:sp>
      <p:pic>
        <p:nvPicPr>
          <p:cNvPr id="5" name="Picture 4" descr="Extract the answer reliably"/>
          <p:cNvPicPr>
            <a:picLocks noChangeAspect="1"/>
          </p:cNvPicPr>
          <p:nvPr/>
        </p:nvPicPr>
        <p:blipFill>
          <a:blip r:embed="rId3"/>
          <a:stretch>
            <a:fillRect/>
          </a:stretch>
        </p:blipFill>
        <p:spPr>
          <a:xfrm>
            <a:off x="274320" y="1258514"/>
            <a:ext cx="8595360" cy="3229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NOT to use CoT</a:t>
            </a:r>
          </a:p>
        </p:txBody>
      </p:sp>
      <p:pic>
        <p:nvPicPr>
          <p:cNvPr id="5" name="Picture 4" descr="When NOT to use CoT"/>
          <p:cNvPicPr>
            <a:picLocks noChangeAspect="1"/>
          </p:cNvPicPr>
          <p:nvPr/>
        </p:nvPicPr>
        <p:blipFill>
          <a:blip r:embed="rId3"/>
          <a:stretch>
            <a:fillRect/>
          </a:stretch>
        </p:blipFill>
        <p:spPr>
          <a:xfrm>
            <a:off x="569123" y="1078992"/>
            <a:ext cx="8005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Risks: plausible ≠ correct</a:t>
            </a:r>
          </a:p>
        </p:txBody>
      </p:sp>
      <p:pic>
        <p:nvPicPr>
          <p:cNvPr id="5" name="Picture 4" descr="Risks: plausible ≠ correct"/>
          <p:cNvPicPr>
            <a:picLocks noChangeAspect="1"/>
          </p:cNvPicPr>
          <p:nvPr/>
        </p:nvPicPr>
        <p:blipFill>
          <a:blip r:embed="rId3"/>
          <a:stretch>
            <a:fillRect/>
          </a:stretch>
        </p:blipFill>
        <p:spPr>
          <a:xfrm>
            <a:off x="274320" y="1856640"/>
            <a:ext cx="8595360" cy="20337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thumbnails: Wei et al. 2022 (2201.11903) Fig. 1, Lewis et al. 2020 (2005.11401) Fig. 1, Yao et al. 2022 (2210.03629) Fig. 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10 (paper)</a:t>
            </a:r>
          </a:p>
        </p:txBody>
      </p:sp>
      <p:pic>
        <p:nvPicPr>
          <p:cNvPr id="5" name="Picture 4" descr="Quiz 10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quizzes/quiz-10.md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Predict, then Verify CoT activit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Predict, then Verify CoT</a:t>
            </a:r>
          </a:p>
        </p:txBody>
      </p:sp>
      <p:pic>
        <p:nvPicPr>
          <p:cNvPr id="5" name="Picture 4" descr="Predict, then Verify Co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weeks/week-10/class-02/exercise/cot_lab.py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Verify your predictions</a:t>
            </a:r>
          </a:p>
        </p:txBody>
      </p:sp>
      <p:pic>
        <p:nvPicPr>
          <p:cNvPr id="5" name="Picture 4" descr="Verify your predictions"/>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631115" y="1078992"/>
            <a:ext cx="78817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Midterm next class</a:t>
            </a:r>
          </a:p>
        </p:txBody>
      </p:sp>
      <p:pic>
        <p:nvPicPr>
          <p:cNvPr id="5" name="Picture 4" descr="Midterm next clas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exams/midterm-study-guide.md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