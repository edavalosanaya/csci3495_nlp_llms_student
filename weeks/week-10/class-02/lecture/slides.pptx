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the behavior you prefer and it sticks. Today: doing exactly this to a language model.</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helpful, honest, and harmless outputs. SFT teaches form; alignment teaches preference.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are far better at comparing two responses than at producing the ideal one. The RLHF insight: collect cheap human comparisons instead of expensive demonstrations, then learn a model of what people prefer. Job B scales to tens of thousands of judgments; Job A does 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aligned model is built on thousands of human judgments about which answer is better. People are in the loop.</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dashed line means "tied with the 175B SFT model." Even the 1.3B aligned models clear it; plain 175B GPT-3 never does. Alignment, not scale, drove perceived quality.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diagram in alignment. Note the human's job shrinks each step: write a full answer, then only rank answers, then step away entirely.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write demonstrations; the base model imitates them. A reasonable, not-yet-preference-aligned policy. Exactly the instruction tuning from last class, the foundation everything else builds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rank sampled responses; a model learns to score any response with a pairwise ranking loss. The reward model never sees a "correct" score. It only ever learns that this response should outrank that one, which is enough to score any response the policy invents later with one scalar.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PPO pushes the policy toward higher reward, with a KL penalty keeping it close to the SFT model. Cut the tether and the policy drifts and hacks the reward model: gibberish that scores high. The KL term is what keeps the RL-tuned model still speaking like the SFT model.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Over-optimize the imperfect reward model and you get reward hacking: high RM score, low human preference. The reward model is a proxy, fit to a finite sample of human judgments. Optimize the proxy too hard and you get reward hacking: a high RM score on outputs people actually like less. The KL penalty is what holds the policy near the peak.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models, unstable RL, and a separate reward-model run. Naturally: can we skip the RL loop?</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RLHF is three models and a fragile training loop. Ask whether all that machinery is really necessary before showing that in 2023 the answer turned out to be no.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RLHF objective has a closed-form optimal policy, so the same preference pairs can train the LM directly: the model implicitly acts as its own reward model.</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DPO matches or exceeds PPO-RLHF on the paper's benchmarks with a simpler, more stable recipe (Rafailov et al. 2023). Same preference data in, comparable aligned model out, with a simpler recipe. DPO is now a default alignment recipe for many open models.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math and code you do not need a human, and you do not need a learned reward model. A program can grade the answer. That is the whole idea behind the reasoning models.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reward comes from a verifier (unit tests, a checked numeric answer), not from a learned reward model. Where a program can grade the output, the reward is a fact, not a preference: no human labels, no reward hacking of a learned model. The catch is coverage: math and code have verifiers, "write me a kind rejection letter" does not.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Sample a group of answers to one prompt; each answer's advantage is its reward minus the group average. No value network. Sample a group, grade it, and push the policy toward the better than average answers in each group. Cheap enough to run on every prompt in a math or code dataset.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GRPO on rule-based rewards alone lifts AIME pass@1 from 15.6% to 71.0%, past the human-participant line. The right panel is why: the model teaches itself to think in ever-longer chains (the aha moment).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Preferences teach taste for open-ended answers; verifiable rewards teach correctness on checkable tasks. Different signals, different jobs. Preferences teach taste for open ended answers; verifiable rewards teach correctness on checkable ones. Modern pipelines combine them: preference tuning for chat, RLVR for reasoning.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Helpfulness and harmlessness pull in opposite directions. Alignment quietly decides where the needle rests.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goals conflict; alignment chooses a point on the trade-off, encoded in the preference data. Helpfulness and harmlessness genuinely conflict. Alignment does not resolve the conflict; it chooses a point on the trade off and encodes that choice in the preference data. Nobody writes the chosen point down as a rule. It is set by the labeling guidelines, the labelers hired to apply them, and the comparisons they submit. Move the preference data and the point slides along the curve, for every user of the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few hundred labelers, working from a guidelines document, decide what helpful and harmless mean for everyone the model will ever talk to. Nobody voted on that. Let it land.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Labeler demographics and guidelines shape the model; preference data is a policy document as much as a dataset. Whichever judgment the guidelines reward becomes the model's values, for every future user. Preference data is a policy document as much as a dataset. Neither labeler is being careless. One is optimizing for helpfulness as the user framed it, the other for honesty. The training data cannot hold both.</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10 lecture + InstructGPT/RLHF (Ouyang 2022); optional readings are never quizzed. Clear your desk: finish early and your break starts early; need more time and it comes out of the break.</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label the same preference set independently, then surface clashes on sycophancy, honesty, and harm.</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teams compare rankings before anyone fits anything. The rows they disagree on are not noise to be averaged away, they are exactly the places where someone's values are about to be written into a model.</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your labels in: fit per-response scores by gradient descent on the Bradley-Terry loss, exactly RLHF's Stage 2.</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comparisons become scalar scores; the implied ranking recovers the preferences you labeled. Four pairwise comparisons became four scalars. The gaps carry the information, not the absolute values: scores are only meaningful up to a constant, which is why the loop re-centers them to mean zero.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Alignment: RLHF, InstructGPT &amp; DPO</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10, Class 2  ·  Wed Oct 28, 2026</a:t>
            </a:r>
          </a:p>
        </p:txBody>
      </p:sp>
      <p:pic>
        <p:nvPicPr>
          <p:cNvPr id="5" name="Picture 4" descr="Alignment: RLHF, InstructGPT &amp; DPO"/>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Pete Bellis, via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Capable is not the same as aligned</a:t>
            </a:r>
          </a:p>
        </p:txBody>
      </p:sp>
      <p:pic>
        <p:nvPicPr>
          <p:cNvPr id="5" name="Picture 4" descr="Capable is not the same as aligned"/>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not just write more demonstrations?</a:t>
            </a:r>
          </a:p>
        </p:txBody>
      </p:sp>
      <p:pic>
        <p:nvPicPr>
          <p:cNvPr id="5" name="Picture 4" descr="Why not just write more demonstrations?"/>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Alignment is a human handshake</a:t>
            </a:r>
          </a:p>
        </p:txBody>
      </p:sp>
      <p:pic>
        <p:nvPicPr>
          <p:cNvPr id="5" name="Picture 4" descr="Alignment is a human handshake"/>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https://images.unsplash.com/photo-1521791136064-7986c2920216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InstructGPT (Ouyang et al., 2022)</a:t>
            </a:r>
          </a:p>
        </p:txBody>
      </p:sp>
      <p:pic>
        <p:nvPicPr>
          <p:cNvPr id="5" name="Picture 4" descr="InstructGPT (Ouyang et al., 2022)"/>
          <p:cNvPicPr>
            <a:picLocks noChangeAspect="1"/>
          </p:cNvPicPr>
          <p:nvPr/>
        </p:nvPicPr>
        <p:blipFill>
          <a:blip r:embed="rId3"/>
          <a:stretch>
            <a:fillRect/>
          </a:stretch>
        </p:blipFill>
        <p:spPr>
          <a:xfrm>
            <a:off x="1668893" y="1078992"/>
            <a:ext cx="58062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RLHF pipeline</a:t>
            </a:r>
          </a:p>
        </p:txBody>
      </p:sp>
      <p:pic>
        <p:nvPicPr>
          <p:cNvPr id="5" name="Picture 4" descr="The RLHF pipeline"/>
          <p:cNvPicPr>
            <a:picLocks noChangeAspect="1"/>
          </p:cNvPicPr>
          <p:nvPr/>
        </p:nvPicPr>
        <p:blipFill>
          <a:blip r:embed="rId3"/>
          <a:stretch>
            <a:fillRect/>
          </a:stretch>
        </p:blipFill>
        <p:spPr>
          <a:xfrm>
            <a:off x="2193809" y="1078992"/>
            <a:ext cx="47563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1: Supervised fine-tuning</a:t>
            </a:r>
          </a:p>
        </p:txBody>
      </p:sp>
      <p:pic>
        <p:nvPicPr>
          <p:cNvPr id="5" name="Picture 4" descr="Stage 1: Supervised fine-tuning"/>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2: Reward model</a:t>
            </a:r>
          </a:p>
        </p:txBody>
      </p:sp>
      <p:pic>
        <p:nvPicPr>
          <p:cNvPr id="5" name="Picture 4" descr="Stage 2: Reward model"/>
          <p:cNvPicPr>
            <a:picLocks noChangeAspect="1"/>
          </p:cNvPicPr>
          <p:nvPr/>
        </p:nvPicPr>
        <p:blipFill>
          <a:blip r:embed="rId3"/>
          <a:stretch>
            <a:fillRect/>
          </a:stretch>
        </p:blipFill>
        <p:spPr>
          <a:xfrm>
            <a:off x="411839" y="1078992"/>
            <a:ext cx="832032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3: RL optimization (PPO)</a:t>
            </a:r>
          </a:p>
        </p:txBody>
      </p:sp>
      <p:pic>
        <p:nvPicPr>
          <p:cNvPr id="5" name="Picture 4" descr="Stage 3: RL optimization (PPO)"/>
          <p:cNvPicPr>
            <a:picLocks noChangeAspect="1"/>
          </p:cNvPicPr>
          <p:nvPr/>
        </p:nvPicPr>
        <p:blipFill>
          <a:blip r:embed="rId3"/>
          <a:stretch>
            <a:fillRect/>
          </a:stretch>
        </p:blipFill>
        <p:spPr>
          <a:xfrm>
            <a:off x="546293" y="1078992"/>
            <a:ext cx="805141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PPO, Schulman et al. 2017;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KL penalty matters</a:t>
            </a:r>
          </a:p>
        </p:txBody>
      </p:sp>
      <p:pic>
        <p:nvPicPr>
          <p:cNvPr id="5" name="Picture 4" descr="Why the KL penalty matters"/>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is powerful but painful</a:t>
            </a:r>
          </a:p>
        </p:txBody>
      </p:sp>
      <p:pic>
        <p:nvPicPr>
          <p:cNvPr id="5" name="Picture 4" descr="RLHF is powerful but painful"/>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is exactly the question DPO answered in 2023."/>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could skip the reinforcement learning entirely?</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is exactly the question DPO answered in 2023.</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DPO shortcut</a:t>
            </a:r>
          </a:p>
        </p:txBody>
      </p:sp>
      <p:pic>
        <p:nvPicPr>
          <p:cNvPr id="5" name="Picture 4" descr="The DPO shortcut"/>
          <p:cNvPicPr>
            <a:picLocks noChangeAspect="1"/>
          </p:cNvPicPr>
          <p:nvPr/>
        </p:nvPicPr>
        <p:blipFill>
          <a:blip r:embed="rId3"/>
          <a:stretch>
            <a:fillRect/>
          </a:stretch>
        </p:blipFill>
        <p:spPr>
          <a:xfrm>
            <a:off x="274320" y="1296440"/>
            <a:ext cx="8595360" cy="3154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 Fig.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DPO vs. RLHF</a:t>
            </a:r>
          </a:p>
        </p:txBody>
      </p:sp>
      <p:pic>
        <p:nvPicPr>
          <p:cNvPr id="5" name="Picture 4" descr="DPO vs. RLHF"/>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For math and code, a program can grade the answer. No human labels, no learned reward model."/>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What if the reward is just "is this answer correct?"</a:t>
            </a:r>
          </a:p>
          <a:p>
            <a:pPr algn="ctr" marL="0" indent="0">
              <a:buNone/>
            </a:pPr>
            <a:r>
              <a:rPr sz="2000">
                <a:solidFill>
                  <a:srgbClr val="FFFFFF"/>
                </a:solidFill>
              </a:rPr>
              <a:t>For math and code, a program can grade the answer. No human labels, no learned reward model.</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RLVR: Reinforcement Learning with Verifiable Rewards</a:t>
            </a:r>
          </a:p>
        </p:txBody>
      </p:sp>
      <p:pic>
        <p:nvPicPr>
          <p:cNvPr id="5" name="Picture 4" descr="RLVR: Reinforcement Learning with Verifiable Rewards"/>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RLVR, DeepSeek-Math (Shao et al. 2024, arXiv:2402.03300) and Tulu 3 (Lambert et al. 2024, arXiv:2411.15124)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GRPO: score answers against each other</a:t>
            </a:r>
          </a:p>
        </p:txBody>
      </p:sp>
      <p:pic>
        <p:nvPicPr>
          <p:cNvPr id="5" name="Picture 4" descr="GRPO: score answers against each other"/>
          <p:cNvPicPr>
            <a:picLocks noChangeAspect="1"/>
          </p:cNvPicPr>
          <p:nvPr/>
        </p:nvPicPr>
        <p:blipFill>
          <a:blip r:embed="rId3"/>
          <a:stretch>
            <a:fillRect/>
          </a:stretch>
        </p:blipFill>
        <p:spPr>
          <a:xfrm>
            <a:off x="274320" y="1431230"/>
            <a:ext cx="8595360" cy="28845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GRPO, DeepSeek-Math (Shao et al. 2024, arXiv:2402.03300)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DeepSeek-R1: pure RL elicits reasoning</a:t>
            </a:r>
          </a:p>
        </p:txBody>
      </p:sp>
      <p:pic>
        <p:nvPicPr>
          <p:cNvPr id="5" name="Picture 4" descr="DeepSeek-R1: pure RL elicits reasoning"/>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DeepSeek-R1, DeepSeek-AI 2025 (arXiv:2501.12948), Fig.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vs. DPO vs. RLVR</a:t>
            </a:r>
          </a:p>
        </p:txBody>
      </p:sp>
      <p:pic>
        <p:nvPicPr>
          <p:cNvPr id="5" name="Picture 4" descr="RLHF vs. DPO vs. RLVR"/>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Ouyang 2022 (2203.02155); Rafailov 2023 (2305.18290); DeepSeek-R1 2025 (2501.12948)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balancing act</a:t>
            </a:r>
          </a:p>
        </p:txBody>
      </p:sp>
      <p:pic>
        <p:nvPicPr>
          <p:cNvPr id="5" name="Picture 4" descr="A balancing act"/>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https://images.unsplash.com/photo-1589994965851-a8f479c573a9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Helpfulness vs. harmlessness</a:t>
            </a:r>
          </a:p>
        </p:txBody>
      </p:sp>
      <p:pic>
        <p:nvPicPr>
          <p:cNvPr id="5" name="Picture 4" descr="Helpfulness vs. harmlessnes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HH-RLHF, Bai et al. 2022 (arXiv:2204.05862)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mall group of labelers and their guidelines speak for everyone the model will ever serv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preferences become the model's values?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small group of labelers and their guidelines speak for everyone the model will ever serve.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https://images.unsplash.com/photo-1529156069898-49953e39b3ac</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Who decides what is preferred?</a:t>
            </a:r>
          </a:p>
        </p:txBody>
      </p:sp>
      <p:pic>
        <p:nvPicPr>
          <p:cNvPr id="5" name="Picture 4" descr="Who decides what is preferred?"/>
          <p:cNvPicPr>
            <a:picLocks noChangeAspect="1"/>
          </p:cNvPicPr>
          <p:nvPr/>
        </p:nvPicPr>
        <p:blipFill>
          <a:blip r:embed="rId3"/>
          <a:stretch>
            <a:fillRect/>
          </a:stretch>
        </p:blipFill>
        <p:spPr>
          <a:xfrm>
            <a:off x="274320" y="1201777"/>
            <a:ext cx="8595360" cy="33434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8</a:t>
            </a:r>
          </a:p>
        </p:txBody>
      </p:sp>
      <p:pic>
        <p:nvPicPr>
          <p:cNvPr id="5" name="Picture 4" descr="Quiz 8"/>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ward-model stand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reward-model standoff</a:t>
            </a:r>
          </a:p>
        </p:txBody>
      </p:sp>
      <p:pic>
        <p:nvPicPr>
          <p:cNvPr id="5" name="Picture 4" descr="The reward-model standoff"/>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Compare your team's rankings before fitting. Where you disagree is exactly where the model's values get decided."/>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judgment becomes the reward?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Compare your team's rankings before fitting. Where you disagree is exactly where the model's values get decided.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https://images.unsplash.com/photo-1543269865-cbf427effbad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fit the reward model</a:t>
            </a:r>
          </a:p>
        </p:txBody>
      </p:sp>
      <p:pic>
        <p:nvPicPr>
          <p:cNvPr id="5" name="Picture 4" descr="Then fit the reward model"/>
          <p:cNvPicPr>
            <a:picLocks noChangeAspect="1"/>
          </p:cNvPicPr>
          <p:nvPr/>
        </p:nvPicPr>
        <p:blipFill>
          <a:blip r:embed="rId3"/>
          <a:stretch>
            <a:fillRect/>
          </a:stretch>
        </p:blipFill>
        <p:spPr>
          <a:xfrm>
            <a:off x="274320" y="1095825"/>
            <a:ext cx="8595360" cy="35553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weeks/week-10/class-02/exercise/preferences.py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274320" y="1282337"/>
            <a:ext cx="8595360" cy="31823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weeks/week-10/class-02/solutions/preferences.py</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