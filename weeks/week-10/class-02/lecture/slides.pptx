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4C72B0"/>
            </a:solidFill>
            <a:ln>
              <a:noFill/>
            </a:ln>
          </c:spPr>
          <c:dPt>
            <c:idx val="0"/>
            <c:spPr>
              <a:solidFill>
                <a:srgbClr val="4C72B0"/>
              </a:solidFill>
            </c:spPr>
          </c:dPt>
          <c:dPt>
            <c:idx val="1"/>
            <c:spPr>
              <a:solidFill>
                <a:srgbClr val="4C72B0"/>
              </a:solidFill>
            </c:spPr>
          </c:dPt>
          <c:dPt>
            <c:idx val="2"/>
            <c:spPr>
              <a:solidFill>
                <a:srgbClr val="4C72B0"/>
              </a:solidFill>
            </c:spPr>
          </c:dPt>
          <c:dPt>
            <c:idx val="3"/>
            <c:spPr>
              <a:solidFill>
                <a:srgbClr val="4C72B0"/>
              </a:solidFill>
            </c:spPr>
          </c:dPt>
          <c:cat>
            <c:strRef>
              <c:f>Sheet1!$A$2:$A$5</c:f>
              <c:strCache>
                <c:ptCount val="4"/>
                <c:pt idx="0">
                  <c:v>reward model</c:v>
                </c:pt>
                <c:pt idx="1">
                  <c:v>reference</c:v>
                </c:pt>
                <c:pt idx="2">
                  <c:v>value model</c:v>
                </c:pt>
                <c:pt idx="3">
                  <c:v>policy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14.0</c:v>
                </c:pt>
                <c:pt idx="1">
                  <c:v>14.0</c:v>
                </c:pt>
                <c:pt idx="2">
                  <c:v>112.0</c:v>
                </c:pt>
                <c:pt idx="3">
                  <c:v>112.0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500" b="1">
                  <a:solidFill>
                    <a:srgbClr val="1D1D1F"/>
                  </a:solidFill>
                  <a:latin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2D2D7"/>
            </a:solidFill>
          </a:ln>
        </c:spPr>
        <c:txPr>
          <a:bodyPr/>
          <a:lstStyle/>
          <a:p>
            <a:pPr>
              <a:defRPr sz="1200">
                <a:solidFill>
                  <a:srgbClr val="86868B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Helvetica Neue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Alignment: RLHF, InstructGPT &amp; DPO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2850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10, Class 2  ·  Wed Oct 28, 2026</a:t>
            </a:r>
          </a:p>
        </p:txBody>
      </p:sp>
      <p:pic>
        <p:nvPicPr>
          <p:cNvPr id="5" name="Picture 4" descr="Alignment: RLHF, InstructGPT &amp; DP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28" y="3474720"/>
            <a:ext cx="222721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Pete Bellis, via Wikimedia Commons, CC0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Capable is not the same as aligned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654"/>
            <a:ext cx="4041648" cy="1119695"/>
          </a:xfrm>
          <a:prstGeom prst="roundRect">
            <a:avLst>
              <a:gd name="adj" fmla="val 1061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59958"/>
            <a:ext cx="3675888" cy="827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PRETRAINED LM</a:t>
            </a:r>
          </a:p>
          <a:p>
            <a:pPr marL="0" indent="0">
              <a:spcAft>
                <a:spcPts val="300"/>
              </a:spcAft>
              <a:buNone/>
            </a:pPr>
            <a:r>
              <a:rPr sz="1550" b="0" u="none">
                <a:solidFill>
                  <a:srgbClr val="1D1D1F"/>
                </a:solidFill>
                <a:latin typeface="Menlo"/>
              </a:rPr>
              <a:t>fluent, grammatical, on topic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"Explain the moon landing to a 6 year old." comes back as more questions like it. It is continuing a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13654"/>
            <a:ext cx="4041648" cy="1119695"/>
          </a:xfrm>
          <a:prstGeom prst="roundRect">
            <a:avLst>
              <a:gd name="adj" fmla="val 1061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59958"/>
            <a:ext cx="3675888" cy="827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YOU WANTED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550" b="0" u="none">
                <a:solidFill>
                  <a:srgbClr val="1D1D1F"/>
                </a:solidFill>
                <a:latin typeface="Menlo"/>
              </a:rPr>
              <a:t>an answer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Capable is not the same as aligned.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not just write more demonstrations?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JOB A, WRITE THE IDEAL ANSWER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from a blank page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Hard for humans. The labeler has to invent the gold standard.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JOB B, JUDGE TWO THE MODEL WROTE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pick the better one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Far easier, far faster, and far more consistent between labelers.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Alignment is a human handshake</a:t>
            </a:r>
          </a:p>
        </p:txBody>
      </p:sp>
      <p:pic>
        <p:nvPicPr>
          <p:cNvPr id="5" name="Picture 4" descr="Alignment is a human handshak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596" y="1078992"/>
            <a:ext cx="53768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https://images.unsplash.com/photo-1521791136064-7986c2920216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InstructGPT (Ouyang et al., 2022)</a:t>
            </a:r>
          </a:p>
        </p:txBody>
      </p:sp>
      <p:pic>
        <p:nvPicPr>
          <p:cNvPr id="5" name="Picture 4" descr="InstructGPT (Ouyang et al., 202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893" y="1078992"/>
            <a:ext cx="58062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InstructGPT, Ouyang et al. 2022 (arXiv:2203.02155), Fig.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RLHF pipeline</a:t>
            </a:r>
          </a:p>
        </p:txBody>
      </p:sp>
      <p:pic>
        <p:nvPicPr>
          <p:cNvPr id="5" name="Picture 4" descr="The RLHF pipel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809" y="1078992"/>
            <a:ext cx="475638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InstructGPT, Ouyang et al. 2022 (arXiv:2203.02155), Fig.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Stage 1: Supervised fine-tuning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sampled from real user traffic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LABELER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writes the ideal answer, by hand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FINE-TUNE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0">
                <a:solidFill>
                  <a:srgbClr val="1D1D1F"/>
                </a:solidFill>
                <a:latin typeface="Menlo"/>
              </a:rPr>
              <a:t>the same next-token loss, on those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Stage 2: Reward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2" cy="2834640"/>
        </p:xfrm>
        <a:graphic>
          <a:graphicData uri="http://schemas.openxmlformats.org/drawingml/2006/table">
            <a:tbl>
              <a:tblPr firstRow="1" bandRow="0"/>
              <a:tblGrid>
                <a:gridCol w="1122517"/>
                <a:gridCol w="3979835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RANK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WHY THE LABELER PUT IT THERE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correct, and pitched at a ten-year-old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correct, but reads like a textbook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vague, and hedges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confidently wrong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GETS TRAINED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Not the answer. A model r(x, y) that reproduces this ordering.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Stage 3: RL optimization (PPO)</a:t>
            </a:r>
          </a:p>
        </p:txBody>
      </p:sp>
      <p:pic>
        <p:nvPicPr>
          <p:cNvPr id="5" name="Picture 4" descr="Stage 3: RL optimization (PPO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PPO, Schulman et al. 2017;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the KL penalty matters</a:t>
            </a:r>
          </a:p>
        </p:txBody>
      </p:sp>
      <p:pic>
        <p:nvPicPr>
          <p:cNvPr id="5" name="Picture 4" descr="Why the KL penalty matt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28" y="1078992"/>
            <a:ext cx="808214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RLHF is powerful but painful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Helvetica Neue"/>
              </a:rPr>
              <a:t>Four models resident at once, 7B each, in GB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89888"/>
          <a:ext cx="8229600" cy="3278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at is exactly the question DPO answered in 2023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0083"/>
            <a:ext cx="9144000" cy="64636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if we could skip the reinforcement learning entirely?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That is exactly the question DPO answered in 2023.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https://images.unsplash.com/photo-1469854523086-cc02fe5d8800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DPO shortcut</a:t>
            </a:r>
          </a:p>
        </p:txBody>
      </p:sp>
      <p:pic>
        <p:nvPicPr>
          <p:cNvPr id="5" name="Picture 4" descr="The DPO shortc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6440"/>
            <a:ext cx="8595360" cy="3154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DPO, Rafailov et al. 2023 (arXiv:2305.18290), Fig.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DPO vs. RLHF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RLHF WITH PPO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preferences, a reward model, then RL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Three stages, four models resident, and a leash to tune.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DPO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one loss, straight from the pairs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Same data in. No reward model, no sampling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DPO, Rafailov et al. 2023 (arXiv:2305.18290)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or math and code, a program can grade the answer. No human labels, no learned reward mode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0083"/>
            <a:ext cx="9144000" cy="64636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if the reward is just "is this answer correct?"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For math and code, a program can grade the answer. No human labels, no learned reward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https://images.unsplash.com/photo-1469854523086-cc02fe5d8800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RLVR: Reinforcement Learning with Verifiable Rewards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3814"/>
            <a:ext cx="8229600" cy="1680591"/>
          </a:xfrm>
          <a:prstGeom prst="roundRect">
            <a:avLst>
              <a:gd name="adj" fmla="val 6529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96926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96926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96926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234438"/>
            <a:ext cx="7607808" cy="1003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8E8E93"/>
                </a:solidFill>
                <a:latin typeface="Menlo"/>
              </a:rPr>
              <a:t># the verifier is code, not a model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pred = extract_final(completion)        # '72'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reward = 1.0 if pred == gold else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622421"/>
            <a:ext cx="7607808" cy="4387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Menlo"/>
              </a:rPr>
              <a:t>correct, reward 1. Wrong, reward 0. Nothing in between, and nothing to argue about.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RLVR, DeepSeek-Math (Shao et al. 2024, arXiv:2402.03300) and Tulu 3 (Lambert et al. 2024, arXiv:2411.15124)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GRPO: score answers against each other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1" cy="2834640"/>
        </p:xfrm>
        <a:graphic>
          <a:graphicData uri="http://schemas.openxmlformats.org/drawingml/2006/table">
            <a:tbl>
              <a:tblPr firstRow="1" bandRow="0"/>
              <a:tblGrid>
                <a:gridCol w="2090293"/>
                <a:gridCol w="1506029"/>
                <a:gridCol w="1506029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SAMPLED ANSWER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REWARD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ADVANTAGE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A, reaches 42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+0.5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B, reaches 42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+0.5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C, reaches 36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-0.5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D, reaches 36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-0.5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THE GROUP IS THE BASELINE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No value model. An answer is good relative to the others drawn for the same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GRPO, DeepSeek-Math (Shao et al. 2024, arXiv:2402.03300)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DeepSeek-R1: pure RL elicits reasoning</a:t>
            </a:r>
          </a:p>
        </p:txBody>
      </p:sp>
      <p:pic>
        <p:nvPicPr>
          <p:cNvPr id="5" name="Picture 4" descr="DeepSeek-R1: pure RL elicits reaso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82" y="1078992"/>
            <a:ext cx="5963435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DeepSeek-R1, DeepSeek-AI 2025 (arXiv:2501.12948), Fig.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RLHF vs. DPO vs. RLVR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8229598" cy="2834640"/>
        </p:xfrm>
        <a:graphic>
          <a:graphicData uri="http://schemas.openxmlformats.org/drawingml/2006/table">
            <a:tbl>
              <a:tblPr firstRow="1" bandRow="0"/>
              <a:tblGrid>
                <a:gridCol w="2225230"/>
                <a:gridCol w="2001456"/>
                <a:gridCol w="2001456"/>
                <a:gridCol w="2001456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RLHF + PPO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DPO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RLVR + GRPO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reward source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learned model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the LM itself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a program checks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models resident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four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two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two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needs sampling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yes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no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yes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works when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taste matters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taste matters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there is a right answer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Ouyang 2022 (2203.02155); Rafailov 2023 (2305.18290); DeepSeek-R1 2025 (2501.12948)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balancing act</a:t>
            </a:r>
          </a:p>
        </p:txBody>
      </p:sp>
      <p:pic>
        <p:nvPicPr>
          <p:cNvPr id="5" name="Picture 4" descr="A balancing a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https://images.unsplash.com/photo-1589994965851-a8f479c573a9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Helpfulness vs. harmlessness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REFUSES EVERYTHING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"I cannot help with that."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Safe, and useless to the locksmith and the tenant locked 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TUNED HERE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the compromise nobody loves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Where every shipped model actually sits.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ANSWERS ANYTHING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no refusal at all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Useful, right up until it is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HH-RLHF, Bai et al. 2022 (arXiv:2204.05862)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 small group of labelers and their guidelines speak for everyone the model will ever serv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Whose preferences become the model's values?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 small group of labelers and their guidelines speak for everyone the model will ever serve.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https://images.unsplash.com/photo-1529156069898-49953e39b3ac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Who decides what is preferred?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LABELER 1 PICKS A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"It's very persuasive. Nice work!"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"They asked for feedback on the writing. Be supportive."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LABELER 2 PICKS B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"The claim contradicts the evidence."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"Never endorse a false claim. Honesty beats flattery."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reward-model stand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reward-model standoff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Label alone. Each team ranks the same four items, no talking across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Compare boards. Where do you agree, and where do you clash?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Diagnose each clash: is it about sycophancy, honesty, or harm?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0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Feed your labels to preferences.py and watch the reward model recover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Compare your team's rankings before fitting. Where you disagree is exactly where the model's values get decide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Whose judgment becomes the reward?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Compare your team's rankings before fitting. Where you disagree is exactly where the model's values get decided.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https://images.unsplash.com/photo-1543269865-cbf427effbad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Then fit the reward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61451"/>
            <a:ext cx="8229600" cy="1444371"/>
          </a:xfrm>
          <a:prstGeom prst="roundRect">
            <a:avLst>
              <a:gd name="adj" fmla="val 7596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211689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211689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211689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382075"/>
            <a:ext cx="7607808" cy="76771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F5F5F7"/>
                </a:solidFill>
                <a:latin typeface="Menlo"/>
              </a:rPr>
              <a:t>def fit_reward_model(prefs, lr=0.5, steps=500) -&gt; dict[str, float]: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E8E93"/>
                </a:solidFill>
                <a:latin typeface="Menlo"/>
              </a:rPr>
              <a:t>    # Start every score at 0.0. For each (winner, loser), the gradient of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E8E93"/>
                </a:solidFill>
                <a:latin typeface="Menlo"/>
              </a:rPr>
              <a:t>    # -log sigmoid(s_w - s_l) pushes s_w up and s_l 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533838"/>
            <a:ext cx="7607808" cy="37973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1550"/>
              </a:lnSpc>
              <a:spcAft>
                <a:spcPts val="0"/>
              </a:spcAft>
              <a:buNone/>
            </a:pPr>
            <a:r>
              <a:rPr sz="1000" b="0">
                <a:solidFill>
                  <a:srgbClr val="86868B"/>
                </a:solidFill>
                <a:latin typeface="Menlo"/>
              </a:rPr>
              <a:t>one scalar per response, fitted by gradient descent on the Bradley-Terry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weeks/week-10/class-02/exercise/preferences.py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65884"/>
            <a:ext cx="8229600" cy="2015236"/>
          </a:xfrm>
          <a:prstGeom prst="roundRect">
            <a:avLst>
              <a:gd name="adj" fmla="val 5444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202133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202133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202133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286508"/>
            <a:ext cx="7607808" cy="13385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$ python preferences.py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Learned reward-model scores (higher = more preferred):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  A: +5.010    B: +1.579    C: -1.579    D: -5.010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Implied ranking: A &gt; B &gt; C &gt;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weeks/week-10/class-02/solutions/preferences.py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