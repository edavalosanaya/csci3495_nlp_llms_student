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 id="272" r:id="rId6"/>
    <p:sldId id="273" r:id="rId5"/>
    <p:sldId id="274" r:id="rId39"/>
    <p:sldId id="275" r:id="rId40"/>
    <p:sldId id="276" r:id="rId41"/>
    <p:sldId id="277" r:id="rId42"/>
    <p:sldId id="278" r:id="rId43"/>
    <p:sldId id="279" r:id="rId44"/>
    <p:sldId id="280" r:id="rId45"/>
    <p:sldId id="281" r:id="rId46"/>
    <p:sldId id="282" r:id="rId47"/>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8.xml"/><Relationship Id="rId6" Type="http://schemas.openxmlformats.org/officeDocument/2006/relationships/slide" Target="slides/slide17.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 Id="rId39" Type="http://schemas.openxmlformats.org/officeDocument/2006/relationships/slide" Target="slides/slide19.xml"/><Relationship Id="rId40" Type="http://schemas.openxmlformats.org/officeDocument/2006/relationships/slide" Target="slides/slide20.xml"/><Relationship Id="rId41" Type="http://schemas.openxmlformats.org/officeDocument/2006/relationships/slide" Target="slides/slide21.xml"/><Relationship Id="rId42" Type="http://schemas.openxmlformats.org/officeDocument/2006/relationships/slide" Target="slides/slide22.xml"/><Relationship Id="rId43" Type="http://schemas.openxmlformats.org/officeDocument/2006/relationships/slide" Target="slides/slide23.xml"/><Relationship Id="rId44" Type="http://schemas.openxmlformats.org/officeDocument/2006/relationships/slide" Target="slides/slide24.xml"/><Relationship Id="rId45" Type="http://schemas.openxmlformats.org/officeDocument/2006/relationships/slide" Target="slides/slide25.xml"/><Relationship Id="rId46" Type="http://schemas.openxmlformats.org/officeDocument/2006/relationships/slide" Target="slides/slide26.xml"/><Relationship Id="rId47"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5.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5.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2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2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2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30.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3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3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3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3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Chain-of-Thought, Self-Consistency &amp; Decomposition</a:t>
            </a:r>
          </a:p>
        </p:txBody>
      </p:sp>
      <p:sp>
        <p:nvSpPr>
          <p:cNvPr id="3" name="Subtitle 2"/>
          <p:cNvSpPr>
            <a:spLocks noGrp="1"/>
          </p:cNvSpPr>
          <p:nvPr>
            <p:ph type="subTitle" idx="1"/>
          </p:nvPr>
        </p:nvSpPr>
        <p:spPr>
          <a:xfrm>
            <a:off x="493926" y="3549825"/>
            <a:ext cx="5828502" cy="970800"/>
          </a:xfrm>
        </p:spPr>
        <p:txBody>
          <a:bodyPr wrap="square"/>
          <a:lstStyle/>
          <a:p>
            <a:pPr marL="0" indent="0">
              <a:buNone/>
            </a:pPr>
            <a:r>
              <a:t>Natural Language Processing &amp; Large Language Models</a:t>
            </a:r>
          </a:p>
          <a:p>
            <a:pPr marL="0" indent="0">
              <a:buNone/>
            </a:pPr>
            <a:r>
              <a:t>Week 10, Class 2</a:t>
            </a:r>
          </a:p>
        </p:txBody>
      </p:sp>
      <p:pic>
        <p:nvPicPr>
          <p:cNvPr id="5" name="Picture 4" descr="One nudge, then every step sets up the next. What happens when one domino is out of line?"/>
          <p:cNvPicPr>
            <a:picLocks noChangeAspect="1"/>
          </p:cNvPicPr>
          <p:nvPr/>
        </p:nvPicPr>
        <p:blipFill>
          <a:blip r:embed="rId2"/>
          <a:stretch>
            <a:fillRect/>
          </a:stretch>
        </p:blipFill>
        <p:spPr>
          <a:xfrm>
            <a:off x="6551028" y="3474720"/>
            <a:ext cx="2227212"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Kurt:S, Wikimedia Commons, CC BY 2.0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Where we left off</a:t>
            </a:r>
          </a:p>
        </p:txBody>
      </p:sp>
      <p:pic>
        <p:nvPicPr>
          <p:cNvPr id="5" name="Picture 4" descr="Where we left off"/>
          <p:cNvPicPr>
            <a:picLocks noChangeAspect="1"/>
          </p:cNvPicPr>
          <p:nvPr/>
        </p:nvPicPr>
        <p:blipFill>
          <a:blip r:embed="rId2"/>
          <a:stretch>
            <a:fillRect/>
          </a:stretch>
        </p:blipFill>
        <p:spPr>
          <a:xfrm>
            <a:off x="274320" y="1449271"/>
            <a:ext cx="8595360" cy="2848462"/>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One-step answers fail multi-step problems</a:t>
            </a:r>
          </a:p>
        </p:txBody>
      </p:sp>
      <p:pic>
        <p:nvPicPr>
          <p:cNvPr id="5" name="Picture 4" descr="One-step answers fail multi-step problems"/>
          <p:cNvPicPr>
            <a:picLocks noChangeAspect="1"/>
          </p:cNvPicPr>
          <p:nvPr/>
        </p:nvPicPr>
        <p:blipFill>
          <a:blip r:embed="rId2"/>
          <a:stretch>
            <a:fillRect/>
          </a:stretch>
        </p:blipFill>
        <p:spPr>
          <a:xfrm>
            <a:off x="274320" y="1408039"/>
            <a:ext cx="8595360" cy="2930926"/>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Hard problems need steps. So do language models."/>
          <p:cNvPicPr>
            <a:picLocks noChangeAspect="1"/>
          </p:cNvPicPr>
          <p:nvPr/>
        </p:nvPicPr>
        <p:blipFill>
          <a:blip r:embed="rId2"/>
          <a:stretch>
            <a:fillRect/>
          </a:stretch>
        </p:blipFill>
        <p:spPr>
          <a:xfrm>
            <a:off x="0" y="-477203"/>
            <a:ext cx="9144000" cy="609790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3400" b="1">
                <a:solidFill>
                  <a:srgbClr val="FFFFFF"/>
                </a:solidFill>
              </a:rPr>
              <a:t>Could you solve this in one glance, or do you need to show your work?</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Hard problems need steps. So do language models.</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https://images.unsplash.com/photo-1509228468518-180dd4864904</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Chain-of-thought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CoT: put the steps in the exemplar</a:t>
            </a:r>
          </a:p>
        </p:txBody>
      </p:sp>
      <p:pic>
        <p:nvPicPr>
          <p:cNvPr id="5" name="Picture 4" descr="The most reproduced figure of the prompting era. Only the highlighted worked solution differs between the two prompts, yet it flips the cafeteria answer from 27 to 9."/>
          <p:cNvPicPr>
            <a:picLocks noChangeAspect="1"/>
          </p:cNvPicPr>
          <p:nvPr/>
        </p:nvPicPr>
        <p:blipFill>
          <a:blip r:embed="rId2"/>
          <a:stretch>
            <a:fillRect/>
          </a:stretch>
        </p:blipFill>
        <p:spPr>
          <a:xfrm>
            <a:off x="1374661" y="1078992"/>
            <a:ext cx="639467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Wei et al. 2022 (arXiv:2201.11903), Fig. 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does CoT help?</a:t>
            </a:r>
          </a:p>
        </p:txBody>
      </p:sp>
      <p:pic>
        <p:nvPicPr>
          <p:cNvPr id="5" name="Picture 4" descr="Why does CoT help?"/>
          <p:cNvPicPr>
            <a:picLocks noChangeAspect="1"/>
          </p:cNvPicPr>
          <p:nvPr/>
        </p:nvPicPr>
        <p:blipFill>
          <a:blip r:embed="rId2"/>
          <a:stretch>
            <a:fillRect/>
          </a:stretch>
        </p:blipFill>
        <p:spPr>
          <a:xfrm>
            <a:off x="274320" y="1325609"/>
            <a:ext cx="8595360" cy="3095786"/>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Wei et al. 2022 (arXiv:2201.11903)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5086871" cy="822960"/>
          </a:xfrm>
        </p:spPr>
        <p:txBody>
          <a:bodyPr wrap="square"/>
          <a:lstStyle/>
          <a:p>
            <a:pPr marL="0" indent="0">
              <a:buNone/>
            </a:pPr>
            <a:r>
              <a:t>CoT and scale</a:t>
            </a:r>
          </a:p>
        </p:txBody>
      </p:sp>
      <p:pic>
        <p:nvPicPr>
          <p:cNvPr id="5" name="Picture 4" descr="Figure 4: Chain-of-thought prompting enables large language models to solve challenging math problems. Notably, chain-of-thought reasoning is an emergent ability of increasing model scale. Prior best numbers are from Cobbe et al. (2021) for GSM8K, Jie et al. (2022) for SVAMP, and Lan et al. (2021) for MAWPS."/>
          <p:cNvPicPr>
            <a:picLocks noChangeAspect="1"/>
          </p:cNvPicPr>
          <p:nvPr/>
        </p:nvPicPr>
        <p:blipFill>
          <a:blip r:embed="rId2"/>
          <a:srcRect b="20000"/>
          <a:stretch>
            <a:fillRect/>
          </a:stretch>
        </p:blipFill>
        <p:spPr>
          <a:xfrm>
            <a:off x="5818391" y="256032"/>
            <a:ext cx="2868409" cy="4411980"/>
          </a:xfrm>
          <a:prstGeom prst="rect">
            <a:avLst/>
          </a:prstGeom>
        </p:spPr>
      </p:pic>
      <p:sp>
        <p:nvSpPr>
          <p:cNvPr id="6" name="TextBox 5"/>
          <p:cNvSpPr txBox="1"/>
          <p:nvPr/>
        </p:nvSpPr>
        <p:spPr>
          <a:xfrm>
            <a:off x="457200" y="1188720"/>
            <a:ext cx="5086871" cy="3479292"/>
          </a:xfrm>
          <a:prstGeom prst="rect">
            <a:avLst/>
          </a:prstGeom>
          <a:noFill/>
        </p:spPr>
        <p:txBody>
          <a:bodyPr wrap="square">
            <a:spAutoFit/>
          </a:bodyPr>
          <a:lstStyle/>
          <a:p>
            <a:pPr marL="0" indent="0">
              <a:spcAft>
                <a:spcPts val="800"/>
              </a:spcAft>
              <a:buNone/>
            </a:pPr>
            <a:r>
              <a:rPr sz="1300">
                <a:solidFill>
                  <a:srgbClr val="222222"/>
                </a:solidFill>
              </a:rPr>
              <a:t>Figure 4: Chain-of-thought prompting enables large language models to solve challenging math problems. Notably, chain-of-thought reasoning is an emergent ability of increasing model scale. Prior best numbers are from Cobbe et al. (2021) for GSM8K, Jie et al. (2022) for SVAMP, and Lan et al. (2021) for MAWPS.</a:t>
            </a:r>
          </a:p>
          <a:p>
            <a:pPr marL="0" indent="0">
              <a:spcAft>
                <a:spcPts val="800"/>
              </a:spcAft>
              <a:buNone/>
            </a:pPr>
            <a:r>
              <a:rPr sz="1300">
                <a:solidFill>
                  <a:srgbClr val="222222"/>
                </a:solidFill>
              </a:rPr>
              <a:t>Blue pulls away from black only at each family's largest model; small models gain nothing or get worse</a:t>
            </a:r>
          </a:p>
        </p:txBody>
      </p:sp>
      <p:sp>
        <p:nvSpPr>
          <p:cNvPr id="7" name="TextBox 6"/>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Wei et al. 2022 (arXiv:2201.11903), Fig. 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Zero-shot CoT</a:t>
            </a:r>
          </a:p>
        </p:txBody>
      </p:sp>
      <p:pic>
        <p:nvPicPr>
          <p:cNvPr id="5" name="Picture 4" descr="Zero-shot CoT"/>
          <p:cNvPicPr>
            <a:picLocks noChangeAspect="1"/>
          </p:cNvPicPr>
          <p:nvPr/>
        </p:nvPicPr>
        <p:blipFill>
          <a:blip r:embed="rId2"/>
          <a:stretch>
            <a:fillRect/>
          </a:stretch>
        </p:blipFill>
        <p:spPr>
          <a:xfrm>
            <a:off x="274320" y="1316922"/>
            <a:ext cx="8595360" cy="311316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Kojima et al. 2022 (arXiv:2205.11916)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Sample many chains, then vote</a:t>
            </a:r>
          </a:p>
        </p:txBody>
      </p:sp>
      <p:pic>
        <p:nvPicPr>
          <p:cNvPr id="5" name="Picture 4" descr="Self-consistency: greedy decoding commits to one flawed path ($14); sampling at temperature &gt; 0 explores several, and the stray $26 path is outvoted by the two that agree on $18."/>
          <p:cNvPicPr>
            <a:picLocks noChangeAspect="1"/>
          </p:cNvPicPr>
          <p:nvPr/>
        </p:nvPicPr>
        <p:blipFill>
          <a:blip r:embed="rId2"/>
          <a:srcRect t="17700"/>
          <a:stretch>
            <a:fillRect/>
          </a:stretch>
        </p:blipFill>
        <p:spPr>
          <a:xfrm>
            <a:off x="1539812" y="1078992"/>
            <a:ext cx="606437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Wang et al. 2022 (arXiv:2203.11171), Fig. 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Decomposition: break the task apart</a:t>
            </a:r>
          </a:p>
        </p:txBody>
      </p:sp>
      <p:pic>
        <p:nvPicPr>
          <p:cNvPr id="5" name="Picture 4" descr="Decomposition: break the task apart"/>
          <p:cNvPicPr>
            <a:picLocks noChangeAspect="1"/>
          </p:cNvPicPr>
          <p:nvPr/>
        </p:nvPicPr>
        <p:blipFill>
          <a:blip r:embed="rId2"/>
          <a:stretch>
            <a:fillRect/>
          </a:stretch>
        </p:blipFill>
        <p:spPr>
          <a:xfrm>
            <a:off x="274320" y="1624261"/>
            <a:ext cx="8595360" cy="2498481"/>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least-to-most, Zhou et al. 2022 (arXiv:2205.10625)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From CoT to Thinking Models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The 2024 to 2025 idea: make the chain a learned behavior, not a prompt you write."/>
          <p:cNvPicPr>
            <a:picLocks noChangeAspect="1"/>
          </p:cNvPicPr>
          <p:nvPr/>
        </p:nvPicPr>
        <p:blipFill>
          <a:blip r:embed="rId2"/>
          <a:stretch>
            <a:fillRect/>
          </a:stretch>
        </p:blipFill>
        <p:spPr>
          <a:xfrm>
            <a:off x="0" y="-477203"/>
            <a:ext cx="9144000" cy="609790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3400" b="1">
                <a:solidFill>
                  <a:srgbClr val="FFFFFF"/>
                </a:solidFill>
              </a:rPr>
              <a:t>What if we stopped prompting for reasoning and trained it in?</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The 2024 to 2025 idea: make the chain a learned behavior, not a prompt you write.</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https://images.unsplash.com/photo-1509228468518-180dd4864904</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Scale inference, not just parameters</a:t>
            </a:r>
          </a:p>
        </p:txBody>
      </p:sp>
      <p:pic>
        <p:nvPicPr>
          <p:cNvPr id="5" name="Picture 4" descr="Scale inference, not just parameters"/>
          <p:cNvPicPr>
            <a:picLocks noChangeAspect="1"/>
          </p:cNvPicPr>
          <p:nvPr/>
        </p:nvPicPr>
        <p:blipFill>
          <a:blip r:embed="rId2"/>
          <a:stretch>
            <a:fillRect/>
          </a:stretch>
        </p:blipFill>
        <p:spPr>
          <a:xfrm>
            <a:off x="969281" y="1078992"/>
            <a:ext cx="7205437"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schematic; test-time compute scaling, Snell et al. 2024 (arXiv:2408.03314)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CoT to trained reasoning</a:t>
            </a:r>
          </a:p>
        </p:txBody>
      </p:sp>
      <p:pic>
        <p:nvPicPr>
          <p:cNvPr id="5" name="Picture 4" descr="CoT to trained reasoning"/>
          <p:cNvPicPr>
            <a:picLocks noChangeAspect="1"/>
          </p:cNvPicPr>
          <p:nvPr/>
        </p:nvPicPr>
        <p:blipFill>
          <a:blip r:embed="rId2"/>
          <a:stretch>
            <a:fillRect/>
          </a:stretch>
        </p:blipFill>
        <p:spPr>
          <a:xfrm>
            <a:off x="274320" y="1544714"/>
            <a:ext cx="8595360" cy="265757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Wei et al. 2022 (2201.11903); DeepSeek-R1 2025 (2501.12948)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Reasoning models: what RL training buys</a:t>
            </a:r>
          </a:p>
        </p:txBody>
      </p:sp>
      <p:sp>
        <p:nvSpPr>
          <p:cNvPr id="5" name="TextBox 4"/>
          <p:cNvSpPr txBox="1"/>
          <p:nvPr/>
        </p:nvSpPr>
        <p:spPr>
          <a:xfrm>
            <a:off x="457200" y="4357116"/>
            <a:ext cx="8229600" cy="310896"/>
          </a:xfrm>
          <a:prstGeom prst="rect">
            <a:avLst/>
          </a:prstGeom>
          <a:noFill/>
        </p:spPr>
        <p:txBody>
          <a:bodyPr wrap="square">
            <a:spAutoFit/>
          </a:bodyPr>
          <a:lstStyle/>
          <a:p>
            <a:pPr algn="ctr" marL="0" indent="0">
              <a:buNone/>
            </a:pPr>
            <a:r>
              <a:rPr sz="1400">
                <a:solidFill>
                  <a:srgbClr val="222222"/>
                </a:solidFill>
              </a:rPr>
              <a:t>Same skepticism applies: plausible chain does not guarantee a correct answer</a:t>
            </a:r>
          </a:p>
        </p:txBody>
      </p:sp>
      <p:pic>
        <p:nvPicPr>
          <p:cNvPr id="6" name="Picture 5" descr="RL on verifiable rewards, the Week 8 alignment idea aimed at reasoning: AIME accuracy climbs past the average human competitor while responses grow 10x longer. Thinking longer is learned, never prompted."/>
          <p:cNvPicPr>
            <a:picLocks noChangeAspect="1"/>
          </p:cNvPicPr>
          <p:nvPr/>
        </p:nvPicPr>
        <p:blipFill>
          <a:blip r:embed="rId2"/>
          <a:stretch>
            <a:fillRect/>
          </a:stretch>
        </p:blipFill>
        <p:spPr>
          <a:xfrm>
            <a:off x="1924539" y="1078992"/>
            <a:ext cx="5294922" cy="3186684"/>
          </a:xfrm>
          <a:prstGeom prst="rect">
            <a:avLst/>
          </a:prstGeom>
        </p:spPr>
      </p:pic>
      <p:sp>
        <p:nvSpPr>
          <p:cNvPr id="7" name="TextBox 6"/>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DeepSeek-AI 2025 (arXiv:2501.12948), Fig. 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Extract the answer reliably</a:t>
            </a:r>
          </a:p>
        </p:txBody>
      </p:sp>
      <p:pic>
        <p:nvPicPr>
          <p:cNvPr id="5" name="Picture 4" descr="Extract the answer reliably"/>
          <p:cNvPicPr>
            <a:picLocks noChangeAspect="1"/>
          </p:cNvPicPr>
          <p:nvPr/>
        </p:nvPicPr>
        <p:blipFill>
          <a:blip r:embed="rId2"/>
          <a:stretch>
            <a:fillRect/>
          </a:stretch>
        </p:blipFill>
        <p:spPr>
          <a:xfrm>
            <a:off x="274320" y="1635187"/>
            <a:ext cx="8595360" cy="247662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When NOT to use CoT</a:t>
            </a:r>
          </a:p>
        </p:txBody>
      </p:sp>
      <p:pic>
        <p:nvPicPr>
          <p:cNvPr id="5" name="Picture 4" descr="When NOT to use CoT"/>
          <p:cNvPicPr>
            <a:picLocks noChangeAspect="1"/>
          </p:cNvPicPr>
          <p:nvPr/>
        </p:nvPicPr>
        <p:blipFill>
          <a:blip r:embed="rId2"/>
          <a:stretch>
            <a:fillRect/>
          </a:stretch>
        </p:blipFill>
        <p:spPr>
          <a:xfrm>
            <a:off x="274320" y="1438514"/>
            <a:ext cx="8595360" cy="2869976"/>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Risks: plausible ≠ correct</a:t>
            </a:r>
          </a:p>
        </p:txBody>
      </p:sp>
      <p:pic>
        <p:nvPicPr>
          <p:cNvPr id="5" name="Picture 4" descr="Risks: plausible ≠ correct"/>
          <p:cNvPicPr>
            <a:picLocks noChangeAspect="1"/>
          </p:cNvPicPr>
          <p:nvPr/>
        </p:nvPicPr>
        <p:blipFill>
          <a:blip r:embed="rId2"/>
          <a:stretch>
            <a:fillRect/>
          </a:stretch>
        </p:blipFill>
        <p:spPr>
          <a:xfrm>
            <a:off x="274320" y="1630245"/>
            <a:ext cx="8595360" cy="2486514"/>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Looking ahead</a:t>
            </a:r>
          </a:p>
        </p:txBody>
      </p:sp>
      <p:pic>
        <p:nvPicPr>
          <p:cNvPr id="5" name="Picture 4" descr="Looking ahead"/>
          <p:cNvPicPr>
            <a:picLocks noChangeAspect="1"/>
          </p:cNvPicPr>
          <p:nvPr/>
        </p:nvPicPr>
        <p:blipFill>
          <a:blip r:embed="rId2"/>
          <a:stretch>
            <a:fillRect/>
          </a:stretch>
        </p:blipFill>
        <p:spPr>
          <a:xfrm>
            <a:off x="274320" y="1445798"/>
            <a:ext cx="8595360" cy="2855407"/>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schedule/SCHEDULE.md; thumbnails: Wei et al. 2022 (2201.11903) Fig. 1, Lewis et al. 2020 (2005.11401) Fig. 1, Yao et al. 2022 (2210.03629) Fig. 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Quiz 10 (paper)</a:t>
            </a:r>
          </a:p>
        </p:txBody>
      </p:sp>
      <p:sp>
        <p:nvSpPr>
          <p:cNvPr id="5" name="TextBox 4"/>
          <p:cNvSpPr txBox="1"/>
          <p:nvPr/>
        </p:nvSpPr>
        <p:spPr>
          <a:xfrm>
            <a:off x="457200" y="4357116"/>
            <a:ext cx="8229600" cy="310896"/>
          </a:xfrm>
          <a:prstGeom prst="rect">
            <a:avLst/>
          </a:prstGeom>
          <a:noFill/>
        </p:spPr>
        <p:txBody>
          <a:bodyPr wrap="square">
            <a:spAutoFit/>
          </a:bodyPr>
          <a:lstStyle/>
          <a:p>
            <a:pPr algn="ctr" marL="0" indent="0">
              <a:buNone/>
            </a:pPr>
            <a:r>
              <a:rPr sz="1400">
                <a:solidFill>
                  <a:srgbClr val="222222"/>
                </a:solidFill>
              </a:rPr>
              <a:t>Clear your desk: finish early and your break starts early; need more time and it comes out of your break</a:t>
            </a:r>
          </a:p>
        </p:txBody>
      </p:sp>
      <p:pic>
        <p:nvPicPr>
          <p:cNvPr id="6" name="Picture 5" descr="Covers Week 10 lecture + Chain-of-Thought (Wei et al. 2022); optional readings are never quizzed. Clear your desk: finish early and your break starts early, need more time and it comes out of the break."/>
          <p:cNvPicPr>
            <a:picLocks noChangeAspect="1"/>
          </p:cNvPicPr>
          <p:nvPr/>
        </p:nvPicPr>
        <p:blipFill>
          <a:blip r:embed="rId2"/>
          <a:stretch>
            <a:fillRect/>
          </a:stretch>
        </p:blipFill>
        <p:spPr>
          <a:xfrm>
            <a:off x="1650873" y="1078992"/>
            <a:ext cx="5842254" cy="3186684"/>
          </a:xfrm>
          <a:prstGeom prst="rect">
            <a:avLst/>
          </a:prstGeom>
        </p:spPr>
      </p:pic>
      <p:sp>
        <p:nvSpPr>
          <p:cNvPr id="7" name="TextBox 6"/>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quizzes/quiz-10.md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stretch, refill water, compare notes. Then the Predict, then Verify CoT activity."/>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Pairs, ~25 min. Hand-write a CoT trace and a decomposition tree, predict if CoT helps, then verify."/>
          <p:cNvPicPr>
            <a:picLocks noChangeAspect="1"/>
          </p:cNvPicPr>
          <p:nvPr/>
        </p:nvPicPr>
        <p:blipFill>
          <a:blip r:embed="rId2"/>
          <a:stretch>
            <a:fillRect/>
          </a:stretch>
        </p:blipFill>
        <p:spPr>
          <a:xfrm>
            <a:off x="0" y="-480060"/>
            <a:ext cx="9144000" cy="6103620"/>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FFFFFF"/>
                </a:solidFill>
              </a:rPr>
              <a:t>Whiteboards out: predict before you run</a:t>
            </a:r>
          </a:p>
          <a:p>
            <a:pPr algn="ctr" marL="0" indent="0">
              <a:buNone/>
            </a:pPr>
            <a:r>
              <a:rPr sz="2000">
                <a:solidFill>
                  <a:srgbClr val="FFFFFF"/>
                </a:solidFill>
              </a:rPr>
              <a:t>Pairs, ~25 min. Hand-write a CoT trace and a decomposition tree, predict if CoT helps, then verify.</a:t>
            </a:r>
          </a:p>
        </p:txBody>
      </p:sp>
      <p:sp>
        <p:nvSpPr>
          <p:cNvPr id="8" name="TextBox 7"/>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https://images.unsplash.com/photo-1454165804606-c3d57bc86b40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Activity: Predict, then Verify CoT</a:t>
            </a:r>
          </a:p>
        </p:txBody>
      </p:sp>
      <p:pic>
        <p:nvPicPr>
          <p:cNvPr id="5" name="Picture 4" descr="Activity: Predict, then Verify CoT"/>
          <p:cNvPicPr>
            <a:picLocks noChangeAspect="1"/>
          </p:cNvPicPr>
          <p:nvPr/>
        </p:nvPicPr>
        <p:blipFill>
          <a:blip r:embed="rId2"/>
          <a:stretch>
            <a:fillRect/>
          </a:stretch>
        </p:blipFill>
        <p:spPr>
          <a:xfrm>
            <a:off x="484120" y="1078992"/>
            <a:ext cx="8175759"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weeks/week-10/class-02/exercise/cot_lab.py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Verify your predictions</a:t>
            </a:r>
          </a:p>
        </p:txBody>
      </p:sp>
      <p:sp>
        <p:nvSpPr>
          <p:cNvPr id="5" name="TextBox 4"/>
          <p:cNvSpPr txBox="1"/>
          <p:nvPr/>
        </p:nvSpPr>
        <p:spPr>
          <a:xfrm>
            <a:off x="457200" y="4351528"/>
            <a:ext cx="8229600" cy="310896"/>
          </a:xfrm>
          <a:prstGeom prst="rect">
            <a:avLst/>
          </a:prstGeom>
          <a:noFill/>
        </p:spPr>
        <p:txBody>
          <a:bodyPr wrap="square">
            <a:spAutoFit/>
          </a:bodyPr>
          <a:lstStyle/>
          <a:p>
            <a:pPr algn="ctr" marL="0" indent="0">
              <a:buNone/>
            </a:pPr>
            <a:r>
              <a:rPr sz="1400">
                <a:solidFill>
                  <a:srgbClr val="222222"/>
                </a:solidFill>
              </a:rPr>
              <a:t>Did the scores match what you predicted on the whiteboard?</a:t>
            </a:r>
          </a:p>
        </p:txBody>
      </p:sp>
      <p:pic>
        <p:nvPicPr>
          <p:cNvPr id="6" name="Picture 5" descr="Verify your predictions"/>
          <p:cNvPicPr>
            <a:picLocks noChangeAspect="1"/>
          </p:cNvPicPr>
          <p:nvPr/>
        </p:nvPicPr>
        <p:blipFill>
          <a:blip r:embed="rId2"/>
          <a:stretch>
            <a:fillRect/>
          </a:stretch>
        </p:blipFill>
        <p:spPr>
          <a:xfrm>
            <a:off x="274320" y="1084580"/>
            <a:ext cx="8595360" cy="3175508"/>
          </a:xfrm>
          <a:prstGeom prst="rect">
            <a:avLst/>
          </a:prstGeom>
        </p:spPr>
      </p:pic>
      <p:sp>
        <p:nvSpPr>
          <p:cNvPr id="7" name="TextBox 6"/>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example run, qwen2.5:0.5b via Ollama</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Recap</a:t>
            </a:r>
          </a:p>
        </p:txBody>
      </p:sp>
      <p:pic>
        <p:nvPicPr>
          <p:cNvPr id="5" name="Picture 4" descr="Recap"/>
          <p:cNvPicPr>
            <a:picLocks noChangeAspect="1"/>
          </p:cNvPicPr>
          <p:nvPr/>
        </p:nvPicPr>
        <p:blipFill>
          <a:blip r:embed="rId2"/>
          <a:stretch>
            <a:fillRect/>
          </a:stretch>
        </p:blipFill>
        <p:spPr>
          <a:xfrm>
            <a:off x="274320" y="1434547"/>
            <a:ext cx="8595360" cy="287791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Midterm next class</a:t>
            </a:r>
          </a:p>
        </p:txBody>
      </p:sp>
      <p:pic>
        <p:nvPicPr>
          <p:cNvPr id="5" name="Picture 4" descr="One handwritten 8.5 x 11 sheet, both sides, name on it, handed in with the exam. Study guide has a full-length practice exam."/>
          <p:cNvPicPr>
            <a:picLocks noChangeAspect="1"/>
          </p:cNvPicPr>
          <p:nvPr/>
        </p:nvPicPr>
        <p:blipFill>
          <a:blip r:embed="rId2"/>
          <a:stretch>
            <a:fillRect/>
          </a:stretch>
        </p:blipFill>
        <p:spPr>
          <a:xfrm>
            <a:off x="628756" y="1078992"/>
            <a:ext cx="7886487"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exams/midterm-study-guide.md</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