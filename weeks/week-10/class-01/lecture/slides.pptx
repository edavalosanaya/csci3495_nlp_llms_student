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8" r:id="rId3"/>
  </p:sldMasterIdLst>
  <p:notesMasterIdLst>
    <p:notesMasterId r:id="rId4"/>
  </p:notesMasterIdLst>
  <p:sldIdLst>
    <p:sldId id="256" r:id="rId21"/>
    <p:sldId id="257" r:id="rId22"/>
    <p:sldId id="258" r:id="rId20"/>
    <p:sldId id="259" r:id="rId19"/>
    <p:sldId id="260" r:id="rId18"/>
    <p:sldId id="261" r:id="rId17"/>
    <p:sldId id="262" r:id="rId16"/>
    <p:sldId id="263" r:id="rId15"/>
    <p:sldId id="264" r:id="rId14"/>
    <p:sldId id="265" r:id="rId13"/>
    <p:sldId id="266" r:id="rId12"/>
    <p:sldId id="267" r:id="rId11"/>
    <p:sldId id="268" r:id="rId10"/>
    <p:sldId id="269" r:id="rId9"/>
    <p:sldId id="270" r:id="rId8"/>
    <p:sldId id="271" r:id="rId7"/>
    <p:sldId id="272" r:id="rId6"/>
    <p:sldId id="273" r:id="rId5"/>
    <p:sldId id="274" r:id="rId39"/>
    <p:sldId id="275" r:id="rId40"/>
    <p:sldId id="276" r:id="rId41"/>
    <p:sldId id="277" r:id="rId42"/>
    <p:sldId id="278" r:id="rId43"/>
    <p:sldId id="279" r:id="rId44"/>
    <p:sldId id="280" r:id="rId45"/>
    <p:sldId id="281" r:id="rId46"/>
  </p:sldIdLst>
  <p:sldSz cy="5143500" cx="9144000"/>
  <p:notesSz cx="6858000" cy="9144000"/>
  <p:embeddedFontLst>
    <p:embeddedFont>
      <p:font typeface="Roboto"/>
      <p:regular r:id="rId23"/>
      <p:bold r:id="rId24"/>
      <p:italic r:id="rId25"/>
      <p:boldItalic r:id="rId26"/>
    </p:embeddedFont>
    <p:embeddedFont>
      <p:font typeface="Playfair Display"/>
      <p:regular r:id="rId27"/>
      <p:bold r:id="rId28"/>
      <p:italic r:id="rId29"/>
      <p:boldItalic r:id="rId30"/>
    </p:embeddedFont>
    <p:embeddedFont>
      <p:font typeface="Roboto Mono Light"/>
      <p:regular r:id="rId31"/>
      <p:bold r:id="rId32"/>
      <p:italic r:id="rId33"/>
      <p:boldItalic r:id="rId34"/>
    </p:embeddedFont>
    <p:embeddedFont>
      <p:font typeface="Roboto Light"/>
      <p:regular r:id="rId35"/>
      <p:bold r:id="rId36"/>
      <p:italic r:id="rId37"/>
      <p:boldItalic r:id="rId3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8.xml"/><Relationship Id="rId6" Type="http://schemas.openxmlformats.org/officeDocument/2006/relationships/slide" Target="slides/slide17.xml"/><Relationship Id="rId7" Type="http://schemas.openxmlformats.org/officeDocument/2006/relationships/slide" Target="slides/slide16.xml"/><Relationship Id="rId8" Type="http://schemas.openxmlformats.org/officeDocument/2006/relationships/slide" Target="slides/slide15.xml"/><Relationship Id="rId9" Type="http://schemas.openxmlformats.org/officeDocument/2006/relationships/slide" Target="slides/slide14.xml"/><Relationship Id="rId10" Type="http://schemas.openxmlformats.org/officeDocument/2006/relationships/slide" Target="slides/slide13.xml"/><Relationship Id="rId11" Type="http://schemas.openxmlformats.org/officeDocument/2006/relationships/slide" Target="slides/slide12.xml"/><Relationship Id="rId12" Type="http://schemas.openxmlformats.org/officeDocument/2006/relationships/slide" Target="slides/slide11.xml"/><Relationship Id="rId13" Type="http://schemas.openxmlformats.org/officeDocument/2006/relationships/slide" Target="slides/slide10.xml"/><Relationship Id="rId14" Type="http://schemas.openxmlformats.org/officeDocument/2006/relationships/slide" Target="slides/slide9.xml"/><Relationship Id="rId15" Type="http://schemas.openxmlformats.org/officeDocument/2006/relationships/slide" Target="slides/slide8.xml"/><Relationship Id="rId16" Type="http://schemas.openxmlformats.org/officeDocument/2006/relationships/slide" Target="slides/slide7.xml"/><Relationship Id="rId17" Type="http://schemas.openxmlformats.org/officeDocument/2006/relationships/slide" Target="slides/slide6.xml"/><Relationship Id="rId18" Type="http://schemas.openxmlformats.org/officeDocument/2006/relationships/slide" Target="slides/slide5.xml"/><Relationship Id="rId19" Type="http://schemas.openxmlformats.org/officeDocument/2006/relationships/slide" Target="slides/slide4.xml"/><Relationship Id="rId20" Type="http://schemas.openxmlformats.org/officeDocument/2006/relationships/slide" Target="slides/slide3.xml"/><Relationship Id="rId21" Type="http://schemas.openxmlformats.org/officeDocument/2006/relationships/slide" Target="slides/slide1.xml"/><Relationship Id="rId22" Type="http://schemas.openxmlformats.org/officeDocument/2006/relationships/slide" Target="slides/slide2.xml"/><Relationship Id="rId23" Type="http://schemas.openxmlformats.org/officeDocument/2006/relationships/font" Target="fonts/Roboto-regular.fntdata"/><Relationship Id="rId24" Type="http://schemas.openxmlformats.org/officeDocument/2006/relationships/font" Target="fonts/Roboto-bold.fntdata"/><Relationship Id="rId25" Type="http://schemas.openxmlformats.org/officeDocument/2006/relationships/font" Target="fonts/Roboto-italic.fntdata"/><Relationship Id="rId26" Type="http://schemas.openxmlformats.org/officeDocument/2006/relationships/font" Target="fonts/Roboto-boldItalic.fntdata"/><Relationship Id="rId27" Type="http://schemas.openxmlformats.org/officeDocument/2006/relationships/font" Target="fonts/PlayfairDisplay-regular.fntdata"/><Relationship Id="rId28" Type="http://schemas.openxmlformats.org/officeDocument/2006/relationships/font" Target="fonts/PlayfairDisplay-bold.fntdata"/><Relationship Id="rId29" Type="http://schemas.openxmlformats.org/officeDocument/2006/relationships/font" Target="fonts/PlayfairDisplay-italic.fntdata"/><Relationship Id="rId30" Type="http://schemas.openxmlformats.org/officeDocument/2006/relationships/font" Target="fonts/PlayfairDisplay-boldItalic.fntdata"/><Relationship Id="rId31" Type="http://schemas.openxmlformats.org/officeDocument/2006/relationships/font" Target="fonts/RobotoMonoLight-regular.fntdata"/><Relationship Id="rId32" Type="http://schemas.openxmlformats.org/officeDocument/2006/relationships/font" Target="fonts/RobotoMonoLight-bold.fntdata"/><Relationship Id="rId33" Type="http://schemas.openxmlformats.org/officeDocument/2006/relationships/font" Target="fonts/RobotoMonoLight-italic.fntdata"/><Relationship Id="rId34" Type="http://schemas.openxmlformats.org/officeDocument/2006/relationships/font" Target="fonts/RobotoMonoLight-boldItalic.fntdata"/><Relationship Id="rId35" Type="http://schemas.openxmlformats.org/officeDocument/2006/relationships/font" Target="fonts/RobotoLight-regular.fntdata"/><Relationship Id="rId36" Type="http://schemas.openxmlformats.org/officeDocument/2006/relationships/font" Target="fonts/RobotoLight-bold.fntdata"/><Relationship Id="rId37" Type="http://schemas.openxmlformats.org/officeDocument/2006/relationships/font" Target="fonts/RobotoLight-italic.fntdata"/><Relationship Id="rId38" Type="http://schemas.openxmlformats.org/officeDocument/2006/relationships/font" Target="fonts/RobotoLight-boldItalic.fntdata"/><Relationship Id="rId39" Type="http://schemas.openxmlformats.org/officeDocument/2006/relationships/slide" Target="slides/slide19.xml"/><Relationship Id="rId40" Type="http://schemas.openxmlformats.org/officeDocument/2006/relationships/slide" Target="slides/slide20.xml"/><Relationship Id="rId41" Type="http://schemas.openxmlformats.org/officeDocument/2006/relationships/slide" Target="slides/slide21.xml"/><Relationship Id="rId42" Type="http://schemas.openxmlformats.org/officeDocument/2006/relationships/slide" Target="slides/slide22.xml"/><Relationship Id="rId43" Type="http://schemas.openxmlformats.org/officeDocument/2006/relationships/slide" Target="slides/slide23.xml"/><Relationship Id="rId44" Type="http://schemas.openxmlformats.org/officeDocument/2006/relationships/slide" Target="slides/slide24.xml"/><Relationship Id="rId45" Type="http://schemas.openxmlformats.org/officeDocument/2006/relationships/slide" Target="slides/slide25.xml"/><Relationship Id="rId46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523" y="685800"/>
            <a:ext cx="45717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399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8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5.jpg"/><Relationship Id="rId3" Type="http://schemas.openxmlformats.org/officeDocument/2006/relationships/image" Target="../media/image26.jpg"/><Relationship Id="rId4" Type="http://schemas.openxmlformats.org/officeDocument/2006/relationships/image" Target="../media/image27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4.jp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" type="blank">
  <p:cSld name="BLANK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3390300"/>
            <a:ext cx="91440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" name="Google Shape;11;p2"/>
          <p:cNvPicPr preferRelativeResize="0"/>
          <p:nvPr/>
        </p:nvPicPr>
        <p:blipFill rotWithShape="1">
          <a:blip r:embed="rId2">
            <a:alphaModFix/>
          </a:blip>
          <a:srcRect b="13732" l="600" r="-600" t="43847"/>
          <a:stretch/>
        </p:blipFill>
        <p:spPr>
          <a:xfrm>
            <a:off x="0" y="-70472"/>
            <a:ext cx="9198797" cy="3460774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Google Shape;12;p2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3" name="Google Shape;13;p2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2 Columns">
  <p:cSld name="2_Portfolio Thre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idx="1" type="body"/>
          </p:nvPr>
        </p:nvSpPr>
        <p:spPr>
          <a:xfrm>
            <a:off x="50957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7" name="Google Shape;17;p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18" name="Google Shape;18;p3"/>
          <p:cNvSpPr txBox="1"/>
          <p:nvPr>
            <p:ph idx="2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3" type="body"/>
          </p:nvPr>
        </p:nvSpPr>
        <p:spPr>
          <a:xfrm>
            <a:off x="4827127" y="1369219"/>
            <a:ext cx="36882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+ 3 Columns">
  <p:cSld name="1_Slide with Placeholder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22" name="Google Shape;22;p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2" type="body"/>
          </p:nvPr>
        </p:nvSpPr>
        <p:spPr>
          <a:xfrm>
            <a:off x="5521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4" name="Google Shape;24;p4"/>
          <p:cNvSpPr txBox="1"/>
          <p:nvPr>
            <p:ph idx="3" type="body"/>
          </p:nvPr>
        </p:nvSpPr>
        <p:spPr>
          <a:xfrm>
            <a:off x="3337475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25" name="Google Shape;25;p4"/>
          <p:cNvSpPr txBox="1"/>
          <p:nvPr>
            <p:ph idx="4" type="body"/>
          </p:nvPr>
        </p:nvSpPr>
        <p:spPr>
          <a:xfrm>
            <a:off x="6160800" y="1369225"/>
            <a:ext cx="2502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">
  <p:cSld name="Cover Slide"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Google Shape;27;p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over Slide with Logo">
  <p:cSld name="Cover Slide_2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29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pic>
        <p:nvPicPr>
          <p:cNvPr id="30" name="Google Shape;30;p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03514" y="628706"/>
            <a:ext cx="4936973" cy="388558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Acknowledgments Slide">
  <p:cSld name="Cover Slide_1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" y="0"/>
            <a:ext cx="9142810" cy="5142831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7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Font typeface="Playfair Display"/>
              <a:buNone/>
              <a:defRPr i="0" sz="5600" u="none" cap="none" strike="noStrike">
                <a:solidFill>
                  <a:schemeClr val="lt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4" name="Google Shape;34;p7"/>
          <p:cNvSpPr txBox="1"/>
          <p:nvPr>
            <p:ph idx="1" type="subTitle"/>
          </p:nvPr>
        </p:nvSpPr>
        <p:spPr>
          <a:xfrm>
            <a:off x="509521" y="1401113"/>
            <a:ext cx="5120100" cy="1558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2700">
                <a:solidFill>
                  <a:schemeClr val="l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tle only">
  <p:cSld name="Custom Layout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8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37" name="Google Shape;37;p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Big Concept Slide">
  <p:cSld name="Slide with Placeholder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title"/>
          </p:nvPr>
        </p:nvSpPr>
        <p:spPr>
          <a:xfrm>
            <a:off x="509577" y="2245519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509577" y="3154509"/>
            <a:ext cx="6737700" cy="953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">
  <p:cSld name="Large Picture with Logo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3" name="Google Shape;43;p10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44" name="Google Shape;44;p10"/>
          <p:cNvPicPr preferRelativeResize="0"/>
          <p:nvPr/>
        </p:nvPicPr>
        <p:blipFill rotWithShape="1">
          <a:blip r:embed="rId2">
            <a:alphaModFix/>
          </a:blip>
          <a:srcRect b="2009" l="27412" r="6551" t="0"/>
          <a:stretch/>
        </p:blipFill>
        <p:spPr>
          <a:xfrm>
            <a:off x="7006675" y="-56025"/>
            <a:ext cx="2176574" cy="4846049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10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1">
  <p:cSld name="Large Picture with Logo_1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48" name="Google Shape;48;p11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49" name="Google Shape;49;p11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2">
  <p:cSld name="Large Picture with Logo_1_1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2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2" name="Google Shape;52;p12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53" name="Google Shape;53;p12"/>
          <p:cNvPicPr preferRelativeResize="0"/>
          <p:nvPr/>
        </p:nvPicPr>
        <p:blipFill rotWithShape="1">
          <a:blip r:embed="rId2">
            <a:alphaModFix/>
          </a:blip>
          <a:srcRect b="0" l="27412" r="6551" t="0"/>
          <a:stretch/>
        </p:blipFill>
        <p:spPr>
          <a:xfrm>
            <a:off x="7006675" y="-57150"/>
            <a:ext cx="2137324" cy="4856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4" name="Google Shape;54;p12"/>
          <p:cNvPicPr preferRelativeResize="0"/>
          <p:nvPr/>
        </p:nvPicPr>
        <p:blipFill rotWithShape="1">
          <a:blip r:embed="rId3">
            <a:alphaModFix/>
          </a:blip>
          <a:srcRect b="0" l="8950" r="0" t="0"/>
          <a:stretch/>
        </p:blipFill>
        <p:spPr>
          <a:xfrm>
            <a:off x="7006665" y="-57150"/>
            <a:ext cx="6633784" cy="4856124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2"/>
          <p:cNvPicPr preferRelativeResize="0"/>
          <p:nvPr/>
        </p:nvPicPr>
        <p:blipFill rotWithShape="1">
          <a:blip r:embed="rId4">
            <a:alphaModFix/>
          </a:blip>
          <a:srcRect b="0" l="39028" r="0" t="0"/>
          <a:stretch/>
        </p:blipFill>
        <p:spPr>
          <a:xfrm>
            <a:off x="7006676" y="-57150"/>
            <a:ext cx="4442373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2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3">
  <p:cSld name="Large Picture with Logo_1_1_1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3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59" name="Google Shape;59;p13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0" name="Google Shape;60;p13"/>
          <p:cNvPicPr preferRelativeResize="0"/>
          <p:nvPr/>
        </p:nvPicPr>
        <p:blipFill rotWithShape="1">
          <a:blip r:embed="rId2">
            <a:alphaModFix/>
          </a:blip>
          <a:srcRect b="0" l="24210" r="1252" t="0"/>
          <a:stretch/>
        </p:blipFill>
        <p:spPr>
          <a:xfrm>
            <a:off x="7006675" y="-57150"/>
            <a:ext cx="5430948" cy="4856124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13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and Photo 4">
  <p:cSld name="Large Picture with Logo_1_1_1_1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4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4" name="Google Shape;64;p14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pic>
        <p:nvPicPr>
          <p:cNvPr id="65" name="Google Shape;65;p14"/>
          <p:cNvPicPr preferRelativeResize="0"/>
          <p:nvPr/>
        </p:nvPicPr>
        <p:blipFill rotWithShape="1">
          <a:blip r:embed="rId2">
            <a:alphaModFix/>
          </a:blip>
          <a:srcRect b="0" l="34525" r="0" t="0"/>
          <a:stretch/>
        </p:blipFill>
        <p:spPr>
          <a:xfrm>
            <a:off x="7010075" y="-57150"/>
            <a:ext cx="2543048" cy="4856125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14"/>
          <p:cNvSpPr txBox="1"/>
          <p:nvPr>
            <p:ph idx="2" type="body"/>
          </p:nvPr>
        </p:nvSpPr>
        <p:spPr>
          <a:xfrm>
            <a:off x="555675" y="1369225"/>
            <a:ext cx="5974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">
  <p:cSld name="3_Placeholder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69" name="Google Shape;69;p15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0" name="Google Shape;70;p15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Text with Large Photo 1">
  <p:cSld name="3_Placeholder_1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6"/>
          <p:cNvSpPr txBox="1"/>
          <p:nvPr>
            <p:ph type="title"/>
          </p:nvPr>
        </p:nvSpPr>
        <p:spPr>
          <a:xfrm>
            <a:off x="509577" y="702469"/>
            <a:ext cx="2207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Font typeface="Playfair Display"/>
              <a:buNone/>
              <a:defRPr i="0" sz="27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3" name="Google Shape;73;p16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4" name="Google Shape;74;p16"/>
          <p:cNvSpPr txBox="1"/>
          <p:nvPr>
            <p:ph idx="2" type="body"/>
          </p:nvPr>
        </p:nvSpPr>
        <p:spPr>
          <a:xfrm>
            <a:off x="509575" y="1902650"/>
            <a:ext cx="225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SzPts val="2200"/>
              <a:buFont typeface="Roboto Light"/>
              <a:buNone/>
              <a:defRPr i="0" sz="22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2286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800"/>
              <a:buFont typeface="Roboto Light"/>
              <a:buNone/>
              <a:defRPr i="0" sz="18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22860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500"/>
              <a:buFont typeface="Roboto Light"/>
              <a:buNone/>
              <a:defRPr i="0" sz="15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2286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300"/>
              <a:buFont typeface="Roboto Light"/>
              <a:buNone/>
              <a:defRPr i="0" sz="13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2286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SzPts val="1100"/>
              <a:buFont typeface="Roboto Light"/>
              <a:buNone/>
              <a:defRPr i="0" sz="1100" u="none" cap="none" strike="noStrike"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28575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Single Statistic">
  <p:cSld name="1_Placeholder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7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type="title"/>
          </p:nvPr>
        </p:nvSpPr>
        <p:spPr>
          <a:xfrm>
            <a:off x="454066" y="182433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94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8" name="Google Shape;78;p17"/>
          <p:cNvSpPr txBox="1"/>
          <p:nvPr>
            <p:ph idx="2" type="subTitle"/>
          </p:nvPr>
        </p:nvSpPr>
        <p:spPr>
          <a:xfrm>
            <a:off x="454066" y="3127509"/>
            <a:ext cx="8353200" cy="7152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sz="1800"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9" name="Google Shape;79;p17"/>
          <p:cNvSpPr txBox="1"/>
          <p:nvPr>
            <p:ph idx="3" type="subTitle"/>
          </p:nvPr>
        </p:nvSpPr>
        <p:spPr>
          <a:xfrm>
            <a:off x="4838166" y="1824350"/>
            <a:ext cx="38664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0" name="Google Shape;80;p17"/>
          <p:cNvSpPr txBox="1"/>
          <p:nvPr>
            <p:ph idx="4" type="title"/>
          </p:nvPr>
        </p:nvSpPr>
        <p:spPr>
          <a:xfrm>
            <a:off x="509577" y="837514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Multiple Statistics">
  <p:cSld name="1_Placeholder_1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8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3" name="Google Shape;83;p18"/>
          <p:cNvSpPr txBox="1"/>
          <p:nvPr>
            <p:ph type="title"/>
          </p:nvPr>
        </p:nvSpPr>
        <p:spPr>
          <a:xfrm>
            <a:off x="454066" y="75948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4" name="Google Shape;84;p18"/>
          <p:cNvSpPr txBox="1"/>
          <p:nvPr>
            <p:ph idx="2" type="subTitle"/>
          </p:nvPr>
        </p:nvSpPr>
        <p:spPr>
          <a:xfrm>
            <a:off x="4759893" y="759488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5" name="Google Shape;85;p18"/>
          <p:cNvSpPr txBox="1"/>
          <p:nvPr>
            <p:ph idx="3" type="title"/>
          </p:nvPr>
        </p:nvSpPr>
        <p:spPr>
          <a:xfrm>
            <a:off x="454066" y="2037533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5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6" name="Google Shape;86;p18"/>
          <p:cNvSpPr txBox="1"/>
          <p:nvPr>
            <p:ph idx="4" type="subTitle"/>
          </p:nvPr>
        </p:nvSpPr>
        <p:spPr>
          <a:xfrm>
            <a:off x="4759893" y="2037533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87" name="Google Shape;87;p18"/>
          <p:cNvSpPr txBox="1"/>
          <p:nvPr>
            <p:ph idx="5" type="title"/>
          </p:nvPr>
        </p:nvSpPr>
        <p:spPr>
          <a:xfrm>
            <a:off x="454066" y="3437708"/>
            <a:ext cx="4305900" cy="13851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7500">
                <a:solidFill>
                  <a:schemeClr val="accent6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88" name="Google Shape;88;p18"/>
          <p:cNvSpPr txBox="1"/>
          <p:nvPr>
            <p:ph idx="6" type="subTitle"/>
          </p:nvPr>
        </p:nvSpPr>
        <p:spPr>
          <a:xfrm>
            <a:off x="4759893" y="3437709"/>
            <a:ext cx="4008300" cy="11745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>
                <a:latin typeface="Roboto Light"/>
                <a:ea typeface="Roboto Light"/>
                <a:cs typeface="Roboto Light"/>
                <a:sym typeface="Roboto Light"/>
              </a:defRPr>
            </a:lvl1pPr>
            <a:lvl2pPr lvl="1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115000"/>
              </a:lnSpc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5_Quote">
  <p:cSld name="CUSTOM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9"/>
          <p:cNvSpPr txBox="1"/>
          <p:nvPr>
            <p:ph idx="1" type="subTitle"/>
          </p:nvPr>
        </p:nvSpPr>
        <p:spPr>
          <a:xfrm>
            <a:off x="509577" y="219225"/>
            <a:ext cx="3773400" cy="2193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>
              <a:spcBef>
                <a:spcPts val="700"/>
              </a:spcBef>
              <a:spcAft>
                <a:spcPts val="0"/>
              </a:spcAft>
              <a:buNone/>
              <a:defRPr b="1"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91" name="Google Shape;91;p19"/>
          <p:cNvSpPr/>
          <p:nvPr/>
        </p:nvSpPr>
        <p:spPr>
          <a:xfrm>
            <a:off x="5748887" y="1561152"/>
            <a:ext cx="1718100" cy="219300"/>
          </a:xfrm>
          <a:prstGeom prst="rect">
            <a:avLst/>
          </a:prstGeom>
          <a:solidFill>
            <a:srgbClr val="738D33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19"/>
          <p:cNvSpPr/>
          <p:nvPr/>
        </p:nvSpPr>
        <p:spPr>
          <a:xfrm>
            <a:off x="7467434" y="1561152"/>
            <a:ext cx="1718100" cy="219300"/>
          </a:xfrm>
          <a:prstGeom prst="rect">
            <a:avLst/>
          </a:prstGeom>
          <a:solidFill>
            <a:srgbClr val="625578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9"/>
          <p:cNvSpPr/>
          <p:nvPr/>
        </p:nvSpPr>
        <p:spPr>
          <a:xfrm>
            <a:off x="0" y="1561152"/>
            <a:ext cx="1718100" cy="219300"/>
          </a:xfrm>
          <a:prstGeom prst="rect">
            <a:avLst/>
          </a:prstGeom>
          <a:solidFill>
            <a:srgbClr val="FFB60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19"/>
          <p:cNvSpPr/>
          <p:nvPr/>
        </p:nvSpPr>
        <p:spPr>
          <a:xfrm>
            <a:off x="1718076" y="1561152"/>
            <a:ext cx="1718100" cy="219300"/>
          </a:xfrm>
          <a:prstGeom prst="rect">
            <a:avLst/>
          </a:prstGeom>
          <a:solidFill>
            <a:srgbClr val="498DA0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9"/>
          <p:cNvSpPr txBox="1"/>
          <p:nvPr/>
        </p:nvSpPr>
        <p:spPr>
          <a:xfrm>
            <a:off x="3589051" y="975950"/>
            <a:ext cx="1965900" cy="875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2000">
                <a:solidFill>
                  <a:srgbClr val="818387"/>
                </a:solidFill>
              </a:rPr>
              <a:t>“</a:t>
            </a:r>
            <a:endParaRPr b="1" sz="12000">
              <a:solidFill>
                <a:srgbClr val="818387"/>
              </a:solidFill>
            </a:endParaRPr>
          </a:p>
        </p:txBody>
      </p:sp>
      <p:sp>
        <p:nvSpPr>
          <p:cNvPr id="96" name="Google Shape;96;p19"/>
          <p:cNvSpPr txBox="1"/>
          <p:nvPr>
            <p:ph type="title"/>
          </p:nvPr>
        </p:nvSpPr>
        <p:spPr>
          <a:xfrm>
            <a:off x="1682308" y="2130769"/>
            <a:ext cx="5779500" cy="1962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97" name="Google Shape;97;p19"/>
          <p:cNvSpPr txBox="1"/>
          <p:nvPr>
            <p:ph idx="2" type="subTitle"/>
          </p:nvPr>
        </p:nvSpPr>
        <p:spPr>
          <a:xfrm>
            <a:off x="3300470" y="3999056"/>
            <a:ext cx="2543100" cy="384600"/>
          </a:xfrm>
          <a:prstGeom prst="rect">
            <a:avLst/>
          </a:prstGeom>
        </p:spPr>
        <p:txBody>
          <a:bodyPr anchorCtr="0" anchor="t" bIns="34275" lIns="34275" spcFirstLastPara="1" rIns="34275" wrap="square" tIns="34275">
            <a:noAutofit/>
          </a:bodyPr>
          <a:lstStyle>
            <a:lvl1pPr lvl="0" algn="ctr">
              <a:spcBef>
                <a:spcPts val="700"/>
              </a:spcBef>
              <a:spcAft>
                <a:spcPts val="0"/>
              </a:spcAft>
              <a:buNone/>
              <a:defRPr sz="1100"/>
            </a:lvl1pPr>
            <a:lvl2pPr lvl="1">
              <a:spcBef>
                <a:spcPts val="700"/>
              </a:spcBef>
              <a:spcAft>
                <a:spcPts val="0"/>
              </a:spcAft>
              <a:buNone/>
              <a:defRPr/>
            </a:lvl2pPr>
            <a:lvl3pPr lvl="2">
              <a:spcBef>
                <a:spcPts val="700"/>
              </a:spcBef>
              <a:spcAft>
                <a:spcPts val="0"/>
              </a:spcAft>
              <a:buNone/>
              <a:defRPr/>
            </a:lvl3pPr>
            <a:lvl4pPr lvl="3">
              <a:spcBef>
                <a:spcPts val="700"/>
              </a:spcBef>
              <a:spcAft>
                <a:spcPts val="0"/>
              </a:spcAft>
              <a:buNone/>
              <a:defRPr/>
            </a:lvl4pPr>
            <a:lvl5pPr lvl="4">
              <a:spcBef>
                <a:spcPts val="700"/>
              </a:spcBef>
              <a:spcAft>
                <a:spcPts val="0"/>
              </a:spcAft>
              <a:buNone/>
              <a:defRPr/>
            </a:lvl5pPr>
            <a:lvl6pPr lvl="5">
              <a:spcBef>
                <a:spcPts val="700"/>
              </a:spcBef>
              <a:spcAft>
                <a:spcPts val="0"/>
              </a:spcAft>
              <a:buNone/>
              <a:defRPr/>
            </a:lvl6pPr>
            <a:lvl7pPr lvl="6">
              <a:spcBef>
                <a:spcPts val="700"/>
              </a:spcBef>
              <a:spcAft>
                <a:spcPts val="0"/>
              </a:spcAft>
              <a:buNone/>
              <a:defRPr/>
            </a:lvl7pPr>
            <a:lvl8pPr lvl="7">
              <a:spcBef>
                <a:spcPts val="700"/>
              </a:spcBef>
              <a:spcAft>
                <a:spcPts val="0"/>
              </a:spcAft>
              <a:buNone/>
              <a:defRPr/>
            </a:lvl8pPr>
            <a:lvl9pPr lvl="8">
              <a:spcBef>
                <a:spcPts val="70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Title Slide" showMasterSp="0">
  <p:cSld name="13_Title Slide"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20"/>
          <p:cNvSpPr/>
          <p:nvPr>
            <p:ph idx="2" type="pic"/>
          </p:nvPr>
        </p:nvSpPr>
        <p:spPr>
          <a:xfrm>
            <a:off x="192505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0" name="Google Shape;100;p20"/>
          <p:cNvSpPr/>
          <p:nvPr>
            <p:ph idx="3" type="pic"/>
          </p:nvPr>
        </p:nvSpPr>
        <p:spPr>
          <a:xfrm>
            <a:off x="1997242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1" name="Google Shape;101;p20"/>
          <p:cNvSpPr/>
          <p:nvPr>
            <p:ph idx="4" type="pic"/>
          </p:nvPr>
        </p:nvSpPr>
        <p:spPr>
          <a:xfrm>
            <a:off x="3801980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2" name="Google Shape;102;p20"/>
          <p:cNvSpPr/>
          <p:nvPr>
            <p:ph idx="5" type="pic"/>
          </p:nvPr>
        </p:nvSpPr>
        <p:spPr>
          <a:xfrm>
            <a:off x="5606716" y="0"/>
            <a:ext cx="1600200" cy="4629300"/>
          </a:xfrm>
          <a:prstGeom prst="rect">
            <a:avLst/>
          </a:prstGeom>
          <a:noFill/>
          <a:ln>
            <a:noFill/>
          </a:ln>
        </p:spPr>
      </p:sp>
      <p:sp>
        <p:nvSpPr>
          <p:cNvPr id="103" name="Google Shape;103;p20"/>
          <p:cNvSpPr/>
          <p:nvPr>
            <p:ph idx="6" type="pic"/>
          </p:nvPr>
        </p:nvSpPr>
        <p:spPr>
          <a:xfrm>
            <a:off x="7411453" y="514350"/>
            <a:ext cx="1600200" cy="4629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Cover Page 1">
  <p:cSld name="1_Cover Page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1"/>
          <p:cNvSpPr/>
          <p:nvPr/>
        </p:nvSpPr>
        <p:spPr>
          <a:xfrm>
            <a:off x="-53437" y="3390300"/>
            <a:ext cx="9197400" cy="175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6" name="Google Shape;106;p21"/>
          <p:cNvPicPr preferRelativeResize="0"/>
          <p:nvPr/>
        </p:nvPicPr>
        <p:blipFill rotWithShape="1">
          <a:blip r:embed="rId2">
            <a:alphaModFix/>
          </a:blip>
          <a:srcRect b="13732" l="0" r="-563" t="43844"/>
          <a:stretch/>
        </p:blipFill>
        <p:spPr>
          <a:xfrm>
            <a:off x="-53437" y="-70462"/>
            <a:ext cx="9250875" cy="3460759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21"/>
          <p:cNvSpPr txBox="1"/>
          <p:nvPr>
            <p:ph type="title"/>
          </p:nvPr>
        </p:nvSpPr>
        <p:spPr>
          <a:xfrm>
            <a:off x="493923" y="976378"/>
            <a:ext cx="8005800" cy="1824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700" lIns="25700" spcFirstLastPara="1" rIns="25700" wrap="square" tIns="25700">
            <a:norm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700"/>
              <a:buFont typeface="Playfair Display"/>
              <a:buNone/>
              <a:defRPr i="0" sz="3600" u="none" cap="none" strike="noStrike">
                <a:solidFill>
                  <a:srgbClr val="FFFFFF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00"/>
              <a:buFont typeface="Arial"/>
              <a:buNone/>
              <a:defRPr sz="700"/>
            </a:lvl9pPr>
          </a:lstStyle>
          <a:p/>
        </p:txBody>
      </p:sp>
      <p:sp>
        <p:nvSpPr>
          <p:cNvPr id="108" name="Google Shape;108;p21"/>
          <p:cNvSpPr txBox="1"/>
          <p:nvPr>
            <p:ph idx="1" type="subTitle"/>
          </p:nvPr>
        </p:nvSpPr>
        <p:spPr>
          <a:xfrm>
            <a:off x="493926" y="3549825"/>
            <a:ext cx="7661100" cy="970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  <p:sp>
        <p:nvSpPr>
          <p:cNvPr id="109" name="Google Shape;109;p21"/>
          <p:cNvSpPr txBox="1"/>
          <p:nvPr>
            <p:ph idx="2" type="subTitle"/>
          </p:nvPr>
        </p:nvSpPr>
        <p:spPr>
          <a:xfrm>
            <a:off x="493923" y="4079316"/>
            <a:ext cx="7327800" cy="29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rm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800"/>
            </a:lvl1pPr>
            <a:lvl2pPr lvl="1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2pPr>
            <a:lvl3pPr lvl="2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3pPr>
            <a:lvl4pPr lvl="3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4pPr>
            <a:lvl5pPr lvl="4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5pPr>
            <a:lvl6pPr lvl="5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6pPr>
            <a:lvl7pPr lvl="6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7pPr>
            <a:lvl8pPr lvl="7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/>
            </a:lvl8pPr>
            <a:lvl9pPr lvl="8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6.jp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509521" y="406950"/>
            <a:ext cx="80058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34275" spcFirstLastPara="1" rIns="342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fair Display"/>
              <a:buNone/>
              <a:defRPr i="0" sz="3600" u="none" cap="none" strike="noStrike">
                <a:solidFill>
                  <a:schemeClr val="dk1"/>
                </a:solidFill>
                <a:latin typeface="Playfair Display"/>
                <a:ea typeface="Playfair Display"/>
                <a:cs typeface="Playfair Display"/>
                <a:sym typeface="Playfair Dis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2pPr>
            <a:lvl3pPr lvl="2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3pPr>
            <a:lvl4pPr lvl="3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4pPr>
            <a:lvl5pPr lvl="4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5pPr>
            <a:lvl6pPr lvl="5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6pPr>
            <a:lvl7pPr lvl="6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7pPr>
            <a:lvl8pPr lvl="7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8pPr>
            <a:lvl9pPr lvl="8"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509577" y="1401113"/>
            <a:ext cx="80058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34275" spcFirstLastPara="1" rIns="34275" wrap="square" tIns="34275">
            <a:noAutofit/>
          </a:bodyPr>
          <a:lstStyle>
            <a:lvl1pPr indent="-228600" lvl="0" marL="457200" marR="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chemeClr val="dk2"/>
              </a:buClr>
              <a:buSzPts val="2200"/>
              <a:buFont typeface="Roboto"/>
              <a:buNone/>
              <a:defRPr i="0" sz="22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-2286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None/>
              <a:defRPr i="0" sz="18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-22860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500"/>
              <a:buFont typeface="Roboto"/>
              <a:buNone/>
              <a:defRPr i="0" sz="15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-2286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None/>
              <a:defRPr i="0" sz="13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-2286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Roboto"/>
              <a:buNone/>
              <a:defRPr i="0" sz="11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-28575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Roboto"/>
              <a:buChar char="•"/>
              <a:defRPr i="0" sz="9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-27305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700"/>
              <a:buFont typeface="Roboto"/>
              <a:buChar char="•"/>
              <a:defRPr i="0" sz="7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-26035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500"/>
              <a:buFont typeface="Roboto"/>
              <a:buChar char="•"/>
              <a:defRPr i="0" sz="5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-2540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400"/>
              <a:buFont typeface="Roboto"/>
              <a:buChar char="•"/>
              <a:defRPr i="0" sz="4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pic>
        <p:nvPicPr>
          <p:cNvPr id="8" name="Google Shape;8;p1"/>
          <p:cNvPicPr preferRelativeResize="0"/>
          <p:nvPr/>
        </p:nvPicPr>
        <p:blipFill rotWithShape="1">
          <a:blip r:embed="rId1">
            <a:alphaModFix/>
          </a:blip>
          <a:srcRect b="0" l="0" r="0" t="35296"/>
          <a:stretch/>
        </p:blipFill>
        <p:spPr>
          <a:xfrm>
            <a:off x="0" y="4794384"/>
            <a:ext cx="9144000" cy="349116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  <p:sldLayoutId id="2147483662" r:id="rId16"/>
    <p:sldLayoutId id="2147483663" r:id="rId17"/>
    <p:sldLayoutId id="2147483664" r:id="rId18"/>
    <p:sldLayoutId id="2147483665" r:id="rId19"/>
    <p:sldLayoutId id="2147483666" r:id="rId20"/>
    <p:sldLayoutId id="2147483667" r:id="rId21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2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2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2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1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3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pPr marL="0" indent="0">
              <a:buNone/>
            </a:pPr>
            <a:r>
              <a:t>CSCI 3495</a:t>
            </a:r>
          </a:p>
          <a:p>
            <a:pPr marL="0" indent="0">
              <a:buNone/>
            </a:pPr>
            <a:r>
              <a:t>In-Context Learning &amp; Prompt Engineering Foundations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93926" y="3549825"/>
            <a:ext cx="5458317" cy="970800"/>
          </a:xfrm>
        </p:spPr>
        <p:txBody>
          <a:bodyPr wrap="square"/>
          <a:lstStyle/>
          <a:p>
            <a:pPr marL="0" indent="0">
              <a:buNone/>
            </a:pPr>
            <a:r>
              <a:t>Natural Language Processing &amp; Large Language Models</a:t>
            </a:r>
          </a:p>
          <a:p>
            <a:pPr marL="0" indent="0">
              <a:buNone/>
            </a:pPr>
            <a:r>
              <a:t>Week 10, Class 1</a:t>
            </a:r>
          </a:p>
        </p:txBody>
      </p:sp>
      <p:pic>
        <p:nvPicPr>
          <p:cNvPr id="5" name="Picture 4" descr="A genie grants exactly what you SAY, not what you mean. Today: learning to word the wish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80843" y="3474720"/>
            <a:ext cx="2597397" cy="14813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777777"/>
                </a:solidFill>
              </a:defRPr>
            </a:pPr>
            <a:r>
              <a:t>Source: Amr Mounir, Wikimedia Commons, CC BY-SA 2.0 (cropped)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Today</a:t>
            </a:r>
          </a:p>
        </p:txBody>
      </p:sp>
      <p:pic>
        <p:nvPicPr>
          <p:cNvPr id="5" name="Picture 4" descr="Today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9497" y="1078992"/>
            <a:ext cx="7785006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tile figures: Brown et al. 2020 (arXiv:2005.14165) Fig. 2.1; course figures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A new way to "program" models</a:t>
            </a:r>
          </a:p>
        </p:txBody>
      </p:sp>
      <p:pic>
        <p:nvPicPr>
          <p:cNvPr id="5" name="Picture 4" descr="A new way to &quot;program&quot; model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02093"/>
            <a:ext cx="8595360" cy="294281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figure; concept from Brown et al. 2020 (arXiv:2005.14165)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Shots, not gradient updates</a:t>
            </a:r>
          </a:p>
        </p:txBody>
      </p:sp>
      <p:pic>
        <p:nvPicPr>
          <p:cNvPr id="5" name="Picture 4" descr="Figure 2.1: Zero-shot, one-shot and few-shot, contrasted with traditional fine-tuning. The panels to the right show four methods for performing a task with a language model, fine-tuning is the traditional method, whereas zero-, one-, and few-shot, which we study in this work, require the model to perform the task with only forward passes at test time. We typically present the model with a few dozen examples in the few shot setting. Exact phrasings for all task descriptions, examples and prompts "/>
          <p:cNvPicPr>
            <a:picLocks noChangeAspect="1"/>
          </p:cNvPicPr>
          <p:nvPr/>
        </p:nvPicPr>
        <p:blipFill>
          <a:blip r:embed="rId2"/>
          <a:srcRect l="10000" r="9500" b="18500"/>
          <a:stretch>
            <a:fillRect/>
          </a:stretch>
        </p:blipFill>
        <p:spPr>
          <a:xfrm>
            <a:off x="4637535" y="1078992"/>
            <a:ext cx="4049265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1188720"/>
            <a:ext cx="3906015" cy="34792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Aft>
                <a:spcPts val="800"/>
              </a:spcAft>
              <a:buNone/>
            </a:pPr>
            <a:r>
              <a:rPr sz="1150">
                <a:solidFill>
                  <a:srgbClr val="222222"/>
                </a:solidFill>
              </a:rPr>
              <a:t>Figure 2.1: Zero-shot, one-shot and few-shot, contrasted with traditional fine-tuning. The panels to the right show four methods for performing a task with a language model, fine-tuning is the traditional method, whereas zero-, one-, and few-shot, which we study in this work, require the model to perform the task with only forward passes at test time. We typically present the model with a few dozen examples in the few shot setting. Exact phrasings for all task descriptions, examples and prompts can be found in Appendix 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Brown et al. 2020 (arXiv:2005.14165), Fig. 2.1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The headline result (GPT-3, 2020)</a:t>
            </a:r>
          </a:p>
        </p:txBody>
      </p:sp>
      <p:pic>
        <p:nvPicPr>
          <p:cNvPr id="5" name="Picture 4" descr="Faint lines are 42 individual benchmarks, bold lines their mean. The gap between few-shot and zero-shot widens with scale: bigger models extract more from the same prompt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9641" y="1078992"/>
            <a:ext cx="6364717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Brown et al. 2020 (arXiv:2005.14165), Fig. 1.3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Anatomy of a prompt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275246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Instruction, demonstrations, query, and output cue</a:t>
            </a:r>
          </a:p>
        </p:txBody>
      </p:sp>
      <p:pic>
        <p:nvPicPr>
          <p:cNvPr id="6" name="Picture 5" descr="Anatomy of a promp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60862"/>
            <a:ext cx="8595360" cy="302294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figure; Brown et al. 2020 (arXiv:2005.14165)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Why does ICL work at all?</a:t>
            </a:r>
          </a:p>
        </p:txBody>
      </p:sp>
      <p:pic>
        <p:nvPicPr>
          <p:cNvPr id="5" name="Picture 4" descr="Why does ICL work at all?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803" y="1078992"/>
            <a:ext cx="8538394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figure; Min et al. 2022 (arXiv:2202.12837)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5" name="Picture 4" descr="This class: treat your prompt like code you write, test, and debug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477203"/>
            <a:ext cx="9144000" cy="6097905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1143000"/>
            <a:ext cx="9144000" cy="2834640"/>
          </a:xfrm>
          <a:prstGeom prst="rect">
            <a:avLst/>
          </a:prstGeom>
          <a:solidFill>
            <a:srgbClr val="101012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7863840" cy="187451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3400" b="1">
                <a:solidFill>
                  <a:srgbClr val="FFFFFF"/>
                </a:solidFill>
              </a:rPr>
              <a:t>If the model learns from the prompt, is the prompt now your program?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08959"/>
            <a:ext cx="78638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 marL="0" indent="0">
              <a:buNone/>
            </a:pPr>
            <a:r>
              <a:rPr sz="2000">
                <a:solidFill>
                  <a:srgbClr val="FFFFFF"/>
                </a:solidFill>
              </a:rPr>
              <a:t>This class: treat your prompt like code you write, test, and debug.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Unsplash License, https://images.unsplash.com/photo-1517694712202-14dd9538aa97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4" fill="hold">
                      <p:stCondLst>
                        <p:cond delay="indefinite"/>
                      </p:stCondLst>
                      <p:childTnLst>
                        <p:par>
                          <p:cTn id="5" fill="hold">
                            <p:stCondLst>
                              <p:cond delay="0"/>
                            </p:stCondLst>
                            <p:childTnLst>
                              <p:par>
                                <p:cTn id="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What makes prompts work</a:t>
            </a:r>
          </a:p>
        </p:txBody>
      </p:sp>
      <p:pic>
        <p:nvPicPr>
          <p:cNvPr id="5" name="Picture 4" descr="What makes prompts wor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1904"/>
            <a:ext cx="8595360" cy="31831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What makes prompts break</a:t>
            </a:r>
          </a:p>
        </p:txBody>
      </p:sp>
      <p:pic>
        <p:nvPicPr>
          <p:cNvPr id="5" name="Picture 4" descr="What makes prompts break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158" y="1078992"/>
            <a:ext cx="7589683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Prompt sensitivity is real</a:t>
            </a:r>
          </a:p>
        </p:txBody>
      </p:sp>
      <p:pic>
        <p:nvPicPr>
          <p:cNvPr id="5" name="Picture 4" descr="Prompt sensitivity is real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27569"/>
            <a:ext cx="8595360" cy="349186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 (illustrative numbers)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74650"/>
            <a:ext cx="8229600" cy="994200"/>
          </a:xfrm>
        </p:spPr>
        <p:txBody>
          <a:bodyPr wrap="square"/>
          <a:lstStyle/>
          <a:p>
            <a:pPr marL="0" indent="0" algn="ctr">
              <a:buNone/>
            </a:pPr>
            <a:r>
              <a:t>Engineering prompts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Engineer prompts like an experiment</a:t>
            </a:r>
          </a:p>
        </p:txBody>
      </p:sp>
      <p:pic>
        <p:nvPicPr>
          <p:cNvPr id="5" name="Picture 4" descr="Engineer prompts like an experimen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84198"/>
            <a:ext cx="8595360" cy="25786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Decoding settings affect prompts too</a:t>
            </a:r>
          </a:p>
        </p:txBody>
      </p:sp>
      <p:pic>
        <p:nvPicPr>
          <p:cNvPr id="5" name="Picture 4" descr="Decoding settings affect prompts to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57809"/>
            <a:ext cx="8595360" cy="263138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"Prompt golf"</a:t>
            </a:r>
          </a:p>
        </p:txBody>
      </p:sp>
      <p:pic>
        <p:nvPicPr>
          <p:cNvPr id="5" name="Picture 4" descr="&quot;Prompt golf&quot;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6376"/>
            <a:ext cx="8595360" cy="317425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Prompt patterns you'll reuse</a:t>
            </a:r>
          </a:p>
        </p:txBody>
      </p:sp>
      <p:pic>
        <p:nvPicPr>
          <p:cNvPr id="5" name="Picture 4" descr="Prompt patterns you'll reus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132577"/>
            <a:ext cx="8595360" cy="348184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Prompts are just text: injection</a:t>
            </a:r>
          </a:p>
        </p:txBody>
      </p:sp>
      <p:pic>
        <p:nvPicPr>
          <p:cNvPr id="5" name="Picture 4" descr="Prompts are just text: injectio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65851"/>
            <a:ext cx="8595360" cy="321530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figure; prompt-injection concept (Willison 2022)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HW5 is out</a:t>
            </a:r>
          </a:p>
        </p:txBody>
      </p:sp>
      <p:pic>
        <p:nvPicPr>
          <p:cNvPr id="5" name="Picture 4" descr="HW5 is ou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88177"/>
            <a:ext cx="8595360" cy="257064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weeks/homeworks/hw5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Assigned reading this week</a:t>
            </a:r>
          </a:p>
        </p:txBody>
      </p:sp>
      <p:pic>
        <p:nvPicPr>
          <p:cNvPr id="5" name="Picture 4" descr="One required paper, quizzed in Class 2. Optional papers are enrichment, never quizzed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04314"/>
            <a:ext cx="8595360" cy="333837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resources/landmark-papers.md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Break</a:t>
            </a:r>
          </a:p>
        </p:txBody>
      </p:sp>
      <p:pic>
        <p:nvPicPr>
          <p:cNvPr id="5" name="Picture 4" descr="Five minutes: stretch, refill water, compare notes. Then the checkpoint peer-review round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312"/>
            <a:ext cx="8595360" cy="31863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Mid-semester checkpoint: peer review</a:t>
            </a:r>
          </a:p>
        </p:txBody>
      </p:sp>
      <p:pic>
        <p:nvPicPr>
          <p:cNvPr id="5" name="Picture 4" descr="30 minutes: groups of four, one page each, everyone presents once and critiques three times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7148" y="1078992"/>
            <a:ext cx="7129703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project/checkpoint/TEMPLATE.md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5" name="Picture 4" descr="Hit 100% on the eval set, then say it in fewer words. Kickoff now, finish with HW5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788194"/>
            <a:ext cx="9144000" cy="6719887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1143000"/>
            <a:ext cx="9144000" cy="2834640"/>
          </a:xfrm>
          <a:prstGeom prst="rect">
            <a:avLst/>
          </a:prstGeom>
          <a:solidFill>
            <a:srgbClr val="101012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7863840" cy="2651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 marL="0" indent="0">
              <a:buNone/>
            </a:pPr>
            <a:r>
              <a:rPr sz="4000" b="1">
                <a:solidFill>
                  <a:srgbClr val="FFFFFF"/>
                </a:solidFill>
              </a:rPr>
              <a:t>Game on: Prompt Golf Arena</a:t>
            </a:r>
          </a:p>
          <a:p>
            <a:pPr algn="ctr" marL="0" indent="0">
              <a:buNone/>
            </a:pPr>
            <a:r>
              <a:rPr sz="2000">
                <a:solidFill>
                  <a:srgbClr val="FFFFFF"/>
                </a:solidFill>
              </a:rPr>
              <a:t>Hit 100% on the eval set, then say it in fewer words. Kickoff now, finish with HW5.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Santeri Viinamäki, Wikimedia Commons, CC BY 4.0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Activity: Prompt Golf Arena</a:t>
            </a:r>
          </a:p>
        </p:txBody>
      </p:sp>
      <p:pic>
        <p:nvPicPr>
          <p:cNvPr id="5" name="Picture 4" descr="Activity: Prompt Golf Arena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05735"/>
            <a:ext cx="8595360" cy="293553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weeks/week-10/class-01/exercise/prompt_lab.py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Build the harness behind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57116"/>
            <a:ext cx="82296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marL="0" indent="0">
              <a:buNone/>
            </a:pPr>
            <a:r>
              <a:rPr sz="1400">
                <a:solidFill>
                  <a:srgbClr val="222222"/>
                </a:solidFill>
              </a:rPr>
              <a:t>Each team builds a few-shot prompt and scores variants on the labeled set</a:t>
            </a:r>
          </a:p>
        </p:txBody>
      </p:sp>
      <p:pic>
        <p:nvPicPr>
          <p:cNvPr id="6" name="Picture 5" descr="Build the harness behind it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65694" y="1078992"/>
            <a:ext cx="6012611" cy="31866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weeks/week-10/class-01/exercise/prompt_lab.py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What you should see</a:t>
            </a:r>
          </a:p>
        </p:txBody>
      </p:sp>
      <p:pic>
        <p:nvPicPr>
          <p:cNvPr id="5" name="Picture 4" descr="What you should se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9298" y="1078992"/>
            <a:ext cx="7585404" cy="35890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example run, qwen2.5:0.5b via Ollama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56032"/>
            <a:ext cx="8229600" cy="822960"/>
          </a:xfrm>
        </p:spPr>
        <p:txBody>
          <a:bodyPr wrap="square"/>
          <a:lstStyle/>
          <a:p>
            <a:pPr marL="0" indent="0">
              <a:buNone/>
            </a:pPr>
            <a:r>
              <a:t>Recap</a:t>
            </a:r>
          </a:p>
        </p:txBody>
      </p:sp>
      <p:pic>
        <p:nvPicPr>
          <p:cNvPr id="5" name="Picture 4" descr="Recap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400012"/>
            <a:ext cx="8595360" cy="29469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4759452"/>
            <a:ext cx="8229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Source: original figure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">
      <a:dk1>
        <a:srgbClr val="434343"/>
      </a:dk1>
      <a:lt1>
        <a:srgbClr val="FFFFFF"/>
      </a:lt1>
      <a:dk2>
        <a:srgbClr val="818387"/>
      </a:dk2>
      <a:lt2>
        <a:srgbClr val="F6F7FA"/>
      </a:lt2>
      <a:accent1>
        <a:srgbClr val="723130"/>
      </a:accent1>
      <a:accent2>
        <a:srgbClr val="818387"/>
      </a:accent2>
      <a:accent3>
        <a:srgbClr val="FFB600"/>
      </a:accent3>
      <a:accent4>
        <a:srgbClr val="738D33"/>
      </a:accent4>
      <a:accent5>
        <a:srgbClr val="625578"/>
      </a:accent5>
      <a:accent6>
        <a:srgbClr val="498DA0"/>
      </a:accent6>
      <a:hlink>
        <a:srgbClr val="B1B4B5"/>
      </a:hlink>
      <a:folHlink>
        <a:srgbClr val="B0B1B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