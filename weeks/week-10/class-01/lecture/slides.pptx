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LLM never sees words. It sees bricks. Today: where the bricks come from, what they cost, and how a pile of bricks turns into something that answers you.</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obvious designs both fail. One token per word means the vocabulary is unbounded, because names, typos and new words never stop arriving, and anything missing becomes an unknown token. One token per character keeps the vocabulary tiny but makes every sequence long, and attention cost grows with sequence length. BPE learns the middle: frequent pieces stay whole, rare strings break into parts, and nothing is unencodable. Those integers on the right are the only thing the model ever sees.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Context windows, API pricing and training data budgets are all counted in tokens, never in words. So the tokenizer is not a preprocessing detail, it decides what a sentence costs. Keep that in mind, because we come back to it as a competition after the break.</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them put their own names, a word in another language and an emoji into WORDS. The pattern they should find: ordinary English words cost one token however long they are, and everything else costs three to ten.</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algorithm is a loop: count adjacent pairs, merge the commonest one, repeat k times. Each merge adds exactly one new token to the vocabulary. The ordered list of merges IS the tokenizer, and encoding is replaying that list.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Watch what the merges pick up: common endings and common whole words, purely by frequency of adjacency, never by meaning. Real vocabularies stop somewhere between thirty and a hundred thousand entries. Rare words simply stay in pieces, which is why there is no unknown token to handle.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merges and thirty merges are the two ends of the trade. Push them to say what a bigger vocabulary actually costs: every entry is a row in the embedding matrix and a row in the output layer.</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Trillions of tokens, filtered and deduplicated, mostly scraped. Three things ride along with it. Duplication drives memorization. Contamination is benchmark answers leaking into the training set, which is why an impressive score is not always evidence. Bias comes back out the way it went in.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plainly and let it sit for a moment. Nothing in pretraining teaches a model to answer a question, follow an instruction, or refuse one. Everything after this slide is about closing that gap.</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a base model a question and it writes more questions, because a plausible continuation of a list of questions is another question. It is not refusing. It is doing exactly what it was trained to do.</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Fine-tune on pairs of instruction and response. FLAN and T0 showed the surprising part: train on a mix of tasks phrased as instructions and the model follows instructions it has never seen. This step, supervised fine-tuning, is the first stage of alignment; preference training is the second.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loss never changes; only the data does. The three routes trade quality against volume. Humans write the best pairs and the fewest. Templates turn any labeled dataset into millions of instructions for almost nothing. A stronger model can write the pairs, which is cheapest and inherits everything the teacher got wrong, plus whatever its license says. Most real datasets are a blend.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punchline that ties the two halves of the session together: the chat markers are single tokens in an instruction-tuned model and seven tokens in a base one, because they were added to the vocabulary on purpose. Ask which tokens the loss should actually be computed on, the answer is the response only.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or four, one corpus each, claimed out loud so no two teams take the same one. Train three hundred merges, score your tokenizer on all five held-out texts, and put your own-domain number and your average on the board. Two winners: the specialist with the lowest number in its own column, and the generalist with the lowest row average. Give them about twenty minutes, then read the board together.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Land the board. The English tokenizer needs roughly three times as many tokens for Spanish and five times for code. Since context, price and training budget are all counted in tokens, the same meaning costs a non-English user more money and fits less of it in the window. Nobody chose that as a policy; it fell out of which corpus the merges were counted on. Next class: how preferences, not just instructions, get trained in.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Tokenization at Scale, Pretraining Data &amp; Instruction Tuning</a:t>
            </a:r>
          </a:p>
        </p:txBody>
      </p:sp>
      <p:sp>
        <p:nvSpPr>
          <p:cNvPr id="3" name="Subtitle 2"/>
          <p:cNvSpPr>
            <a:spLocks noGrp="1"/>
          </p:cNvSpPr>
          <p:nvPr>
            <p:ph type="subTitle" idx="1"/>
          </p:nvPr>
        </p:nvSpPr>
        <p:spPr>
          <a:xfrm>
            <a:off x="493926" y="3549825"/>
            <a:ext cx="5842368" cy="970800"/>
          </a:xfrm>
        </p:spPr>
        <p:txBody>
          <a:bodyPr wrap="square"/>
          <a:lstStyle/>
          <a:p>
            <a:pPr marL="0" indent="0">
              <a:buNone/>
            </a:pPr>
            <a:r>
              <a:t>Natural Language Processing &amp; Large Language Models</a:t>
            </a:r>
          </a:p>
          <a:p>
            <a:pPr marL="0" indent="0">
              <a:buNone/>
            </a:pPr>
            <a:r>
              <a:t>Week 10, Class 1  ·  Mon Oct 26, 2026</a:t>
            </a:r>
          </a:p>
        </p:txBody>
      </p:sp>
      <p:pic>
        <p:nvPicPr>
          <p:cNvPr id="5" name="Picture 4" descr="Tokenization at Scale, Pretraining Data &amp; Instruction Tuning"/>
          <p:cNvPicPr>
            <a:picLocks noChangeAspect="1"/>
          </p:cNvPicPr>
          <p:nvPr/>
        </p:nvPicPr>
        <p:blipFill>
          <a:blip r:embed="rId3"/>
          <a:stretch>
            <a:fillRect/>
          </a:stretch>
        </p:blipFill>
        <p:spPr>
          <a:xfrm>
            <a:off x="6564894" y="3474720"/>
            <a:ext cx="2213346"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Alan Chia, Wikimedia Commons, CC BY-SA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model reads pieces, not words</a:t>
            </a:r>
          </a:p>
        </p:txBody>
      </p:sp>
      <p:sp>
        <p:nvSpPr>
          <p:cNvPr id="5" name="Rounded Rectangle 4"/>
          <p:cNvSpPr/>
          <p:nvPr/>
        </p:nvSpPr>
        <p:spPr>
          <a:xfrm>
            <a:off x="457200" y="2336514"/>
            <a:ext cx="2645664" cy="1073975"/>
          </a:xfrm>
          <a:prstGeom prst="roundRect">
            <a:avLst>
              <a:gd name="adj" fmla="val 110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82818"/>
            <a:ext cx="2279904" cy="78136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ONE TOKEN PER WORD</a:t>
            </a:r>
          </a:p>
          <a:p>
            <a:pPr marL="0" indent="0">
              <a:spcAft>
                <a:spcPts val="300"/>
              </a:spcAft>
              <a:buNone/>
            </a:pPr>
            <a:r>
              <a:rPr sz="1350" b="0" u="none">
                <a:solidFill>
                  <a:srgbClr val="1D1D1F"/>
                </a:solidFill>
                <a:latin typeface="Menlo"/>
              </a:rPr>
              <a:t>unhappiness</a:t>
            </a:r>
          </a:p>
          <a:p>
            <a:pPr marL="0" indent="0" algn="l">
              <a:spcAft>
                <a:spcPts val="200"/>
              </a:spcAft>
              <a:buNone/>
            </a:pPr>
            <a:r>
              <a:rPr sz="1150" b="0">
                <a:solidFill>
                  <a:srgbClr val="86868B"/>
                </a:solidFill>
                <a:latin typeface="Helvetica Neue"/>
              </a:rPr>
              <a:t>Every name, typo and new word needs its own entry, or becomes UNK.</a:t>
            </a:r>
          </a:p>
        </p:txBody>
      </p:sp>
      <p:sp>
        <p:nvSpPr>
          <p:cNvPr id="7" name="Rounded Rectangle 6"/>
          <p:cNvSpPr/>
          <p:nvPr/>
        </p:nvSpPr>
        <p:spPr>
          <a:xfrm>
            <a:off x="3249168" y="2336514"/>
            <a:ext cx="2645664" cy="1073975"/>
          </a:xfrm>
          <a:prstGeom prst="roundRect">
            <a:avLst>
              <a:gd name="adj" fmla="val 110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2482818"/>
            <a:ext cx="2279904" cy="78136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ONE TOKEN PER CHARACTER</a:t>
            </a:r>
          </a:p>
          <a:p>
            <a:pPr marL="0" indent="0">
              <a:spcAft>
                <a:spcPts val="300"/>
              </a:spcAft>
              <a:buNone/>
            </a:pPr>
            <a:r>
              <a:rPr sz="1350" b="0" u="none">
                <a:solidFill>
                  <a:srgbClr val="1D1D1F"/>
                </a:solidFill>
                <a:latin typeface="Menlo"/>
              </a:rPr>
              <a:t>u n h a p p i n e s s</a:t>
            </a:r>
          </a:p>
          <a:p>
            <a:pPr marL="0" indent="0" algn="l">
              <a:spcAft>
                <a:spcPts val="200"/>
              </a:spcAft>
              <a:buNone/>
            </a:pPr>
            <a:r>
              <a:rPr sz="1150" b="0">
                <a:solidFill>
                  <a:srgbClr val="86868B"/>
                </a:solidFill>
                <a:latin typeface="Helvetica Neue"/>
              </a:rPr>
              <a:t>Eleven tokens for one word, so every sequence gets long and slow.</a:t>
            </a:r>
          </a:p>
        </p:txBody>
      </p:sp>
      <p:sp>
        <p:nvSpPr>
          <p:cNvPr id="9" name="Rounded Rectangle 8"/>
          <p:cNvSpPr/>
          <p:nvPr/>
        </p:nvSpPr>
        <p:spPr>
          <a:xfrm>
            <a:off x="6041136" y="2336514"/>
            <a:ext cx="2645664" cy="1073975"/>
          </a:xfrm>
          <a:prstGeom prst="roundRect">
            <a:avLst>
              <a:gd name="adj" fmla="val 110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2482818"/>
            <a:ext cx="2279904" cy="78136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SUBWORDS, FROM BPE</a:t>
            </a:r>
          </a:p>
          <a:p>
            <a:pPr marL="0" indent="0">
              <a:spcAft>
                <a:spcPts val="300"/>
              </a:spcAft>
              <a:buNone/>
            </a:pPr>
            <a:r>
              <a:rPr sz="1350" b="0" u="none">
                <a:solidFill>
                  <a:srgbClr val="1D1D1F"/>
                </a:solidFill>
                <a:latin typeface="Menlo"/>
              </a:rPr>
              <a:t>un happi ness</a:t>
            </a:r>
          </a:p>
          <a:p>
            <a:pPr marL="0" indent="0" algn="l">
              <a:spcAft>
                <a:spcPts val="200"/>
              </a:spcAft>
              <a:buNone/>
            </a:pPr>
            <a:r>
              <a:rPr sz="1150" b="0">
                <a:solidFill>
                  <a:srgbClr val="86868B"/>
                </a:solidFill>
                <a:latin typeface="Helvetica Neue"/>
              </a:rPr>
              <a:t>Frequent pieces stay whole, rare ones split, nothing is unencodable.</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splits and ids from the GPT-2 tokenizer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Tokens are the unit of everything</a:t>
            </a:r>
          </a:p>
        </p:txBody>
      </p:sp>
      <p:sp>
        <p:nvSpPr>
          <p:cNvPr id="5" name="Rounded Rectangle 4"/>
          <p:cNvSpPr/>
          <p:nvPr/>
        </p:nvSpPr>
        <p:spPr>
          <a:xfrm>
            <a:off x="457200" y="2417000"/>
            <a:ext cx="2645664" cy="913003"/>
          </a:xfrm>
          <a:prstGeom prst="roundRect">
            <a:avLst>
              <a:gd name="adj" fmla="val 1301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563304"/>
            <a:ext cx="2279904" cy="620395"/>
          </a:xfrm>
          <a:prstGeom prst="rect">
            <a:avLst/>
          </a:prstGeom>
          <a:noFill/>
        </p:spPr>
        <p:txBody>
          <a:bodyPr wrap="square" anchor="t" lIns="0" rIns="0" tIns="0" bIns="0">
            <a:spAutoFit/>
          </a:bodyPr>
          <a:lstStyle/>
          <a:p>
            <a:pPr marL="0" indent="0" algn="l">
              <a:spcAft>
                <a:spcPts val="600"/>
              </a:spcAft>
              <a:buNone/>
            </a:pPr>
            <a:r>
              <a:rPr sz="850" b="1" spc="70">
                <a:solidFill>
                  <a:srgbClr val="86868B"/>
                </a:solidFill>
                <a:latin typeface="Helvetica Neue"/>
              </a:rPr>
              <a:t>CONTEXT WINDOWS</a:t>
            </a:r>
          </a:p>
          <a:p>
            <a:pPr marL="0" indent="0">
              <a:spcAft>
                <a:spcPts val="300"/>
              </a:spcAft>
              <a:buNone/>
            </a:pPr>
            <a:r>
              <a:rPr sz="950" b="0" u="none">
                <a:solidFill>
                  <a:srgbClr val="1D1D1F"/>
                </a:solidFill>
                <a:latin typeface="Menlo"/>
              </a:rPr>
              <a:t>measured in tokens</a:t>
            </a:r>
          </a:p>
          <a:p>
            <a:pPr marL="0" indent="0" algn="l">
              <a:spcAft>
                <a:spcPts val="200"/>
              </a:spcAft>
              <a:buNone/>
            </a:pPr>
            <a:r>
              <a:rPr sz="900" b="0">
                <a:solidFill>
                  <a:srgbClr val="86868B"/>
                </a:solidFill>
                <a:latin typeface="Helvetica Neue"/>
              </a:rPr>
              <a:t>not in words</a:t>
            </a:r>
          </a:p>
        </p:txBody>
      </p:sp>
      <p:sp>
        <p:nvSpPr>
          <p:cNvPr id="7" name="Rounded Rectangle 6"/>
          <p:cNvSpPr/>
          <p:nvPr/>
        </p:nvSpPr>
        <p:spPr>
          <a:xfrm>
            <a:off x="3249168" y="2417000"/>
            <a:ext cx="2645664" cy="913003"/>
          </a:xfrm>
          <a:prstGeom prst="roundRect">
            <a:avLst>
              <a:gd name="adj" fmla="val 1301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2563304"/>
            <a:ext cx="2279904" cy="620395"/>
          </a:xfrm>
          <a:prstGeom prst="rect">
            <a:avLst/>
          </a:prstGeom>
          <a:noFill/>
        </p:spPr>
        <p:txBody>
          <a:bodyPr wrap="square" anchor="t" lIns="0" rIns="0" tIns="0" bIns="0">
            <a:spAutoFit/>
          </a:bodyPr>
          <a:lstStyle/>
          <a:p>
            <a:pPr marL="0" indent="0" algn="l">
              <a:spcAft>
                <a:spcPts val="600"/>
              </a:spcAft>
              <a:buNone/>
            </a:pPr>
            <a:r>
              <a:rPr sz="850" b="1" spc="70">
                <a:solidFill>
                  <a:srgbClr val="86868B"/>
                </a:solidFill>
                <a:latin typeface="Helvetica Neue"/>
              </a:rPr>
              <a:t>PRICING</a:t>
            </a:r>
          </a:p>
          <a:p>
            <a:pPr marL="0" indent="0">
              <a:spcAft>
                <a:spcPts val="300"/>
              </a:spcAft>
              <a:buNone/>
            </a:pPr>
            <a:r>
              <a:rPr sz="950" b="0" u="none">
                <a:solidFill>
                  <a:srgbClr val="1D1D1F"/>
                </a:solidFill>
                <a:latin typeface="Menlo"/>
              </a:rPr>
              <a:t>hosted models charge per token</a:t>
            </a:r>
          </a:p>
          <a:p>
            <a:pPr marL="0" indent="0" algn="l">
              <a:spcAft>
                <a:spcPts val="200"/>
              </a:spcAft>
              <a:buNone/>
            </a:pPr>
            <a:r>
              <a:rPr sz="900" b="0">
                <a:solidFill>
                  <a:srgbClr val="86868B"/>
                </a:solidFill>
                <a:latin typeface="Helvetica Neue"/>
              </a:rPr>
              <a:t>not per word</a:t>
            </a:r>
          </a:p>
        </p:txBody>
      </p:sp>
      <p:sp>
        <p:nvSpPr>
          <p:cNvPr id="9" name="Rounded Rectangle 8"/>
          <p:cNvSpPr/>
          <p:nvPr/>
        </p:nvSpPr>
        <p:spPr>
          <a:xfrm>
            <a:off x="6041136" y="2417000"/>
            <a:ext cx="2645664" cy="913003"/>
          </a:xfrm>
          <a:prstGeom prst="roundRect">
            <a:avLst>
              <a:gd name="adj" fmla="val 1301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2563304"/>
            <a:ext cx="2279904" cy="620395"/>
          </a:xfrm>
          <a:prstGeom prst="rect">
            <a:avLst/>
          </a:prstGeom>
          <a:noFill/>
        </p:spPr>
        <p:txBody>
          <a:bodyPr wrap="square" anchor="t" lIns="0" rIns="0" tIns="0" bIns="0">
            <a:spAutoFit/>
          </a:bodyPr>
          <a:lstStyle/>
          <a:p>
            <a:pPr marL="0" indent="0" algn="l">
              <a:spcAft>
                <a:spcPts val="600"/>
              </a:spcAft>
              <a:buNone/>
            </a:pPr>
            <a:r>
              <a:rPr sz="850" b="1" spc="70">
                <a:solidFill>
                  <a:srgbClr val="86868B"/>
                </a:solidFill>
                <a:latin typeface="Helvetica Neue"/>
              </a:rPr>
              <a:t>DATA BUDGETS</a:t>
            </a:r>
          </a:p>
          <a:p>
            <a:pPr marL="0" indent="0">
              <a:spcAft>
                <a:spcPts val="300"/>
              </a:spcAft>
              <a:buNone/>
            </a:pPr>
            <a:r>
              <a:rPr sz="950" b="0" u="none">
                <a:solidFill>
                  <a:srgbClr val="1D1D1F"/>
                </a:solidFill>
                <a:latin typeface="Menlo"/>
              </a:rPr>
              <a:t>scaling laws count tokens</a:t>
            </a:r>
          </a:p>
          <a:p>
            <a:pPr marL="0" indent="0" algn="l">
              <a:spcAft>
                <a:spcPts val="200"/>
              </a:spcAft>
              <a:buNone/>
            </a:pPr>
            <a:r>
              <a:rPr sz="900" b="0">
                <a:solidFill>
                  <a:srgbClr val="86868B"/>
                </a:solidFill>
                <a:latin typeface="Helvetica Neue"/>
              </a:rPr>
              <a:t>Chinchilla counted tokens</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Feed it your own words and watch what it does to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BPE learns a vocabulary</a:t>
            </a:r>
          </a:p>
        </p:txBody>
      </p:sp>
      <p:pic>
        <p:nvPicPr>
          <p:cNvPr id="5" name="Picture 4" descr="How BPE learns a vocabulary"/>
          <p:cNvPicPr>
            <a:picLocks noChangeAspect="1"/>
          </p:cNvPicPr>
          <p:nvPr/>
        </p:nvPicPr>
        <p:blipFill>
          <a:blip r:embed="rId3"/>
          <a:stretch>
            <a:fillRect/>
          </a:stretch>
        </p:blipFill>
        <p:spPr>
          <a:xfrm>
            <a:off x="784023" y="1078992"/>
            <a:ext cx="757595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2.6, adapted from Bostrom &amp; Durrett 2020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worked example</a:t>
            </a:r>
          </a:p>
        </p:txBody>
      </p:sp>
      <p:graphicFrame>
        <p:nvGraphicFramePr>
          <p:cNvPr id="5" name="Table 4"/>
          <p:cNvGraphicFramePr>
            <a:graphicFrameLocks noGrp="1"/>
          </p:cNvGraphicFramePr>
          <p:nvPr/>
        </p:nvGraphicFramePr>
        <p:xfrm>
          <a:off x="457200" y="1456182"/>
          <a:ext cx="5102352" cy="2834640"/>
        </p:xfrm>
        <a:graphic>
          <a:graphicData uri="http://schemas.openxmlformats.org/drawingml/2006/table">
            <a:tbl>
              <a:tblPr firstRow="1" bandRow="0"/>
              <a:tblGrid>
                <a:gridCol w="1326611"/>
                <a:gridCol w="3775741"/>
              </a:tblGrid>
              <a:tr h="566928">
                <a:tc>
                  <a:txBody>
                    <a:bodyPr wrap="none"/>
                    <a:lstStyle/>
                    <a:p>
                      <a:pPr marL="0" indent="0" algn="l">
                        <a:spcAft>
                          <a:spcPts val="0"/>
                        </a:spcAft>
                        <a:buNone/>
                      </a:pPr>
                      <a:r>
                        <a:rPr sz="1100" b="1" spc="50">
                          <a:solidFill>
                            <a:srgbClr val="86868B"/>
                          </a:solidFill>
                          <a:latin typeface="Helvetica Neue"/>
                        </a:rPr>
                        <a:t>STEP</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THE WORD, SO FAR</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start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l o w e r /w</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merge 1, e+r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l o w er /w</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merge 2, w+er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l o wer /w</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merge 3, l+o</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lo wer /w</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456182"/>
            <a:ext cx="2761488" cy="2834640"/>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THE RULE</a:t>
            </a:r>
          </a:p>
          <a:p>
            <a:pPr marL="0" indent="0">
              <a:spcAft>
                <a:spcPts val="900"/>
              </a:spcAft>
              <a:buNone/>
            </a:pPr>
            <a:r>
              <a:rPr sz="1300">
                <a:solidFill>
                  <a:srgbClr val="1D1D1F"/>
                </a:solidFill>
                <a:latin typeface="Helvetica Neue"/>
              </a:rPr>
              <a:t>Repeatedly merge the most frequent adjacent pair. Nothing else.</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2 in the notebook</a:t>
            </a:r>
          </a:p>
          <a:p>
            <a:pPr algn="ctr" marL="0" indent="0">
              <a:buNone/>
            </a:pPr>
            <a:r>
              <a:rPr sz="2000">
                <a:solidFill>
                  <a:srgbClr val="222222"/>
                </a:solidFill>
              </a:rPr>
              <a:t>Run the merge loop and watch the vocabulary build itself.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the text comes from</a:t>
            </a:r>
          </a:p>
        </p:txBody>
      </p:sp>
      <p:sp>
        <p:nvSpPr>
          <p:cNvPr id="5" name="Rounded Rectangle 4"/>
          <p:cNvSpPr/>
          <p:nvPr/>
        </p:nvSpPr>
        <p:spPr>
          <a:xfrm>
            <a:off x="457200" y="2327465"/>
            <a:ext cx="4041648" cy="1092073"/>
          </a:xfrm>
          <a:prstGeom prst="roundRect">
            <a:avLst>
              <a:gd name="adj" fmla="val 10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73769"/>
            <a:ext cx="3675888" cy="79946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WHAT GOES IN</a:t>
            </a:r>
          </a:p>
          <a:p>
            <a:pPr marL="0" indent="0">
              <a:spcAft>
                <a:spcPts val="300"/>
              </a:spcAft>
              <a:buNone/>
            </a:pPr>
            <a:r>
              <a:rPr sz="1400" b="0" u="none">
                <a:solidFill>
                  <a:srgbClr val="1D1D1F"/>
                </a:solidFill>
                <a:latin typeface="Menlo"/>
              </a:rPr>
              <a:t>web crawl, books, wikipedia, code</a:t>
            </a:r>
          </a:p>
          <a:p>
            <a:pPr marL="0" indent="0" algn="l">
              <a:spcAft>
                <a:spcPts val="200"/>
              </a:spcAft>
              <a:buNone/>
            </a:pPr>
            <a:r>
              <a:rPr sz="1200" b="0">
                <a:solidFill>
                  <a:srgbClr val="86868B"/>
                </a:solidFill>
                <a:latin typeface="Helvetica Neue"/>
              </a:rPr>
              <a:t>Filtered and deduplicated, into trillions of tokens.</a:t>
            </a:r>
          </a:p>
        </p:txBody>
      </p:sp>
      <p:sp>
        <p:nvSpPr>
          <p:cNvPr id="7" name="Rounded Rectangle 6"/>
          <p:cNvSpPr/>
          <p:nvPr/>
        </p:nvSpPr>
        <p:spPr>
          <a:xfrm>
            <a:off x="4645152" y="2327465"/>
            <a:ext cx="4041648" cy="1092073"/>
          </a:xfrm>
          <a:prstGeom prst="roundRect">
            <a:avLst>
              <a:gd name="adj" fmla="val 10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73769"/>
            <a:ext cx="3675888" cy="79946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AND WHAT RIDES ALONG</a:t>
            </a:r>
          </a:p>
          <a:p>
            <a:pPr marL="0" indent="0">
              <a:spcAft>
                <a:spcPts val="300"/>
              </a:spcAft>
              <a:buNone/>
            </a:pPr>
            <a:r>
              <a:rPr sz="1400" b="0" u="none">
                <a:solidFill>
                  <a:srgbClr val="1D1D1F"/>
                </a:solidFill>
                <a:latin typeface="Menlo"/>
              </a:rPr>
              <a:t>duplication, contamination, bias</a:t>
            </a:r>
          </a:p>
          <a:p>
            <a:pPr marL="0" indent="0" algn="l">
              <a:spcAft>
                <a:spcPts val="200"/>
              </a:spcAft>
              <a:buNone/>
            </a:pPr>
            <a:r>
              <a:rPr sz="1200" b="0">
                <a:solidFill>
                  <a:srgbClr val="86868B"/>
                </a:solidFill>
                <a:latin typeface="Helvetica Neue"/>
              </a:rPr>
              <a:t>None of it was asked for, and all of it is learned.</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So why does ChatGPT answer your questions? That gap is the rest of today."/>
          <p:cNvPicPr>
            <a:picLocks noChangeAspect="1"/>
          </p:cNvPicPr>
          <p:nvPr/>
        </p:nvPicPr>
        <p:blipFill>
          <a:blip r:embed="rId3"/>
          <a:stretch>
            <a:fillRect/>
          </a:stretch>
        </p:blipFill>
        <p:spPr>
          <a:xfrm>
            <a:off x="0" y="-1654493"/>
            <a:ext cx="9144000" cy="845248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It only ever learned to predict the next word.</a:t>
            </a:r>
          </a:p>
          <a:p>
            <a:pPr algn="ctr" marL="0" indent="0">
              <a:buNone/>
            </a:pPr>
            <a:r>
              <a:rPr sz="2000">
                <a:solidFill>
                  <a:srgbClr val="FFFFFF"/>
                </a:solidFill>
              </a:rPr>
              <a:t>So why does ChatGPT answer your questions? That gap is the rest of today.</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https://images.unsplash.com/photo-1481627834876-b7833e8f5570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base model is not an assistant</a:t>
            </a:r>
          </a:p>
        </p:txBody>
      </p:sp>
      <p:sp>
        <p:nvSpPr>
          <p:cNvPr id="5" name="Rounded Rectangle 4"/>
          <p:cNvSpPr/>
          <p:nvPr/>
        </p:nvSpPr>
        <p:spPr>
          <a:xfrm>
            <a:off x="457200" y="2322862"/>
            <a:ext cx="4041648" cy="1101280"/>
          </a:xfrm>
          <a:prstGeom prst="roundRect">
            <a:avLst>
              <a:gd name="adj" fmla="val 10793"/>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69166"/>
            <a:ext cx="3675888" cy="80867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YOU ASK</a:t>
            </a:r>
          </a:p>
          <a:p>
            <a:pPr marL="0" indent="0">
              <a:spcAft>
                <a:spcPts val="300"/>
              </a:spcAft>
              <a:buNone/>
            </a:pPr>
            <a:r>
              <a:rPr sz="1450" b="0" u="none">
                <a:solidFill>
                  <a:srgbClr val="1D1D1F"/>
                </a:solidFill>
                <a:latin typeface="Menlo"/>
              </a:rPr>
              <a:t>What is the capital of France?</a:t>
            </a:r>
          </a:p>
        </p:txBody>
      </p:sp>
      <p:sp>
        <p:nvSpPr>
          <p:cNvPr id="7" name="Rounded Rectangle 6"/>
          <p:cNvSpPr/>
          <p:nvPr/>
        </p:nvSpPr>
        <p:spPr>
          <a:xfrm>
            <a:off x="4645152" y="2322862"/>
            <a:ext cx="4041648" cy="1101280"/>
          </a:xfrm>
          <a:prstGeom prst="roundRect">
            <a:avLst>
              <a:gd name="adj" fmla="val 10793"/>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69166"/>
            <a:ext cx="3675888" cy="80867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A BASE MODEL ANSWERS</a:t>
            </a:r>
          </a:p>
          <a:p>
            <a:pPr marL="0" indent="0">
              <a:spcAft>
                <a:spcPts val="300"/>
              </a:spcAft>
              <a:buNone/>
            </a:pPr>
            <a:r>
              <a:rPr sz="1450" b="0" u="none">
                <a:solidFill>
                  <a:srgbClr val="1D1D1F"/>
                </a:solidFill>
                <a:latin typeface="Menlo"/>
              </a:rPr>
              <a:t>What is the capital of Germany?</a:t>
            </a:r>
          </a:p>
          <a:p>
            <a:pPr marL="0" indent="0" algn="l">
              <a:spcAft>
                <a:spcPts val="200"/>
              </a:spcAft>
              <a:buNone/>
            </a:pPr>
            <a:r>
              <a:rPr sz="1200" b="0">
                <a:solidFill>
                  <a:srgbClr val="86868B"/>
                </a:solidFill>
                <a:latin typeface="Helvetica Neue"/>
              </a:rPr>
              <a:t>It is not being unhelpful. It is predicting the next line of a list.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Instruction tuning</a:t>
            </a:r>
          </a:p>
        </p:txBody>
      </p:sp>
      <p:sp>
        <p:nvSpPr>
          <p:cNvPr id="5" name="Rounded Rectangle 4"/>
          <p:cNvSpPr/>
          <p:nvPr/>
        </p:nvSpPr>
        <p:spPr>
          <a:xfrm>
            <a:off x="457200" y="1760906"/>
            <a:ext cx="2365248" cy="2225192"/>
          </a:xfrm>
          <a:prstGeom prst="roundRect">
            <a:avLst>
              <a:gd name="adj" fmla="val 49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1792" y="2024253"/>
            <a:ext cx="2036064" cy="1896008"/>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BASE MODEL</a:t>
            </a:r>
          </a:p>
          <a:p>
            <a:pPr marL="0" indent="0" algn="l">
              <a:lnSpc>
                <a:spcPts val="3000"/>
              </a:lnSpc>
              <a:spcAft>
                <a:spcPts val="0"/>
              </a:spcAft>
              <a:buNone/>
            </a:pPr>
            <a:r>
              <a:rPr sz="2000" b="0">
                <a:solidFill>
                  <a:srgbClr val="1D1D1F"/>
                </a:solidFill>
                <a:latin typeface="Menlo"/>
              </a:rPr>
              <a:t>predicts the next token</a:t>
            </a:r>
          </a:p>
        </p:txBody>
      </p:sp>
      <p:sp>
        <p:nvSpPr>
          <p:cNvPr id="7" name="Right Arrow 6"/>
          <p:cNvSpPr/>
          <p:nvPr/>
        </p:nvSpPr>
        <p:spPr>
          <a:xfrm>
            <a:off x="2913156" y="2718054"/>
            <a:ext cx="385511"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389376" y="1760906"/>
            <a:ext cx="2365248" cy="2225192"/>
          </a:xfrm>
          <a:prstGeom prst="roundRect">
            <a:avLst>
              <a:gd name="adj" fmla="val 49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53968" y="2024253"/>
            <a:ext cx="2036064" cy="1896008"/>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INSTRUCTION DATA</a:t>
            </a:r>
          </a:p>
          <a:p>
            <a:pPr marL="0" indent="0" algn="l">
              <a:lnSpc>
                <a:spcPts val="3000"/>
              </a:lnSpc>
              <a:spcAft>
                <a:spcPts val="0"/>
              </a:spcAft>
              <a:buNone/>
            </a:pPr>
            <a:r>
              <a:rPr sz="2000" b="0">
                <a:solidFill>
                  <a:srgbClr val="1D1D1F"/>
                </a:solidFill>
                <a:latin typeface="Menlo"/>
              </a:rPr>
              <a:t>thousands of pairs</a:t>
            </a:r>
          </a:p>
        </p:txBody>
      </p:sp>
      <p:sp>
        <p:nvSpPr>
          <p:cNvPr id="10" name="Right Arrow 9"/>
          <p:cNvSpPr/>
          <p:nvPr/>
        </p:nvSpPr>
        <p:spPr>
          <a:xfrm>
            <a:off x="5845332" y="2718054"/>
            <a:ext cx="385511"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321552" y="1760906"/>
            <a:ext cx="2365248" cy="2225192"/>
          </a:xfrm>
          <a:prstGeom prst="roundRect">
            <a:avLst>
              <a:gd name="adj" fmla="val 49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86144" y="2024253"/>
            <a:ext cx="2036064" cy="1896008"/>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ASSISTANT</a:t>
            </a:r>
          </a:p>
          <a:p>
            <a:pPr marL="0" indent="0" algn="l">
              <a:lnSpc>
                <a:spcPts val="3000"/>
              </a:lnSpc>
              <a:spcAft>
                <a:spcPts val="0"/>
              </a:spcAft>
              <a:buNone/>
            </a:pPr>
            <a:r>
              <a:rPr sz="2000" b="0">
                <a:solidFill>
                  <a:srgbClr val="1D1D1F"/>
                </a:solidFill>
                <a:latin typeface="Menlo"/>
              </a:rPr>
              <a:t>follows instructions</a:t>
            </a:r>
          </a:p>
        </p:txBody>
      </p:sp>
      <p:sp>
        <p:nvSpPr>
          <p:cNvPr id="13" name="TextBox 12"/>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FLAN, Wei et al. 2021 (arXiv:2109.01652)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routes to an assistant</a:t>
            </a:r>
          </a:p>
        </p:txBody>
      </p:sp>
      <p:sp>
        <p:nvSpPr>
          <p:cNvPr id="5" name="Rounded Rectangle 4"/>
          <p:cNvSpPr/>
          <p:nvPr/>
        </p:nvSpPr>
        <p:spPr>
          <a:xfrm>
            <a:off x="457200" y="1903921"/>
            <a:ext cx="4041648" cy="1939162"/>
          </a:xfrm>
          <a:prstGeom prst="roundRect">
            <a:avLst>
              <a:gd name="adj" fmla="val 613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050225"/>
            <a:ext cx="3675888" cy="1646554"/>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ROUTE 1, HUMANS WRITE THEM</a:t>
            </a:r>
          </a:p>
          <a:p>
            <a:pPr marL="0" indent="0">
              <a:spcAft>
                <a:spcPts val="300"/>
              </a:spcAft>
              <a:buNone/>
            </a:pPr>
            <a:r>
              <a:rPr sz="2000" b="0" u="none">
                <a:solidFill>
                  <a:srgbClr val="1D1D1F"/>
                </a:solidFill>
                <a:latin typeface="Menlo"/>
              </a:rPr>
              <a:t>"Explain the moon landing to a six-year-old"</a:t>
            </a:r>
          </a:p>
          <a:p>
            <a:pPr marL="0" indent="0" algn="l">
              <a:spcAft>
                <a:spcPts val="200"/>
              </a:spcAft>
              <a:buNone/>
            </a:pPr>
            <a:r>
              <a:rPr sz="1200" b="0">
                <a:solidFill>
                  <a:srgbClr val="86868B"/>
                </a:solidFill>
                <a:latin typeface="Helvetica Neue"/>
              </a:rPr>
              <a:t>Best quality, slowest. A person demonstrates the ideal answer. InstructGPT.</a:t>
            </a:r>
          </a:p>
        </p:txBody>
      </p:sp>
      <p:sp>
        <p:nvSpPr>
          <p:cNvPr id="7" name="Rounded Rectangle 6"/>
          <p:cNvSpPr/>
          <p:nvPr/>
        </p:nvSpPr>
        <p:spPr>
          <a:xfrm>
            <a:off x="4645152" y="1903921"/>
            <a:ext cx="4041648" cy="1939162"/>
          </a:xfrm>
          <a:prstGeom prst="roundRect">
            <a:avLst>
              <a:gd name="adj" fmla="val 613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050225"/>
            <a:ext cx="3675888" cy="1646554"/>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ROUTE 2, TEMPLATES WRAP OLD DATA</a:t>
            </a:r>
          </a:p>
          <a:p>
            <a:pPr marL="0" indent="0">
              <a:spcAft>
                <a:spcPts val="300"/>
              </a:spcAft>
              <a:buNone/>
            </a:pPr>
            <a:r>
              <a:rPr sz="2000" b="0" u="none">
                <a:solidFill>
                  <a:srgbClr val="1D1D1F"/>
                </a:solidFill>
                <a:latin typeface="Menlo"/>
              </a:rPr>
              <a:t>"Review: fast, funny. Positive or negative?"</a:t>
            </a:r>
          </a:p>
          <a:p>
            <a:pPr marL="0" indent="0" algn="l">
              <a:spcAft>
                <a:spcPts val="200"/>
              </a:spcAft>
              <a:buNone/>
            </a:pPr>
            <a:r>
              <a:rPr sz="1200" b="0">
                <a:solidFill>
                  <a:srgbClr val="86868B"/>
                </a:solidFill>
                <a:latin typeface="Helvetica Neue"/>
              </a:rPr>
              <a:t>Cheap, and only as varied as the datasets you already had.</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FLAN (Wei et al. 2021); Self-Instruct (Wang et al. 2022); Alpaca (Taori et al.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An instruction pair is just formatted text, and the format is vocabulary.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find your team. Then the tokenizer bake-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tokenizer bake-off</a:t>
            </a:r>
          </a:p>
        </p:txBody>
      </p:sp>
      <p:graphicFrame>
        <p:nvGraphicFramePr>
          <p:cNvPr id="5" name="Table 4"/>
          <p:cNvGraphicFramePr>
            <a:graphicFrameLocks noGrp="1"/>
          </p:cNvGraphicFramePr>
          <p:nvPr/>
        </p:nvGraphicFramePr>
        <p:xfrm>
          <a:off x="457200" y="2306574"/>
          <a:ext cx="5102351" cy="1133856"/>
        </p:xfrm>
        <a:graphic>
          <a:graphicData uri="http://schemas.openxmlformats.org/drawingml/2006/table">
            <a:tbl>
              <a:tblPr firstRow="1" bandRow="0"/>
              <a:tblGrid>
                <a:gridCol w="1326611"/>
                <a:gridCol w="755148"/>
                <a:gridCol w="755148"/>
                <a:gridCol w="755148"/>
                <a:gridCol w="755148"/>
                <a:gridCol w="755148"/>
              </a:tblGrid>
              <a:tr h="566928">
                <a:tc>
                  <a:txBody>
                    <a:bodyPr wrap="none"/>
                    <a:lstStyle/>
                    <a:p>
                      <a:pPr marL="0" indent="0" algn="l">
                        <a:spcAft>
                          <a:spcPts val="0"/>
                        </a:spcAft>
                        <a:buNone/>
                      </a:pPr>
                      <a:r>
                        <a:rPr sz="1100" b="1" spc="50">
                          <a:solidFill>
                            <a:srgbClr val="86868B"/>
                          </a:solidFill>
                          <a:latin typeface="Helvetica Neue"/>
                        </a:rPr>
                        <a:t>TRAINED ON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ENG</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PY</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ESP</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CHAT</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CHEM</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english</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1.3</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6.2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3.7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5.4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2306574"/>
            <a:ext cx="2761488" cy="1133856"/>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HOW TO READ IT</a:t>
            </a:r>
          </a:p>
          <a:p>
            <a:pPr marL="0" indent="0">
              <a:spcAft>
                <a:spcPts val="900"/>
              </a:spcAft>
              <a:buNone/>
            </a:pPr>
            <a:r>
              <a:rPr sz="1300">
                <a:solidFill>
                  <a:srgbClr val="1D1D1F"/>
                </a:solidFill>
                <a:latin typeface="Helvetica Neue"/>
              </a:rPr>
              <a:t>Train 300 merges on your corpus, then encode every team's held-out text.</a:t>
            </a:r>
          </a:p>
          <a:p>
            <a:pPr marL="0" indent="0">
              <a:spcAft>
                <a:spcPts val="900"/>
              </a:spcAft>
              <a:buNone/>
            </a:pPr>
            <a:r>
              <a:rPr sz="1300">
                <a:solidFill>
                  <a:srgbClr val="1D1D1F"/>
                </a:solidFill>
                <a:latin typeface="Helvetica Neue"/>
              </a:rPr>
              <a:t>Tokens per word. Lower is better, and the diagonal should win.</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scores from weeks/week-10/class-01/exercise/lab.ipynb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7C2529"/>
                </a:solidFill>
              </a:rPr>
              <a:t>Whose text is cheap?</a:t>
            </a:r>
          </a:p>
        </p:txBody>
      </p:sp>
      <p:sp>
        <p:nvSpPr>
          <p:cNvPr id="6" name="TextBox 5"/>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222222"/>
                </a:solidFill>
              </a:rPr>
              <a:t>Every team won its own column and lost everywhere else. A shipped model gets one vocabulary.</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