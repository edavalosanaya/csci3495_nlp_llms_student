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Tokenization at Scale, Pretraining Data &amp; Instruction Tuning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42368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10, Class 1  ·  Mon Oct 26, 2026</a:t>
            </a:r>
          </a:p>
        </p:txBody>
      </p:sp>
      <p:pic>
        <p:nvPicPr>
          <p:cNvPr id="5" name="Picture 4" descr="Tokenization at Scale, Pretraining Data &amp; Instruction Tu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894" y="3474720"/>
            <a:ext cx="2213346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Alan Chia, Wikimedia Commons, CC BY-SA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model reads pieces, not words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36514"/>
            <a:ext cx="2645664" cy="1073975"/>
          </a:xfrm>
          <a:prstGeom prst="roundRect">
            <a:avLst>
              <a:gd name="adj" fmla="val 110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82818"/>
            <a:ext cx="2279904" cy="7813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ONE TOKEN PER WORD</a:t>
            </a:r>
          </a:p>
          <a:p>
            <a:pPr marL="0" indent="0">
              <a:spcAft>
                <a:spcPts val="300"/>
              </a:spcAft>
              <a:buNone/>
            </a:pPr>
            <a:r>
              <a:rPr sz="1350" b="0" u="none">
                <a:solidFill>
                  <a:srgbClr val="1D1D1F"/>
                </a:solidFill>
                <a:latin typeface="Menlo"/>
              </a:rPr>
              <a:t>unhappiness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150" b="0">
                <a:solidFill>
                  <a:srgbClr val="86868B"/>
                </a:solidFill>
                <a:latin typeface="Helvetica Neue"/>
              </a:rPr>
              <a:t>Every name, typo and new word needs its own entry, or becomes UNK.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9168" y="2336514"/>
            <a:ext cx="2645664" cy="1073975"/>
          </a:xfrm>
          <a:prstGeom prst="roundRect">
            <a:avLst>
              <a:gd name="adj" fmla="val 110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32048" y="2482818"/>
            <a:ext cx="2279904" cy="7813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ONE TOKEN PER CHARACTER</a:t>
            </a:r>
          </a:p>
          <a:p>
            <a:pPr marL="0" indent="0">
              <a:spcAft>
                <a:spcPts val="300"/>
              </a:spcAft>
              <a:buNone/>
            </a:pPr>
            <a:r>
              <a:rPr sz="1350" b="0" u="none">
                <a:solidFill>
                  <a:srgbClr val="1D1D1F"/>
                </a:solidFill>
                <a:latin typeface="Menlo"/>
              </a:rPr>
              <a:t>u n h a p p i n e s 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150" b="0">
                <a:solidFill>
                  <a:srgbClr val="86868B"/>
                </a:solidFill>
                <a:latin typeface="Helvetica Neue"/>
              </a:rPr>
              <a:t>Eleven tokens for one word, so every sequence gets long and slow.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41136" y="2336514"/>
            <a:ext cx="2645664" cy="1073975"/>
          </a:xfrm>
          <a:prstGeom prst="roundRect">
            <a:avLst>
              <a:gd name="adj" fmla="val 11068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224016" y="2482818"/>
            <a:ext cx="2279904" cy="7813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SUBWORDS, FROM BPE</a:t>
            </a:r>
          </a:p>
          <a:p>
            <a:pPr marL="0" indent="0">
              <a:spcAft>
                <a:spcPts val="300"/>
              </a:spcAft>
              <a:buNone/>
            </a:pPr>
            <a:r>
              <a:rPr sz="1350" b="0" u="none">
                <a:solidFill>
                  <a:srgbClr val="1D1D1F"/>
                </a:solidFill>
                <a:latin typeface="Menlo"/>
              </a:rPr>
              <a:t>un happi ness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150" b="0">
                <a:solidFill>
                  <a:srgbClr val="86868B"/>
                </a:solidFill>
                <a:latin typeface="Helvetica Neue"/>
              </a:rPr>
              <a:t>Frequent pieces stay whole, rare ones split, nothing is unencodable.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splits and ids from the GPT-2 tokenizer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Tokens are the unit of everything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417000"/>
            <a:ext cx="2645664" cy="913003"/>
          </a:xfrm>
          <a:prstGeom prst="roundRect">
            <a:avLst>
              <a:gd name="adj" fmla="val 1301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563304"/>
            <a:ext cx="2279904" cy="620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850" b="1" spc="70">
                <a:solidFill>
                  <a:srgbClr val="86868B"/>
                </a:solidFill>
                <a:latin typeface="Helvetica Neue"/>
              </a:rPr>
              <a:t>CONTEXT WINDOWS</a:t>
            </a:r>
          </a:p>
          <a:p>
            <a:pPr marL="0" indent="0">
              <a:spcAft>
                <a:spcPts val="300"/>
              </a:spcAft>
              <a:buNone/>
            </a:pPr>
            <a:r>
              <a:rPr sz="950" b="0" u="none">
                <a:solidFill>
                  <a:srgbClr val="1D1D1F"/>
                </a:solidFill>
                <a:latin typeface="Menlo"/>
              </a:rPr>
              <a:t>measured in tokens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900" b="0">
                <a:solidFill>
                  <a:srgbClr val="86868B"/>
                </a:solidFill>
                <a:latin typeface="Helvetica Neue"/>
              </a:rPr>
              <a:t>not in words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9168" y="2417000"/>
            <a:ext cx="2645664" cy="913003"/>
          </a:xfrm>
          <a:prstGeom prst="roundRect">
            <a:avLst>
              <a:gd name="adj" fmla="val 1301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32048" y="2563304"/>
            <a:ext cx="2279904" cy="620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850" b="1" spc="70">
                <a:solidFill>
                  <a:srgbClr val="86868B"/>
                </a:solidFill>
                <a:latin typeface="Helvetica Neue"/>
              </a:rPr>
              <a:t>PRICING</a:t>
            </a:r>
          </a:p>
          <a:p>
            <a:pPr marL="0" indent="0">
              <a:spcAft>
                <a:spcPts val="300"/>
              </a:spcAft>
              <a:buNone/>
            </a:pPr>
            <a:r>
              <a:rPr sz="950" b="0" u="none">
                <a:solidFill>
                  <a:srgbClr val="1D1D1F"/>
                </a:solidFill>
                <a:latin typeface="Menlo"/>
              </a:rPr>
              <a:t>hosted models charge per token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900" b="0">
                <a:solidFill>
                  <a:srgbClr val="86868B"/>
                </a:solidFill>
                <a:latin typeface="Helvetica Neue"/>
              </a:rPr>
              <a:t>not per word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41136" y="2417000"/>
            <a:ext cx="2645664" cy="913003"/>
          </a:xfrm>
          <a:prstGeom prst="roundRect">
            <a:avLst>
              <a:gd name="adj" fmla="val 1301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224016" y="2563304"/>
            <a:ext cx="2279904" cy="6203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850" b="1" spc="70">
                <a:solidFill>
                  <a:srgbClr val="86868B"/>
                </a:solidFill>
                <a:latin typeface="Helvetica Neue"/>
              </a:rPr>
              <a:t>DATA BUDGETS</a:t>
            </a:r>
          </a:p>
          <a:p>
            <a:pPr marL="0" indent="0">
              <a:spcAft>
                <a:spcPts val="300"/>
              </a:spcAft>
              <a:buNone/>
            </a:pPr>
            <a:r>
              <a:rPr sz="950" b="0" u="none">
                <a:solidFill>
                  <a:srgbClr val="1D1D1F"/>
                </a:solidFill>
                <a:latin typeface="Menlo"/>
              </a:rPr>
              <a:t>scaling laws count tokens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900" b="0">
                <a:solidFill>
                  <a:srgbClr val="86868B"/>
                </a:solidFill>
                <a:latin typeface="Helvetica Neue"/>
              </a:rPr>
              <a:t>Chinchilla counted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7C2529"/>
                </a:solidFill>
              </a:rPr>
              <a:t>Let's walk through Part 1 in the notebook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Feed it your own words and watch what it does to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BPE learns a vocabulary</a:t>
            </a:r>
          </a:p>
        </p:txBody>
      </p:sp>
      <p:pic>
        <p:nvPicPr>
          <p:cNvPr id="5" name="Picture 4" descr="How BPE learns a vocabular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023" y="1078992"/>
            <a:ext cx="757595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2.6, adapted from Bostrom &amp; Durrett 2020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worked example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56182"/>
          <a:ext cx="5102352" cy="2834640"/>
        </p:xfrm>
        <a:graphic>
          <a:graphicData uri="http://schemas.openxmlformats.org/drawingml/2006/table">
            <a:tbl>
              <a:tblPr firstRow="1" bandRow="0"/>
              <a:tblGrid>
                <a:gridCol w="1326611"/>
                <a:gridCol w="3775741"/>
              </a:tblGrid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STEP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THE WORD, SO FAR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start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l o w e r /w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merge 1, e+r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l o w er /w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merge 2, w+er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l o wer /w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merge 3, l+o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lo wer /w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25312" y="1456182"/>
            <a:ext cx="276148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THE RULE</a:t>
            </a:r>
          </a:p>
          <a:p>
            <a:pPr marL="0" indent="0">
              <a:spcAft>
                <a:spcPts val="900"/>
              </a:spcAft>
              <a:buNone/>
            </a:pPr>
            <a:r>
              <a:rPr sz="1300">
                <a:solidFill>
                  <a:srgbClr val="1D1D1F"/>
                </a:solidFill>
                <a:latin typeface="Helvetica Neue"/>
              </a:rPr>
              <a:t>Repeatedly merge the most frequent adjacent pair. Nothing else.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7C2529"/>
                </a:solidFill>
              </a:rPr>
              <a:t>Let's walk through Part 2 in the notebook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Run the merge loop and watch the vocabulary build itself.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Where the text comes from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27465"/>
            <a:ext cx="4041648" cy="1092073"/>
          </a:xfrm>
          <a:prstGeom prst="roundRect">
            <a:avLst>
              <a:gd name="adj" fmla="val 10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73769"/>
            <a:ext cx="3675888" cy="7994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WHAT GOES IN</a:t>
            </a:r>
          </a:p>
          <a:p>
            <a:pPr marL="0" indent="0">
              <a:spcAft>
                <a:spcPts val="300"/>
              </a:spcAft>
              <a:buNone/>
            </a:pPr>
            <a:r>
              <a:rPr sz="1400" b="0" u="none">
                <a:solidFill>
                  <a:srgbClr val="1D1D1F"/>
                </a:solidFill>
                <a:latin typeface="Menlo"/>
              </a:rPr>
              <a:t>web crawl, books, wikipedia, code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Filtered and deduplicated, into trillions of tokens.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327465"/>
            <a:ext cx="4041648" cy="1092073"/>
          </a:xfrm>
          <a:prstGeom prst="roundRect">
            <a:avLst>
              <a:gd name="adj" fmla="val 10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73769"/>
            <a:ext cx="3675888" cy="7994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AND WHAT RIDES ALONG</a:t>
            </a:r>
          </a:p>
          <a:p>
            <a:pPr marL="0" indent="0">
              <a:spcAft>
                <a:spcPts val="300"/>
              </a:spcAft>
              <a:buNone/>
            </a:pPr>
            <a:r>
              <a:rPr sz="1400" b="0" u="none">
                <a:solidFill>
                  <a:srgbClr val="1D1D1F"/>
                </a:solidFill>
                <a:latin typeface="Menlo"/>
              </a:rPr>
              <a:t>duplication, contamination, bias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None of it was asked for, and all of it is learned.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So why does ChatGPT answer your questions? That gap is the rest of today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654493"/>
            <a:ext cx="9144000" cy="84524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It only ever learned to predict the next word.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So why does ChatGPT answer your questions? That gap is the rest of today.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https://images.unsplash.com/photo-1481627834876-b7833e8f5570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base model is not an assistant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22862"/>
            <a:ext cx="4041648" cy="1101280"/>
          </a:xfrm>
          <a:prstGeom prst="roundRect">
            <a:avLst>
              <a:gd name="adj" fmla="val 10793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69166"/>
            <a:ext cx="3675888" cy="808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YOU ASK</a:t>
            </a:r>
          </a:p>
          <a:p>
            <a:pPr marL="0" indent="0">
              <a:spcAft>
                <a:spcPts val="300"/>
              </a:spcAft>
              <a:buNone/>
            </a:pPr>
            <a:r>
              <a:rPr sz="1450" b="0" u="none">
                <a:solidFill>
                  <a:srgbClr val="1D1D1F"/>
                </a:solidFill>
                <a:latin typeface="Menlo"/>
              </a:rPr>
              <a:t>What is the capital of France?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322862"/>
            <a:ext cx="4041648" cy="1101280"/>
          </a:xfrm>
          <a:prstGeom prst="roundRect">
            <a:avLst>
              <a:gd name="adj" fmla="val 10793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69166"/>
            <a:ext cx="3675888" cy="808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A BASE MODEL ANSWERS</a:t>
            </a:r>
          </a:p>
          <a:p>
            <a:pPr marL="0" indent="0">
              <a:spcAft>
                <a:spcPts val="300"/>
              </a:spcAft>
              <a:buNone/>
            </a:pPr>
            <a:r>
              <a:rPr sz="1450" b="0" u="none">
                <a:solidFill>
                  <a:srgbClr val="1D1D1F"/>
                </a:solidFill>
                <a:latin typeface="Menlo"/>
              </a:rPr>
              <a:t>What is the capital of Germany?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It is not being unhelpful. It is predicting the next line of a list.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Instruction tuning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60906"/>
            <a:ext cx="2365248" cy="2225192"/>
          </a:xfrm>
          <a:prstGeom prst="roundRect">
            <a:avLst>
              <a:gd name="adj" fmla="val 4931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1792" y="2024253"/>
            <a:ext cx="2036064" cy="1896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BASE MODEL</a:t>
            </a:r>
          </a:p>
          <a:p>
            <a:pPr marL="0" indent="0" algn="l">
              <a:lnSpc>
                <a:spcPts val="3000"/>
              </a:lnSpc>
              <a:spcAft>
                <a:spcPts val="0"/>
              </a:spcAft>
              <a:buNone/>
            </a:pPr>
            <a:r>
              <a:rPr sz="2000" b="0">
                <a:solidFill>
                  <a:srgbClr val="1D1D1F"/>
                </a:solidFill>
                <a:latin typeface="Menlo"/>
              </a:rPr>
              <a:t>predicts the next token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13156" y="2718054"/>
            <a:ext cx="385511" cy="310896"/>
          </a:xfrm>
          <a:prstGeom prst="rightArrow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389376" y="1760906"/>
            <a:ext cx="2365248" cy="2225192"/>
          </a:xfrm>
          <a:prstGeom prst="roundRect">
            <a:avLst>
              <a:gd name="adj" fmla="val 4931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553968" y="2024253"/>
            <a:ext cx="2036064" cy="1896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INSTRUCTION DATA</a:t>
            </a:r>
          </a:p>
          <a:p>
            <a:pPr marL="0" indent="0" algn="l">
              <a:lnSpc>
                <a:spcPts val="3000"/>
              </a:lnSpc>
              <a:spcAft>
                <a:spcPts val="0"/>
              </a:spcAft>
              <a:buNone/>
            </a:pPr>
            <a:r>
              <a:rPr sz="2000" b="0">
                <a:solidFill>
                  <a:srgbClr val="1D1D1F"/>
                </a:solidFill>
                <a:latin typeface="Menlo"/>
              </a:rPr>
              <a:t>thousands of pairs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45332" y="2718054"/>
            <a:ext cx="385511" cy="310896"/>
          </a:xfrm>
          <a:prstGeom prst="rightArrow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321552" y="1760906"/>
            <a:ext cx="2365248" cy="2225192"/>
          </a:xfrm>
          <a:prstGeom prst="roundRect">
            <a:avLst>
              <a:gd name="adj" fmla="val 4931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86144" y="2024253"/>
            <a:ext cx="2036064" cy="1896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200" b="1" spc="60">
                <a:solidFill>
                  <a:srgbClr val="86868B"/>
                </a:solidFill>
                <a:latin typeface="Helvetica Neue"/>
              </a:rPr>
              <a:t>ASSISTANT</a:t>
            </a:r>
          </a:p>
          <a:p>
            <a:pPr marL="0" indent="0" algn="l">
              <a:lnSpc>
                <a:spcPts val="3000"/>
              </a:lnSpc>
              <a:spcAft>
                <a:spcPts val="0"/>
              </a:spcAft>
              <a:buNone/>
            </a:pPr>
            <a:r>
              <a:rPr sz="2000" b="0">
                <a:solidFill>
                  <a:srgbClr val="1D1D1F"/>
                </a:solidFill>
                <a:latin typeface="Menlo"/>
              </a:rPr>
              <a:t>follows instructions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FLAN, Wei et al. 2021 (arXiv:2109.01652)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Three routes to an assistant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03921"/>
            <a:ext cx="4041648" cy="1939162"/>
          </a:xfrm>
          <a:prstGeom prst="roundRect">
            <a:avLst>
              <a:gd name="adj" fmla="val 613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050225"/>
            <a:ext cx="3675888" cy="16465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ROUTE 1, HUMANS WRITE THEM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"Explain the moon landing to a six-year-old"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Best quality, slowest. A person demonstrates the ideal answer. InstructGPT.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1903921"/>
            <a:ext cx="4041648" cy="1939162"/>
          </a:xfrm>
          <a:prstGeom prst="roundRect">
            <a:avLst>
              <a:gd name="adj" fmla="val 613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050225"/>
            <a:ext cx="3675888" cy="16465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ROUTE 2, TEMPLATES WRAP OLD DATA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"Review: fast, funny. Positive or negative?"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Cheap, and only as varied as the datasets you already had.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InstructGPT (Ouyang et al. 2022); FLAN (Wei et al. 2021); Self-Instruct (Wang et al. 2022); Alpaca (Taori et al. 2023)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7C2529"/>
                </a:solidFill>
              </a:rPr>
              <a:t>Let's walk through Part 3 in the notebook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An instruction pair is just formatted text, and the format is vocabulary.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find your team. Then the tokenizer bake-off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tokenizer bake-off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306574"/>
          <a:ext cx="5102351" cy="1133856"/>
        </p:xfrm>
        <a:graphic>
          <a:graphicData uri="http://schemas.openxmlformats.org/drawingml/2006/table">
            <a:tbl>
              <a:tblPr firstRow="1" bandRow="0"/>
              <a:tblGrid>
                <a:gridCol w="1326611"/>
                <a:gridCol w="755148"/>
                <a:gridCol w="755148"/>
                <a:gridCol w="755148"/>
                <a:gridCol w="755148"/>
                <a:gridCol w="755148"/>
              </a:tblGrid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TRAINED ON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ENG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PY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ESP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CHAT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CHEM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english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1.3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6.2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3.7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2.6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5.4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25312" y="2306574"/>
            <a:ext cx="2761488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HOW TO READ IT</a:t>
            </a:r>
          </a:p>
          <a:p>
            <a:pPr marL="0" indent="0">
              <a:spcAft>
                <a:spcPts val="900"/>
              </a:spcAft>
              <a:buNone/>
            </a:pPr>
            <a:r>
              <a:rPr sz="1300">
                <a:solidFill>
                  <a:srgbClr val="1D1D1F"/>
                </a:solidFill>
                <a:latin typeface="Helvetica Neue"/>
              </a:rPr>
              <a:t>Train 300 merges on your corpus, then encode every team's held-out text.</a:t>
            </a:r>
          </a:p>
          <a:p>
            <a:pPr marL="0" indent="0">
              <a:spcAft>
                <a:spcPts val="900"/>
              </a:spcAft>
              <a:buNone/>
            </a:pPr>
            <a:r>
              <a:rPr sz="1300">
                <a:solidFill>
                  <a:srgbClr val="1D1D1F"/>
                </a:solidFill>
                <a:latin typeface="Helvetica Neue"/>
              </a:rPr>
              <a:t>Tokens per word. Lower is better, and the diagonal should win.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scores from weeks/week-10/class-01/exercise/lab.ipynb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7C2529"/>
                </a:solidFill>
              </a:rPr>
              <a:t>Whose text is cheap?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Every team won its own column and lost everywhere else. A shipped model gets one vocabulary.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