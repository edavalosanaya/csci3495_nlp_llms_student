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genie grants exactly what you SAY, not what you mean. Today: learning to word the wish.</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Prompting instead of gradient updates, in-context learning across zero, one and few shot, what a prompt is actually made of, why prompts break, how to test one like an experiment, then checkpoint peer review and Prompt Golf.</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approaches to the same task. One needs labeled data, GPUs and a training run, and gives you a new checkpoint. The other needs a few examples in the context window and gives you an answer this second. That is the shift this week is about.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panels right to left. Fine-tuning updates weights; zero, one and few shot do the task with forward passes only. Nothing is learned in the sense we have used all semester, and yet the task gets done.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Faint lines are 42 individual benchmarks, bold lines their mean. The gap between few-shot and zero-shot widens with scale: bigger models extract more from the same prompt.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Instruction, demonstrations, query, and output cue. In-context learning: no weights change. The model infers the task from the prompt's instruction and demonstrations, then completes the query. More or better demonstrations usually help, up to a point.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ICL is partly about priming the pattern, not teaching new facts. The model already knows; the prompt just selects.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Push on it. If a change to your prompt changes behaviour, then the prompt is source code, and it deserves version control, tests and an eval set.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things, line by line: a role, an unambiguous task, an output-format constraint, demonstrations that show the format rather than describe it, and a cue that leaves the model no room to add preamble.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Smaller local models (our qwen2.5:0.5b) are especially sensitive, perfect for learning robustness.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Wording, separators (\n vs ###), and example order all matter. A feature and a bug. Lesson: never trust a single prompt, measure. (Illustrative numbers.).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 twenty labeled items is enough to make this real. Two variants are two hypotheses, and you keep the decoding fixed so the only thing that moved is the prompt. Without that, you are collecting anecdotes. Vibes don't scale; metrics do.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covered decoding in Week 7. Now we hold it constant while we vary the prompt.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cheaper (fewer tokens), faster, easier to maintain, with no loss in accuracy. You'll play this in today's exercise. Same task, same eval set, same decoding.</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shapes that keep reappearing. They will use every one of these in HW5, so this is the slide to photograph.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system instructions separate from untrusted data; validate outputs (schema checks, Week 11). Prompt text alone is never a security boundary.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Prompt engineering and RAG, due W11C1. Part A is the eval harness and controlled prompt experiments, and it starts today in Prompt Golf. Part B is a small RAG pipeline and needs next week's lecture. Start Part A now, while the ideas are fresh.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required paper, quizzed in Class 2. Optional papers are enrichment, never quizzed.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 minutes: groups of four, one page each, everyone presents once and critiques three times.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constraints, in order: hit 100 percent on the eval set, then say the same thing in fewer words. The second is where the learning is.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Fix the decoding, temperature zero and the same seed, so the scoreboard measures the prompt and not luck. Kick off now and it finishes inside HW5.</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a few-shot prompt and scores variants on the labeled set.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ResultAdding demos did not help. Constraining the OUTPUT did: one clause takes 50% to 100%, and it golfs to 11 words before falling off a cliff.</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Large models do new tasks from the prompt alone. The structure matters: instruction, demonstrations, query, cue. And the sensitivity is real, so wording, order and format can swing the score, which is why you test rather than guess.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In-Context Learning &amp; Prompt Engineering Foundations</a:t>
            </a:r>
          </a:p>
        </p:txBody>
      </p:sp>
      <p:sp>
        <p:nvSpPr>
          <p:cNvPr id="3" name="Subtitle 2"/>
          <p:cNvSpPr>
            <a:spLocks noGrp="1"/>
          </p:cNvSpPr>
          <p:nvPr>
            <p:ph type="subTitle" idx="1"/>
          </p:nvPr>
        </p:nvSpPr>
        <p:spPr>
          <a:xfrm>
            <a:off x="493926" y="3549825"/>
            <a:ext cx="5458317" cy="970800"/>
          </a:xfrm>
        </p:spPr>
        <p:txBody>
          <a:bodyPr wrap="square"/>
          <a:lstStyle/>
          <a:p>
            <a:pPr marL="0" indent="0">
              <a:buNone/>
            </a:pPr>
            <a:r>
              <a:t>Natural Language Processing &amp; Large Language Models</a:t>
            </a:r>
          </a:p>
          <a:p>
            <a:pPr marL="0" indent="0">
              <a:buNone/>
            </a:pPr>
            <a:r>
              <a:t>Week 10, Class 1</a:t>
            </a:r>
          </a:p>
        </p:txBody>
      </p:sp>
      <p:pic>
        <p:nvPicPr>
          <p:cNvPr id="5" name="Picture 4" descr="In-Context Learning &amp; Prompt Engineering Foundations"/>
          <p:cNvPicPr>
            <a:picLocks noChangeAspect="1"/>
          </p:cNvPicPr>
          <p:nvPr/>
        </p:nvPicPr>
        <p:blipFill>
          <a:blip r:embed="rId3"/>
          <a:stretch>
            <a:fillRect/>
          </a:stretch>
        </p:blipFill>
        <p:spPr>
          <a:xfrm>
            <a:off x="6180843" y="3474720"/>
            <a:ext cx="25973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Amr Mounir, Wikimedia Commons, CC BY-SA 2.0 (cropped)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 figures: Brown et al. 2020 (arXiv:2005.14165) Fig. 2.1; course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new way to "program" models</a:t>
            </a:r>
          </a:p>
        </p:txBody>
      </p:sp>
      <p:pic>
        <p:nvPicPr>
          <p:cNvPr id="5" name="Picture 4" descr="A new way to &quot;program&quot; model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concept from Brown et al. 2020 (arXiv:2005.14165)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Shots, not gradient updates</a:t>
            </a:r>
          </a:p>
        </p:txBody>
      </p:sp>
      <p:pic>
        <p:nvPicPr>
          <p:cNvPr id="5" name="Picture 4" descr="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
          <p:cNvPicPr>
            <a:picLocks noChangeAspect="1"/>
          </p:cNvPicPr>
          <p:nvPr/>
        </p:nvPicPr>
        <p:blipFill>
          <a:blip r:embed="rId3"/>
          <a:srcRect l="10000" r="9500" b="18500"/>
          <a:stretch>
            <a:fillRect/>
          </a:stretch>
        </p:blipFill>
        <p:spPr>
          <a:xfrm>
            <a:off x="4637535" y="1078992"/>
            <a:ext cx="4049265" cy="3589020"/>
          </a:xfrm>
          <a:prstGeom prst="rect">
            <a:avLst/>
          </a:prstGeom>
        </p:spPr>
      </p:pic>
      <p:sp>
        <p:nvSpPr>
          <p:cNvPr id="6" name="TextBox 5"/>
          <p:cNvSpPr txBox="1"/>
          <p:nvPr/>
        </p:nvSpPr>
        <p:spPr>
          <a:xfrm>
            <a:off x="457200" y="1188720"/>
            <a:ext cx="3906015" cy="3479292"/>
          </a:xfrm>
          <a:prstGeom prst="rect">
            <a:avLst/>
          </a:prstGeom>
          <a:noFill/>
        </p:spPr>
        <p:txBody>
          <a:bodyPr wrap="square">
            <a:spAutoFit/>
          </a:bodyPr>
          <a:lstStyle/>
          <a:p>
            <a:pPr marL="0" indent="0">
              <a:spcAft>
                <a:spcPts val="800"/>
              </a:spcAft>
              <a:buNone/>
            </a:pPr>
            <a:r>
              <a:rPr sz="1150">
                <a:solidFill>
                  <a:srgbClr val="222222"/>
                </a:solidFill>
              </a:rPr>
              <a:t>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can be found in Appendix 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headline result (GPT-3, 2020)</a:t>
            </a:r>
          </a:p>
        </p:txBody>
      </p:sp>
      <p:pic>
        <p:nvPicPr>
          <p:cNvPr id="5" name="Picture 4" descr="The headline result (GPT-3, 2020)"/>
          <p:cNvPicPr>
            <a:picLocks noChangeAspect="1"/>
          </p:cNvPicPr>
          <p:nvPr/>
        </p:nvPicPr>
        <p:blipFill>
          <a:blip r:embed="rId3"/>
          <a:stretch>
            <a:fillRect/>
          </a:stretch>
        </p:blipFill>
        <p:spPr>
          <a:xfrm>
            <a:off x="1389641" y="1078992"/>
            <a:ext cx="63647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prompt</a:t>
            </a:r>
          </a:p>
        </p:txBody>
      </p:sp>
      <p:pic>
        <p:nvPicPr>
          <p:cNvPr id="5" name="Picture 4" descr="Anatomy of a prompt"/>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Brown et al. 2020 (arXiv:2005.14165)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ICL work at all?</a:t>
            </a:r>
          </a:p>
        </p:txBody>
      </p:sp>
      <p:pic>
        <p:nvPicPr>
          <p:cNvPr id="5" name="Picture 4" descr="Why does ICL work at all?"/>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Min et al. 2022 (arXiv:2202.12837)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s class: treat your prompt like code you write, test, and debug."/>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learns from the prompt, is the prompt now your program?</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This class: treat your prompt like code you write, test, and debug.</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https://images.unsplash.com/photo-1517694712202-14dd9538aa97</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work</a:t>
            </a:r>
          </a:p>
        </p:txBody>
      </p:sp>
      <p:pic>
        <p:nvPicPr>
          <p:cNvPr id="5" name="Picture 4" descr="What makes prompts work"/>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break</a:t>
            </a:r>
          </a:p>
        </p:txBody>
      </p:sp>
      <p:pic>
        <p:nvPicPr>
          <p:cNvPr id="5" name="Picture 4" descr="What makes prompts break"/>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sensitivity is real</a:t>
            </a:r>
          </a:p>
        </p:txBody>
      </p:sp>
      <p:pic>
        <p:nvPicPr>
          <p:cNvPr id="5" name="Picture 4" descr="Prompt sensitivity is real"/>
          <p:cNvPicPr>
            <a:picLocks noChangeAspect="1"/>
          </p:cNvPicPr>
          <p:nvPr/>
        </p:nvPicPr>
        <p:blipFill>
          <a:blip r:embed="rId3"/>
          <a:stretch>
            <a:fillRect/>
          </a:stretch>
        </p:blipFill>
        <p:spPr>
          <a:xfrm>
            <a:off x="274320" y="1281058"/>
            <a:ext cx="8595360" cy="31848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 numbers)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Engineering prompts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Engineer prompts like an experiment</a:t>
            </a:r>
          </a:p>
        </p:txBody>
      </p:sp>
      <p:pic>
        <p:nvPicPr>
          <p:cNvPr id="5" name="Picture 4" descr="Engineer prompts like an experiment"/>
          <p:cNvPicPr>
            <a:picLocks noChangeAspect="1"/>
          </p:cNvPicPr>
          <p:nvPr/>
        </p:nvPicPr>
        <p:blipFill>
          <a:blip r:embed="rId3"/>
          <a:stretch>
            <a:fillRect/>
          </a:stretch>
        </p:blipFill>
        <p:spPr>
          <a:xfrm>
            <a:off x="717127" y="1078992"/>
            <a:ext cx="770974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Decoding settings affect prompts too</a:t>
            </a:r>
          </a:p>
        </p:txBody>
      </p:sp>
      <p:pic>
        <p:nvPicPr>
          <p:cNvPr id="5" name="Picture 4" descr="Decoding settings affect prompts too"/>
          <p:cNvPicPr>
            <a:picLocks noChangeAspect="1"/>
          </p:cNvPicPr>
          <p:nvPr/>
        </p:nvPicPr>
        <p:blipFill>
          <a:blip r:embed="rId3"/>
          <a:stretch>
            <a:fillRect/>
          </a:stretch>
        </p:blipFill>
        <p:spPr>
          <a:xfrm>
            <a:off x="274320" y="1614357"/>
            <a:ext cx="8595360" cy="251828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a:t>
            </a:r>
          </a:p>
        </p:txBody>
      </p:sp>
      <p:pic>
        <p:nvPicPr>
          <p:cNvPr id="5" name="Picture 4" descr="&quot;Prompt golf&quot;"/>
          <p:cNvPicPr>
            <a:picLocks noChangeAspect="1"/>
          </p:cNvPicPr>
          <p:nvPr/>
        </p:nvPicPr>
        <p:blipFill>
          <a:blip r:embed="rId3"/>
          <a:stretch>
            <a:fillRect/>
          </a:stretch>
        </p:blipFill>
        <p:spPr>
          <a:xfrm>
            <a:off x="537007" y="1078992"/>
            <a:ext cx="806998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patterns you'll reuse</a:t>
            </a:r>
          </a:p>
        </p:txBody>
      </p:sp>
      <p:pic>
        <p:nvPicPr>
          <p:cNvPr id="5" name="Picture 4" descr="Prompt patterns you'll reus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Prompts are just text: injection</a:t>
            </a:r>
          </a:p>
        </p:txBody>
      </p:sp>
      <p:pic>
        <p:nvPicPr>
          <p:cNvPr id="5" name="Picture 4" descr="Prompts are just text: injection"/>
          <p:cNvPicPr>
            <a:picLocks noChangeAspect="1"/>
          </p:cNvPicPr>
          <p:nvPr/>
        </p:nvPicPr>
        <p:blipFill>
          <a:blip r:embed="rId3"/>
          <a:stretch>
            <a:fillRect/>
          </a:stretch>
        </p:blipFill>
        <p:spPr>
          <a:xfrm>
            <a:off x="274320" y="1385231"/>
            <a:ext cx="8595360" cy="297654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prompt-injection concept (Willison 2022)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HW5 is out</a:t>
            </a:r>
          </a:p>
        </p:txBody>
      </p:sp>
      <p:pic>
        <p:nvPicPr>
          <p:cNvPr id="5" name="Picture 4" descr="HW5 is out"/>
          <p:cNvPicPr>
            <a:picLocks noChangeAspect="1"/>
          </p:cNvPicPr>
          <p:nvPr/>
        </p:nvPicPr>
        <p:blipFill>
          <a:blip r:embed="rId3"/>
          <a:stretch>
            <a:fillRect/>
          </a:stretch>
        </p:blipFill>
        <p:spPr>
          <a:xfrm>
            <a:off x="404106" y="1078992"/>
            <a:ext cx="833578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weeks/homeworks/hw5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714320" y="1078992"/>
            <a:ext cx="77153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checkpoint peer-review rou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Mid-semester checkpoint: peer review</a:t>
            </a:r>
          </a:p>
        </p:txBody>
      </p:sp>
      <p:pic>
        <p:nvPicPr>
          <p:cNvPr id="5" name="Picture 4" descr="Mid-semester checkpoint: peer review"/>
          <p:cNvPicPr>
            <a:picLocks noChangeAspect="1"/>
          </p:cNvPicPr>
          <p:nvPr/>
        </p:nvPicPr>
        <p:blipFill>
          <a:blip r:embed="rId3"/>
          <a:stretch>
            <a:fillRect/>
          </a:stretch>
        </p:blipFill>
        <p:spPr>
          <a:xfrm>
            <a:off x="1134465" y="1078992"/>
            <a:ext cx="68750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project/checkpoint/TEMPLATE.md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it 100% on the eval set, then say it in fewer words. Kickoff now, finish with HW5."/>
          <p:cNvPicPr>
            <a:picLocks noChangeAspect="1"/>
          </p:cNvPicPr>
          <p:nvPr/>
        </p:nvPicPr>
        <p:blipFill>
          <a:blip r:embed="rId3"/>
          <a:stretch>
            <a:fillRect/>
          </a:stretch>
        </p:blipFill>
        <p:spPr>
          <a:xfrm>
            <a:off x="0" y="-788194"/>
            <a:ext cx="9144000" cy="6719887"/>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Game on: Prompt Golf Arena</a:t>
            </a:r>
          </a:p>
          <a:p>
            <a:pPr algn="ctr" marL="0" indent="0">
              <a:buNone/>
            </a:pPr>
            <a:r>
              <a:rPr sz="2000">
                <a:solidFill>
                  <a:srgbClr val="FFFFFF"/>
                </a:solidFill>
              </a:rPr>
              <a:t>Hit 100% on the eval set, then say it in fewer words. Kickoff now, finish with HW5.</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Santeri Viinamäki, Wikimedia Commons, CC BY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 Arena</a:t>
            </a:r>
          </a:p>
        </p:txBody>
      </p:sp>
      <p:pic>
        <p:nvPicPr>
          <p:cNvPr id="5" name="Picture 4" descr="Prompt Golf Arena"/>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weeks/week-10/class-01/exercise/prompt_lab.py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harness behind it</a:t>
            </a:r>
          </a:p>
        </p:txBody>
      </p:sp>
      <p:pic>
        <p:nvPicPr>
          <p:cNvPr id="5" name="Picture 4" descr="Build the harness behind it"/>
          <p:cNvPicPr>
            <a:picLocks noChangeAspect="1"/>
          </p:cNvPicPr>
          <p:nvPr/>
        </p:nvPicPr>
        <p:blipFill>
          <a:blip r:embed="rId3"/>
          <a:stretch>
            <a:fillRect/>
          </a:stretch>
        </p:blipFill>
        <p:spPr>
          <a:xfrm>
            <a:off x="1186132" y="1078992"/>
            <a:ext cx="67717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weeks/week-10/class-01/exercise/prompt_lab.py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03595" y="1078992"/>
            <a:ext cx="77368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453452" y="1078992"/>
            <a:ext cx="823709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