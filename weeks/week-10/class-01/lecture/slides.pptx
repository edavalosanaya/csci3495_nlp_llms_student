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Prompting instead of gradient updates, in-context learning across zero, one and few shot, what a prompt is actually made of, why prompts break, how to test one like an experiment, then checkpoint peer review and Prompt Golf.</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7. Now we hold it constant while we vary the prompt.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11). Prompt text alone is never a security boundary.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W11C1.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quizzed in Class 2. Optional papers are enrichment, never quizzed.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Large models do new tasks from the prompt alone. The structure matters: instruction, demonstrations, query, cue. And the sensitivity is real, so wording, order and format can swing the score, which is why you test rather than guess.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10, Class 1</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 figures: Brown et al. 2020 (arXiv:2005.14165) Fig. 2.1;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pic>
        <p:nvPicPr>
          <p:cNvPr id="5" name="Picture 4" descr="A new way to &quot;program&quot; model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pic>
        <p:nvPicPr>
          <p:cNvPr id="5" name="Picture 4" descr="Anatomy of a prompt"/>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pic>
        <p:nvPicPr>
          <p:cNvPr id="5" name="Picture 4" descr="Why does ICL work at all?"/>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pic>
        <p:nvPicPr>
          <p:cNvPr id="5" name="Picture 4" descr="What makes prompts work"/>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pic>
        <p:nvPicPr>
          <p:cNvPr id="5" name="Picture 4" descr="What makes prompts break"/>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pic>
        <p:nvPicPr>
          <p:cNvPr id="5" name="Picture 4" descr="Prompt sensitivity is real"/>
          <p:cNvPicPr>
            <a:picLocks noChangeAspect="1"/>
          </p:cNvPicPr>
          <p:nvPr/>
        </p:nvPicPr>
        <p:blipFill>
          <a:blip r:embed="rId3"/>
          <a:stretch>
            <a:fillRect/>
          </a:stretch>
        </p:blipFill>
        <p:spPr>
          <a:xfrm>
            <a:off x="470263" y="1078992"/>
            <a:ext cx="820347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Engineering prompts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pic>
        <p:nvPicPr>
          <p:cNvPr id="5" name="Picture 4" descr="Engineer prompts like an experiment"/>
          <p:cNvPicPr>
            <a:picLocks noChangeAspect="1"/>
          </p:cNvPicPr>
          <p:nvPr/>
        </p:nvPicPr>
        <p:blipFill>
          <a:blip r:embed="rId3"/>
          <a:stretch>
            <a:fillRect/>
          </a:stretch>
        </p:blipFill>
        <p:spPr>
          <a:xfrm>
            <a:off x="717127" y="1078992"/>
            <a:ext cx="770974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pic>
        <p:nvPicPr>
          <p:cNvPr id="5" name="Picture 4" descr="Decoding settings affect prompts too"/>
          <p:cNvPicPr>
            <a:picLocks noChangeAspect="1"/>
          </p:cNvPicPr>
          <p:nvPr/>
        </p:nvPicPr>
        <p:blipFill>
          <a:blip r:embed="rId3"/>
          <a:stretch>
            <a:fillRect/>
          </a:stretch>
        </p:blipFill>
        <p:spPr>
          <a:xfrm>
            <a:off x="274320" y="1614357"/>
            <a:ext cx="8595360" cy="25182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pic>
        <p:nvPicPr>
          <p:cNvPr id="5" name="Picture 4" descr="&quot;Prompt golf&quot;"/>
          <p:cNvPicPr>
            <a:picLocks noChangeAspect="1"/>
          </p:cNvPicPr>
          <p:nvPr/>
        </p:nvPicPr>
        <p:blipFill>
          <a:blip r:embed="rId3"/>
          <a:stretch>
            <a:fillRect/>
          </a:stretch>
        </p:blipFill>
        <p:spPr>
          <a:xfrm>
            <a:off x="537007" y="1078992"/>
            <a:ext cx="806998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pic>
        <p:nvPicPr>
          <p:cNvPr id="5" name="Picture 4" descr="Prompt patterns you'll reus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pic>
        <p:nvPicPr>
          <p:cNvPr id="5" name="Picture 4" descr="Prompts are just text: injection"/>
          <p:cNvPicPr>
            <a:picLocks noChangeAspect="1"/>
          </p:cNvPicPr>
          <p:nvPr/>
        </p:nvPicPr>
        <p:blipFill>
          <a:blip r:embed="rId3"/>
          <a:stretch>
            <a:fillRect/>
          </a:stretch>
        </p:blipFill>
        <p:spPr>
          <a:xfrm>
            <a:off x="274320" y="1385231"/>
            <a:ext cx="8595360" cy="297654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pic>
        <p:nvPicPr>
          <p:cNvPr id="5" name="Picture 4" descr="HW5 is out"/>
          <p:cNvPicPr>
            <a:picLocks noChangeAspect="1"/>
          </p:cNvPicPr>
          <p:nvPr/>
        </p:nvPicPr>
        <p:blipFill>
          <a:blip r:embed="rId3"/>
          <a:stretch>
            <a:fillRect/>
          </a:stretch>
        </p:blipFill>
        <p:spPr>
          <a:xfrm>
            <a:off x="404106" y="1078992"/>
            <a:ext cx="83357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14320" y="1078992"/>
            <a:ext cx="77153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pic>
        <p:nvPicPr>
          <p:cNvPr id="5" name="Picture 4" descr="Mid-semester checkpoint: peer review"/>
          <p:cNvPicPr>
            <a:picLocks noChangeAspect="1"/>
          </p:cNvPicPr>
          <p:nvPr/>
        </p:nvPicPr>
        <p:blipFill>
          <a:blip r:embed="rId3"/>
          <a:stretch>
            <a:fillRect/>
          </a:stretch>
        </p:blipFill>
        <p:spPr>
          <a:xfrm>
            <a:off x="1134465" y="1078992"/>
            <a:ext cx="68750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pic>
        <p:nvPicPr>
          <p:cNvPr id="5" name="Picture 4" descr="Prompt Golf Arena"/>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weeks/week-10/class-01/exercise/prompt_lab.py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pic>
        <p:nvPicPr>
          <p:cNvPr id="5" name="Picture 4" descr="Build the harness behind it"/>
          <p:cNvPicPr>
            <a:picLocks noChangeAspect="1"/>
          </p:cNvPicPr>
          <p:nvPr/>
        </p:nvPicPr>
        <p:blipFill>
          <a:blip r:embed="rId3"/>
          <a:stretch>
            <a:fillRect/>
          </a:stretch>
        </p:blipFill>
        <p:spPr>
          <a:xfrm>
            <a:off x="1186132" y="1078992"/>
            <a:ext cx="67717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weeks/week-10/class-01/exercise/prompt_lab.py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03595" y="1078992"/>
            <a:ext cx="77368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53452" y="1078992"/>
            <a:ext cx="823709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