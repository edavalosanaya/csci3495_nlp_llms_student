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omments/modernComment_11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5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77" r:id="rId9"/>
    <p:sldId id="262" r:id="rId10"/>
    <p:sldId id="263" r:id="rId11"/>
    <p:sldId id="264" r:id="rId12"/>
    <p:sldId id="265" r:id="rId13"/>
    <p:sldId id="266" r:id="rId14"/>
    <p:sldId id="280" r:id="rId15"/>
    <p:sldId id="279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75" r:id="rId2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Impact" panose="020B0806030902050204" pitchFamily="34" charset="0"/>
      <p:regular r:id="rId27"/>
    </p:embeddedFont>
    <p:embeddedFont>
      <p:font typeface="Playfair Display" pitchFamily="2" charset="77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Light" panose="020F030202020403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2C97EA2-6ACE-864E-42FB-DE141C147501}" name="Davalos Anaya, Eduardo" initials="" userId="S::davalosedu515@trinity.edu::147665fc-f0c3-4e20-8506-e8d42ed243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>
        <p:scale>
          <a:sx n="118" d="100"/>
          <a:sy n="118" d="100"/>
        </p:scale>
        <p:origin x="14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8043F4-46C2-284D-91A6-FC1BE62E0A5D}" authorId="{C2C97EA2-6ACE-864E-42FB-DE141C147501}" created="2026-10-26T00:24:05.174">
    <pc:sldMkLst xmlns:pc="http://schemas.microsoft.com/office/powerpoint/2013/main/command">
      <pc:docMk/>
      <pc:sldMk cId="0" sldId="272"/>
    </pc:sldMkLst>
    <p188:txBody>
      <a:bodyPr/>
      <a:lstStyle/>
      <a:p>
        <a:r>
          <a:rPr lang="en-US"/>
          <a:t>I think instead of the equation at the bottom, I would like to just show the difference between SFT and DPO. SFT is imitation, DPO shows positive/negative examples.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978408"/>
            <a:ext cx="3795919" cy="1828800"/>
          </a:xfrm>
        </p:spPr>
        <p:txBody>
          <a:bodyPr/>
          <a:lstStyle/>
          <a:p>
            <a:r>
              <a:rPr dirty="0"/>
              <a:t>CSCI 3495</a:t>
            </a:r>
          </a:p>
          <a:p>
            <a:r>
              <a:rPr dirty="0"/>
              <a:t>Alignment: RLHF,</a:t>
            </a:r>
          </a:p>
          <a:p>
            <a:r>
              <a:rPr dirty="0" err="1"/>
              <a:t>InstructGPT</a:t>
            </a:r>
            <a:r>
              <a:rPr dirty="0"/>
              <a:t> &amp; DPO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Processing &amp; Large Language Models</a:t>
            </a:r>
          </a:p>
          <a:p>
            <a:r>
              <a:t>Week 10, Class 1  ·  Mon Oct 26,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457200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86868B"/>
                </a:solidFill>
              </a:rPr>
              <a:t>Source: Shoggoth with Smiley Face, @anthrupad (2023), via Know Your Meme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AB7C2B-74E9-50C3-8291-09B69D25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807" y="92103"/>
            <a:ext cx="24003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8A342-3751-A697-82AE-EE9743E6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QUIZ: Tell me what you know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0C15038-F6D0-4DF9-284E-064FF8CD1A4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BD24D-D0B1-B348-857E-A4CD5CF2D2B9}"/>
              </a:ext>
            </a:extLst>
          </p:cNvPr>
          <p:cNvSpPr txBox="1"/>
          <p:nvPr/>
        </p:nvSpPr>
        <p:spPr>
          <a:xfrm>
            <a:off x="145420" y="1401150"/>
            <a:ext cx="1979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Supervised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795AA1-6407-8647-7DD1-4A9CBABF1A31}"/>
              </a:ext>
            </a:extLst>
          </p:cNvPr>
          <p:cNvCxnSpPr/>
          <p:nvPr/>
        </p:nvCxnSpPr>
        <p:spPr>
          <a:xfrm>
            <a:off x="2196856" y="1478943"/>
            <a:ext cx="0" cy="2997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5D028B-5DD2-4734-21AA-882896BED9A6}"/>
              </a:ext>
            </a:extLst>
          </p:cNvPr>
          <p:cNvSpPr txBox="1"/>
          <p:nvPr/>
        </p:nvSpPr>
        <p:spPr>
          <a:xfrm>
            <a:off x="2396277" y="1401150"/>
            <a:ext cx="2066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Unsupervised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1730F-63AB-A613-C66B-FAF946323BCC}"/>
              </a:ext>
            </a:extLst>
          </p:cNvPr>
          <p:cNvSpPr txBox="1"/>
          <p:nvPr/>
        </p:nvSpPr>
        <p:spPr>
          <a:xfrm>
            <a:off x="4623966" y="1401149"/>
            <a:ext cx="2144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Self-supervised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ABA97-E29E-9AA6-5865-E33044FC1EA8}"/>
              </a:ext>
            </a:extLst>
          </p:cNvPr>
          <p:cNvSpPr txBox="1"/>
          <p:nvPr/>
        </p:nvSpPr>
        <p:spPr>
          <a:xfrm>
            <a:off x="6993452" y="1402868"/>
            <a:ext cx="2144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Reinforcement Learning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44BB6C-5325-4F40-6FEC-DF82B4C1EFBB}"/>
              </a:ext>
            </a:extLst>
          </p:cNvPr>
          <p:cNvCxnSpPr/>
          <p:nvPr/>
        </p:nvCxnSpPr>
        <p:spPr>
          <a:xfrm>
            <a:off x="4543816" y="1478942"/>
            <a:ext cx="0" cy="2997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00F441-746B-2BCE-78AD-D227A063CC59}"/>
              </a:ext>
            </a:extLst>
          </p:cNvPr>
          <p:cNvCxnSpPr/>
          <p:nvPr/>
        </p:nvCxnSpPr>
        <p:spPr>
          <a:xfrm>
            <a:off x="6937795" y="1478941"/>
            <a:ext cx="0" cy="29976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63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2064" y="411480"/>
            <a:ext cx="5303520" cy="4279392"/>
          </a:xfrm>
        </p:spPr>
        <p:txBody>
          <a:bodyPr anchor="ctr"/>
          <a:lstStyle/>
          <a:p>
            <a:r>
              <a:rPr sz="6600" dirty="0"/>
              <a:t>What has an LLM actually learned so far?</a:t>
            </a:r>
          </a:p>
        </p:txBody>
      </p:sp>
      <p:pic>
        <p:nvPicPr>
          <p:cNvPr id="4" name="Picture 3" descr="meme-shoggoth-gp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754"/>
            <a:ext cx="2834640" cy="2422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TetraspaceWest (2022), the original shoggoth drawing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/>
              <a:t>Recap</a:t>
            </a:r>
            <a:r>
              <a:rPr sz="2800" dirty="0"/>
              <a:t>: predict the next token, repeat</a:t>
            </a:r>
          </a:p>
        </p:txBody>
      </p:sp>
      <p:pic>
        <p:nvPicPr>
          <p:cNvPr id="4" name="Picture 3" descr="w9-gener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1490606"/>
            <a:ext cx="8467344" cy="2962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“Explain the moon landing to a 6 year old”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1371600"/>
            <a:ext cx="3886200" cy="31546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5544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34343"/>
                </a:solidFill>
              </a:rPr>
              <a:t>GPT-3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0312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6868B"/>
                </a:solidFill>
              </a:rPr>
              <a:t>Explain the theory of gravity to a 6 year old.</a:t>
            </a:r>
          </a:p>
          <a:p>
            <a:pPr algn="l"/>
            <a:endParaRPr sz="1700" b="0" i="0">
              <a:solidFill>
                <a:srgbClr val="86868B"/>
              </a:solidFill>
            </a:endParaRPr>
          </a:p>
          <a:p>
            <a:pPr algn="l"/>
            <a:r>
              <a:rPr sz="1700" b="0" i="0">
                <a:solidFill>
                  <a:srgbClr val="86868B"/>
                </a:solidFill>
              </a:rPr>
              <a:t>Explain the theory of relativity to a 6 year old in a few sentences.</a:t>
            </a:r>
          </a:p>
          <a:p>
            <a:pPr algn="l"/>
            <a:endParaRPr sz="1700" b="0" i="0">
              <a:solidFill>
                <a:srgbClr val="86868B"/>
              </a:solidFill>
            </a:endParaRPr>
          </a:p>
          <a:p>
            <a:pPr algn="l"/>
            <a:r>
              <a:rPr sz="1700" b="0" i="0">
                <a:solidFill>
                  <a:srgbClr val="86868B"/>
                </a:solidFill>
              </a:rPr>
              <a:t>Explain the big bang theory to a 6 year 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6864" y="1371600"/>
            <a:ext cx="3886200" cy="31546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01184" y="15544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C72B0"/>
                </a:solidFill>
              </a:rPr>
              <a:t>InstructGPT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210312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D1D1F"/>
                </a:solidFill>
              </a:rPr>
              <a:t>People went to the moon, and they took pictures of what they saw, and sent them back to the earth so we could all see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OpenAI, “Aligning language models to follow instructions” (2022); Ouyang et al. 2022 (arXiv:2203.02155)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Most likely ≠ most helpful</a:t>
            </a:r>
          </a:p>
        </p:txBody>
      </p:sp>
      <p:pic>
        <p:nvPicPr>
          <p:cNvPr id="4" name="Picture 3" descr="meme-pige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234440"/>
            <a:ext cx="386974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7019" y="2485339"/>
            <a:ext cx="1315711" cy="416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GPT-3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44494" y="1303934"/>
            <a:ext cx="162529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a list of more</a:t>
            </a:r>
          </a:p>
          <a:p>
            <a:pPr algn="ctr"/>
            <a:r>
              <a:rPr sz="2000" b="1" i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153204"/>
            <a:ext cx="3869740" cy="486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Is this an answer?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“Is This a Pigeon?” meme, from The Brave Fighter of Sun Fighbird (1990), via imgflip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2064" y="411480"/>
            <a:ext cx="5303520" cy="4279392"/>
          </a:xfrm>
        </p:spPr>
        <p:txBody>
          <a:bodyPr anchor="ctr"/>
          <a:lstStyle/>
          <a:p>
            <a:r>
              <a:rPr sz="7200" dirty="0"/>
              <a:t>What does it mean for a model to be aligned?</a:t>
            </a:r>
          </a:p>
        </p:txBody>
      </p:sp>
      <p:pic>
        <p:nvPicPr>
          <p:cNvPr id="4" name="Picture 3" descr="photo-dog-tr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302" y="1656417"/>
            <a:ext cx="3128378" cy="2080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Pete Bellis, via Wikimedia Commons, CC0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992912-13FC-37D7-DFA7-5A0D63217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</a:t>
            </a:r>
            <a:r>
              <a:rPr lang="en-US" dirty="0"/>
              <a:t>: A Traditional Agent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900757B-16B7-1BAF-6C46-970A52EFBB1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rawing of a robot and a planet&#10;&#10;AI-generated content may be incorrect.">
            <a:extLst>
              <a:ext uri="{FF2B5EF4-FFF2-40B4-BE49-F238E27FC236}">
                <a16:creationId xmlns:a16="http://schemas.microsoft.com/office/drawing/2014/main" id="{B99696BE-83E3-6FE6-1EA2-9ED0EE38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015" y="1304395"/>
            <a:ext cx="5025985" cy="3263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E22E1-5ED4-2298-9470-14053D0A6D80}"/>
                  </a:ext>
                </a:extLst>
              </p:cNvPr>
              <p:cNvSpPr txBox="1"/>
              <p:nvPr/>
            </p:nvSpPr>
            <p:spPr>
              <a:xfrm>
                <a:off x="497295" y="1401149"/>
                <a:ext cx="3960552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 traditional (math, game theory, and reinforcement learning) agent includes:</a:t>
                </a:r>
              </a:p>
              <a:p>
                <a:endParaRPr lang="en-US" sz="2000" dirty="0"/>
              </a:p>
              <a:p>
                <a:pPr marL="457200" indent="-457200">
                  <a:buAutoNum type="arabicParenBoth"/>
                </a:pPr>
                <a:r>
                  <a:rPr lang="en-US" sz="2000" dirty="0"/>
                  <a:t>State, </a:t>
                </a:r>
                <a:r>
                  <a:rPr lang="en-US" sz="2000" i="1" dirty="0"/>
                  <a:t>s</a:t>
                </a:r>
              </a:p>
              <a:p>
                <a:pPr marL="457200" indent="-457200">
                  <a:buAutoNum type="arabicParenBoth"/>
                </a:pPr>
                <a:r>
                  <a:rPr lang="en-US" sz="2000" dirty="0"/>
                  <a:t>Actions, </a:t>
                </a:r>
                <a:r>
                  <a:rPr lang="en-US" sz="2000" i="1" dirty="0"/>
                  <a:t>a</a:t>
                </a:r>
              </a:p>
              <a:p>
                <a:pPr marL="457200" indent="-457200">
                  <a:buAutoNum type="arabicParenBoth"/>
                </a:pPr>
                <a:r>
                  <a:rPr lang="en-US" sz="2000" dirty="0">
                    <a:solidFill>
                      <a:srgbClr val="FF0000"/>
                    </a:solidFill>
                  </a:rPr>
                  <a:t>Reward,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r</a:t>
                </a:r>
              </a:p>
              <a:p>
                <a:pPr marL="457200" indent="-457200">
                  <a:buAutoNum type="arabicParenBoth"/>
                </a:pPr>
                <a:r>
                  <a:rPr lang="en-US" sz="2000" dirty="0">
                    <a:solidFill>
                      <a:srgbClr val="FF0000"/>
                    </a:solidFill>
                  </a:rPr>
                  <a:t>Policy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i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sz="2000" i="1" dirty="0"/>
              </a:p>
              <a:p>
                <a:r>
                  <a:rPr lang="en-US" sz="1200" b="1" dirty="0"/>
                  <a:t>Analog</a:t>
                </a:r>
              </a:p>
              <a:p>
                <a:r>
                  <a:rPr lang="en-US" sz="1200" dirty="0"/>
                  <a:t>State is the memory, actions are transformative tools, and reward is informative tools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E22E1-5ED4-2298-9470-14053D0A6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95" y="1401149"/>
                <a:ext cx="3960552" cy="3508653"/>
              </a:xfrm>
              <a:prstGeom prst="rect">
                <a:avLst/>
              </a:prstGeom>
              <a:blipFill>
                <a:blip r:embed="rId3"/>
                <a:stretch>
                  <a:fillRect l="-1603" t="-1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56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Can you write a reward for “helpful”?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AACA96-D3A2-7EC1-7959-8D5058FDD03B}"/>
              </a:ext>
            </a:extLst>
          </p:cNvPr>
          <p:cNvGrpSpPr/>
          <p:nvPr/>
        </p:nvGrpSpPr>
        <p:grpSpPr>
          <a:xfrm>
            <a:off x="1665026" y="1234440"/>
            <a:ext cx="5813946" cy="3429000"/>
            <a:chOff x="1665026" y="1234440"/>
            <a:chExt cx="5813946" cy="3429000"/>
          </a:xfrm>
        </p:grpSpPr>
        <p:pic>
          <p:nvPicPr>
            <p:cNvPr id="4" name="Picture 3" descr="meme-one-does-not-simpl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5026" y="1234440"/>
              <a:ext cx="5813946" cy="3429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665026" y="1337310"/>
              <a:ext cx="5813946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 i="0">
                  <a:ln w="22225">
                    <a:solidFill>
                      <a:srgbClr val="000000"/>
                    </a:solidFill>
                  </a:ln>
                  <a:solidFill>
                    <a:srgbClr val="FFFFFF"/>
                  </a:solidFill>
                  <a:latin typeface="Impact"/>
                </a:rPr>
                <a:t>ONE DOES NOT SIMPLY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665026" y="3909060"/>
              <a:ext cx="5813946" cy="61721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300" b="1" i="0">
                  <a:ln w="22225">
                    <a:solidFill>
                      <a:srgbClr val="000000"/>
                    </a:solidFill>
                  </a:ln>
                  <a:solidFill>
                    <a:srgbClr val="FFFFFF"/>
                  </a:solidFill>
                  <a:latin typeface="Impact"/>
                </a:rPr>
                <a:t>WRITE A REWARD FUNCTION FOR “HELPFUL”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Can you teach a backflip without a reward?</a:t>
            </a:r>
          </a:p>
        </p:txBody>
      </p:sp>
      <p:pic>
        <p:nvPicPr>
          <p:cNvPr id="4" name="Picture 3" descr="christiano-2017-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6435"/>
            <a:ext cx="2743200" cy="2199289"/>
          </a:xfrm>
          <a:prstGeom prst="rect">
            <a:avLst/>
          </a:prstGeom>
        </p:spPr>
      </p:pic>
      <p:pic>
        <p:nvPicPr>
          <p:cNvPr id="5" name="Picture 4" descr="openai-2017-backflip-handcode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234440"/>
            <a:ext cx="246888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0440" y="3794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34343"/>
                </a:solidFill>
              </a:rPr>
              <a:t>hand-written reward</a:t>
            </a:r>
          </a:p>
          <a:p>
            <a:pPr algn="ctr"/>
            <a:r>
              <a:rPr sz="1500" b="0" i="0">
                <a:solidFill>
                  <a:srgbClr val="434343"/>
                </a:solidFill>
              </a:rPr>
              <a:t>2 hours of coding</a:t>
            </a:r>
          </a:p>
        </p:txBody>
      </p:sp>
      <p:pic>
        <p:nvPicPr>
          <p:cNvPr id="7" name="Picture 6" descr="openai-2017-backflip-hum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246888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3794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4C72B0"/>
                </a:solidFill>
              </a:rPr>
              <a:t>900 human comparisons</a:t>
            </a:r>
          </a:p>
          <a:p>
            <a:pPr algn="ctr"/>
            <a:r>
              <a:rPr sz="1500" b="1" i="0">
                <a:solidFill>
                  <a:srgbClr val="4C72B0"/>
                </a:solidFill>
              </a:rPr>
              <a:t>under an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Christiano et al. 2017 (arXiv:1706.03741); OpenAI, “Learning from human preferences” (2017)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9521" y="406950"/>
            <a:ext cx="3411550" cy="994200"/>
          </a:xfrm>
        </p:spPr>
        <p:txBody>
          <a:bodyPr/>
          <a:lstStyle/>
          <a:p>
            <a:r>
              <a:rPr sz="2800" dirty="0" err="1"/>
              <a:t>InstructGPT</a:t>
            </a:r>
            <a:r>
              <a:rPr sz="2800" dirty="0"/>
              <a:t>: the RLHF recipe</a:t>
            </a:r>
          </a:p>
        </p:txBody>
      </p:sp>
      <p:pic>
        <p:nvPicPr>
          <p:cNvPr id="4" name="Picture 3" descr="instructgpt-2022-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79" y="1863090"/>
            <a:ext cx="2651760" cy="2125980"/>
          </a:xfrm>
          <a:prstGeom prst="rect">
            <a:avLst/>
          </a:prstGeom>
        </p:spPr>
      </p:pic>
      <p:pic>
        <p:nvPicPr>
          <p:cNvPr id="5" name="Picture 4" descr="instructgpt-2022-fi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202" y="550191"/>
            <a:ext cx="5388478" cy="4065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InstructGPT, Ouyang et al. 2022 (arXiv:2203.02155), Fig.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Why rank answers instead of writing them?</a:t>
            </a:r>
          </a:p>
        </p:txBody>
      </p:sp>
      <p:pic>
        <p:nvPicPr>
          <p:cNvPr id="4" name="Picture 3" descr="hf-rlhf-reward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0477"/>
            <a:ext cx="4206240" cy="3176924"/>
          </a:xfrm>
          <a:prstGeom prst="rect">
            <a:avLst/>
          </a:prstGeom>
        </p:spPr>
      </p:pic>
      <p:pic>
        <p:nvPicPr>
          <p:cNvPr id="5" name="Picture 4" descr="instructgpt-2022-eq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5478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Hugging Face, “Illustrating RLHF” (Lambert et al. 2022); InstructGPT, Ouyang et al. 2022, Eq. 1 and §3.4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103120"/>
            <a:ext cx="4023360" cy="484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C72B0"/>
                </a:solidFill>
                <a:latin typeface="Cambria Math"/>
              </a:rPr>
              <a:t>rθ(x, y_w) = 2.1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34343"/>
                </a:solidFill>
              </a:rPr>
              <a:t>score of the answer the labeler picked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633472"/>
            <a:ext cx="4023360" cy="484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D8452"/>
                </a:solidFill>
                <a:latin typeface="Cambria Math"/>
              </a:rPr>
              <a:t>rθ(x, y_l) = −0.4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34343"/>
                </a:solidFill>
              </a:rPr>
              <a:t>score of the answer they rejected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163824"/>
            <a:ext cx="4023360" cy="484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1D1F"/>
                </a:solidFill>
                <a:latin typeface="Cambria Math"/>
              </a:rPr>
              <a:t>σ(2.1 − (−0.4)) = 0.92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34343"/>
                </a:solidFill>
              </a:rPr>
              <a:t>chance the reward model agrees with the labeler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694175"/>
            <a:ext cx="4023360" cy="484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1D1F"/>
                </a:solidFill>
                <a:latin typeface="Cambria Math"/>
              </a:rPr>
              <a:t>loss = −log 0.92 = 0.08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34343"/>
                </a:solidFill>
              </a:rPr>
              <a:t>small when it agrees, large when it does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43400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1D1F"/>
                </a:solidFill>
              </a:rPr>
              <a:t>Judging is faster and easier than writing, and labelers mostly agree: 72.6% of the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Chase the reward, but on a KL leash</a:t>
            </a:r>
          </a:p>
        </p:txBody>
      </p:sp>
      <p:pic>
        <p:nvPicPr>
          <p:cNvPr id="4" name="Picture 3" descr="hf-rlhf-p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42" y="1234439"/>
            <a:ext cx="4075875" cy="3474720"/>
          </a:xfrm>
          <a:prstGeom prst="rect">
            <a:avLst/>
          </a:prstGeom>
        </p:spPr>
      </p:pic>
      <p:pic>
        <p:nvPicPr>
          <p:cNvPr id="5" name="Picture 4" descr="instructgpt-2022-eq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565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Hugging Face, “Illustrating RLHF” (Lambert et al. 2022); InstructGPT, Ouyang et al. 2022, Eq.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194560"/>
            <a:ext cx="402336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C72B0"/>
                </a:solidFill>
                <a:latin typeface="Cambria Math"/>
              </a:rPr>
              <a:t>rθ(x, y)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34343"/>
                </a:solidFill>
              </a:rPr>
              <a:t>the reward model's score: chase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971800"/>
            <a:ext cx="402336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dirty="0">
                <a:solidFill>
                  <a:srgbClr val="DD8452"/>
                </a:solidFill>
                <a:latin typeface="Cambria Math"/>
              </a:rPr>
              <a:t>− β log(π_RL / π_SFT)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34343"/>
                </a:solidFill>
              </a:rPr>
              <a:t>penalty for drifting from the SFT model: the leash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3749039"/>
            <a:ext cx="4023360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1D1F"/>
                </a:solidFill>
                <a:latin typeface="Cambria Math"/>
              </a:rPr>
              <a:t>+ γ E[log π_RL(x)]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434343"/>
                </a:solidFill>
              </a:rPr>
              <a:t>keep predicting pretraining text, so nothing is forgotten (PPO-ptx)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3099B3-1AA7-664C-0A3B-4259C86B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21" y="406950"/>
            <a:ext cx="8005800" cy="4136770"/>
          </a:xfrm>
        </p:spPr>
        <p:txBody>
          <a:bodyPr/>
          <a:lstStyle/>
          <a:p>
            <a:r>
              <a:rPr lang="en-US" sz="11500" dirty="0"/>
              <a:t>What is one possible flaw?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2D96FA7-9E20-612E-D4B8-DAECC43F8AA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person sitting in a row of mannequins&#10;&#10;AI-generated content may be incorrect.">
            <a:extLst>
              <a:ext uri="{FF2B5EF4-FFF2-40B4-BE49-F238E27FC236}">
                <a16:creationId xmlns:a16="http://schemas.microsoft.com/office/drawing/2014/main" id="{AA392630-9134-E78A-C593-001091AB7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7" y="3197846"/>
            <a:ext cx="3214106" cy="17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9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would you do for points?</a:t>
            </a:r>
          </a:p>
        </p:txBody>
      </p:sp>
      <p:pic>
        <p:nvPicPr>
          <p:cNvPr id="4" name="Picture 3" descr="openai-2016-coastrunners-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9" y="1234440"/>
            <a:ext cx="4543425" cy="3429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94960" y="128016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0" y="1417319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>
                <a:solidFill>
                  <a:srgbClr val="434343"/>
                </a:solidFill>
              </a:rPr>
              <a:t>What the Human meant</a:t>
            </a:r>
            <a:endParaRPr sz="1100" b="1" dirty="0">
              <a:solidFill>
                <a:srgbClr val="4343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7840" y="1673351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</a:rPr>
              <a:t>Finish the race, ideally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42316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2560320"/>
            <a:ext cx="31089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1" dirty="0">
                <a:solidFill>
                  <a:srgbClr val="4C72B0"/>
                </a:solidFill>
              </a:rPr>
              <a:t>What the agent was rewarded for</a:t>
            </a:r>
            <a:endParaRPr sz="1100" b="1" dirty="0">
              <a:solidFill>
                <a:srgbClr val="4C72B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7840" y="281635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D1D1F"/>
                </a:solidFill>
              </a:rPr>
              <a:t>The game's score: points for hitting targets along the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749039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D1D1F"/>
                </a:solidFill>
              </a:rPr>
              <a:t>What could go wrong?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Source: OpenAI, “Faulty reward functions in the wild” (Amodei &amp; Clark, 2016), CoastRunners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What the agent actually did</a:t>
            </a:r>
          </a:p>
        </p:txBody>
      </p:sp>
      <p:pic>
        <p:nvPicPr>
          <p:cNvPr id="4" name="Picture 3" descr="openai-2016-coastrunner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62" y="1234440"/>
            <a:ext cx="4543154" cy="3429000"/>
          </a:xfrm>
          <a:prstGeom prst="rect">
            <a:avLst/>
          </a:prstGeom>
        </p:spPr>
      </p:pic>
      <p:pic>
        <p:nvPicPr>
          <p:cNvPr id="5" name="Picture 4" descr="meme-this-is-fin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852928"/>
            <a:ext cx="3291840" cy="18516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OpenAI, “Faulty reward functions in the wild” (Amodei &amp; Clark, 2016); “This is fine”, KC Green, via GIPHY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32918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434343"/>
                </a:solidFill>
              </a:rPr>
              <a:t>Loops a lagoon hitting 3 targets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34343"/>
                </a:solidFill>
              </a:rPr>
              <a:t>Catches fire, crashes, wrong way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34343"/>
                </a:solidFill>
              </a:rPr>
              <a:t>Never finishes a lap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D1D1F"/>
                </a:solidFill>
              </a:rPr>
              <a:t>Scores 20% more than humans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Why the KL leash exists</a:t>
            </a:r>
          </a:p>
        </p:txBody>
      </p:sp>
      <p:pic>
        <p:nvPicPr>
          <p:cNvPr id="9" name="Picture 8" descr="meme-dug-squirre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61218"/>
            <a:ext cx="4937760" cy="34211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3541" y="4335136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dirty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THE POLICY, SPOTTING A</a:t>
            </a:r>
            <a:r>
              <a:rPr lang="en-US" sz="1800" b="1" dirty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 </a:t>
            </a:r>
            <a:r>
              <a:rPr sz="1800" b="1" dirty="0">
                <a:ln w="22225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/>
              </a:rPr>
              <a:t>REWARD-MODEL LOOPHOLE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1.3B with RLHF beat 175B without it</a:t>
            </a:r>
          </a:p>
        </p:txBody>
      </p:sp>
      <p:pic>
        <p:nvPicPr>
          <p:cNvPr id="4" name="Picture 3" descr="instructgpt-2022-fi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91" y="1141216"/>
            <a:ext cx="5798818" cy="3584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InstructGPT, Ouyang et al. 2022 (arXiv:2203.02155), Fig.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Why does PPO hallucinate more than SFT?</a:t>
            </a:r>
          </a:p>
        </p:txBody>
      </p:sp>
      <p:pic>
        <p:nvPicPr>
          <p:cNvPr id="4" name="Picture 3" descr="instructgpt-2022-fig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8412480" cy="2534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InstructGPT, Ouyang et al. 2022 (arXiv:2203.02155), Fig.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858768"/>
            <a:ext cx="8321040" cy="841248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9319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1D1F"/>
                </a:solidFill>
              </a:rPr>
              <a:t>One likely reason: </a:t>
            </a:r>
            <a:r>
              <a:rPr sz="1400" b="0">
                <a:solidFill>
                  <a:srgbClr val="434343"/>
                </a:solidFill>
              </a:rPr>
              <a:t>the reward model pays for longer, more detailed answers, and it cannot check facts. More detail means more room to make things 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2064" y="411480"/>
            <a:ext cx="5431536" cy="4279392"/>
          </a:xfrm>
        </p:spPr>
        <p:txBody>
          <a:bodyPr anchor="ctr"/>
          <a:lstStyle/>
          <a:p>
            <a:r>
              <a:rPr sz="6000" dirty="0"/>
              <a:t>Do we even need the</a:t>
            </a:r>
            <a:r>
              <a:rPr lang="en-US" sz="6000" dirty="0"/>
              <a:t> </a:t>
            </a:r>
            <a:r>
              <a:rPr sz="6000" dirty="0"/>
              <a:t>reinforcement learning?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50D79A-6E99-E2EF-1D8B-F63ADFCF8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921" y="519176"/>
            <a:ext cx="32385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DPO: your LM is secretly a reward model</a:t>
            </a:r>
          </a:p>
        </p:txBody>
      </p:sp>
      <p:pic>
        <p:nvPicPr>
          <p:cNvPr id="4" name="Picture 3" descr="dpo-2023-fig-1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49137"/>
            <a:ext cx="8321040" cy="1736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DPO, Rafailov et al. 2023 (arXiv:2305.18290), Fig.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291840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3657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434343"/>
                </a:solidFill>
              </a:rPr>
              <a:t>SFT: </a:t>
            </a:r>
            <a:r>
              <a:rPr lang="en-US" sz="1300" b="1" dirty="0">
                <a:solidFill>
                  <a:srgbClr val="434343"/>
                </a:solidFill>
              </a:rPr>
              <a:t>Imitate</a:t>
            </a:r>
            <a:endParaRPr sz="1300" b="1" dirty="0">
              <a:solidFill>
                <a:srgbClr val="43434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D1D1F"/>
                </a:solidFill>
              </a:rPr>
              <a:t>prompt  →  one good answer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4C72B0"/>
                </a:solidFill>
              </a:rPr>
              <a:t>↑ </a:t>
            </a:r>
            <a:r>
              <a:rPr sz="1700" b="0">
                <a:solidFill>
                  <a:srgbClr val="1D1D1F"/>
                </a:solidFill>
              </a:rPr>
              <a:t>make it more likely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291840"/>
            <a:ext cx="4069080" cy="13716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3429000"/>
            <a:ext cx="3657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4C72B0"/>
                </a:solidFill>
              </a:rPr>
              <a:t>DPO: </a:t>
            </a:r>
            <a:r>
              <a:rPr lang="en-US" sz="1300" b="1" dirty="0">
                <a:solidFill>
                  <a:srgbClr val="4C72B0"/>
                </a:solidFill>
              </a:rPr>
              <a:t>Compare</a:t>
            </a:r>
            <a:endParaRPr sz="1300" b="1" dirty="0">
              <a:solidFill>
                <a:srgbClr val="4C72B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37947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C72B0"/>
                </a:solidFill>
              </a:rPr>
              <a:t>✓ chosen answer   </a:t>
            </a:r>
            <a:r>
              <a:rPr sz="1700" b="0">
                <a:solidFill>
                  <a:srgbClr val="1D1D1F"/>
                </a:solidFill>
              </a:rPr>
              <a:t>↑ more likely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DD8452"/>
                </a:solidFill>
              </a:rPr>
              <a:t>✗ rejected answer  </a:t>
            </a:r>
            <a:r>
              <a:rPr sz="1700" b="0">
                <a:solidFill>
                  <a:srgbClr val="1D1D1F"/>
                </a:solidFill>
              </a:rPr>
              <a:t>↓ less likely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Does skipping RL cost us anything?</a:t>
            </a:r>
          </a:p>
        </p:txBody>
      </p:sp>
      <p:pic>
        <p:nvPicPr>
          <p:cNvPr id="4" name="Picture 3" descr="dpo-2023-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6435"/>
            <a:ext cx="2743200" cy="2199289"/>
          </a:xfrm>
          <a:prstGeom prst="rect">
            <a:avLst/>
          </a:prstGeom>
        </p:spPr>
      </p:pic>
      <p:pic>
        <p:nvPicPr>
          <p:cNvPr id="5" name="Picture 4" descr="dpo-2023-fig-2-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468" y="1234440"/>
            <a:ext cx="4834023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DPO, Rafailov et al. 2023 (arXiv:2305.18290), Fig. 2 (left)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319" y="174660"/>
            <a:ext cx="6075109" cy="4516211"/>
          </a:xfrm>
        </p:spPr>
        <p:txBody>
          <a:bodyPr anchor="ctr"/>
          <a:lstStyle/>
          <a:p>
            <a:r>
              <a:rPr lang="en-US" sz="7200" dirty="0"/>
              <a:t>Did we change the model, or just give it a mask?</a:t>
            </a:r>
            <a:endParaRPr sz="7200"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Source: Shoggoth with Smiley Face, @anthrupad (2023), via rlhfbook.com</a:t>
            </a:r>
          </a:p>
        </p:txBody>
      </p:sp>
      <p:pic>
        <p:nvPicPr>
          <p:cNvPr id="8" name="Picture 7" descr="A parrot wearing a hat and glasses typing on a typewriter&#10;&#10;AI-generated content may be incorrect.">
            <a:extLst>
              <a:ext uri="{FF2B5EF4-FFF2-40B4-BE49-F238E27FC236}">
                <a16:creationId xmlns:a16="http://schemas.microsoft.com/office/drawing/2014/main" id="{0277245D-6071-FEAC-CB4D-37E577248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14" y="0"/>
            <a:ext cx="2677886" cy="26778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936</Words>
  <Application>Microsoft Macintosh PowerPoint</Application>
  <PresentationFormat>On-screen Show (16:9)</PresentationFormat>
  <Paragraphs>106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Cambria Math</vt:lpstr>
      <vt:lpstr>Roboto</vt:lpstr>
      <vt:lpstr>Roboto Light</vt:lpstr>
      <vt:lpstr>Impact</vt:lpstr>
      <vt:lpstr>Arial</vt:lpstr>
      <vt:lpstr>Playfair Display</vt:lpstr>
      <vt:lpstr>Office Theme</vt:lpstr>
      <vt:lpstr>CSCI 3495 Alignment: RLHF, InstructGPT &amp; DPO</vt:lpstr>
      <vt:lpstr>POP QUIZ: Tell me what you know</vt:lpstr>
      <vt:lpstr>What has an LLM actually learned so far?</vt:lpstr>
      <vt:lpstr>Recap: predict the next token, repeat</vt:lpstr>
      <vt:lpstr>“Explain the moon landing to a 6 year old”</vt:lpstr>
      <vt:lpstr>Most likely ≠ most helpful</vt:lpstr>
      <vt:lpstr>What does it mean for a model to be aligned?</vt:lpstr>
      <vt:lpstr>Recap: A Traditional Agent </vt:lpstr>
      <vt:lpstr>Can you write a reward for “helpful”?</vt:lpstr>
      <vt:lpstr>Can you teach a backflip without a reward?</vt:lpstr>
      <vt:lpstr>InstructGPT: the RLHF recipe</vt:lpstr>
      <vt:lpstr>Why rank answers instead of writing them?</vt:lpstr>
      <vt:lpstr>Chase the reward, but on a KL leash</vt:lpstr>
      <vt:lpstr>What is one possible flaw?</vt:lpstr>
      <vt:lpstr>What would you do for points?</vt:lpstr>
      <vt:lpstr>What the agent actually did</vt:lpstr>
      <vt:lpstr>Why the KL leash exists</vt:lpstr>
      <vt:lpstr>1.3B with RLHF beat 175B without it</vt:lpstr>
      <vt:lpstr>Why does PPO hallucinate more than SFT?</vt:lpstr>
      <vt:lpstr>Do we even need the reinforcement learning?</vt:lpstr>
      <vt:lpstr>DPO: your LM is secretly a reward model</vt:lpstr>
      <vt:lpstr>Does skipping RL cost us anything?</vt:lpstr>
      <vt:lpstr>Did we change the model, or just give it a mask?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34</cp:revision>
  <dcterms:modified xsi:type="dcterms:W3CDTF">2026-10-26T12:36:06Z</dcterms:modified>
</cp:coreProperties>
</file>