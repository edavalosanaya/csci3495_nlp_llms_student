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LLM never sees words. It sees bricks. Today: where the bricks come from, what they cost, and how a pile of bricks turns into something that answers you.</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obvious designs both fail. One token per word means the vocabulary is unbounded, because names, typos and new words never stop arriving, and anything missing becomes an unknown token. One token per character keeps the vocabulary tiny but makes every sequence long, and attention cost grows with sequence length. BPE learns the middle: frequent pieces stay whole, rare strings break into parts, and nothing is unencodable. Those integers on the right are the only thing the model ever sees.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windows, API pricing and training data budgets are all counted in tokens, never in words. So the tokenizer is not a preprocessing detail, it decides what a sentence costs. Keep that in mind, because we come back to it as a competition after the break.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them put their own names, a word in another language and an emoji into WORDS. The pattern they should find: ordinary English words cost one token however long they are, and everything else costs three to ten.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algorithm is a loop: count adjacent pairs, merge the commonest one, repeat k times. Each merge adds exactly one new token to the vocabulary. The ordered list of merges IS the tokenizer, and encoding is replaying that list.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what the merges pick up: common endings and common whole words, purely by frequency of adjacency, never by meaning. Real vocabularies stop somewhere between thirty and a hundred thousand entries. Rare words simply stay in pieces, which is why there is no unknown token to handle.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merges and thirty merges are the two ends of the trade. Push them to say what a bigger vocabulary actually costs: every entry is a row in the embedding matrix and a row in the output layer.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Trillions of tokens, filtered and deduplicated, mostly scraped. Three things ride along with it. Duplication drives memorization. Contamination is benchmark answers leaking into the training set, which is why an impressive score is not always evidence. Bias comes back out the way it went in.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plainly and let it sit for a moment. Nothing in pretraining teaches a model to answer a question, follow an instruction, or refuse one. Everything after this slide is about closing that gap.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a base model a question and it writes more questions, because a plausible continuation of a list of questions is another question. It is not refusing. It is doing exactly what it was trained to do.</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Fine-tune on pairs of instruction and response. FLAN and T0 showed the surprising part: train on a mix of tasks phrased as instructions and the model follows instructions it has never seen. This step, supervised fine-tuning, is the first stage of alignment; preference training is the second.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loss never changes; only the data does. The three routes trade quality against volume. Humans write the best pairs and the fewest. Templates turn any labeled dataset into millions of instructions for almost nothing. A stronger model can write the pairs, which is cheapest and inherits everything the teacher got wrong, plus whatever its license says. Most real datasets are a blend.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punchline that ties the two halves of the session together: the chat markers are single tokens in an instruction-tuned model and seven tokens in a base one, because they were added to the vocabulary on purpose. Ask which tokens the loss should actually be computed on, the answer is the response only.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one corpus each, claimed out loud so no two teams take the same one. Train three hundred merges, score your tokenizer on all five held-out texts, and put your own-domain number and your average on the board. Two winners: the specialist with the lowest number in its own column, and the generalist with the lowest row average. Give them about twenty minutes, then read the board together.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Land the board. The English tokenizer needs roughly three times as many tokens for Spanish and five times for code. Since context, price and training budget are all counted in tokens, the same meaning costs a non-English user more money and fits less of it in the window. Nobody chose that as a policy; it fell out of which corpus the merges were counted on. Next class: how preferences, not just instructions, get trained 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Tokenization at Scale, Pretraining Data &amp; Instruction Tuning</a:t>
            </a:r>
          </a:p>
        </p:txBody>
      </p:sp>
      <p:sp>
        <p:nvSpPr>
          <p:cNvPr id="3" name="Subtitle 2"/>
          <p:cNvSpPr>
            <a:spLocks noGrp="1"/>
          </p:cNvSpPr>
          <p:nvPr>
            <p:ph type="subTitle" idx="1"/>
          </p:nvPr>
        </p:nvSpPr>
        <p:spPr>
          <a:xfrm>
            <a:off x="493926" y="3549825"/>
            <a:ext cx="5842368" cy="970800"/>
          </a:xfrm>
        </p:spPr>
        <p:txBody>
          <a:bodyPr wrap="square"/>
          <a:lstStyle/>
          <a:p>
            <a:pPr marL="0" indent="0">
              <a:buNone/>
            </a:pPr>
            <a:r>
              <a:t>Natural Language Processing &amp; Large Language Models</a:t>
            </a:r>
          </a:p>
          <a:p>
            <a:pPr marL="0" indent="0">
              <a:buNone/>
            </a:pPr>
            <a:r>
              <a:t>Week 10, Class 1  ·  Mon Oct 26, 2026</a:t>
            </a:r>
          </a:p>
        </p:txBody>
      </p:sp>
      <p:pic>
        <p:nvPicPr>
          <p:cNvPr id="5" name="Picture 4" descr="Tokenization at Scale, Pretraining Data &amp; Instruction Tuning"/>
          <p:cNvPicPr>
            <a:picLocks noChangeAspect="1"/>
          </p:cNvPicPr>
          <p:nvPr/>
        </p:nvPicPr>
        <p:blipFill>
          <a:blip r:embed="rId3"/>
          <a:stretch>
            <a:fillRect/>
          </a:stretch>
        </p:blipFill>
        <p:spPr>
          <a:xfrm>
            <a:off x="6564894" y="3474720"/>
            <a:ext cx="221334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Alan Chia, Wikimedia Commons,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model reads pieces, not words</a:t>
            </a:r>
          </a:p>
        </p:txBody>
      </p:sp>
      <p:pic>
        <p:nvPicPr>
          <p:cNvPr id="5" name="Picture 4" descr="A model reads pieces, not words"/>
          <p:cNvPicPr>
            <a:picLocks noChangeAspect="1"/>
          </p:cNvPicPr>
          <p:nvPr/>
        </p:nvPicPr>
        <p:blipFill>
          <a:blip r:embed="rId3"/>
          <a:stretch>
            <a:fillRect/>
          </a:stretch>
        </p:blipFill>
        <p:spPr>
          <a:xfrm>
            <a:off x="274320" y="1345053"/>
            <a:ext cx="8595360" cy="305689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splits and ids from the GPT-2 tokenizer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Tokens are the unit of everything</a:t>
            </a:r>
          </a:p>
        </p:txBody>
      </p:sp>
      <p:pic>
        <p:nvPicPr>
          <p:cNvPr id="5" name="Picture 4" descr="Tokens are the unit of everything"/>
          <p:cNvPicPr>
            <a:picLocks noChangeAspect="1"/>
          </p:cNvPicPr>
          <p:nvPr/>
        </p:nvPicPr>
        <p:blipFill>
          <a:blip r:embed="rId3"/>
          <a:stretch>
            <a:fillRect/>
          </a:stretch>
        </p:blipFill>
        <p:spPr>
          <a:xfrm>
            <a:off x="274320" y="1880536"/>
            <a:ext cx="8595360" cy="198593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Feed it your own words and watch what it does to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BPE learns a vocabulary</a:t>
            </a:r>
          </a:p>
        </p:txBody>
      </p:sp>
      <p:pic>
        <p:nvPicPr>
          <p:cNvPr id="5" name="Picture 4" descr="How BPE learns a vocabulary"/>
          <p:cNvPicPr>
            <a:picLocks noChangeAspect="1"/>
          </p:cNvPicPr>
          <p:nvPr/>
        </p:nvPicPr>
        <p:blipFill>
          <a:blip r:embed="rId3"/>
          <a:stretch>
            <a:fillRect/>
          </a:stretch>
        </p:blipFill>
        <p:spPr>
          <a:xfrm>
            <a:off x="784023" y="1078992"/>
            <a:ext cx="75759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2.6, adapted from Bostrom &amp; Durrett 2020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worked example</a:t>
            </a:r>
          </a:p>
        </p:txBody>
      </p:sp>
      <p:pic>
        <p:nvPicPr>
          <p:cNvPr id="5" name="Picture 4" descr="A worked example"/>
          <p:cNvPicPr>
            <a:picLocks noChangeAspect="1"/>
          </p:cNvPicPr>
          <p:nvPr/>
        </p:nvPicPr>
        <p:blipFill>
          <a:blip r:embed="rId3"/>
          <a:stretch>
            <a:fillRect/>
          </a:stretch>
        </p:blipFill>
        <p:spPr>
          <a:xfrm>
            <a:off x="274320" y="1351103"/>
            <a:ext cx="8595360" cy="30447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Run the merge loop and watch the vocabulary build itself.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the text comes from</a:t>
            </a:r>
          </a:p>
        </p:txBody>
      </p:sp>
      <p:pic>
        <p:nvPicPr>
          <p:cNvPr id="5" name="Picture 4" descr="Where the text comes from"/>
          <p:cNvPicPr>
            <a:picLocks noChangeAspect="1"/>
          </p:cNvPicPr>
          <p:nvPr/>
        </p:nvPicPr>
        <p:blipFill>
          <a:blip r:embed="rId3"/>
          <a:stretch>
            <a:fillRect/>
          </a:stretch>
        </p:blipFill>
        <p:spPr>
          <a:xfrm>
            <a:off x="274320" y="1356889"/>
            <a:ext cx="8595360" cy="303322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So why does ChatGPT answer your questions? That gap is the rest of today."/>
          <p:cNvPicPr>
            <a:picLocks noChangeAspect="1"/>
          </p:cNvPicPr>
          <p:nvPr/>
        </p:nvPicPr>
        <p:blipFill>
          <a:blip r:embed="rId3"/>
          <a:stretch>
            <a:fillRect/>
          </a:stretch>
        </p:blipFill>
        <p:spPr>
          <a:xfrm>
            <a:off x="0" y="-1654493"/>
            <a:ext cx="9144000" cy="845248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It only ever learned to predict the next word.</a:t>
            </a:r>
          </a:p>
          <a:p>
            <a:pPr algn="ctr" marL="0" indent="0">
              <a:buNone/>
            </a:pPr>
            <a:r>
              <a:rPr sz="2000">
                <a:solidFill>
                  <a:srgbClr val="FFFFFF"/>
                </a:solidFill>
              </a:rPr>
              <a:t>So why does ChatGPT answer your questions? That gap is the rest of today.</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https://images.unsplash.com/photo-1481627834876-b7833e8f5570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base model is not an assistant</a:t>
            </a:r>
          </a:p>
        </p:txBody>
      </p:sp>
      <p:pic>
        <p:nvPicPr>
          <p:cNvPr id="5" name="Picture 4" descr="The base model is not an assistant"/>
          <p:cNvPicPr>
            <a:picLocks noChangeAspect="1"/>
          </p:cNvPicPr>
          <p:nvPr/>
        </p:nvPicPr>
        <p:blipFill>
          <a:blip r:embed="rId3"/>
          <a:stretch>
            <a:fillRect/>
          </a:stretch>
        </p:blipFill>
        <p:spPr>
          <a:xfrm>
            <a:off x="651222" y="1078992"/>
            <a:ext cx="78415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Instruction tuning</a:t>
            </a:r>
          </a:p>
        </p:txBody>
      </p:sp>
      <p:pic>
        <p:nvPicPr>
          <p:cNvPr id="5" name="Picture 4" descr="Instruction tuning"/>
          <p:cNvPicPr>
            <a:picLocks noChangeAspect="1"/>
          </p:cNvPicPr>
          <p:nvPr/>
        </p:nvPicPr>
        <p:blipFill>
          <a:blip r:embed="rId3"/>
          <a:stretch>
            <a:fillRect/>
          </a:stretch>
        </p:blipFill>
        <p:spPr>
          <a:xfrm>
            <a:off x="436504" y="1078992"/>
            <a:ext cx="827099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FLAN, Wei et al. 2021 (arXiv:2109.01652)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routes to an assistant</a:t>
            </a:r>
          </a:p>
        </p:txBody>
      </p:sp>
      <p:pic>
        <p:nvPicPr>
          <p:cNvPr id="5" name="Picture 4" descr="Three routes to an assistant"/>
          <p:cNvPicPr>
            <a:picLocks noChangeAspect="1"/>
          </p:cNvPicPr>
          <p:nvPr/>
        </p:nvPicPr>
        <p:blipFill>
          <a:blip r:embed="rId3"/>
          <a:stretch>
            <a:fillRect/>
          </a:stretch>
        </p:blipFill>
        <p:spPr>
          <a:xfrm>
            <a:off x="349624" y="1078992"/>
            <a:ext cx="84447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FLAN (Wei et al. 2021); Self-Instruct (Wang et al. 2022); Alpaca (Taori et al.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An instruction pair is just formatted text, and the format is vocabulary.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find your team. Then the tokenizer bake-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tokenizer bake-off</a:t>
            </a:r>
          </a:p>
        </p:txBody>
      </p:sp>
      <p:pic>
        <p:nvPicPr>
          <p:cNvPr id="5" name="Picture 4" descr="The tokenizer bake-off"/>
          <p:cNvPicPr>
            <a:picLocks noChangeAspect="1"/>
          </p:cNvPicPr>
          <p:nvPr/>
        </p:nvPicPr>
        <p:blipFill>
          <a:blip r:embed="rId3"/>
          <a:stretch>
            <a:fillRect/>
          </a:stretch>
        </p:blipFill>
        <p:spPr>
          <a:xfrm>
            <a:off x="274320" y="1088201"/>
            <a:ext cx="8595360" cy="35706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scores from weeks/week-10/class-01/exercise/lab.ipynb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Whose text is cheap?</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Every team won its own column and lost everywhere else. A shipped model gets one vocabulary.</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