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  <p:sldId id="282" r:id="rId47"/>
    <p:sldId id="283" r:id="rId48"/>
    <p:sldId id="284" r:id="rId49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Relationship Id="rId47" Type="http://schemas.openxmlformats.org/officeDocument/2006/relationships/slide" Target="slides/slide27.xml"/><Relationship Id="rId48" Type="http://schemas.openxmlformats.org/officeDocument/2006/relationships/slide" Target="slides/slide28.xml"/><Relationship Id="rId49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Text Classification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080610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2, Class 2</a:t>
            </a:r>
          </a:p>
        </p:txBody>
      </p:sp>
      <p:pic>
        <p:nvPicPr>
          <p:cNvPr id="5" name="Picture 4" descr="Why is junk email called &quot;spam&quot;? By the end of class you can build the classifier that catches i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36" y="3474720"/>
            <a:ext cx="1975104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Arnold Gatilao, CC BY 2.0, Wikimedia Commons (SPAM Shrine.jpg)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</a:t>
            </a:r>
          </a:p>
        </p:txBody>
      </p:sp>
      <p:pic>
        <p:nvPicPr>
          <p:cNvPr id="5" name="Picture 4" descr="Task, features, two classifiers, evaluation, then Quiz 2 and the Sentiment Showdow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277" y="1078992"/>
            <a:ext cx="825544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deck figures; SLP3 Fig. 4.3 (Jurafsky &amp; Martin); photo: Unsplash License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Every inbox is a classifier at work</a:t>
            </a:r>
          </a:p>
        </p:txBody>
      </p:sp>
      <p:pic>
        <p:nvPicPr>
          <p:cNvPr id="5" name="Picture 4" descr="Spam filters, support routing, and review tagging all map a document to a label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596" y="1078992"/>
            <a:ext cx="537680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https://images.unsplash.com/photo-1450101499163-c8848c66ca85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task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71288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Supervised: learn from labeled examples, predict on new text</a:t>
            </a:r>
          </a:p>
        </p:txBody>
      </p:sp>
      <p:pic>
        <p:nvPicPr>
          <p:cNvPr id="6" name="Picture 5" descr="Map a document to one label from a fixed set: sentiment, spam, topic, inten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64819"/>
            <a:ext cx="8595360" cy="26150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Features: bag-of-words</a:t>
            </a:r>
          </a:p>
        </p:txBody>
      </p:sp>
      <p:pic>
        <p:nvPicPr>
          <p:cNvPr id="5" name="Picture 4" descr="A document becomes counts of its words; order is thrown awa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09693"/>
            <a:ext cx="8595360" cy="25276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&quot;It was not bad at all.&quot; Decide for yourself, then watch a machine tr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Is this review positive or negative?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"It was not bad at all." Decide for yourself, then watch a machine 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Pexels License, https://images.pexels.com/photos/3850250/pexels-photo-3850250.jpeg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Bayes' rule, from counting</a:t>
            </a:r>
          </a:p>
        </p:txBody>
      </p:sp>
      <p:pic>
        <p:nvPicPr>
          <p:cNvPr id="5" name="Picture 4" descr="Take Monday's &quot;two ways to count the overlap&quot;, divide by P(d), and Bayes' rule appears: it flips an impossible count into countable piec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38514"/>
            <a:ext cx="8595360" cy="28699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naive assumption, laid out</a:t>
            </a:r>
          </a:p>
        </p:txBody>
      </p:sp>
      <p:pic>
        <p:nvPicPr>
          <p:cNvPr id="5" name="Picture 4" descr="Exact sentences never repeat, so treat words as independent given the class and multiply per-word probabiliti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45483"/>
            <a:ext cx="8595360" cy="32560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Naive Bayes: the idea</a:t>
            </a:r>
          </a:p>
        </p:txBody>
      </p:sp>
      <p:pic>
        <p:nvPicPr>
          <p:cNvPr id="5" name="Picture 4" descr="A generative classifier picks the class that best explains the words (Bayes' rule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29882"/>
            <a:ext cx="8595360" cy="22872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Training Naive Bayes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83562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No gradient descent needed; training is a single counting pass</a:t>
            </a:r>
          </a:p>
        </p:txBody>
      </p:sp>
      <p:pic>
        <p:nvPicPr>
          <p:cNvPr id="6" name="Picture 5" descr="Just count, with add-one smoothing, the same trick as our language model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52546"/>
            <a:ext cx="8595360" cy="20395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independence assumption</a:t>
            </a:r>
          </a:p>
        </p:txBody>
      </p:sp>
      <p:pic>
        <p:nvPicPr>
          <p:cNvPr id="5" name="Picture 4" descr="Words aren't really independent (&quot;San&quot; then &quot;Francisco&quot;), yet NB still works well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06366"/>
            <a:ext cx="8595360" cy="21342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Logistic regression: the idea</a:t>
            </a:r>
          </a:p>
        </p:txBody>
      </p:sp>
      <p:pic>
        <p:nvPicPr>
          <p:cNvPr id="5" name="Picture 4" descr="A discriminative classifier models P(c | document) directly with the sigmoi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02093"/>
            <a:ext cx="8595360" cy="29428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the model sees: a feature vector x</a:t>
            </a:r>
          </a:p>
        </p:txBody>
      </p:sp>
      <p:pic>
        <p:nvPicPr>
          <p:cNvPr id="5" name="Picture 4" descr="Six hand-designed sentiment features turn this whole review into x = [3, 2, 1, 3, 0, 4.19]. Whatever the document, the model only ever sees x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4687" y="1078992"/>
            <a:ext cx="439462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4.2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entire model: multiply, add, squash</a:t>
            </a:r>
          </a:p>
        </p:txBody>
      </p:sp>
      <p:pic>
        <p:nvPicPr>
          <p:cNvPr id="5" name="Picture 4" descr="The book's trained weights score the Fig. 4.2 review. Each weight says how strongly its feature votes, and for which class; the bias b is the starting score before any evidenc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0477"/>
            <a:ext cx="8595360" cy="33460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Ch. 4.3.1 worked example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Which w and b are best? Measure the mistake</a:t>
            </a:r>
          </a:p>
        </p:txBody>
      </p:sp>
      <p:pic>
        <p:nvPicPr>
          <p:cNvPr id="5" name="Picture 4" descr="Training = picking w and b. The loss is the negative log likelihood of the correct labels: near zero when the model gives the truth high probability, huge when it is confidently wro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123" y="1078992"/>
            <a:ext cx="800575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Ch. 4.5, cross-entropy loss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Learning = rolling downhill on the loss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The gradient is just the slope, generalized to all weights at once</a:t>
            </a:r>
          </a:p>
        </p:txBody>
      </p:sp>
      <p:pic>
        <p:nvPicPr>
          <p:cNvPr id="6" name="Picture 5" descr="Gradient descent: the slope of the loss says which way is uphill, so move every weight a small step the opposite way. Repeat until the loss stops falli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5880" y="1078992"/>
            <a:ext cx="4812239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4.3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learning rate sets the step size</a:t>
            </a:r>
          </a:p>
        </p:txBody>
      </p:sp>
      <p:pic>
        <p:nvPicPr>
          <p:cNvPr id="5" name="Picture 4" descr="The learning rate is a hyperparameter YOU choose, not a weight the model learns. A common trick: start larger, then decay it as training goes o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43819"/>
            <a:ext cx="8595360" cy="30593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Jurafsky &amp; Martin, SLP3 (Jan 2026 draft), Ch. 4.6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NB vs. logistic regression</a:t>
            </a:r>
          </a:p>
        </p:txBody>
      </p:sp>
      <p:pic>
        <p:nvPicPr>
          <p:cNvPr id="5" name="Picture 4" descr="Both are linear over bag-of-words; they differ in what they model and how they trai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87525"/>
            <a:ext cx="8595360" cy="29719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Evaluating a classifier</a:t>
            </a:r>
          </a:p>
        </p:txBody>
      </p:sp>
      <p:pic>
        <p:nvPicPr>
          <p:cNvPr id="5" name="Picture 4" descr="Accuracy alone misleads on imbalanced data; look at which kind of error happen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68282"/>
            <a:ext cx="8595360" cy="2010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confusion matrix</a:t>
            </a:r>
          </a:p>
        </p:txBody>
      </p:sp>
      <p:pic>
        <p:nvPicPr>
          <p:cNvPr id="5" name="Picture 4" descr="Four outcomes for a target class: TP, FN, FP, T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78261"/>
            <a:ext cx="8595360" cy="31904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Precision, recall, F1</a:t>
            </a:r>
          </a:p>
        </p:txBody>
      </p:sp>
      <p:pic>
        <p:nvPicPr>
          <p:cNvPr id="5" name="Picture 4" descr="Precision avoids false alarms; recall avoids misses; F1 is their harmonic mea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62661"/>
            <a:ext cx="8595360" cy="22216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Which metric matters?</a:t>
            </a:r>
          </a:p>
        </p:txBody>
      </p:sp>
      <p:pic>
        <p:nvPicPr>
          <p:cNvPr id="5" name="Picture 4" descr="Match the metric to the cost of errors, and always use a held-out test se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31545"/>
            <a:ext cx="8595360" cy="24839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Bag-of-words → Naive Bayes &amp; logistic regression → precision/recall/F1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134155"/>
            <a:ext cx="8595360" cy="14786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2 (paper)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Clear your desk; finish early and your break starts early, need more time and it comes out of the break</a:t>
            </a:r>
          </a:p>
        </p:txBody>
      </p:sp>
      <p:pic>
        <p:nvPicPr>
          <p:cNvPr id="6" name="Picture 5" descr="Covers the Week 2 lecture on n-gram LMs plus the reading (J&amp;M Ch. 3 to 5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0873" y="1078992"/>
            <a:ext cx="5842254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Sentiment Showdow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Activity: Sentiment Showdown</a:t>
            </a:r>
          </a:p>
        </p:txBody>
      </p:sp>
      <p:pic>
        <p:nvPicPr>
          <p:cNvPr id="5" name="Picture 4" descr="Teams, programming competition, ~28 minutes. Highest F1 wins; sneakiest fooling review earns bonus glor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57040"/>
            <a:ext cx="8595360" cy="24329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weeks/week-02/class-02/exercise/sentiment.py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Exercise: Sentiment Showdown</a:t>
            </a:r>
          </a:p>
        </p:txBody>
      </p:sp>
      <p:pic>
        <p:nvPicPr>
          <p:cNvPr id="5" name="Picture 4" descr="Build a multinomial Naive Bayes classifier from scratch, no sklear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98241"/>
            <a:ext cx="8595360" cy="29505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weeks/week-02/class-02/exercise/sentiment.py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Exercise: the starter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Run it, then pytest test_sentiment.py</a:t>
            </a:r>
          </a:p>
        </p:txBody>
      </p:sp>
      <p:pic>
        <p:nvPicPr>
          <p:cNvPr id="6" name="Picture 5" descr="Four TODOs in sentiment.py: train, score, predict, and evaluat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8429" y="1078992"/>
            <a:ext cx="2747141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weeks/week-02/class-02/exercise/sentiment.py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Then break it: add a tricky review and watch the metrics move</a:t>
            </a:r>
          </a:p>
        </p:txBody>
      </p:sp>
      <p:pic>
        <p:nvPicPr>
          <p:cNvPr id="6" name="Picture 5" descr="All five test reviews classified correctly; precision, recall, and F1 all 1.00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058" y="1078992"/>
            <a:ext cx="8585884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solutions/sentiment.py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