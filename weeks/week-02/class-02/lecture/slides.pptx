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is junk email called "spam"? By the end of class you can build the classifier that catches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Spam filters, support routing, and review tagging all map a document to a label.</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Map a document to one label from a fixed set: sentiment, spam, topic, intent. Supervised: learn from labeled examples, predict on new text Every one of these is the same shape: a document in, one label out.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document becomes counts of its words; order is thrown away. Cheap and strong, but blind to word order. "good not bad" and "bad not good" map to the same bag. Sequence models in Week 5 and Transformers in Week 6 fix this.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"It was not bad at all." Decide for yourself, then watch a machine try.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Bayes' rule flips an impossible count into countable pieces. We cannot count P(spam | "win a free cruise") directly. Bayes' rule flips it into two things we can count: how common spam is, and how spam-like those words are.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Exact sentences never repeat. Treat words as independent and multiply. Naive means pretending each word appears independently given the class, ignoring position and neighbours. That is false for language, and the classifier still works remarkably well.</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generative classifier picks the class that best explains the words (Bayes' rule). Naive here means we assume the words are conditionally independent given the class.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Just count, with add-one smoothing, the same trick as our language model. No gradient descent needed; training is a single counting pass Work in log space to avoid underflow. Training is one counting pass, which makes this a fast and strong baseline.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Words aren't really independent ("San" then "Francisco"), yet NB still works well. The assumption is wrong, but Naive Bayes only needs the right class to score highest, not perfectly calibrated probabilities.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Linear regression fits a straight line through noisy data: pick m and b so the line sits as close to the points as possible. The output is any real number, which is fine when you are predicting a price or a temperature. For classification we need a probability, so it has to land between 0 and 1. Logistic regression does exactly the same fitting, then squashes the answer into that range with the sigmoid. Same w and b, same gradient descent, different output range.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discriminative classifier models P(c | document) directly with the sigmoid. x is the feature vector, w the learned weights; a positive weight pushes toward class 1. Trained by gradient descent on the cross-entropy loss.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review becomes one vector. That is all the model sees.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weight votes for a class. The bias is the score before any evidence. Each weight says how strongly its feature votes and for which class. The bias is the starting score before any evidence.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what you actually want: the model should give the TRUE label a high probability. Across the whole dataset that means multiplying those probabilities together, which is the likelihood. Multiplying thousands of small numbers underflows, so take logs and it becomes a sum. Finally negate it, because optimisers minimise. That is cross-entropy: it is not an arbitrary formula, it is the likelihood written so a computer can descend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a single example the loss is minus the log of the probability you gave the true label. Read the curve: give the truth 0.9 and you pay almost nothing. Give it 0.1 and you pay 2.3. Give it 0.001 and you pay 6.9. Being confidently wrong is punished enormously, and being confidently right is nearly free. That asymmetry is what pushes the weights.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two classes we write it as one line, and the y and one-minus-y are just a switch. When the true label is 1 the second term vanishes and the loss is minus log y-hat. When the true label is 0 the first term vanishes and the loss is minus log of one minus y-hat. It is the same single-example loss from the previous slide, written so it covers both cases at once.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slope says which way is uphill. Step the other way. Repeat. The gradient is the slope, for every weight at once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learning rate is yours to choose, not something the model learns. Same valley, three step sizes. The learning rate scales every gradient step, and it is a hyperparameter you choose.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are linear over bag-of-words; they differ in what they model and how they train. Naive Bayes is generative and wins on small data. Logistic regression is discriminative, handles correlated features, and needs more data.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them sit with it. Do not answer yet. Take two or three guesses from the room. The claim is not false, it is just uninformative, and almost nobody spots why on the first read. Prompt if needed: what would happen if the classifier never said "cancer" at all?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Accuracy alone misleads on imbalanced data; look at which kind of error happens. 990 of 1,000 correct looks great on a report, and it is a total failure on the one class we care about.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outcomes for a target class: TP, FN, FP, TN. TP and TN are correct, FP is a false alarm, FN is a miss.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Precision avoids false alarms; recall avoids misses; F1 is their harmonic mean. There is a real trade-off: pushing recall up usually drags precision down, and the other way round.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Match the metric to the cost of errors, and always use a held-out test set. Match the metric to what the mistake costs you.</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2 lecture plus the reading. Clear your desk. Finish early and your break starts early; need more time and it comes out of the break.</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then run it, then break it. The 1.00 they get is not evidence of anything, and the last third of the period is spent finding out what it hides.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log_prior and log_likelihood are one line each. score is the one that matters: prior plus the log likelihood of every token the model has seen, skipping the rest, adding logs rather than multiplying probabilities. Everything else in the file is written for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experiments, all one-line edits. Dropping the smoothing crashes on a zero probability. Mislabelling one review moves recall but not precision, and asking why is the point. The negation review shows what a bag of words cannot represent. And the fix, teaching it 'not' with new data, costs it the word 'funny', which is the lesson: fixing one failure with data can break another.</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 reviews classified correctly; precision, recall, and F1 all 1.00. Then break it: add a tricky review and watch the metrics move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Text Classification</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2, Class 2  ·  Wed Sep 2, 2026</a:t>
            </a:r>
          </a:p>
        </p:txBody>
      </p:sp>
      <p:pic>
        <p:nvPicPr>
          <p:cNvPr id="5" name="Picture 4" descr="Text Classification"/>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Arnold Gatilao, CC BY 2.0, Wikimedia Commons (SPAM Shrine.jpg)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inbox is a classifier at work</a:t>
            </a:r>
          </a:p>
        </p:txBody>
      </p:sp>
      <p:pic>
        <p:nvPicPr>
          <p:cNvPr id="5" name="Picture 4" descr="Every inbox is a classifier at work"/>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https://images.unsplash.com/photo-1450101499163-c8848c66ca85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task</a:t>
            </a:r>
          </a:p>
        </p:txBody>
      </p:sp>
      <p:pic>
        <p:nvPicPr>
          <p:cNvPr id="5" name="Picture 4" descr="The task"/>
          <p:cNvPicPr>
            <a:picLocks noChangeAspect="1"/>
          </p:cNvPicPr>
          <p:nvPr/>
        </p:nvPicPr>
        <p:blipFill>
          <a:blip r:embed="rId3"/>
          <a:stretch>
            <a:fillRect/>
          </a:stretch>
        </p:blipFill>
        <p:spPr>
          <a:xfrm>
            <a:off x="274320" y="1474935"/>
            <a:ext cx="8595360" cy="27971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Features: bag-of-words</a:t>
            </a:r>
          </a:p>
        </p:txBody>
      </p:sp>
      <p:pic>
        <p:nvPicPr>
          <p:cNvPr id="5" name="Picture 4" descr="Features: bag-of-words"/>
          <p:cNvPicPr>
            <a:picLocks noChangeAspect="1"/>
          </p:cNvPicPr>
          <p:nvPr/>
        </p:nvPicPr>
        <p:blipFill>
          <a:blip r:embed="rId3"/>
          <a:stretch>
            <a:fillRect/>
          </a:stretch>
        </p:blipFill>
        <p:spPr>
          <a:xfrm>
            <a:off x="274320" y="1606051"/>
            <a:ext cx="8595360" cy="2534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s this review positive or negativ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Is this review positive or negative?</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Pexels License, https://images.pexels.com/photos/3850250/pexels-photo-3850250.jpeg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Bayes' rule, from counting</a:t>
            </a:r>
          </a:p>
        </p:txBody>
      </p:sp>
      <p:pic>
        <p:nvPicPr>
          <p:cNvPr id="5" name="Picture 4" descr="Bayes' rule, from counting"/>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naive assumption, laid out</a:t>
            </a:r>
          </a:p>
        </p:txBody>
      </p:sp>
      <p:pic>
        <p:nvPicPr>
          <p:cNvPr id="5" name="Picture 4" descr="The naive assumption, laid out"/>
          <p:cNvPicPr>
            <a:picLocks noChangeAspect="1"/>
          </p:cNvPicPr>
          <p:nvPr/>
        </p:nvPicPr>
        <p:blipFill>
          <a:blip r:embed="rId3"/>
          <a:stretch>
            <a:fillRect/>
          </a:stretch>
        </p:blipFill>
        <p:spPr>
          <a:xfrm>
            <a:off x="274320" y="1369314"/>
            <a:ext cx="8595360" cy="30083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Naive Bayes: the idea</a:t>
            </a:r>
          </a:p>
        </p:txBody>
      </p:sp>
      <p:pic>
        <p:nvPicPr>
          <p:cNvPr id="5" name="Picture 4" descr="Naive Bayes: the idea"/>
          <p:cNvPicPr>
            <a:picLocks noChangeAspect="1"/>
          </p:cNvPicPr>
          <p:nvPr/>
        </p:nvPicPr>
        <p:blipFill>
          <a:blip r:embed="rId3"/>
          <a:stretch>
            <a:fillRect/>
          </a:stretch>
        </p:blipFill>
        <p:spPr>
          <a:xfrm>
            <a:off x="274320" y="1551419"/>
            <a:ext cx="8595360" cy="2644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Training Naive Bayes</a:t>
            </a:r>
          </a:p>
        </p:txBody>
      </p:sp>
      <p:pic>
        <p:nvPicPr>
          <p:cNvPr id="5" name="Picture 4" descr="Training Naive Baye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independence assumption</a:t>
            </a:r>
          </a:p>
        </p:txBody>
      </p:sp>
      <p:pic>
        <p:nvPicPr>
          <p:cNvPr id="5" name="Picture 4" descr="The independence assumption"/>
          <p:cNvPicPr>
            <a:picLocks noChangeAspect="1"/>
          </p:cNvPicPr>
          <p:nvPr/>
        </p:nvPicPr>
        <p:blipFill>
          <a:blip r:embed="rId3"/>
          <a:stretch>
            <a:fillRect/>
          </a:stretch>
        </p:blipFill>
        <p:spPr>
          <a:xfrm>
            <a:off x="274320" y="1886492"/>
            <a:ext cx="8595360" cy="1974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First, the shape you already know</a:t>
            </a:r>
          </a:p>
        </p:txBody>
      </p:sp>
      <p:pic>
        <p:nvPicPr>
          <p:cNvPr id="5" name="Picture 4" descr="First, the shape you already know"/>
          <p:cNvPicPr>
            <a:picLocks noChangeAspect="1"/>
          </p:cNvPicPr>
          <p:nvPr/>
        </p:nvPicPr>
        <p:blipFill>
          <a:blip r:embed="rId3"/>
          <a:stretch>
            <a:fillRect/>
          </a:stretch>
        </p:blipFill>
        <p:spPr>
          <a:xfrm>
            <a:off x="274320" y="1573272"/>
            <a:ext cx="8595360" cy="26004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Logistic regression: the idea</a:t>
            </a:r>
          </a:p>
        </p:txBody>
      </p:sp>
      <p:pic>
        <p:nvPicPr>
          <p:cNvPr id="5" name="Picture 4" descr="Logistic regression: the idea"/>
          <p:cNvPicPr>
            <a:picLocks noChangeAspect="1"/>
          </p:cNvPicPr>
          <p:nvPr/>
        </p:nvPicPr>
        <p:blipFill>
          <a:blip r:embed="rId3"/>
          <a:stretch>
            <a:fillRect/>
          </a:stretch>
        </p:blipFill>
        <p:spPr>
          <a:xfrm>
            <a:off x="274320" y="1402093"/>
            <a:ext cx="8595360" cy="29428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model sees: a feature vector x</a:t>
            </a:r>
          </a:p>
        </p:txBody>
      </p:sp>
      <p:pic>
        <p:nvPicPr>
          <p:cNvPr id="5" name="Picture 4" descr="What the model sees: a feature vector x"/>
          <p:cNvPicPr>
            <a:picLocks noChangeAspect="1"/>
          </p:cNvPicPr>
          <p:nvPr/>
        </p:nvPicPr>
        <p:blipFill>
          <a:blip r:embed="rId3"/>
          <a:stretch>
            <a:fillRect/>
          </a:stretch>
        </p:blipFill>
        <p:spPr>
          <a:xfrm>
            <a:off x="2374687" y="1078992"/>
            <a:ext cx="43946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entire model: multiply, add, squash</a:t>
            </a:r>
          </a:p>
        </p:txBody>
      </p:sp>
      <p:pic>
        <p:nvPicPr>
          <p:cNvPr id="5" name="Picture 4" descr="The entire model: multiply, add, squash"/>
          <p:cNvPicPr>
            <a:picLocks noChangeAspect="1"/>
          </p:cNvPicPr>
          <p:nvPr/>
        </p:nvPicPr>
        <p:blipFill>
          <a:blip r:embed="rId3"/>
          <a:stretch>
            <a:fillRect/>
          </a:stretch>
        </p:blipFill>
        <p:spPr>
          <a:xfrm>
            <a:off x="592097" y="1078992"/>
            <a:ext cx="79598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4.3.1 worked example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does the loss come from?</a:t>
            </a:r>
          </a:p>
        </p:txBody>
      </p:sp>
      <p:pic>
        <p:nvPicPr>
          <p:cNvPr id="5" name="Picture 4" descr="Where does the loss come from?"/>
          <p:cNvPicPr>
            <a:picLocks noChangeAspect="1"/>
          </p:cNvPicPr>
          <p:nvPr/>
        </p:nvPicPr>
        <p:blipFill>
          <a:blip r:embed="rId3"/>
          <a:stretch>
            <a:fillRect/>
          </a:stretch>
        </p:blipFill>
        <p:spPr>
          <a:xfrm>
            <a:off x="274320" y="1890135"/>
            <a:ext cx="8595360" cy="1966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example, one number</a:t>
            </a:r>
          </a:p>
        </p:txBody>
      </p:sp>
      <p:pic>
        <p:nvPicPr>
          <p:cNvPr id="5" name="Picture 4" descr="One example, one number"/>
          <p:cNvPicPr>
            <a:picLocks noChangeAspect="1"/>
          </p:cNvPicPr>
          <p:nvPr/>
        </p:nvPicPr>
        <p:blipFill>
          <a:blip r:embed="rId3"/>
          <a:stretch>
            <a:fillRect/>
          </a:stretch>
        </p:blipFill>
        <p:spPr>
          <a:xfrm>
            <a:off x="783947" y="1078992"/>
            <a:ext cx="75761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4.5, cross-entropy loss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two-class form</a:t>
            </a:r>
          </a:p>
        </p:txBody>
      </p:sp>
      <p:pic>
        <p:nvPicPr>
          <p:cNvPr id="5" name="Picture 4" descr="The two-class form"/>
          <p:cNvPicPr>
            <a:picLocks noChangeAspect="1"/>
          </p:cNvPicPr>
          <p:nvPr/>
        </p:nvPicPr>
        <p:blipFill>
          <a:blip r:embed="rId3"/>
          <a:stretch>
            <a:fillRect/>
          </a:stretch>
        </p:blipFill>
        <p:spPr>
          <a:xfrm>
            <a:off x="274320" y="1522282"/>
            <a:ext cx="8595360" cy="27024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Learning = rolling downhill on the loss</a:t>
            </a:r>
          </a:p>
        </p:txBody>
      </p:sp>
      <p:pic>
        <p:nvPicPr>
          <p:cNvPr id="5" name="Picture 4" descr="Learning = rolling downhill on the loss"/>
          <p:cNvPicPr>
            <a:picLocks noChangeAspect="1"/>
          </p:cNvPicPr>
          <p:nvPr/>
        </p:nvPicPr>
        <p:blipFill>
          <a:blip r:embed="rId3"/>
          <a:stretch>
            <a:fillRect/>
          </a:stretch>
        </p:blipFill>
        <p:spPr>
          <a:xfrm>
            <a:off x="1862095" y="1078992"/>
            <a:ext cx="54198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learning rate sets the step size</a:t>
            </a:r>
          </a:p>
        </p:txBody>
      </p:sp>
      <p:pic>
        <p:nvPicPr>
          <p:cNvPr id="5" name="Picture 4" descr="The learning rate sets the step size"/>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4.6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NB vs. logistic regression</a:t>
            </a:r>
          </a:p>
        </p:txBody>
      </p:sp>
      <p:pic>
        <p:nvPicPr>
          <p:cNvPr id="5" name="Picture 4" descr="NB vs. logistic regression"/>
          <p:cNvPicPr>
            <a:picLocks noChangeAspect="1"/>
          </p:cNvPicPr>
          <p:nvPr/>
        </p:nvPicPr>
        <p:blipFill>
          <a:blip r:embed="rId3"/>
          <a:stretch>
            <a:fillRect/>
          </a:stretch>
        </p:blipFill>
        <p:spPr>
          <a:xfrm>
            <a:off x="274320" y="1230914"/>
            <a:ext cx="8595360" cy="32851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wrong with this sentence?</a:t>
            </a:r>
          </a:p>
        </p:txBody>
      </p:sp>
      <p:pic>
        <p:nvPicPr>
          <p:cNvPr id="5" name="Picture 4" descr="What is wrong with this sentence?"/>
          <p:cNvPicPr>
            <a:picLocks noChangeAspect="1"/>
          </p:cNvPicPr>
          <p:nvPr/>
        </p:nvPicPr>
        <p:blipFill>
          <a:blip r:embed="rId3"/>
          <a:stretch>
            <a:fillRect/>
          </a:stretch>
        </p:blipFill>
        <p:spPr>
          <a:xfrm>
            <a:off x="274320" y="1992113"/>
            <a:ext cx="8595360" cy="17627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Accuracy hid the only case that mattered</a:t>
            </a:r>
          </a:p>
        </p:txBody>
      </p:sp>
      <p:pic>
        <p:nvPicPr>
          <p:cNvPr id="5" name="Picture 4" descr="Accuracy hid the only case that mattered"/>
          <p:cNvPicPr>
            <a:picLocks noChangeAspect="1"/>
          </p:cNvPicPr>
          <p:nvPr/>
        </p:nvPicPr>
        <p:blipFill>
          <a:blip r:embed="rId3"/>
          <a:stretch>
            <a:fillRect/>
          </a:stretch>
        </p:blipFill>
        <p:spPr>
          <a:xfrm>
            <a:off x="274320" y="1868282"/>
            <a:ext cx="8595360" cy="201044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confusion matrix</a:t>
            </a:r>
          </a:p>
        </p:txBody>
      </p:sp>
      <p:pic>
        <p:nvPicPr>
          <p:cNvPr id="5" name="Picture 4" descr="The confusion matrix"/>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Precision, recall, F1</a:t>
            </a:r>
          </a:p>
        </p:txBody>
      </p:sp>
      <p:pic>
        <p:nvPicPr>
          <p:cNvPr id="5" name="Picture 4" descr="Precision, recall, F1"/>
          <p:cNvPicPr>
            <a:picLocks noChangeAspect="1"/>
          </p:cNvPicPr>
          <p:nvPr/>
        </p:nvPicPr>
        <p:blipFill>
          <a:blip r:embed="rId3"/>
          <a:stretch>
            <a:fillRect/>
          </a:stretch>
        </p:blipFill>
        <p:spPr>
          <a:xfrm>
            <a:off x="274320" y="1897419"/>
            <a:ext cx="8595360" cy="19521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Which metric matters?</a:t>
            </a:r>
          </a:p>
        </p:txBody>
      </p:sp>
      <p:pic>
        <p:nvPicPr>
          <p:cNvPr id="5" name="Picture 4" descr="Which metric matters?"/>
          <p:cNvPicPr>
            <a:picLocks noChangeAspect="1"/>
          </p:cNvPicPr>
          <p:nvPr/>
        </p:nvPicPr>
        <p:blipFill>
          <a:blip r:embed="rId3"/>
          <a:stretch>
            <a:fillRect/>
          </a:stretch>
        </p:blipFill>
        <p:spPr>
          <a:xfrm>
            <a:off x="274320" y="1529566"/>
            <a:ext cx="8595360" cy="26878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2 (paper)</a:t>
            </a:r>
          </a:p>
        </p:txBody>
      </p:sp>
      <p:pic>
        <p:nvPicPr>
          <p:cNvPr id="5" name="Picture 4" descr="Quiz 2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Sentiment Showdow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Sentiment Showdown</a:t>
            </a:r>
          </a:p>
        </p:txBody>
      </p:sp>
      <p:pic>
        <p:nvPicPr>
          <p:cNvPr id="5" name="Picture 4" descr="Sentiment Showdown"/>
          <p:cNvPicPr>
            <a:picLocks noChangeAspect="1"/>
          </p:cNvPicPr>
          <p:nvPr/>
        </p:nvPicPr>
        <p:blipFill>
          <a:blip r:embed="rId3"/>
          <a:stretch>
            <a:fillRect/>
          </a:stretch>
        </p:blipFill>
        <p:spPr>
          <a:xfrm>
            <a:off x="274320" y="2054029"/>
            <a:ext cx="8595360" cy="16389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functions to write</a:t>
            </a:r>
          </a:p>
        </p:txBody>
      </p:sp>
      <p:pic>
        <p:nvPicPr>
          <p:cNvPr id="5" name="Picture 4" descr="Three functions to write"/>
          <p:cNvPicPr>
            <a:picLocks noChangeAspect="1"/>
          </p:cNvPicPr>
          <p:nvPr/>
        </p:nvPicPr>
        <p:blipFill>
          <a:blip r:embed="rId3"/>
          <a:stretch>
            <a:fillRect/>
          </a:stretch>
        </p:blipFill>
        <p:spPr>
          <a:xfrm>
            <a:off x="274320" y="1984829"/>
            <a:ext cx="8595360" cy="17773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break it</a:t>
            </a:r>
          </a:p>
        </p:txBody>
      </p:sp>
      <p:pic>
        <p:nvPicPr>
          <p:cNvPr id="5" name="Picture 4" descr="Then break it"/>
          <p:cNvPicPr>
            <a:picLocks noChangeAspect="1"/>
          </p:cNvPicPr>
          <p:nvPr/>
        </p:nvPicPr>
        <p:blipFill>
          <a:blip r:embed="rId3"/>
          <a:stretch>
            <a:fillRect/>
          </a:stretch>
        </p:blipFill>
        <p:spPr>
          <a:xfrm>
            <a:off x="274320" y="1460367"/>
            <a:ext cx="8595360" cy="2826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71001" y="1078992"/>
            <a:ext cx="76019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solutions/sentiment.py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