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Text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80610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2, Class 2  ·  Wed Sep 2, 2026</a:t>
            </a:r>
          </a:p>
        </p:txBody>
      </p:sp>
      <p:pic>
        <p:nvPicPr>
          <p:cNvPr id="5" name="Picture 4" descr="Text Classifi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474720"/>
            <a:ext cx="1975104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Arnold Gatilao, CC BY 2.0, Wikimedia Commons (SPAM Shrine.jpg)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Every inbox is a classifier at work</a:t>
            </a:r>
          </a:p>
        </p:txBody>
      </p:sp>
      <p:pic>
        <p:nvPicPr>
          <p:cNvPr id="5" name="Picture 4" descr="Every inbox is a classifier at 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596" y="1078992"/>
            <a:ext cx="5376808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https://images.unsplash.com/photo-1450101499163-c8848c66ca85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task</a:t>
            </a:r>
          </a:p>
        </p:txBody>
      </p:sp>
      <p:pic>
        <p:nvPicPr>
          <p:cNvPr id="5" name="Picture 4" descr="The tas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74935"/>
            <a:ext cx="8595360" cy="2797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Features: bag-of-words</a:t>
            </a:r>
          </a:p>
        </p:txBody>
      </p:sp>
      <p:pic>
        <p:nvPicPr>
          <p:cNvPr id="5" name="Picture 4" descr="Features: bag-of-w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6051"/>
            <a:ext cx="8595360" cy="2534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s this review positive or negative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7203"/>
            <a:ext cx="9144000" cy="609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FFFFFF"/>
                </a:solidFill>
              </a:rPr>
              <a:t>Is this review positive or negative?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Pexels License, https://images.pexels.com/photos/3850250/pexels-photo-3850250.jpeg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Bayes' rule, from counting</a:t>
            </a:r>
          </a:p>
        </p:txBody>
      </p:sp>
      <p:pic>
        <p:nvPicPr>
          <p:cNvPr id="5" name="Picture 4" descr="Bayes' rule, from coun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49440"/>
            <a:ext cx="8595360" cy="2848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naive assumption, laid out</a:t>
            </a:r>
          </a:p>
        </p:txBody>
      </p:sp>
      <p:pic>
        <p:nvPicPr>
          <p:cNvPr id="5" name="Picture 4" descr="The naive assumption, laid 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69314"/>
            <a:ext cx="8595360" cy="3008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Naive Bayes: the idea</a:t>
            </a:r>
          </a:p>
        </p:txBody>
      </p:sp>
      <p:pic>
        <p:nvPicPr>
          <p:cNvPr id="5" name="Picture 4" descr="Naive Bayes: the id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51419"/>
            <a:ext cx="8595360" cy="26441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Training Naive Bayes</a:t>
            </a:r>
          </a:p>
        </p:txBody>
      </p:sp>
      <p:pic>
        <p:nvPicPr>
          <p:cNvPr id="5" name="Picture 4" descr="Training Naive Bay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19" y="1078992"/>
            <a:ext cx="8572962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independence assumption</a:t>
            </a:r>
          </a:p>
        </p:txBody>
      </p:sp>
      <p:pic>
        <p:nvPicPr>
          <p:cNvPr id="5" name="Picture 4" descr="The independence assump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86492"/>
            <a:ext cx="8595360" cy="19740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First, the shape you already know</a:t>
            </a:r>
          </a:p>
        </p:txBody>
      </p:sp>
      <p:pic>
        <p:nvPicPr>
          <p:cNvPr id="5" name="Picture 4" descr="First, the shape you already kn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73272"/>
            <a:ext cx="8595360" cy="2600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Logistic regression: the idea</a:t>
            </a:r>
          </a:p>
        </p:txBody>
      </p:sp>
      <p:pic>
        <p:nvPicPr>
          <p:cNvPr id="5" name="Picture 4" descr="Logistic regression: the id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02093"/>
            <a:ext cx="8595360" cy="2942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the model sees: a feature vector x</a:t>
            </a:r>
          </a:p>
        </p:txBody>
      </p:sp>
      <p:pic>
        <p:nvPicPr>
          <p:cNvPr id="5" name="Picture 4" descr="What the model sees: a feature vector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687" y="1078992"/>
            <a:ext cx="4394626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Jurafsky &amp; Martin, SLP3 (Jan 2026 draft), Fig. 4.2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entire model: multiply, add, squash</a:t>
            </a:r>
          </a:p>
        </p:txBody>
      </p:sp>
      <p:pic>
        <p:nvPicPr>
          <p:cNvPr id="5" name="Picture 4" descr="The entire model: multiply, add, squa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7" y="1078992"/>
            <a:ext cx="7959806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Jurafsky &amp; Martin, SLP3 (Jan 2026 draft), Ch. 4.3.1 worked 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Where does the loss come from?</a:t>
            </a:r>
          </a:p>
        </p:txBody>
      </p:sp>
      <p:pic>
        <p:nvPicPr>
          <p:cNvPr id="5" name="Picture 4" descr="Where does the loss come from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90135"/>
            <a:ext cx="8595360" cy="1966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One example, one number</a:t>
            </a:r>
          </a:p>
        </p:txBody>
      </p:sp>
      <p:pic>
        <p:nvPicPr>
          <p:cNvPr id="5" name="Picture 4" descr="One example, one numb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47" y="1078992"/>
            <a:ext cx="7576106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Jurafsky &amp; Martin, SLP3 (Jan 2026 draft), Ch. 4.5, cross-entropy loss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two-class form</a:t>
            </a:r>
          </a:p>
        </p:txBody>
      </p:sp>
      <p:pic>
        <p:nvPicPr>
          <p:cNvPr id="5" name="Picture 4" descr="The two-class fo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22282"/>
            <a:ext cx="8595360" cy="2702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Learning = rolling downhill on the loss</a:t>
            </a:r>
          </a:p>
        </p:txBody>
      </p:sp>
      <p:pic>
        <p:nvPicPr>
          <p:cNvPr id="5" name="Picture 4" descr="Learning = rolling downhill on the l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095" y="1078992"/>
            <a:ext cx="5419810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Jurafsky &amp; Martin, SLP3 (Jan 2026 draft), Fig. 4.3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learning rate sets the step size</a:t>
            </a:r>
          </a:p>
        </p:txBody>
      </p:sp>
      <p:pic>
        <p:nvPicPr>
          <p:cNvPr id="5" name="Picture 4" descr="The learning rate sets the step 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76283"/>
            <a:ext cx="8595360" cy="3394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Jurafsky &amp; Martin, SLP3 (Jan 2026 draft), Ch. 4.6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NB vs. logistic regression</a:t>
            </a:r>
          </a:p>
        </p:txBody>
      </p:sp>
      <p:pic>
        <p:nvPicPr>
          <p:cNvPr id="5" name="Picture 4" descr="NB vs. logistic regres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0914"/>
            <a:ext cx="8595360" cy="3285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is wrong with this sentence?</a:t>
            </a:r>
          </a:p>
        </p:txBody>
      </p:sp>
      <p:pic>
        <p:nvPicPr>
          <p:cNvPr id="5" name="Picture 4" descr="What is wrong with this sentence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92113"/>
            <a:ext cx="8595360" cy="1762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Accuracy hid the only case that mattered</a:t>
            </a:r>
          </a:p>
        </p:txBody>
      </p:sp>
      <p:pic>
        <p:nvPicPr>
          <p:cNvPr id="5" name="Picture 4" descr="Accuracy hid the only case that matt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68282"/>
            <a:ext cx="8595360" cy="201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confusion matrix</a:t>
            </a:r>
          </a:p>
        </p:txBody>
      </p:sp>
      <p:pic>
        <p:nvPicPr>
          <p:cNvPr id="5" name="Picture 4" descr="The 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3019"/>
            <a:ext cx="8595360" cy="2920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Precision, recall, F1</a:t>
            </a:r>
          </a:p>
        </p:txBody>
      </p:sp>
      <p:pic>
        <p:nvPicPr>
          <p:cNvPr id="5" name="Picture 4" descr="Precision, recall, F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97419"/>
            <a:ext cx="8595360" cy="1952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Which metric matters?</a:t>
            </a:r>
          </a:p>
        </p:txBody>
      </p:sp>
      <p:pic>
        <p:nvPicPr>
          <p:cNvPr id="5" name="Picture 4" descr="Which metric matters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29566"/>
            <a:ext cx="8595360" cy="2687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Quiz 2 (paper)</a:t>
            </a:r>
          </a:p>
        </p:txBody>
      </p:sp>
      <p:pic>
        <p:nvPicPr>
          <p:cNvPr id="5" name="Picture 4" descr="Quiz 2 (paper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65" y="1078992"/>
            <a:ext cx="6579870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the Sentiment Showdow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Sentiment Showdown</a:t>
            </a:r>
          </a:p>
        </p:txBody>
      </p:sp>
      <p:pic>
        <p:nvPicPr>
          <p:cNvPr id="5" name="Picture 4" descr="Sentiment Showdo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54029"/>
            <a:ext cx="8595360" cy="1638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weeks/week-02/class-02/exercise/sentiment.py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Three functions to write</a:t>
            </a:r>
          </a:p>
        </p:txBody>
      </p:sp>
      <p:pic>
        <p:nvPicPr>
          <p:cNvPr id="5" name="Picture 4" descr="Three functions to wr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84829"/>
            <a:ext cx="8595360" cy="1777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weeks/week-02/class-02/exercise/sentiment.py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Then break it</a:t>
            </a:r>
          </a:p>
        </p:txBody>
      </p:sp>
      <p:pic>
        <p:nvPicPr>
          <p:cNvPr id="5" name="Picture 4" descr="Then break 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60367"/>
            <a:ext cx="8595360" cy="2826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weeks/week-02/class-02/exercise/sentiment.py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 should see</a:t>
            </a:r>
          </a:p>
        </p:txBody>
      </p:sp>
      <p:pic>
        <p:nvPicPr>
          <p:cNvPr id="5" name="Picture 4" descr="What you should s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01" y="1078992"/>
            <a:ext cx="7601997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run, solutions/sentiment.py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