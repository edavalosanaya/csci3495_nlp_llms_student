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jpg"/><Relationship Id="rId3" Type="http://schemas.openxmlformats.org/officeDocument/2006/relationships/hyperlink" Target="https://www.youtube.com/watch?v=NURcDHhYe98" TargetMode="External"/><Relationship Id="rId4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N-gram Language Models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312514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2, Class 1  ·  Mon Aug 31, 2026</a:t>
            </a:r>
          </a:p>
        </p:txBody>
      </p:sp>
      <p:pic>
        <p:nvPicPr>
          <p:cNvPr id="5" name="Picture 4" descr="Fridge poetry is a language model you play by hand: given the words so far, which tile do you reach for next? Today we make that instinct a probabil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3600529"/>
            <a:ext cx="2743200" cy="122971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Michael Zimmer, Wikimedia Commons, CC BY-SA 2.0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You use a language model every day</a:t>
            </a:r>
          </a:p>
        </p:txBody>
      </p:sp>
      <p:pic>
        <p:nvPicPr>
          <p:cNvPr id="5" name="Picture 4" descr="Phone autocomplete guesses your next word. Today we build the same idea from scratc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076" y="1078992"/>
            <a:ext cx="5381848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https://images.unsplash.com/photo-1512941937669-90a1b58e7e9c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is a language model?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18320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It scores a whole sentence, or predicts the next word from the ones so far</a:t>
            </a:r>
          </a:p>
        </p:txBody>
      </p:sp>
      <p:pic>
        <p:nvPicPr>
          <p:cNvPr id="9" name="Picture 8" descr="An LM assigns probability to the next word given the words so far, exactly what phone autocomplete do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17788"/>
            <a:ext cx="8595360" cy="2309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next-word prediction is central</a:t>
            </a:r>
          </a:p>
        </p:txBody>
      </p:sp>
      <p:pic>
        <p:nvPicPr>
          <p:cNvPr id="5" name="Picture 4" descr="Predict the next word well and you implicitly learn grammar, facts, and styl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1735"/>
            <a:ext cx="8595360" cy="224353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Grammar, facts, and style all hide inside next-word predictio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you can guess the next word, how much have you really learned?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Grammar, facts, and style all hide inside next-word prediction.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Wikimedia Commons, public domain, commons.wikimedia.org/wiki/File:Letra_Mix.JPG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Probability is just counting</a:t>
            </a:r>
          </a:p>
        </p:txBody>
      </p:sp>
      <p:pic>
        <p:nvPicPr>
          <p:cNvPr id="5" name="Picture 4" descr="P(event) = how often it happens divided by how many chances it had. 15 of 50 tweets contain &quot;cat&quot;, so P = 0.3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events: AND, OR, and "given"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0240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P(A and B) = P(B) x P(A given B): apply this over and over and you get the chain rule</a:t>
            </a:r>
          </a:p>
        </p:txBody>
      </p:sp>
      <p:pic>
        <p:nvPicPr>
          <p:cNvPr id="6" name="Picture 5" descr="Intersection (AND) is the overlap, union (OR) adds both and subtracts the overlap, and conditional probability rescales to the world where B happen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33704"/>
            <a:ext cx="8595360" cy="28772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chain rule of probability</a:t>
            </a:r>
          </a:p>
        </p:txBody>
      </p:sp>
      <p:pic>
        <p:nvPicPr>
          <p:cNvPr id="5" name="Picture 4" descr="Any joint probability factors exactly into a product of next-word probabiliti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55377"/>
            <a:ext cx="8595360" cy="22362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Markov assumption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47772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This simplification is what makes counting feasible</a:t>
            </a:r>
          </a:p>
        </p:txBody>
      </p:sp>
      <p:pic>
        <p:nvPicPr>
          <p:cNvPr id="6" name="Picture 5" descr="Approximate the full history with the last n−1 words: unigram (0), bigram (1), trigram (2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8335"/>
            <a:ext cx="8595360" cy="276799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corpus is just text we count</a:t>
            </a:r>
          </a:p>
        </p:txBody>
      </p:sp>
      <p:pic>
        <p:nvPicPr>
          <p:cNvPr id="5" name="Picture 4" descr="An n-gram model learns nothing but counts of word sequences from a body of text like thi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1002" y="1078992"/>
            <a:ext cx="612199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https://images.unsplash.com/photo-1507842217343-583bb7270b66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Estimating probabilities by counting</a:t>
            </a:r>
          </a:p>
        </p:txBody>
      </p:sp>
      <p:pic>
        <p:nvPicPr>
          <p:cNvPr id="5" name="Picture 4" descr="Maximum-likelihood bigram estimate, count the pair, divide by the context coun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740808"/>
            <a:ext cx="8595360" cy="22653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tiny 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81899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Multiply the right bigrams to score a whole sentence</a:t>
            </a:r>
          </a:p>
        </p:txBody>
      </p:sp>
      <p:pic>
        <p:nvPicPr>
          <p:cNvPr id="6" name="Picture 5" descr="Three short sentences give us real bigram probabilities by countin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4209"/>
            <a:ext cx="8595360" cy="223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after Jurafsky &amp; Martin, SLP3 Ch. 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Generating text from an n-gram model</a:t>
            </a:r>
          </a:p>
        </p:txBody>
      </p:sp>
      <p:pic>
        <p:nvPicPr>
          <p:cNvPr id="5" name="Picture 4" descr="Sampling = start at &lt;s&gt;, draw the next word, slide the window, repeat until &lt;/s&gt;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2472"/>
            <a:ext cx="8595360" cy="24620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Two vocabulary words: deterministic vs. stochastic</a:t>
            </a:r>
          </a:p>
        </p:txBody>
      </p:sp>
      <p:pic>
        <p:nvPicPr>
          <p:cNvPr id="5" name="Picture 4" descr="Edit distance is deterministic (same input, same answer forever); sampling from a language model is stochastic (same prompt, different babble each run)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78577"/>
            <a:ext cx="8595360" cy="2789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zero-probability problem</a:t>
            </a:r>
          </a:p>
        </p:txBody>
      </p:sp>
      <p:pic>
        <p:nvPicPr>
          <p:cNvPr id="5" name="Picture 4" descr="One unseen bigram zeroes the whole sentence and sends perplexity to infinity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860998"/>
            <a:ext cx="8595360" cy="20250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Add-one (Laplace) smoothing</a:t>
            </a:r>
          </a:p>
        </p:txBody>
      </p:sp>
      <p:pic>
        <p:nvPicPr>
          <p:cNvPr id="5" name="Picture 4" descr="Pretend every n-gram was seen one extra time, so no probability is ever exactly 0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04072"/>
            <a:ext cx="8595360" cy="27388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653796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Perplexity: how good is the model?</a:t>
            </a:r>
          </a:p>
        </p:txBody>
      </p:sp>
      <p:pic>
        <p:nvPicPr>
          <p:cNvPr id="5" name="Picture 4" descr="Video: What is perplexity?. Opens https://www.youtube.com/watch?v=NURcDHhYe98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09728"/>
            <a:ext cx="1554480" cy="8741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31152" y="993038"/>
            <a:ext cx="1956816" cy="17373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marL="0" indent="0">
              <a:buNone/>
            </a:pPr>
            <a:r>
              <a:rPr sz="850" b="1">
                <a:solidFill>
                  <a:srgbClr val="7C2529"/>
                </a:solidFill>
              </a:rPr>
              <a:t>What is perplexity?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270054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is better, like an effective branching factor</a:t>
            </a:r>
          </a:p>
        </p:txBody>
      </p:sp>
      <p:pic>
        <p:nvPicPr>
          <p:cNvPr id="9" name="Picture 8" descr="Perplexity = inverse probability of the test set per word; the model's average surprise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1294070"/>
            <a:ext cx="8595360" cy="2884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Perplexity meets bias and variance</a:t>
            </a:r>
          </a:p>
        </p:txBody>
      </p:sp>
      <p:pic>
        <p:nvPicPr>
          <p:cNvPr id="5" name="Picture 4" descr="Small n underfits (high bias, both perplexities high); large n overfits the training counts (high variance, test perplexity climbs). Report perplexity on held-out text and pick the sweet spo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7146"/>
            <a:ext cx="8595360" cy="345271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Where n-grams break down</a:t>
            </a:r>
          </a:p>
        </p:txBody>
      </p:sp>
      <p:pic>
        <p:nvPicPr>
          <p:cNvPr id="5" name="Picture 4" descr="Long-range dependencies, sparsity, and no generalization across similar word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332893"/>
            <a:ext cx="8595360" cy="30812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Babble-Off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the Babble-Off</a:t>
            </a:r>
          </a:p>
        </p:txBody>
      </p:sp>
      <p:pic>
        <p:nvPicPr>
          <p:cNvPr id="5" name="Picture 4" descr="Teams, programming competition, ~33 minutes. Lowest perplexity and funniest babble win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40493"/>
            <a:ext cx="8595360" cy="26660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build an N-gram Bard</a:t>
            </a:r>
          </a:p>
        </p:txBody>
      </p:sp>
      <p:pic>
        <p:nvPicPr>
          <p:cNvPr id="5" name="Picture 4" descr="Implement four functions, then train, babble, and score on a tiny corpu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34609"/>
            <a:ext cx="8595360" cy="26777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Exercise: the starter code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Run it, then pytest test_ngram_lm.py</a:t>
            </a:r>
          </a:p>
        </p:txBody>
      </p:sp>
      <p:pic>
        <p:nvPicPr>
          <p:cNvPr id="6" name="Picture 5" descr="Four TODOs in ngram_lm.py, each maps to one idea from today's lecture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7536" y="1078992"/>
            <a:ext cx="2708927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weeks/week-02/class-01/exercise/ngram_lm.py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Lower perplexity = better. HW1 is out today.</a:t>
            </a:r>
          </a:p>
        </p:txBody>
      </p:sp>
      <p:pic>
        <p:nvPicPr>
          <p:cNvPr id="6" name="Picture 5" descr="Perplexity drops from unigram to bigram; the babble grows more fluent as n ris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464" y="1078992"/>
            <a:ext cx="6615072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solutions/ngram_lm.py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