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8" r:id="rId3"/>
  </p:sldMasterIdLst>
  <p:notesMasterIdLst>
    <p:notesMasterId r:id="rId4"/>
  </p:notesMasterIdLst>
  <p:sldIdLst>
    <p:sldId id="256" r:id="rId21"/>
    <p:sldId id="257" r:id="rId22"/>
    <p:sldId id="258" r:id="rId20"/>
    <p:sldId id="259" r:id="rId19"/>
    <p:sldId id="260" r:id="rId18"/>
    <p:sldId id="261" r:id="rId17"/>
    <p:sldId id="262" r:id="rId16"/>
    <p:sldId id="263" r:id="rId15"/>
    <p:sldId id="264" r:id="rId14"/>
    <p:sldId id="265" r:id="rId13"/>
    <p:sldId id="266" r:id="rId12"/>
    <p:sldId id="267" r:id="rId11"/>
    <p:sldId id="268" r:id="rId10"/>
    <p:sldId id="269" r:id="rId9"/>
    <p:sldId id="270" r:id="rId8"/>
    <p:sldId id="271" r:id="rId7"/>
    <p:sldId id="272" r:id="rId6"/>
    <p:sldId id="273" r:id="rId5"/>
    <p:sldId id="274" r:id="rId39"/>
    <p:sldId id="275" r:id="rId40"/>
    <p:sldId id="276" r:id="rId41"/>
    <p:sldId id="277" r:id="rId42"/>
    <p:sldId id="278" r:id="rId43"/>
    <p:sldId id="279" r:id="rId44"/>
  </p:sldIdLst>
  <p:sldSz cy="5143500" cx="9144000"/>
  <p:notesSz cx="6858000" cy="9144000"/>
  <p:embeddedFontLst>
    <p:embeddedFont>
      <p:font typeface="Roboto"/>
      <p:regular r:id="rId23"/>
      <p:bold r:id="rId24"/>
      <p:italic r:id="rId25"/>
      <p:boldItalic r:id="rId26"/>
    </p:embeddedFont>
    <p:embeddedFont>
      <p:font typeface="Playfair Display"/>
      <p:regular r:id="rId27"/>
      <p:bold r:id="rId28"/>
      <p:italic r:id="rId29"/>
      <p:boldItalic r:id="rId30"/>
    </p:embeddedFont>
    <p:embeddedFont>
      <p:font typeface="Roboto Mono Light"/>
      <p:regular r:id="rId31"/>
      <p:bold r:id="rId32"/>
      <p:italic r:id="rId33"/>
      <p:boldItalic r:id="rId34"/>
    </p:embeddedFont>
    <p:embeddedFont>
      <p:font typeface="Roboto Light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8.xml"/><Relationship Id="rId6" Type="http://schemas.openxmlformats.org/officeDocument/2006/relationships/slide" Target="slides/slide17.xml"/><Relationship Id="rId7" Type="http://schemas.openxmlformats.org/officeDocument/2006/relationships/slide" Target="slides/slide16.xml"/><Relationship Id="rId8" Type="http://schemas.openxmlformats.org/officeDocument/2006/relationships/slide" Target="slides/slide15.xml"/><Relationship Id="rId9" Type="http://schemas.openxmlformats.org/officeDocument/2006/relationships/slide" Target="slides/slide14.xml"/><Relationship Id="rId10" Type="http://schemas.openxmlformats.org/officeDocument/2006/relationships/slide" Target="slides/slide13.xml"/><Relationship Id="rId11" Type="http://schemas.openxmlformats.org/officeDocument/2006/relationships/slide" Target="slides/slide12.xml"/><Relationship Id="rId12" Type="http://schemas.openxmlformats.org/officeDocument/2006/relationships/slide" Target="slides/slide11.xml"/><Relationship Id="rId13" Type="http://schemas.openxmlformats.org/officeDocument/2006/relationships/slide" Target="slides/slide10.xml"/><Relationship Id="rId14" Type="http://schemas.openxmlformats.org/officeDocument/2006/relationships/slide" Target="slides/slide9.xml"/><Relationship Id="rId15" Type="http://schemas.openxmlformats.org/officeDocument/2006/relationships/slide" Target="slides/slide8.xml"/><Relationship Id="rId16" Type="http://schemas.openxmlformats.org/officeDocument/2006/relationships/slide" Target="slides/slide7.xml"/><Relationship Id="rId17" Type="http://schemas.openxmlformats.org/officeDocument/2006/relationships/slide" Target="slides/slide6.xml"/><Relationship Id="rId18" Type="http://schemas.openxmlformats.org/officeDocument/2006/relationships/slide" Target="slides/slide5.xml"/><Relationship Id="rId19" Type="http://schemas.openxmlformats.org/officeDocument/2006/relationships/slide" Target="slides/slide4.xml"/><Relationship Id="rId20" Type="http://schemas.openxmlformats.org/officeDocument/2006/relationships/slide" Target="slides/slide3.xml"/><Relationship Id="rId21" Type="http://schemas.openxmlformats.org/officeDocument/2006/relationships/slide" Target="slides/slide1.xml"/><Relationship Id="rId22" Type="http://schemas.openxmlformats.org/officeDocument/2006/relationships/slide" Target="slides/slide2.xml"/><Relationship Id="rId23" Type="http://schemas.openxmlformats.org/officeDocument/2006/relationships/font" Target="fonts/Roboto-regular.fntdata"/><Relationship Id="rId24" Type="http://schemas.openxmlformats.org/officeDocument/2006/relationships/font" Target="fonts/Roboto-bold.fntdata"/><Relationship Id="rId25" Type="http://schemas.openxmlformats.org/officeDocument/2006/relationships/font" Target="fonts/Roboto-italic.fntdata"/><Relationship Id="rId26" Type="http://schemas.openxmlformats.org/officeDocument/2006/relationships/font" Target="fonts/Roboto-boldItalic.fntdata"/><Relationship Id="rId27" Type="http://schemas.openxmlformats.org/officeDocument/2006/relationships/font" Target="fonts/PlayfairDisplay-regular.fntdata"/><Relationship Id="rId28" Type="http://schemas.openxmlformats.org/officeDocument/2006/relationships/font" Target="fonts/PlayfairDisplay-bold.fntdata"/><Relationship Id="rId29" Type="http://schemas.openxmlformats.org/officeDocument/2006/relationships/font" Target="fonts/PlayfairDisplay-italic.fntdata"/><Relationship Id="rId30" Type="http://schemas.openxmlformats.org/officeDocument/2006/relationships/font" Target="fonts/PlayfairDisplay-boldItalic.fntdata"/><Relationship Id="rId31" Type="http://schemas.openxmlformats.org/officeDocument/2006/relationships/font" Target="fonts/RobotoMonoLight-regular.fntdata"/><Relationship Id="rId32" Type="http://schemas.openxmlformats.org/officeDocument/2006/relationships/font" Target="fonts/RobotoMonoLight-bold.fntdata"/><Relationship Id="rId33" Type="http://schemas.openxmlformats.org/officeDocument/2006/relationships/font" Target="fonts/RobotoMonoLight-italic.fntdata"/><Relationship Id="rId34" Type="http://schemas.openxmlformats.org/officeDocument/2006/relationships/font" Target="fonts/RobotoMonoLight-boldItalic.fntdata"/><Relationship Id="rId35" Type="http://schemas.openxmlformats.org/officeDocument/2006/relationships/font" Target="fonts/RobotoLight-regular.fntdata"/><Relationship Id="rId36" Type="http://schemas.openxmlformats.org/officeDocument/2006/relationships/font" Target="fonts/RobotoLight-bold.fntdata"/><Relationship Id="rId37" Type="http://schemas.openxmlformats.org/officeDocument/2006/relationships/font" Target="fonts/RobotoLight-italic.fntdata"/><Relationship Id="rId38" Type="http://schemas.openxmlformats.org/officeDocument/2006/relationships/font" Target="fonts/RobotoLight-boldItalic.fntdata"/><Relationship Id="rId39" Type="http://schemas.openxmlformats.org/officeDocument/2006/relationships/slide" Target="slides/slide19.xml"/><Relationship Id="rId40" Type="http://schemas.openxmlformats.org/officeDocument/2006/relationships/slide" Target="slides/slide20.xml"/><Relationship Id="rId41" Type="http://schemas.openxmlformats.org/officeDocument/2006/relationships/slide" Target="slides/slide21.xml"/><Relationship Id="rId42" Type="http://schemas.openxmlformats.org/officeDocument/2006/relationships/slide" Target="slides/slide22.xml"/><Relationship Id="rId43" Type="http://schemas.openxmlformats.org/officeDocument/2006/relationships/slide" Target="slides/slide23.xml"/><Relationship Id="rId44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523" y="685800"/>
            <a:ext cx="4571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Relationship Id="rId4" Type="http://schemas.openxmlformats.org/officeDocument/2006/relationships/image" Target="../media/image27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ver Page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3390300"/>
            <a:ext cx="9144000" cy="175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13732" l="600" r="-600" t="43847"/>
          <a:stretch/>
        </p:blipFill>
        <p:spPr>
          <a:xfrm>
            <a:off x="0" y="-70472"/>
            <a:ext cx="9198797" cy="346077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type="title"/>
          </p:nvPr>
        </p:nvSpPr>
        <p:spPr>
          <a:xfrm>
            <a:off x="493923" y="976378"/>
            <a:ext cx="8005800" cy="18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layfair Display"/>
              <a:buNone/>
              <a:defRPr i="0" sz="36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93926" y="3549825"/>
            <a:ext cx="7661100" cy="9708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2" type="subTitle"/>
          </p:nvPr>
        </p:nvSpPr>
        <p:spPr>
          <a:xfrm>
            <a:off x="493923" y="4079316"/>
            <a:ext cx="7327800" cy="2987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+ 2 Columns">
  <p:cSld name="2_Portfolio Thre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idx="1" type="body"/>
          </p:nvPr>
        </p:nvSpPr>
        <p:spPr>
          <a:xfrm>
            <a:off x="509577" y="1369219"/>
            <a:ext cx="3688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body"/>
          </p:nvPr>
        </p:nvSpPr>
        <p:spPr>
          <a:xfrm>
            <a:off x="4827127" y="1369219"/>
            <a:ext cx="3688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+ 3 Columns">
  <p:cSld name="1_Slide with Placehol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22" name="Google Shape;22;p4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2" type="body"/>
          </p:nvPr>
        </p:nvSpPr>
        <p:spPr>
          <a:xfrm>
            <a:off x="552175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3" type="body"/>
          </p:nvPr>
        </p:nvSpPr>
        <p:spPr>
          <a:xfrm>
            <a:off x="3337475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5" name="Google Shape;25;p4"/>
          <p:cNvSpPr txBox="1"/>
          <p:nvPr>
            <p:ph idx="4" type="body"/>
          </p:nvPr>
        </p:nvSpPr>
        <p:spPr>
          <a:xfrm>
            <a:off x="6160800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over Slide">
  <p:cSld name="Cover Slid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over Slide with Logo">
  <p:cSld name="Cover Slide_2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3514" y="628706"/>
            <a:ext cx="4936973" cy="3885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Acknowledgments Slide">
  <p:cSld name="Cover Slide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Playfair Display"/>
              <a:buNone/>
              <a:defRPr i="0" sz="56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34" name="Google Shape;34;p7"/>
          <p:cNvSpPr txBox="1"/>
          <p:nvPr>
            <p:ph idx="1" type="subTitle"/>
          </p:nvPr>
        </p:nvSpPr>
        <p:spPr>
          <a:xfrm>
            <a:off x="509521" y="1401113"/>
            <a:ext cx="5120100" cy="15582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27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only">
  <p:cSld name="Custom Layou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37" name="Google Shape;37;p8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Big Concept Slide">
  <p:cSld name="Slide with Placehol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title"/>
          </p:nvPr>
        </p:nvSpPr>
        <p:spPr>
          <a:xfrm>
            <a:off x="509577" y="2245519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509577" y="3154509"/>
            <a:ext cx="6737700" cy="953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and Photo">
  <p:cSld name="Large Picture with Logo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43" name="Google Shape;43;p10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44" name="Google Shape;44;p10"/>
          <p:cNvPicPr preferRelativeResize="0"/>
          <p:nvPr/>
        </p:nvPicPr>
        <p:blipFill rotWithShape="1">
          <a:blip r:embed="rId2">
            <a:alphaModFix/>
          </a:blip>
          <a:srcRect b="2009" l="27412" r="6551" t="0"/>
          <a:stretch/>
        </p:blipFill>
        <p:spPr>
          <a:xfrm>
            <a:off x="7006675" y="-56025"/>
            <a:ext cx="2176574" cy="4846049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0"/>
          <p:cNvSpPr txBox="1"/>
          <p:nvPr>
            <p:ph idx="2" type="body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and Photo 1">
  <p:cSld name="Large Picture with Logo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48" name="Google Shape;48;p11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2" type="body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and Photo 2">
  <p:cSld name="Large Picture with Logo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52" name="Google Shape;52;p12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53" name="Google Shape;53;p12"/>
          <p:cNvPicPr preferRelativeResize="0"/>
          <p:nvPr/>
        </p:nvPicPr>
        <p:blipFill rotWithShape="1">
          <a:blip r:embed="rId2">
            <a:alphaModFix/>
          </a:blip>
          <a:srcRect b="0" l="27412" r="6551" t="0"/>
          <a:stretch/>
        </p:blipFill>
        <p:spPr>
          <a:xfrm>
            <a:off x="7006675" y="-57150"/>
            <a:ext cx="2137324" cy="485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12"/>
          <p:cNvPicPr preferRelativeResize="0"/>
          <p:nvPr/>
        </p:nvPicPr>
        <p:blipFill rotWithShape="1">
          <a:blip r:embed="rId3">
            <a:alphaModFix/>
          </a:blip>
          <a:srcRect b="0" l="8950" r="0" t="0"/>
          <a:stretch/>
        </p:blipFill>
        <p:spPr>
          <a:xfrm>
            <a:off x="7006665" y="-57150"/>
            <a:ext cx="6633784" cy="4856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2"/>
          <p:cNvPicPr preferRelativeResize="0"/>
          <p:nvPr/>
        </p:nvPicPr>
        <p:blipFill rotWithShape="1">
          <a:blip r:embed="rId4">
            <a:alphaModFix/>
          </a:blip>
          <a:srcRect b="0" l="39028" r="0" t="0"/>
          <a:stretch/>
        </p:blipFill>
        <p:spPr>
          <a:xfrm>
            <a:off x="7006676" y="-57150"/>
            <a:ext cx="4442373" cy="485612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2"/>
          <p:cNvSpPr txBox="1"/>
          <p:nvPr>
            <p:ph idx="2" type="body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and Photo 3">
  <p:cSld name="Large Picture with Logo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60" name="Google Shape;60;p13"/>
          <p:cNvPicPr preferRelativeResize="0"/>
          <p:nvPr/>
        </p:nvPicPr>
        <p:blipFill rotWithShape="1">
          <a:blip r:embed="rId2">
            <a:alphaModFix/>
          </a:blip>
          <a:srcRect b="0" l="24210" r="1252" t="0"/>
          <a:stretch/>
        </p:blipFill>
        <p:spPr>
          <a:xfrm>
            <a:off x="7006675" y="-57150"/>
            <a:ext cx="5430948" cy="485612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/>
          <p:nvPr>
            <p:ph idx="2" type="body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and Photo 4">
  <p:cSld name="Large Picture with Logo_1_1_1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65" name="Google Shape;65;p14"/>
          <p:cNvPicPr preferRelativeResize="0"/>
          <p:nvPr/>
        </p:nvPicPr>
        <p:blipFill rotWithShape="1">
          <a:blip r:embed="rId2">
            <a:alphaModFix/>
          </a:blip>
          <a:srcRect b="0" l="34525" r="0" t="0"/>
          <a:stretch/>
        </p:blipFill>
        <p:spPr>
          <a:xfrm>
            <a:off x="7010075" y="-57150"/>
            <a:ext cx="2543048" cy="485612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>
            <p:ph idx="2" type="body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with Large Photo">
  <p:cSld name="3_Placeholder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509577" y="702469"/>
            <a:ext cx="22071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layfair Display"/>
              <a:buNone/>
              <a:defRPr i="0" sz="27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69" name="Google Shape;69;p15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2" type="body"/>
          </p:nvPr>
        </p:nvSpPr>
        <p:spPr>
          <a:xfrm>
            <a:off x="509575" y="1902650"/>
            <a:ext cx="2253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with Large Photo 1">
  <p:cSld name="3_Placeholder_1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509577" y="702469"/>
            <a:ext cx="22071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layfair Display"/>
              <a:buNone/>
              <a:defRPr i="0" sz="27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73" name="Google Shape;73;p16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2" type="body"/>
          </p:nvPr>
        </p:nvSpPr>
        <p:spPr>
          <a:xfrm>
            <a:off x="509575" y="1902650"/>
            <a:ext cx="2253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Single Statistic">
  <p:cSld name="1_Placehold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type="title"/>
          </p:nvPr>
        </p:nvSpPr>
        <p:spPr>
          <a:xfrm>
            <a:off x="454066" y="1824338"/>
            <a:ext cx="4305900" cy="1385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400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8" name="Google Shape;78;p17"/>
          <p:cNvSpPr txBox="1"/>
          <p:nvPr>
            <p:ph idx="2" type="subTitle"/>
          </p:nvPr>
        </p:nvSpPr>
        <p:spPr>
          <a:xfrm>
            <a:off x="454066" y="3127509"/>
            <a:ext cx="8353200" cy="7152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8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3" type="subTitle"/>
          </p:nvPr>
        </p:nvSpPr>
        <p:spPr>
          <a:xfrm>
            <a:off x="4838166" y="1824350"/>
            <a:ext cx="3866400" cy="11745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4" type="title"/>
          </p:nvPr>
        </p:nvSpPr>
        <p:spPr>
          <a:xfrm>
            <a:off x="509577" y="837514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Multiple Statistics">
  <p:cSld name="1_Placeholder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type="title"/>
          </p:nvPr>
        </p:nvSpPr>
        <p:spPr>
          <a:xfrm>
            <a:off x="454066" y="759488"/>
            <a:ext cx="4305900" cy="1385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4" name="Google Shape;84;p18"/>
          <p:cNvSpPr txBox="1"/>
          <p:nvPr>
            <p:ph idx="2" type="subTitle"/>
          </p:nvPr>
        </p:nvSpPr>
        <p:spPr>
          <a:xfrm>
            <a:off x="4759893" y="759488"/>
            <a:ext cx="4008300" cy="11745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3" type="title"/>
          </p:nvPr>
        </p:nvSpPr>
        <p:spPr>
          <a:xfrm>
            <a:off x="454066" y="2037533"/>
            <a:ext cx="4305900" cy="1385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5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idx="4" type="subTitle"/>
          </p:nvPr>
        </p:nvSpPr>
        <p:spPr>
          <a:xfrm>
            <a:off x="4759893" y="2037533"/>
            <a:ext cx="4008300" cy="11745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5" type="title"/>
          </p:nvPr>
        </p:nvSpPr>
        <p:spPr>
          <a:xfrm>
            <a:off x="454066" y="3437708"/>
            <a:ext cx="4305900" cy="1385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idx="6" type="subTitle"/>
          </p:nvPr>
        </p:nvSpPr>
        <p:spPr>
          <a:xfrm>
            <a:off x="4759893" y="3437709"/>
            <a:ext cx="4008300" cy="11745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Quote">
  <p:cSld name="CUSTOM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1" name="Google Shape;91;p19"/>
          <p:cNvSpPr/>
          <p:nvPr/>
        </p:nvSpPr>
        <p:spPr>
          <a:xfrm>
            <a:off x="5748887" y="1561152"/>
            <a:ext cx="1718100" cy="219300"/>
          </a:xfrm>
          <a:prstGeom prst="rect">
            <a:avLst/>
          </a:prstGeom>
          <a:solidFill>
            <a:srgbClr val="738D33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9"/>
          <p:cNvSpPr/>
          <p:nvPr/>
        </p:nvSpPr>
        <p:spPr>
          <a:xfrm>
            <a:off x="7467434" y="1561152"/>
            <a:ext cx="1718100" cy="219300"/>
          </a:xfrm>
          <a:prstGeom prst="rect">
            <a:avLst/>
          </a:prstGeom>
          <a:solidFill>
            <a:srgbClr val="625578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9"/>
          <p:cNvSpPr/>
          <p:nvPr/>
        </p:nvSpPr>
        <p:spPr>
          <a:xfrm>
            <a:off x="0" y="1561152"/>
            <a:ext cx="1718100" cy="2193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9"/>
          <p:cNvSpPr/>
          <p:nvPr/>
        </p:nvSpPr>
        <p:spPr>
          <a:xfrm>
            <a:off x="1718076" y="1561152"/>
            <a:ext cx="1718100" cy="219300"/>
          </a:xfrm>
          <a:prstGeom prst="rect">
            <a:avLst/>
          </a:prstGeom>
          <a:solidFill>
            <a:srgbClr val="498DA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9"/>
          <p:cNvSpPr txBox="1"/>
          <p:nvPr/>
        </p:nvSpPr>
        <p:spPr>
          <a:xfrm>
            <a:off x="3589051" y="975950"/>
            <a:ext cx="1965900" cy="8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0">
                <a:solidFill>
                  <a:srgbClr val="818387"/>
                </a:solidFill>
              </a:rPr>
              <a:t>“</a:t>
            </a:r>
            <a:endParaRPr b="1" sz="12000">
              <a:solidFill>
                <a:srgbClr val="818387"/>
              </a:solidFill>
            </a:endParaRPr>
          </a:p>
        </p:txBody>
      </p:sp>
      <p:sp>
        <p:nvSpPr>
          <p:cNvPr id="96" name="Google Shape;96;p19"/>
          <p:cNvSpPr txBox="1"/>
          <p:nvPr>
            <p:ph type="title"/>
          </p:nvPr>
        </p:nvSpPr>
        <p:spPr>
          <a:xfrm>
            <a:off x="1682308" y="2130769"/>
            <a:ext cx="5779500" cy="1962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7" name="Google Shape;97;p19"/>
          <p:cNvSpPr txBox="1"/>
          <p:nvPr>
            <p:ph idx="2" type="subTitle"/>
          </p:nvPr>
        </p:nvSpPr>
        <p:spPr>
          <a:xfrm>
            <a:off x="3300470" y="3999056"/>
            <a:ext cx="2543100" cy="384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 algn="ctr">
              <a:spcBef>
                <a:spcPts val="700"/>
              </a:spcBef>
              <a:spcAft>
                <a:spcPts val="0"/>
              </a:spcAft>
              <a:buNone/>
              <a:defRPr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Title Slide" showMasterSp="0">
  <p:cSld name="13_Title Slide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/>
          <p:nvPr>
            <p:ph idx="2" type="pic"/>
          </p:nvPr>
        </p:nvSpPr>
        <p:spPr>
          <a:xfrm>
            <a:off x="192505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20"/>
          <p:cNvSpPr/>
          <p:nvPr>
            <p:ph idx="3" type="pic"/>
          </p:nvPr>
        </p:nvSpPr>
        <p:spPr>
          <a:xfrm>
            <a:off x="1997242" y="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20"/>
          <p:cNvSpPr/>
          <p:nvPr>
            <p:ph idx="4" type="pic"/>
          </p:nvPr>
        </p:nvSpPr>
        <p:spPr>
          <a:xfrm>
            <a:off x="3801980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20"/>
          <p:cNvSpPr/>
          <p:nvPr>
            <p:ph idx="5" type="pic"/>
          </p:nvPr>
        </p:nvSpPr>
        <p:spPr>
          <a:xfrm>
            <a:off x="5606716" y="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20"/>
          <p:cNvSpPr/>
          <p:nvPr>
            <p:ph idx="6" type="pic"/>
          </p:nvPr>
        </p:nvSpPr>
        <p:spPr>
          <a:xfrm>
            <a:off x="7411453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ver Page 1">
  <p:cSld name="1_Cover Page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-53437" y="3390300"/>
            <a:ext cx="9197400" cy="175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21"/>
          <p:cNvPicPr preferRelativeResize="0"/>
          <p:nvPr/>
        </p:nvPicPr>
        <p:blipFill rotWithShape="1">
          <a:blip r:embed="rId2">
            <a:alphaModFix/>
          </a:blip>
          <a:srcRect b="13732" l="0" r="-563" t="43844"/>
          <a:stretch/>
        </p:blipFill>
        <p:spPr>
          <a:xfrm>
            <a:off x="-53437" y="-70462"/>
            <a:ext cx="9250875" cy="346075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1"/>
          <p:cNvSpPr txBox="1"/>
          <p:nvPr>
            <p:ph type="title"/>
          </p:nvPr>
        </p:nvSpPr>
        <p:spPr>
          <a:xfrm>
            <a:off x="493923" y="976378"/>
            <a:ext cx="8005800" cy="18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25700" spcFirstLastPara="1" rIns="25700" wrap="square" tIns="2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fair Display"/>
              <a:buNone/>
              <a:defRPr i="0" sz="36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9pPr>
          </a:lstStyle>
          <a:p/>
        </p:txBody>
      </p:sp>
      <p:sp>
        <p:nvSpPr>
          <p:cNvPr id="108" name="Google Shape;108;p21"/>
          <p:cNvSpPr txBox="1"/>
          <p:nvPr>
            <p:ph idx="1" type="subTitle"/>
          </p:nvPr>
        </p:nvSpPr>
        <p:spPr>
          <a:xfrm>
            <a:off x="493926" y="3549825"/>
            <a:ext cx="7661100" cy="9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2" type="subTitle"/>
          </p:nvPr>
        </p:nvSpPr>
        <p:spPr>
          <a:xfrm>
            <a:off x="493923" y="4079316"/>
            <a:ext cx="7327800" cy="29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09577" y="1401113"/>
            <a:ext cx="80058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Roboto"/>
              <a:buNone/>
              <a:defRPr i="0" sz="22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None/>
              <a:defRPr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None/>
              <a:defRPr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sz="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1">
            <a:alphaModFix/>
          </a:blip>
          <a:srcRect b="0" l="0" r="0" t="35296"/>
          <a:stretch/>
        </p:blipFill>
        <p:spPr>
          <a:xfrm>
            <a:off x="0" y="4794384"/>
            <a:ext cx="9144000" cy="34911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0.jpg"/><Relationship Id="rId3" Type="http://schemas.openxmlformats.org/officeDocument/2006/relationships/hyperlink" Target="https://www.youtube.com/watch?v=NURcDHhYe98" TargetMode="External"/><Relationship Id="rId4" Type="http://schemas.openxmlformats.org/officeDocument/2006/relationships/image" Target="../media/image2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marL="0" indent="0">
              <a:buNone/>
            </a:pPr>
            <a:r>
              <a:t>CSCI 3495</a:t>
            </a:r>
          </a:p>
          <a:p>
            <a:pPr marL="0" indent="0">
              <a:buNone/>
            </a:pPr>
            <a:r>
              <a:t>N-gram Language Models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926" y="3549825"/>
            <a:ext cx="5312514" cy="970800"/>
          </a:xfrm>
        </p:spPr>
        <p:txBody>
          <a:bodyPr wrap="square"/>
          <a:lstStyle/>
          <a:p>
            <a:pPr marL="0" indent="0">
              <a:buNone/>
            </a:pPr>
            <a:r>
              <a:t>Natural Language Processing &amp; Large Language Models</a:t>
            </a:r>
          </a:p>
          <a:p>
            <a:pPr marL="0" indent="0">
              <a:buNone/>
            </a:pPr>
            <a:r>
              <a:t>Week 2, Class 1  ·  Mon Aug 31, 2026</a:t>
            </a:r>
          </a:p>
        </p:txBody>
      </p:sp>
      <p:pic>
        <p:nvPicPr>
          <p:cNvPr id="5" name="Picture 4" descr="Fridge poetry is a language model you play by hand: given the words so far, which tile do you reach for next? Today we make that instinct a probability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3600529"/>
            <a:ext cx="2743200" cy="12297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777777"/>
                </a:solidFill>
              </a:defRPr>
            </a:pPr>
            <a:r>
              <a:t>Source: Michael Zimmer, Wikimedia Commons, CC BY-SA 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You use a language model every day</a:t>
            </a:r>
          </a:p>
        </p:txBody>
      </p:sp>
      <p:pic>
        <p:nvPicPr>
          <p:cNvPr id="5" name="Picture 4" descr="Phone autocomplete guesses your next word. Today we build the same idea from scratch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076" y="1078992"/>
            <a:ext cx="5381848" cy="35890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Unsplash License, https://images.unsplash.com/photo-1512941937669-90a1b58e7e9c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What is a language model?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18320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marL="0" indent="0">
              <a:buNone/>
            </a:pPr>
            <a:r>
              <a:rPr sz="1400">
                <a:solidFill>
                  <a:srgbClr val="222222"/>
                </a:solidFill>
              </a:rPr>
              <a:t>It scores a whole sentence, or predicts the next word from the ones so far</a:t>
            </a:r>
          </a:p>
        </p:txBody>
      </p:sp>
      <p:pic>
        <p:nvPicPr>
          <p:cNvPr id="9" name="Picture 8" descr="An LM assigns probability to the next word given the words so far, exactly what phone autocomplete doe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17788"/>
            <a:ext cx="8595360" cy="23090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Why next-word prediction is central</a:t>
            </a:r>
          </a:p>
        </p:txBody>
      </p:sp>
      <p:pic>
        <p:nvPicPr>
          <p:cNvPr id="5" name="Picture 4" descr="Predict the next word well and you implicitly learn grammar, facts, and styl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51735"/>
            <a:ext cx="8595360" cy="22435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Grammar, facts, and style all hide inside next-word predicti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57250"/>
            <a:ext cx="914400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143000"/>
            <a:ext cx="9144000" cy="2834640"/>
          </a:xfrm>
          <a:prstGeom prst="rect">
            <a:avLst/>
          </a:prstGeom>
          <a:solidFill>
            <a:srgbClr val="101012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7863840" cy="18745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3400" b="1">
                <a:solidFill>
                  <a:srgbClr val="FFFFFF"/>
                </a:solidFill>
              </a:rPr>
              <a:t>If you can guess the next word, how much have you really learned?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59"/>
            <a:ext cx="78638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marL="0" indent="0">
              <a:buNone/>
            </a:pPr>
            <a:r>
              <a:rPr sz="2000">
                <a:solidFill>
                  <a:srgbClr val="FFFFFF"/>
                </a:solidFill>
              </a:rPr>
              <a:t>Grammar, facts, and style all hide inside next-word prediction.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Wikimedia Commons, public domain, commons.wikimedia.org/wiki/File:Letra_Mix.JPG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Probability is just counting</a:t>
            </a:r>
          </a:p>
        </p:txBody>
      </p:sp>
      <p:pic>
        <p:nvPicPr>
          <p:cNvPr id="5" name="Picture 4" descr="P(event) = how often it happens divided by how many chances it had. 15 of 50 tweets contain &quot;cat&quot;, so P = 0.30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04072"/>
            <a:ext cx="8595360" cy="27388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Two events: AND, OR, and "given"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2404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marL="0" indent="0">
              <a:buNone/>
            </a:pPr>
            <a:r>
              <a:rPr sz="1400">
                <a:solidFill>
                  <a:srgbClr val="222222"/>
                </a:solidFill>
              </a:rPr>
              <a:t>P(A and B) = P(B) x P(A given B): apply this over and over and you get the chain rule</a:t>
            </a:r>
          </a:p>
        </p:txBody>
      </p:sp>
      <p:pic>
        <p:nvPicPr>
          <p:cNvPr id="6" name="Picture 5" descr="Intersection (AND) is the overlap, union (OR) adds both and subtracts the overlap, and conditional probability rescales to the world where B happened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3704"/>
            <a:ext cx="8595360" cy="28772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The chain rule of probability</a:t>
            </a:r>
          </a:p>
        </p:txBody>
      </p:sp>
      <p:pic>
        <p:nvPicPr>
          <p:cNvPr id="5" name="Picture 4" descr="Any joint probability factors exactly into a product of next-word probabilitie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55377"/>
            <a:ext cx="8595360" cy="2236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The Markov assumption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47772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marL="0" indent="0">
              <a:buNone/>
            </a:pPr>
            <a:r>
              <a:rPr sz="1400">
                <a:solidFill>
                  <a:srgbClr val="222222"/>
                </a:solidFill>
              </a:rPr>
              <a:t>This simplification is what makes counting feasible</a:t>
            </a:r>
          </a:p>
        </p:txBody>
      </p:sp>
      <p:pic>
        <p:nvPicPr>
          <p:cNvPr id="6" name="Picture 5" descr="Approximate the full history with the last n−1 words: unigram (0), bigram (1), trigram (2)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8335"/>
            <a:ext cx="8595360" cy="276799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A corpus is just text we count</a:t>
            </a:r>
          </a:p>
        </p:txBody>
      </p:sp>
      <p:pic>
        <p:nvPicPr>
          <p:cNvPr id="5" name="Picture 4" descr="An n-gram model learns nothing but counts of word sequences from a body of text like thi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002" y="1078992"/>
            <a:ext cx="6121995" cy="35890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Unsplash License, https://images.unsplash.com/photo-1507842217343-583bb7270b66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Estimating probabilities by counting</a:t>
            </a:r>
          </a:p>
        </p:txBody>
      </p:sp>
      <p:pic>
        <p:nvPicPr>
          <p:cNvPr id="5" name="Picture 4" descr="Maximum-likelihood bigram estimate, count the pair, divide by the context coun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40808"/>
            <a:ext cx="8595360" cy="22653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A tiny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81899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marL="0" indent="0">
              <a:buNone/>
            </a:pPr>
            <a:r>
              <a:rPr sz="1400">
                <a:solidFill>
                  <a:srgbClr val="222222"/>
                </a:solidFill>
              </a:rPr>
              <a:t>Multiply the right bigrams to score a whole sentence</a:t>
            </a:r>
          </a:p>
        </p:txBody>
      </p:sp>
      <p:pic>
        <p:nvPicPr>
          <p:cNvPr id="6" name="Picture 5" descr="Three short sentences give us real bigram probabilities by counting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54209"/>
            <a:ext cx="8595360" cy="223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example after Jurafsky &amp; Martin, SLP3 Ch. 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Generating text from an n-gram model</a:t>
            </a:r>
          </a:p>
        </p:txBody>
      </p:sp>
      <p:pic>
        <p:nvPicPr>
          <p:cNvPr id="5" name="Picture 4" descr="Sampling = start at &lt;s&gt;, draw the next word, slide the window, repeat until &lt;/s&gt;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2472"/>
            <a:ext cx="8595360" cy="24620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Two vocabulary words: deterministic vs. stochastic</a:t>
            </a:r>
          </a:p>
        </p:txBody>
      </p:sp>
      <p:pic>
        <p:nvPicPr>
          <p:cNvPr id="5" name="Picture 4" descr="Edit distance is deterministic (same input, same answer forever); sampling from a language model is stochastic (same prompt, different babble each run)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78577"/>
            <a:ext cx="8595360" cy="27898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The zero-probability problem</a:t>
            </a:r>
          </a:p>
        </p:txBody>
      </p:sp>
      <p:pic>
        <p:nvPicPr>
          <p:cNvPr id="5" name="Picture 4" descr="One unseen bigram zeroes the whole sentence and sends perplexity to infinity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60998"/>
            <a:ext cx="8595360" cy="20250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Add-one (Laplace) smoothing</a:t>
            </a:r>
          </a:p>
        </p:txBody>
      </p:sp>
      <p:pic>
        <p:nvPicPr>
          <p:cNvPr id="5" name="Picture 4" descr="Pretend every n-gram was seen one extra time, so no probability is ever exactly 0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04072"/>
            <a:ext cx="8595360" cy="27388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6537960" cy="822960"/>
          </a:xfrm>
        </p:spPr>
        <p:txBody>
          <a:bodyPr wrap="square"/>
          <a:lstStyle/>
          <a:p>
            <a:pPr marL="0" indent="0">
              <a:buNone/>
            </a:pPr>
            <a:r>
              <a:t>Perplexity: how good is the model?</a:t>
            </a:r>
          </a:p>
        </p:txBody>
      </p:sp>
      <p:pic>
        <p:nvPicPr>
          <p:cNvPr id="5" name="Picture 4" descr="Video: What is perplexity?. Opens https://www.youtube.com/watch?v=NURcDHhYe98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09728"/>
            <a:ext cx="1554480" cy="8741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31152" y="993038"/>
            <a:ext cx="1956816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marL="0" indent="0">
              <a:buNone/>
            </a:pPr>
            <a:r>
              <a:rPr sz="850" b="1">
                <a:solidFill>
                  <a:srgbClr val="7C2529"/>
                </a:solidFill>
              </a:rPr>
              <a:t>What is perplexity?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70054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marL="0" indent="0">
              <a:buNone/>
            </a:pPr>
            <a:r>
              <a:rPr sz="1400">
                <a:solidFill>
                  <a:srgbClr val="222222"/>
                </a:solidFill>
              </a:rPr>
              <a:t>Lower is better, like an effective branching factor</a:t>
            </a:r>
          </a:p>
        </p:txBody>
      </p:sp>
      <p:pic>
        <p:nvPicPr>
          <p:cNvPr id="9" name="Picture 8" descr="Perplexity = inverse probability of the test set per word; the model's average surprise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294070"/>
            <a:ext cx="8595360" cy="28845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Perplexity meets bias and variance</a:t>
            </a:r>
          </a:p>
        </p:txBody>
      </p:sp>
      <p:pic>
        <p:nvPicPr>
          <p:cNvPr id="5" name="Picture 4" descr="Small n underfits (high bias, both perplexities high); large n overfits the training counts (high variance, test perplexity climbs). Report perplexity on held-out text and pick the sweet spo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7146"/>
            <a:ext cx="8595360" cy="34527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Where n-grams break down</a:t>
            </a:r>
          </a:p>
        </p:txBody>
      </p:sp>
      <p:pic>
        <p:nvPicPr>
          <p:cNvPr id="5" name="Picture 4" descr="Long-range dependencies, sparsity, and no generalization across similar word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32893"/>
            <a:ext cx="8595360" cy="30812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Break</a:t>
            </a:r>
          </a:p>
        </p:txBody>
      </p:sp>
      <p:pic>
        <p:nvPicPr>
          <p:cNvPr id="5" name="Picture 4" descr="Five minutes: stretch, refill water, compare notes. Then the Babble-Off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312"/>
            <a:ext cx="8595360" cy="31863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Activity: the Babble-Off</a:t>
            </a:r>
          </a:p>
        </p:txBody>
      </p:sp>
      <p:pic>
        <p:nvPicPr>
          <p:cNvPr id="5" name="Picture 4" descr="Teams, programming competition, ~33 minutes. Lowest perplexity and funniest babble wi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40493"/>
            <a:ext cx="8595360" cy="26660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weeks/week-02/class-01/exercise/ngram_lm.py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Exercise: build an N-gram Bard</a:t>
            </a:r>
          </a:p>
        </p:txBody>
      </p:sp>
      <p:pic>
        <p:nvPicPr>
          <p:cNvPr id="5" name="Picture 4" descr="Implement four functions, then train, babble, and score on a tiny corpu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34609"/>
            <a:ext cx="8595360" cy="26777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weeks/week-02/class-01/exercise/ngram_lm.py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Exercise: the starter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5711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marL="0" indent="0">
              <a:buNone/>
            </a:pPr>
            <a:r>
              <a:rPr sz="1400">
                <a:solidFill>
                  <a:srgbClr val="222222"/>
                </a:solidFill>
              </a:rPr>
              <a:t>Run it, then pytest test_ngram_lm.py</a:t>
            </a:r>
          </a:p>
        </p:txBody>
      </p:sp>
      <p:pic>
        <p:nvPicPr>
          <p:cNvPr id="6" name="Picture 5" descr="Four TODOs in ngram_lm.py, each maps to one idea from today's lectur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7536" y="1078992"/>
            <a:ext cx="2708927" cy="31866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weeks/week-02/class-01/exercise/ngram_lm.py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What you should 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5711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marL="0" indent="0">
              <a:buNone/>
            </a:pPr>
            <a:r>
              <a:rPr sz="1400">
                <a:solidFill>
                  <a:srgbClr val="222222"/>
                </a:solidFill>
              </a:rPr>
              <a:t>Lower perplexity = better. HW1 is out today.</a:t>
            </a:r>
          </a:p>
        </p:txBody>
      </p:sp>
      <p:pic>
        <p:nvPicPr>
          <p:cNvPr id="6" name="Picture 5" descr="Perplexity drops from unigram to bigram; the babble grows more fluent as n rise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464" y="1078992"/>
            <a:ext cx="6615072" cy="31866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example run, solutions/ngram_lm.py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434343"/>
      </a:dk1>
      <a:lt1>
        <a:srgbClr val="FFFFFF"/>
      </a:lt1>
      <a:dk2>
        <a:srgbClr val="818387"/>
      </a:dk2>
      <a:lt2>
        <a:srgbClr val="F6F7FA"/>
      </a:lt2>
      <a:accent1>
        <a:srgbClr val="723130"/>
      </a:accent1>
      <a:accent2>
        <a:srgbClr val="818387"/>
      </a:accent2>
      <a:accent3>
        <a:srgbClr val="FFB600"/>
      </a:accent3>
      <a:accent4>
        <a:srgbClr val="738D33"/>
      </a:accent4>
      <a:accent5>
        <a:srgbClr val="625578"/>
      </a:accent5>
      <a:accent6>
        <a:srgbClr val="498DA0"/>
      </a:accent6>
      <a:hlink>
        <a:srgbClr val="B1B4B5"/>
      </a:hlink>
      <a:folHlink>
        <a:srgbClr val="B0B1B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