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been doing masked language modeling since elementary school. What word is _AN__AN, and how did your brain fill the blanks?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 right was never a choice we made, it was a constraint of recurrence. Transformers do not have it. BERT is what you build once you notice that.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Bidirectional Encoder Representations from Transformers, NAACL 2019 (posted Oct 2018).</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80% become [MASK], 10% a random word, 10% are left alone and still predicted. Now every layer can attend in both directions safely.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fine-tuning there is no [MASK], so the mix reduces the mismatch between pretraining and downstream use.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flows only through the 3 selected tokens; "the" was swapped for "apricot," yet the model must still recover "the.".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Predict whether segment B really follows segment A (50/50).</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embeddings summed per token; the A/B segment row is what lets ONE encoder take sentence pairs.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token that belongs to no word, sitting at the front of every sequence. Its final hidden state is a pooled view of the whole sentence, and a single linear layer on top of it is a sentence classifier. That is why fine-tuning BERT is so cheap.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go deeper on subword tokenization (BPE) in Week 9.</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transfers except the tiny output layer; MNLI, NER and SQuAD all start from the same weights.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110M vs. 340M parameters; both dwarf ELMo and both fine-tune fast. Today we use a tiny BERT so it runs on a laptop CPU in seconds.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pretrained model, fine-tuned per task, with no bespoke architectures.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cannot generate fluently; it is built to understand.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RoBERTa dropped next sentence prediction and just trained longer on more data, and that was enough to beat BERT. DistilBERT keeps about 97 percent of the performance at a fraction of the size. In the lab we use a tiny variant so it runs on a laptop CPU.</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Finish early and your break starts early; need more time and it comes out of the break. Covers Week 7 lecture + BERT (Devlin 2019). Finish early and your break starts early; need more time and it comes out of the break.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Quick competition before we fine-tune anything. They write down what they think BERT will fill in, then watch it fill in something else.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ten minutes. Craft a sentence with one mask, predict the top fill in secret, then run it. The interesting rounds are the ones where the model is confidently wrong, because that is where the training data shows through. Highest score wins, then move on to fine-tuning the tiny BERT classifier.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the [MASK] with a fill-mask pipeline; fine-tune a tiny BERT classifier.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[MASK] predictions, then test accuracy after a few epochs. Tiny model, so the [MASK] predictions are illustrative rather than impressive.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&amp; Masked Language Modeling</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7, Class 2  ·  Mon Oct 12, 2026</a:t>
            </a:r>
          </a:p>
        </p:txBody>
      </p:sp>
      <p:pic>
        <p:nvPicPr>
          <p:cNvPr id="5" name="Picture 4" descr="BERT &amp; Masked Language Modeling"/>
          <p:cNvPicPr>
            <a:picLocks noChangeAspect="1"/>
          </p:cNvPicPr>
          <p:nvPr/>
        </p:nvPicPr>
        <p:blipFill>
          <a:blip r:embed="rId3"/>
          <a:stretch>
            <a:fillRect/>
          </a:stretch>
        </p:blipFill>
        <p:spPr>
          <a:xfrm>
            <a:off x="6035040" y="3478149"/>
            <a:ext cx="2743200" cy="1474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"Hangman game,"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ransformers read every token in parallel. BERT uses that to look both ways at onc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you could read the whole sentence at once, would you still go left to right?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Transformers read every token in parallel. BERT uses that to look both ways at once.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 (Devlin et al., 2019)</a:t>
            </a:r>
          </a:p>
        </p:txBody>
      </p:sp>
      <p:pic>
        <p:nvPicPr>
          <p:cNvPr id="5" name="Picture 4" descr="BERT (Devlin et al., 2019)"/>
          <p:cNvPicPr>
            <a:picLocks noChangeAspect="1"/>
          </p:cNvPicPr>
          <p:nvPr/>
        </p:nvPicPr>
        <p:blipFill>
          <a:blip r:embed="rId3"/>
          <a:stretch>
            <a:fillRect/>
          </a:stretch>
        </p:blipFill>
        <p:spPr>
          <a:xfrm>
            <a:off x="701961" y="1078992"/>
            <a:ext cx="77400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1: Masked LM</a:t>
            </a:r>
          </a:p>
        </p:txBody>
      </p:sp>
      <p:pic>
        <p:nvPicPr>
          <p:cNvPr id="5" name="Picture 4" descr="Objective 1: Masked LM"/>
          <p:cNvPicPr>
            <a:picLocks noChangeAspect="1"/>
          </p:cNvPicPr>
          <p:nvPr/>
        </p:nvPicPr>
        <p:blipFill>
          <a:blip r:embed="rId3"/>
          <a:stretch>
            <a:fillRect/>
          </a:stretch>
        </p:blipFill>
        <p:spPr>
          <a:xfrm>
            <a:off x="493568" y="1078992"/>
            <a:ext cx="81568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Devlin et al. 2019, arXiv:1810.04805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15% masking recipe</a:t>
            </a:r>
          </a:p>
        </p:txBody>
      </p:sp>
      <p:pic>
        <p:nvPicPr>
          <p:cNvPr id="5" name="Picture 4" descr="The 15% masking recipe"/>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training signal comes from</a:t>
            </a:r>
          </a:p>
        </p:txBody>
      </p:sp>
      <p:pic>
        <p:nvPicPr>
          <p:cNvPr id="5" name="Picture 4" descr="Where the training signal comes from"/>
          <p:cNvPicPr>
            <a:picLocks noChangeAspect="1"/>
          </p:cNvPicPr>
          <p:nvPr/>
        </p:nvPicPr>
        <p:blipFill>
          <a:blip r:embed="rId3"/>
          <a:stretch>
            <a:fillRect/>
          </a:stretch>
        </p:blipFill>
        <p:spPr>
          <a:xfrm>
            <a:off x="1569847" y="1078992"/>
            <a:ext cx="600430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2: Next Sentence Prediction</a:t>
            </a:r>
          </a:p>
        </p:txBody>
      </p:sp>
      <p:pic>
        <p:nvPicPr>
          <p:cNvPr id="5" name="Picture 4" descr="Objective 2: Next Sentence Prediction"/>
          <p:cNvPicPr>
            <a:picLocks noChangeAspect="1"/>
          </p:cNvPicPr>
          <p:nvPr/>
        </p:nvPicPr>
        <p:blipFill>
          <a:blip r:embed="rId3"/>
          <a:stretch>
            <a:fillRect/>
          </a:stretch>
        </p:blipFill>
        <p:spPr>
          <a:xfrm>
            <a:off x="274320" y="1292090"/>
            <a:ext cx="8595360" cy="31628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input representation</a:t>
            </a:r>
          </a:p>
        </p:txBody>
      </p:sp>
      <p:pic>
        <p:nvPicPr>
          <p:cNvPr id="5" name="Picture 4" descr="BERT's input representation"/>
          <p:cNvPicPr>
            <a:picLocks noChangeAspect="1"/>
          </p:cNvPicPr>
          <p:nvPr/>
        </p:nvPicPr>
        <p:blipFill>
          <a:blip r:embed="rId3"/>
          <a:stretch>
            <a:fillRect/>
          </a:stretch>
        </p:blipFill>
        <p:spPr>
          <a:xfrm>
            <a:off x="274320" y="1412422"/>
            <a:ext cx="8595360" cy="29221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[CLS] token</a:t>
            </a:r>
          </a:p>
        </p:txBody>
      </p:sp>
      <p:pic>
        <p:nvPicPr>
          <p:cNvPr id="5" name="Picture 4" descr="The [CLS] token"/>
          <p:cNvPicPr>
            <a:picLocks noChangeAspect="1"/>
          </p:cNvPicPr>
          <p:nvPr/>
        </p:nvPicPr>
        <p:blipFill>
          <a:blip r:embed="rId3"/>
          <a:stretch>
            <a:fillRect/>
          </a:stretch>
        </p:blipFill>
        <p:spPr>
          <a:xfrm>
            <a:off x="1299431" y="1078992"/>
            <a:ext cx="65451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WordPiece tokenization</a:t>
            </a:r>
          </a:p>
        </p:txBody>
      </p:sp>
      <p:pic>
        <p:nvPicPr>
          <p:cNvPr id="5" name="Picture 4" descr="WordPiece tokenization"/>
          <p:cNvPicPr>
            <a:picLocks noChangeAspect="1"/>
          </p:cNvPicPr>
          <p:nvPr/>
        </p:nvPicPr>
        <p:blipFill>
          <a:blip r:embed="rId3"/>
          <a:stretch>
            <a:fillRect/>
          </a:stretch>
        </p:blipFill>
        <p:spPr>
          <a:xfrm>
            <a:off x="274320" y="1365956"/>
            <a:ext cx="8595360" cy="3015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(Devlin et al. 2019)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pretrained model, every task</a:t>
            </a:r>
          </a:p>
        </p:txBody>
      </p:sp>
      <p:pic>
        <p:nvPicPr>
          <p:cNvPr id="5" name="Picture 4" descr="One pretrained model, every task"/>
          <p:cNvPicPr>
            <a:picLocks noChangeAspect="1"/>
          </p:cNvPicPr>
          <p:nvPr/>
        </p:nvPicPr>
        <p:blipFill>
          <a:blip r:embed="rId3"/>
          <a:stretch>
            <a:fillRect/>
          </a:stretch>
        </p:blipFill>
        <p:spPr>
          <a:xfrm>
            <a:off x="1451321" y="1078992"/>
            <a:ext cx="624135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BERT-base vs. BERT-large</a:t>
            </a:r>
          </a:p>
        </p:txBody>
      </p:sp>
      <p:pic>
        <p:nvPicPr>
          <p:cNvPr id="5" name="Picture 4" descr="BERT-base vs. BERT-large"/>
          <p:cNvPicPr>
            <a:picLocks noChangeAspect="1"/>
          </p:cNvPicPr>
          <p:nvPr/>
        </p:nvPicPr>
        <p:blipFill>
          <a:blip r:embed="rId3"/>
          <a:stretch>
            <a:fillRect/>
          </a:stretch>
        </p:blipFill>
        <p:spPr>
          <a:xfrm>
            <a:off x="2056056" y="1078992"/>
            <a:ext cx="50318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results</a:t>
            </a:r>
          </a:p>
        </p:txBody>
      </p:sp>
      <p:pic>
        <p:nvPicPr>
          <p:cNvPr id="5" name="Picture 4" descr="BERT's results"/>
          <p:cNvPicPr>
            <a:picLocks noChangeAspect="1"/>
          </p:cNvPicPr>
          <p:nvPr/>
        </p:nvPicPr>
        <p:blipFill>
          <a:blip r:embed="rId3"/>
          <a:stretch>
            <a:fillRect/>
          </a:stretch>
        </p:blipFill>
        <p:spPr>
          <a:xfrm>
            <a:off x="274320" y="1114139"/>
            <a:ext cx="8595360" cy="351872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vs. decoder models</a:t>
            </a:r>
          </a:p>
        </p:txBody>
      </p:sp>
      <p:pic>
        <p:nvPicPr>
          <p:cNvPr id="5" name="Picture 4" descr="Encoder vs. decoder models"/>
          <p:cNvPicPr>
            <a:picLocks noChangeAspect="1"/>
          </p:cNvPicPr>
          <p:nvPr/>
        </p:nvPicPr>
        <p:blipFill>
          <a:blip r:embed="rId3"/>
          <a:stretch>
            <a:fillRect/>
          </a:stretch>
        </p:blipFill>
        <p:spPr>
          <a:xfrm>
            <a:off x="274320" y="1584198"/>
            <a:ext cx="8595360" cy="2578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BERT family</a:t>
            </a:r>
          </a:p>
        </p:txBody>
      </p:sp>
      <p:pic>
        <p:nvPicPr>
          <p:cNvPr id="5" name="Picture 4" descr="The BERT family"/>
          <p:cNvPicPr>
            <a:picLocks noChangeAspect="1"/>
          </p:cNvPicPr>
          <p:nvPr/>
        </p:nvPicPr>
        <p:blipFill>
          <a:blip r:embed="rId3"/>
          <a:stretch>
            <a:fillRect/>
          </a:stretch>
        </p:blipFill>
        <p:spPr>
          <a:xfrm>
            <a:off x="274320" y="1238369"/>
            <a:ext cx="8595360" cy="32702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 (paper)</a:t>
            </a:r>
          </a:p>
        </p:txBody>
      </p:sp>
      <p:pic>
        <p:nvPicPr>
          <p:cNvPr id="5" name="Picture 4" descr="Quiz 6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MASK roulette in pair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Before we fine-tune, a quick competition: predict what BERT will put in the blank."/>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Can you out-guess the model?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Before we fine-tune, a quick competition: predict what BERT will put in the blank.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https://images.unsplash.com/photo-1611996575749-79a3a250f948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MASK roulette</a:t>
            </a:r>
          </a:p>
        </p:txBody>
      </p:sp>
      <p:pic>
        <p:nvPicPr>
          <p:cNvPr id="5" name="Picture 4" descr="MASK roulette"/>
          <p:cNvPicPr>
            <a:picLocks noChangeAspect="1"/>
          </p:cNvPicPr>
          <p:nvPr/>
        </p:nvPicPr>
        <p:blipFill>
          <a:blip r:embed="rId3"/>
          <a:stretch>
            <a:fillRect/>
          </a:stretch>
        </p:blipFill>
        <p:spPr>
          <a:xfrm>
            <a:off x="274320" y="1079032"/>
            <a:ext cx="8595360" cy="35889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functions to implement</a:t>
            </a:r>
          </a:p>
        </p:txBody>
      </p:sp>
      <p:pic>
        <p:nvPicPr>
          <p:cNvPr id="5" name="Picture 4" descr="Two functions to implement"/>
          <p:cNvPicPr>
            <a:picLocks noChangeAspect="1"/>
          </p:cNvPicPr>
          <p:nvPr/>
        </p:nvPicPr>
        <p:blipFill>
          <a:blip r:embed="rId3"/>
          <a:stretch>
            <a:fillRect/>
          </a:stretch>
        </p:blipFill>
        <p:spPr>
          <a:xfrm>
            <a:off x="2268237" y="1078992"/>
            <a:ext cx="46075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weeks/week-07/class-02/exercise/bert_mlm.py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prajjwal1/bert-tiny (illustrative values)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