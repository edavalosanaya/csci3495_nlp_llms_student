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21"/>
    <p:sldId id="257" r:id="rId22"/>
    <p:sldId id="258" r:id="rId20"/>
    <p:sldId id="259" r:id="rId19"/>
    <p:sldId id="260" r:id="rId18"/>
    <p:sldId id="261" r:id="rId17"/>
    <p:sldId id="262" r:id="rId16"/>
    <p:sldId id="263" r:id="rId15"/>
    <p:sldId id="264" r:id="rId14"/>
    <p:sldId id="265" r:id="rId13"/>
    <p:sldId id="266" r:id="rId12"/>
    <p:sldId id="267" r:id="rId11"/>
  </p:sldIdLst>
  <p:sldSz cy="5143500" cx="9144000"/>
  <p:notesSz cx="6858000" cy="9144000"/>
  <p:embeddedFontLst>
    <p:embeddedFont>
      <p:font typeface="Roboto"/>
      <p:regular r:id="rId23"/>
      <p:bold r:id="rId24"/>
      <p:italic r:id="rId25"/>
      <p:boldItalic r:id="rId26"/>
    </p:embeddedFont>
    <p:embeddedFont>
      <p:font typeface="Playfair Display"/>
      <p:regular r:id="rId27"/>
      <p:bold r:id="rId28"/>
      <p:italic r:id="rId29"/>
      <p:boldItalic r:id="rId30"/>
    </p:embeddedFont>
    <p:embeddedFont>
      <p:font typeface="Roboto Mono Light"/>
      <p:regular r:id="rId31"/>
      <p:bold r:id="rId32"/>
      <p:italic r:id="rId33"/>
      <p:boldItalic r:id="rId34"/>
    </p:embeddedFont>
    <p:embeddedFont>
      <p:font typeface="Roboto Light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11" Type="http://schemas.openxmlformats.org/officeDocument/2006/relationships/slide" Target="slides/slide12.xml"/><Relationship Id="rId12" Type="http://schemas.openxmlformats.org/officeDocument/2006/relationships/slide" Target="slides/slide11.xml"/><Relationship Id="rId13" Type="http://schemas.openxmlformats.org/officeDocument/2006/relationships/slide" Target="slides/slide10.xml"/><Relationship Id="rId14" Type="http://schemas.openxmlformats.org/officeDocument/2006/relationships/slide" Target="slides/slide9.xml"/><Relationship Id="rId15" Type="http://schemas.openxmlformats.org/officeDocument/2006/relationships/slide" Target="slides/slide8.xml"/><Relationship Id="rId16" Type="http://schemas.openxmlformats.org/officeDocument/2006/relationships/slide" Target="slides/slide7.xml"/><Relationship Id="rId17" Type="http://schemas.openxmlformats.org/officeDocument/2006/relationships/slide" Target="slides/slide6.xml"/><Relationship Id="rId18" Type="http://schemas.openxmlformats.org/officeDocument/2006/relationships/slide" Target="slides/slide5.xml"/><Relationship Id="rId19" Type="http://schemas.openxmlformats.org/officeDocument/2006/relationships/slide" Target="slides/slide4.xml"/><Relationship Id="rId20" Type="http://schemas.openxmlformats.org/officeDocument/2006/relationships/slide" Target="slides/slide3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font" Target="fonts/Roboto-regular.fntdata"/><Relationship Id="rId24" Type="http://schemas.openxmlformats.org/officeDocument/2006/relationships/font" Target="fonts/Roboto-bold.fntdata"/><Relationship Id="rId25" Type="http://schemas.openxmlformats.org/officeDocument/2006/relationships/font" Target="fonts/Roboto-italic.fntdata"/><Relationship Id="rId26" Type="http://schemas.openxmlformats.org/officeDocument/2006/relationships/font" Target="fonts/Roboto-boldItalic.fntdata"/><Relationship Id="rId27" Type="http://schemas.openxmlformats.org/officeDocument/2006/relationships/font" Target="fonts/PlayfairDisplay-regular.fntdata"/><Relationship Id="rId28" Type="http://schemas.openxmlformats.org/officeDocument/2006/relationships/font" Target="fonts/PlayfairDisplay-bold.fntdata"/><Relationship Id="rId29" Type="http://schemas.openxmlformats.org/officeDocument/2006/relationships/font" Target="fonts/PlayfairDisplay-italic.fntdata"/><Relationship Id="rId30" Type="http://schemas.openxmlformats.org/officeDocument/2006/relationships/font" Target="fonts/PlayfairDisplay-boldItalic.fntdata"/><Relationship Id="rId31" Type="http://schemas.openxmlformats.org/officeDocument/2006/relationships/font" Target="fonts/RobotoMonoLight-regular.fntdata"/><Relationship Id="rId32" Type="http://schemas.openxmlformats.org/officeDocument/2006/relationships/font" Target="fonts/RobotoMonoLight-bold.fntdata"/><Relationship Id="rId33" Type="http://schemas.openxmlformats.org/officeDocument/2006/relationships/font" Target="fonts/RobotoMonoLight-italic.fntdata"/><Relationship Id="rId34" Type="http://schemas.openxmlformats.org/officeDocument/2006/relationships/font" Target="fonts/RobotoMonoLight-boldItalic.fntdata"/><Relationship Id="rId35" Type="http://schemas.openxmlformats.org/officeDocument/2006/relationships/font" Target="fonts/RobotoLight-regular.fntdata"/><Relationship Id="rId36" Type="http://schemas.openxmlformats.org/officeDocument/2006/relationships/font" Target="fonts/RobotoLight-bold.fntdata"/><Relationship Id="rId37" Type="http://schemas.openxmlformats.org/officeDocument/2006/relationships/font" Target="fonts/RobotoLight-italic.fntdata"/><Relationship Id="rId38" Type="http://schemas.openxmlformats.org/officeDocument/2006/relationships/font" Target="fonts/RobotoLight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523" y="685800"/>
            <a:ext cx="4571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13732" l="600" r="-600" t="43847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2 Columns">
  <p:cSld name="2_Portfolio Thre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8" name="Google Shape;18;p3"/>
          <p:cNvSpPr txBox="1"/>
          <p:nvPr>
            <p:ph idx="2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3" type="body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3 Columns">
  <p:cSld name="1_Slide with Placehol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3" type="body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4" type="body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">
  <p:cSld name="Cover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 with Logo">
  <p:cSld name="Cover Slide_2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Acknowledgments Slide">
  <p:cSld name="Cover Slide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i="0" sz="5600" u="none" cap="none" strike="noStrik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4" name="Google Shape;34;p7"/>
          <p:cNvSpPr txBox="1"/>
          <p:nvPr>
            <p:ph idx="1" type="subTitle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only">
  <p:cSld name="Custom Layou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ig Concept Slide">
  <p:cSld name="Slide with Placehol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">
  <p:cSld name="Large Picture with Logo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3" name="Google Shape;43;p10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b="2009" l="27412" r="6551" t="0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1">
  <p:cSld name="Large Picture with Logo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8" name="Google Shape;48;p11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2">
  <p:cSld name="Large Picture with Logo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2" name="Google Shape;52;p12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b="0" l="27412" r="6551" t="0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b="0" l="8950" r="0" t="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b="0" l="39028" r="0" t="0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3">
  <p:cSld name="Large Picture with Logo_1_1_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b="0" l="24210" r="1252" t="0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4">
  <p:cSld name="Large Picture with Logo_1_1_1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b="0" l="34525" r="0" t="0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">
  <p:cSld name="3_Placeholder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9" name="Google Shape;69;p15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 1">
  <p:cSld name="3_Placeholder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Single Statistic">
  <p:cSld name="1_Placeholder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2" type="subTitle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subTitle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4" type="title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Multiple Statistics">
  <p:cSld name="1_Placeholder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4" name="Google Shape;84;p18"/>
          <p:cNvSpPr txBox="1"/>
          <p:nvPr>
            <p:ph idx="2" type="subTitle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title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subTitle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5" type="title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subTitle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Quote">
  <p:cSld name="CUSTOM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0">
                <a:solidFill>
                  <a:srgbClr val="818387"/>
                </a:solidFill>
              </a:rPr>
              <a:t>“</a:t>
            </a:r>
            <a:endParaRPr b="1" sz="12000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2" type="subTitle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 showMasterSp="0">
  <p:cSld name="13_Title Slid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/>
          <p:nvPr>
            <p:ph idx="2" type="pic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/>
          <p:nvPr>
            <p:ph idx="3" type="pic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/>
          <p:nvPr>
            <p:ph idx="4" type="pic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/>
          <p:nvPr>
            <p:ph idx="5" type="pic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/>
          <p:nvPr>
            <p:ph idx="6" type="pic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 1">
  <p:cSld name="1_Cover P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b="13732" l="0" r="-563" t="43844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700" lIns="25700" spcFirstLastPara="1" rIns="25700" wrap="square" tIns="2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/>
        </p:txBody>
      </p:sp>
      <p:sp>
        <p:nvSpPr>
          <p:cNvPr id="108" name="Google Shape;108;p21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i="0" sz="22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i="0" sz="15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i="0" sz="11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sz="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t>CSCI 3495</a:t>
            </a:r>
          </a:p>
          <a:p>
            <a:pPr marL="0" indent="0">
              <a:buNone/>
            </a:pPr>
            <a:r>
              <a:t>Transformers by hand, then your project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5828502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7, Class 2  ·  Wed Oct 7, 2026</a:t>
            </a:r>
          </a:p>
        </p:txBody>
      </p:sp>
      <p:pic>
        <p:nvPicPr>
          <p:cNvPr id="5" name="Picture 4" descr="Transformers by hand, then your projec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028" y="3474720"/>
            <a:ext cx="2227212" cy="14813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Nenad Stojkovic, Wikimedia Commons, CC BY 2.0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Refresher: what attention computes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78992"/>
            <a:ext cx="8229600" cy="1135380"/>
          </a:xfrm>
          <a:prstGeom prst="roundRect">
            <a:avLst>
              <a:gd name="adj" fmla="val 8859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94944" y="1078992"/>
            <a:ext cx="475488" cy="11353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2150" b="1">
                <a:solidFill>
                  <a:srgbClr val="1D1D1F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078992"/>
            <a:ext cx="7278624" cy="11353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550" b="0">
                <a:solidFill>
                  <a:srgbClr val="1D1D1F"/>
                </a:solidFill>
                <a:latin typeface="Menlo"/>
              </a:rPr>
              <a:t>Score every key against the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305812"/>
            <a:ext cx="8229600" cy="1135380"/>
          </a:xfrm>
          <a:prstGeom prst="roundRect">
            <a:avLst>
              <a:gd name="adj" fmla="val 8859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94944" y="2305812"/>
            <a:ext cx="475488" cy="11353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2150" b="1">
                <a:solidFill>
                  <a:srgbClr val="1D1D1F"/>
                </a:solidFill>
                <a:latin typeface="Helvetica Ne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2305812"/>
            <a:ext cx="7278624" cy="11353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550" b="0">
                <a:solidFill>
                  <a:srgbClr val="1D1D1F"/>
                </a:solidFill>
                <a:latin typeface="Menlo"/>
              </a:rPr>
              <a:t>Turn the scores into weights with softmax, so they sum to 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532632"/>
            <a:ext cx="8229600" cy="1135380"/>
          </a:xfrm>
          <a:prstGeom prst="roundRect">
            <a:avLst>
              <a:gd name="adj" fmla="val 8859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94944" y="3532632"/>
            <a:ext cx="475488" cy="11353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2150" b="1">
                <a:solidFill>
                  <a:srgbClr val="1D1D1F"/>
                </a:solidFill>
                <a:latin typeface="Helvetica Ne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" y="3532632"/>
            <a:ext cx="7278624" cy="11353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550" b="0">
                <a:solidFill>
                  <a:srgbClr val="1D1D1F"/>
                </a:solidFill>
                <a:latin typeface="Menlo"/>
              </a:rPr>
              <a:t>Average the values, weighted by those numbers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Refresher: heads, positions, and cost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345563"/>
            <a:ext cx="2645664" cy="1055878"/>
          </a:xfrm>
          <a:prstGeom prst="roundRect">
            <a:avLst>
              <a:gd name="adj" fmla="val 11258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2491867"/>
            <a:ext cx="2279904" cy="7632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MULTI-HEAD</a:t>
            </a:r>
          </a:p>
          <a:p>
            <a:pPr marL="0" indent="0">
              <a:spcAft>
                <a:spcPts val="300"/>
              </a:spcAft>
              <a:buNone/>
            </a:pPr>
            <a:r>
              <a:rPr sz="1300" b="0" u="none">
                <a:solidFill>
                  <a:srgbClr val="1D1D1F"/>
                </a:solidFill>
                <a:latin typeface="Menlo"/>
              </a:rPr>
              <a:t>h heads, side by side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100" b="0">
                <a:solidFill>
                  <a:srgbClr val="86868B"/>
                </a:solidFill>
                <a:latin typeface="Helvetica Neue"/>
              </a:rPr>
              <a:t>One WQ, WK, WV per head; one WO at the end.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9168" y="2345563"/>
            <a:ext cx="2645664" cy="1055878"/>
          </a:xfrm>
          <a:prstGeom prst="roundRect">
            <a:avLst>
              <a:gd name="adj" fmla="val 11258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432048" y="2491867"/>
            <a:ext cx="2279904" cy="7632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POSITIONAL ENCODING</a:t>
            </a:r>
          </a:p>
          <a:p>
            <a:pPr marL="0" indent="0">
              <a:spcAft>
                <a:spcPts val="300"/>
              </a:spcAft>
              <a:buNone/>
            </a:pPr>
            <a:r>
              <a:rPr sz="1300" b="0" u="none">
                <a:solidFill>
                  <a:srgbClr val="1D1D1F"/>
                </a:solidFill>
                <a:latin typeface="Menlo"/>
              </a:rPr>
              <a:t>added to the embedding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100" b="0">
                <a:solidFill>
                  <a:srgbClr val="86868B"/>
                </a:solidFill>
                <a:latin typeface="Helvetica Neue"/>
              </a:rPr>
              <a:t>Pair i has wavelength 2 x 10000^(2i/d).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41136" y="2345563"/>
            <a:ext cx="2645664" cy="1055878"/>
          </a:xfrm>
          <a:prstGeom prst="roundRect">
            <a:avLst>
              <a:gd name="adj" fmla="val 11258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224016" y="2491867"/>
            <a:ext cx="2279904" cy="7632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COST PER LAYER</a:t>
            </a:r>
          </a:p>
          <a:p>
            <a:pPr marL="0" indent="0">
              <a:spcAft>
                <a:spcPts val="300"/>
              </a:spcAft>
              <a:buNone/>
            </a:pPr>
            <a:r>
              <a:rPr sz="1300" b="0" u="none">
                <a:solidFill>
                  <a:srgbClr val="1D1D1F"/>
                </a:solidFill>
                <a:latin typeface="Menlo"/>
              </a:rPr>
              <a:t>n tokens, width d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100" b="0">
                <a:solidFill>
                  <a:srgbClr val="86868B"/>
                </a:solidFill>
                <a:latin typeface="Helvetica Neue"/>
              </a:rPr>
              <a:t>Attention runs all n positions at once. Recurrence cannot.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Problem 1: one attention step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78992"/>
            <a:ext cx="8229600" cy="842391"/>
          </a:xfrm>
          <a:prstGeom prst="roundRect">
            <a:avLst>
              <a:gd name="adj" fmla="val 1085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94944" y="1078992"/>
            <a:ext cx="1828800" cy="8423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100" b="1" spc="60">
                <a:solidFill>
                  <a:srgbClr val="86868B"/>
                </a:solidFill>
                <a:latin typeface="Helvetica Neue"/>
              </a:rPr>
              <a:t>GIVEN, DK =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23744" y="1078992"/>
            <a:ext cx="5925312" cy="842391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000" b="0">
                <a:solidFill>
                  <a:srgbClr val="1D1D1F"/>
                </a:solidFill>
                <a:latin typeface="Menlo"/>
              </a:rPr>
              <a:t>q = [1, 0, 1, 0] k1 = [2, 0, 2, 0]   v1 = [1, 0] k2 = [0, 1, 0, 1]   v2 = [0, 1] k3 = [1, 0, 1, 0]   v3 = [1, 1]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994535"/>
            <a:ext cx="8229600" cy="842391"/>
          </a:xfrm>
          <a:prstGeom prst="roundRect">
            <a:avLst>
              <a:gd name="adj" fmla="val 1085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94944" y="1994535"/>
            <a:ext cx="1828800" cy="8423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100" b="1" spc="60">
                <a:solidFill>
                  <a:srgbClr val="86868B"/>
                </a:solidFill>
                <a:latin typeface="Helvetica Neue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23744" y="1994535"/>
            <a:ext cx="5925312" cy="842391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000" b="0">
                <a:solidFill>
                  <a:srgbClr val="1D1D1F"/>
                </a:solidFill>
                <a:latin typeface="Menlo"/>
              </a:rPr>
              <a:t>Compute the attention weights a1, a2, a3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910078"/>
            <a:ext cx="8229600" cy="842391"/>
          </a:xfrm>
          <a:prstGeom prst="roundRect">
            <a:avLst>
              <a:gd name="adj" fmla="val 1085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94944" y="2910078"/>
            <a:ext cx="1828800" cy="8423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100" b="1" spc="60">
                <a:solidFill>
                  <a:srgbClr val="86868B"/>
                </a:solidFill>
                <a:latin typeface="Helvetica Neue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23744" y="2910078"/>
            <a:ext cx="5925312" cy="842391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000" b="0">
                <a:solidFill>
                  <a:srgbClr val="1D1D1F"/>
                </a:solidFill>
                <a:latin typeface="Menlo"/>
              </a:rPr>
              <a:t>Compute the output vector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825621"/>
            <a:ext cx="8229600" cy="842391"/>
          </a:xfrm>
          <a:prstGeom prst="roundRect">
            <a:avLst>
              <a:gd name="adj" fmla="val 1085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94944" y="3825621"/>
            <a:ext cx="1828800" cy="8423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100" b="1" spc="60">
                <a:solidFill>
                  <a:srgbClr val="86868B"/>
                </a:solidFill>
                <a:latin typeface="Helvetica Neue"/>
              </a:rPr>
              <a:t>YOU MAY NEED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23744" y="3825621"/>
            <a:ext cx="5925312" cy="842391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000" b="0">
                <a:solidFill>
                  <a:srgbClr val="1D1D1F"/>
                </a:solidFill>
                <a:latin typeface="Menlo"/>
              </a:rPr>
              <a:t>e^0 = 1.000   e^1 = 2.718   e^2 = 7.389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Problem 2: the causal mask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78992"/>
            <a:ext cx="8229600" cy="842391"/>
          </a:xfrm>
          <a:prstGeom prst="roundRect">
            <a:avLst>
              <a:gd name="adj" fmla="val 1085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94944" y="1078992"/>
            <a:ext cx="1828800" cy="8423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100" b="1" spc="60">
                <a:solidFill>
                  <a:srgbClr val="86868B"/>
                </a:solidFill>
                <a:latin typeface="Helvetica Neue"/>
              </a:rPr>
              <a:t>GIVEN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23744" y="1078992"/>
            <a:ext cx="5925312" cy="842391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450" b="0">
                <a:solidFill>
                  <a:srgbClr val="1D1D1F"/>
                </a:solidFill>
                <a:latin typeface="Menlo"/>
              </a:rPr>
              <a:t>four tokens, scaled scores for token 3: 1, 2, 0, 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994535"/>
            <a:ext cx="8229600" cy="842391"/>
          </a:xfrm>
          <a:prstGeom prst="roundRect">
            <a:avLst>
              <a:gd name="adj" fmla="val 1085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94944" y="1994535"/>
            <a:ext cx="1828800" cy="8423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100" b="1" spc="60">
                <a:solidFill>
                  <a:srgbClr val="86868B"/>
                </a:solidFill>
                <a:latin typeface="Helvetica Neue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23744" y="1994535"/>
            <a:ext cx="5925312" cy="842391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450" b="0">
                <a:solidFill>
                  <a:srgbClr val="1D1D1F"/>
                </a:solidFill>
                <a:latin typeface="Menlo"/>
              </a:rPr>
              <a:t>Which scores survive the causal mask?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910078"/>
            <a:ext cx="8229600" cy="842391"/>
          </a:xfrm>
          <a:prstGeom prst="roundRect">
            <a:avLst>
              <a:gd name="adj" fmla="val 1085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94944" y="2910078"/>
            <a:ext cx="1828800" cy="8423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100" b="1" spc="60">
                <a:solidFill>
                  <a:srgbClr val="86868B"/>
                </a:solidFill>
                <a:latin typeface="Helvetica Neue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23744" y="2910078"/>
            <a:ext cx="5925312" cy="842391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450" b="0">
                <a:solidFill>
                  <a:srgbClr val="1D1D1F"/>
                </a:solidFill>
                <a:latin typeface="Menlo"/>
              </a:rPr>
              <a:t>Compute the attention weights over the survivors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825621"/>
            <a:ext cx="8229600" cy="842391"/>
          </a:xfrm>
          <a:prstGeom prst="roundRect">
            <a:avLst>
              <a:gd name="adj" fmla="val 1085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94944" y="3825621"/>
            <a:ext cx="1828800" cy="8423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100" b="1" spc="60">
                <a:solidFill>
                  <a:srgbClr val="86868B"/>
                </a:solidFill>
                <a:latin typeface="Helvetica Neue"/>
              </a:rPr>
              <a:t>YOU MAY NEED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23744" y="3825621"/>
            <a:ext cx="5925312" cy="842391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450" b="0">
                <a:solidFill>
                  <a:srgbClr val="1D1D1F"/>
                </a:solidFill>
                <a:latin typeface="Menlo"/>
              </a:rPr>
              <a:t>e^0 = 1.000   e^1 = 2.718   e^2 = 7.389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Problem 3: why the square root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78992"/>
            <a:ext cx="8229600" cy="842391"/>
          </a:xfrm>
          <a:prstGeom prst="roundRect">
            <a:avLst>
              <a:gd name="adj" fmla="val 1085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94944" y="1078992"/>
            <a:ext cx="1828800" cy="8423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100" b="1" spc="60">
                <a:solidFill>
                  <a:srgbClr val="86868B"/>
                </a:solidFill>
                <a:latin typeface="Helvetica Neue"/>
              </a:rPr>
              <a:t>GIVEN, DK =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23744" y="1078992"/>
            <a:ext cx="5925312" cy="842391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500" b="0">
                <a:solidFill>
                  <a:srgbClr val="1D1D1F"/>
                </a:solidFill>
                <a:latin typeface="Menlo"/>
              </a:rPr>
              <a:t>q.k1 = 8      q.k2 = 4      q.k3 =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994535"/>
            <a:ext cx="8229600" cy="842391"/>
          </a:xfrm>
          <a:prstGeom prst="roundRect">
            <a:avLst>
              <a:gd name="adj" fmla="val 1085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94944" y="1994535"/>
            <a:ext cx="1828800" cy="8423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100" b="1" spc="60">
                <a:solidFill>
                  <a:srgbClr val="86868B"/>
                </a:solidFill>
                <a:latin typeface="Helvetica Neue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23744" y="1994535"/>
            <a:ext cx="5925312" cy="842391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500" b="0">
                <a:solidFill>
                  <a:srgbClr val="1D1D1F"/>
                </a:solidFill>
                <a:latin typeface="Menlo"/>
              </a:rPr>
              <a:t>Compute the weights without scaling, then with 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910078"/>
            <a:ext cx="8229600" cy="842391"/>
          </a:xfrm>
          <a:prstGeom prst="roundRect">
            <a:avLst>
              <a:gd name="adj" fmla="val 1085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94944" y="2910078"/>
            <a:ext cx="1828800" cy="8423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100" b="1" spc="60">
                <a:solidFill>
                  <a:srgbClr val="86868B"/>
                </a:solidFill>
                <a:latin typeface="Helvetica Neue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23744" y="2910078"/>
            <a:ext cx="5925312" cy="842391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500" b="0">
                <a:solidFill>
                  <a:srgbClr val="1D1D1F"/>
                </a:solidFill>
                <a:latin typeface="Menlo"/>
              </a:rPr>
              <a:t>Which is harder to train from, and why?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825621"/>
            <a:ext cx="8229600" cy="842391"/>
          </a:xfrm>
          <a:prstGeom prst="roundRect">
            <a:avLst>
              <a:gd name="adj" fmla="val 1085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94944" y="3825621"/>
            <a:ext cx="1828800" cy="8423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100" b="1" spc="60">
                <a:solidFill>
                  <a:srgbClr val="86868B"/>
                </a:solidFill>
                <a:latin typeface="Helvetica Neue"/>
              </a:rPr>
              <a:t>YOU MAY NEED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23744" y="3825621"/>
            <a:ext cx="5925312" cy="842391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500" b="0">
                <a:solidFill>
                  <a:srgbClr val="1D1D1F"/>
                </a:solidFill>
                <a:latin typeface="Menlo"/>
              </a:rPr>
              <a:t>e^1 = 2.72   e^2 = 7.39   e^4 = 54.6   e^8 = 2981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Problem 4: counting the parameters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78992"/>
            <a:ext cx="8229600" cy="1147572"/>
          </a:xfrm>
          <a:prstGeom prst="roundRect">
            <a:avLst>
              <a:gd name="adj" fmla="val 7968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94944" y="1078992"/>
            <a:ext cx="1828800" cy="11475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100" b="1" spc="60">
                <a:solidFill>
                  <a:srgbClr val="86868B"/>
                </a:solidFill>
                <a:latin typeface="Helvetica Neue"/>
              </a:rPr>
              <a:t>GIVEN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23744" y="1078992"/>
            <a:ext cx="5925312" cy="114757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050" b="0">
                <a:solidFill>
                  <a:srgbClr val="1D1D1F"/>
                </a:solidFill>
                <a:latin typeface="Menlo"/>
              </a:rPr>
              <a:t>d_model = 512, h = 8 heads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99716"/>
            <a:ext cx="8229600" cy="1147572"/>
          </a:xfrm>
          <a:prstGeom prst="roundRect">
            <a:avLst>
              <a:gd name="adj" fmla="val 7968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94944" y="2299716"/>
            <a:ext cx="1828800" cy="11475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100" b="1" spc="60">
                <a:solidFill>
                  <a:srgbClr val="86868B"/>
                </a:solidFill>
                <a:latin typeface="Helvetica Neue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23744" y="2299716"/>
            <a:ext cx="5925312" cy="114757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050" b="0">
                <a:solidFill>
                  <a:srgbClr val="1D1D1F"/>
                </a:solidFill>
                <a:latin typeface="Menlo"/>
              </a:rPr>
              <a:t>Compute dk, then every parameter in WQ, WK, WV over all heads, plus WO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520440"/>
            <a:ext cx="8229600" cy="1147572"/>
          </a:xfrm>
          <a:prstGeom prst="roundRect">
            <a:avLst>
              <a:gd name="adj" fmla="val 7968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94944" y="3520440"/>
            <a:ext cx="1828800" cy="11475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100" b="1" spc="60">
                <a:solidFill>
                  <a:srgbClr val="86868B"/>
                </a:solidFill>
                <a:latin typeface="Helvetica Neue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23744" y="3520440"/>
            <a:ext cx="5925312" cy="114757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050" b="0">
                <a:solidFill>
                  <a:srgbClr val="1D1D1F"/>
                </a:solidFill>
                <a:latin typeface="Menlo"/>
              </a:rPr>
              <a:t>Solve for the h that would halve that total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Problem 5: encoding position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78992"/>
            <a:ext cx="8229600" cy="842391"/>
          </a:xfrm>
          <a:prstGeom prst="roundRect">
            <a:avLst>
              <a:gd name="adj" fmla="val 1085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94944" y="1078992"/>
            <a:ext cx="1828800" cy="8423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100" b="1" spc="60">
                <a:solidFill>
                  <a:srgbClr val="86868B"/>
                </a:solidFill>
                <a:latin typeface="Helvetica Neue"/>
              </a:rPr>
              <a:t>GIVEN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23744" y="1078992"/>
            <a:ext cx="5925312" cy="842391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100" b="0">
                <a:solidFill>
                  <a:srgbClr val="1D1D1F"/>
                </a:solidFill>
                <a:latin typeface="Menlo"/>
              </a:rPr>
              <a:t>d = 4, two pairs (i = 0 and i = 1), positions 0 and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994535"/>
            <a:ext cx="8229600" cy="842391"/>
          </a:xfrm>
          <a:prstGeom prst="roundRect">
            <a:avLst>
              <a:gd name="adj" fmla="val 1085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94944" y="1994535"/>
            <a:ext cx="1828800" cy="8423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100" b="1" spc="60">
                <a:solidFill>
                  <a:srgbClr val="86868B"/>
                </a:solidFill>
                <a:latin typeface="Helvetica Neue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23744" y="1994535"/>
            <a:ext cx="5925312" cy="842391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100" b="0">
                <a:solidFill>
                  <a:srgbClr val="1D1D1F"/>
                </a:solidFill>
                <a:latin typeface="Menlo"/>
              </a:rPr>
              <a:t>Compute both position vectors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910078"/>
            <a:ext cx="8229600" cy="842391"/>
          </a:xfrm>
          <a:prstGeom prst="roundRect">
            <a:avLst>
              <a:gd name="adj" fmla="val 1085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94944" y="2910078"/>
            <a:ext cx="1828800" cy="8423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100" b="1" spc="60">
                <a:solidFill>
                  <a:srgbClr val="86868B"/>
                </a:solidFill>
                <a:latin typeface="Helvetica Neue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23744" y="2910078"/>
            <a:ext cx="5925312" cy="842391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100" b="0">
                <a:solidFill>
                  <a:srgbClr val="1D1D1F"/>
                </a:solidFill>
                <a:latin typeface="Menlo"/>
              </a:rPr>
              <a:t>How many positions does the i = 1 pair need for one full cycle?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825621"/>
            <a:ext cx="8229600" cy="842391"/>
          </a:xfrm>
          <a:prstGeom prst="roundRect">
            <a:avLst>
              <a:gd name="adj" fmla="val 1085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94944" y="3825621"/>
            <a:ext cx="1828800" cy="8423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100" b="1" spc="60">
                <a:solidFill>
                  <a:srgbClr val="86868B"/>
                </a:solidFill>
                <a:latin typeface="Helvetica Neue"/>
              </a:rPr>
              <a:t>YOU MAY NEED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23744" y="3825621"/>
            <a:ext cx="5925312" cy="842391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100" b="0">
                <a:solidFill>
                  <a:srgbClr val="1D1D1F"/>
                </a:solidFill>
                <a:latin typeface="Menlo"/>
              </a:rPr>
              <a:t>sin 0 = 0   cos 0 = 1   sin 1 = 0.841   cos 1 = 0.540   2pi = 6.283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Problem 6: what attention costs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78992"/>
            <a:ext cx="8229600" cy="1147572"/>
          </a:xfrm>
          <a:prstGeom prst="roundRect">
            <a:avLst>
              <a:gd name="adj" fmla="val 7968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94944" y="1078992"/>
            <a:ext cx="1828800" cy="11475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100" b="1" spc="60">
                <a:solidFill>
                  <a:srgbClr val="86868B"/>
                </a:solidFill>
                <a:latin typeface="Helvetica Neue"/>
              </a:rPr>
              <a:t>GIVEN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23744" y="1078992"/>
            <a:ext cx="5925312" cy="114757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400" b="0">
                <a:solidFill>
                  <a:srgbClr val="1D1D1F"/>
                </a:solidFill>
                <a:latin typeface="Menlo"/>
              </a:rPr>
              <a:t>width d = 512, attention ~ n^2 d, recurrence ~ n d^2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99716"/>
            <a:ext cx="8229600" cy="1147572"/>
          </a:xfrm>
          <a:prstGeom prst="roundRect">
            <a:avLst>
              <a:gd name="adj" fmla="val 7968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94944" y="2299716"/>
            <a:ext cx="1828800" cy="11475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100" b="1" spc="60">
                <a:solidFill>
                  <a:srgbClr val="86868B"/>
                </a:solidFill>
                <a:latin typeface="Helvetica Neue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23744" y="2299716"/>
            <a:ext cx="5925312" cy="114757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400" b="0">
                <a:solidFill>
                  <a:srgbClr val="1D1D1F"/>
                </a:solidFill>
                <a:latin typeface="Menlo"/>
              </a:rPr>
              <a:t>Compute both costs at n = 64 and at n = 4096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520440"/>
            <a:ext cx="8229600" cy="1147572"/>
          </a:xfrm>
          <a:prstGeom prst="roundRect">
            <a:avLst>
              <a:gd name="adj" fmla="val 7968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94944" y="3520440"/>
            <a:ext cx="1828800" cy="11475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100" b="1" spc="60">
                <a:solidFill>
                  <a:srgbClr val="86868B"/>
                </a:solidFill>
                <a:latin typeface="Helvetica Neue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23744" y="3520440"/>
            <a:ext cx="5925312" cy="114757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400" b="0">
                <a:solidFill>
                  <a:srgbClr val="1D1D1F"/>
                </a:solidFill>
                <a:latin typeface="Menlo"/>
              </a:rPr>
              <a:t>Solve for the n at which they are equal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Quiz 4 (paper)</a:t>
            </a:r>
          </a:p>
        </p:txBody>
      </p:sp>
      <p:pic>
        <p:nvPicPr>
          <p:cNvPr id="5" name="Picture 4" descr="Quiz 4 (paper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2065" y="1078992"/>
            <a:ext cx="6579870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quizzes/quiz-04.md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Break</a:t>
            </a:r>
          </a:p>
        </p:txBody>
      </p:sp>
      <p:pic>
        <p:nvPicPr>
          <p:cNvPr id="5" name="Picture 4" descr="Then sit with your project team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312"/>
            <a:ext cx="8595360" cy="3186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Six questions, on paper, before you write anything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78992"/>
            <a:ext cx="8229600" cy="521970"/>
          </a:xfrm>
          <a:prstGeom prst="roundRect">
            <a:avLst>
              <a:gd name="adj" fmla="val 1927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94944" y="1078992"/>
            <a:ext cx="475488" cy="52197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2200" b="1">
                <a:solidFill>
                  <a:srgbClr val="1D1D1F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078992"/>
            <a:ext cx="7278624" cy="5219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600" b="0">
                <a:solidFill>
                  <a:srgbClr val="1D1D1F"/>
                </a:solidFill>
                <a:latin typeface="Menlo"/>
              </a:rPr>
              <a:t>What is the research question?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692402"/>
            <a:ext cx="8229600" cy="521970"/>
          </a:xfrm>
          <a:prstGeom prst="roundRect">
            <a:avLst>
              <a:gd name="adj" fmla="val 1927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94944" y="1692402"/>
            <a:ext cx="475488" cy="52197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2200" b="1">
                <a:solidFill>
                  <a:srgbClr val="1D1D1F"/>
                </a:solidFill>
                <a:latin typeface="Helvetica Ne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1692402"/>
            <a:ext cx="7278624" cy="5219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600" b="0">
                <a:solidFill>
                  <a:srgbClr val="1D1D1F"/>
                </a:solidFill>
                <a:latin typeface="Menlo"/>
              </a:rPr>
              <a:t>What data?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305812"/>
            <a:ext cx="8229600" cy="521970"/>
          </a:xfrm>
          <a:prstGeom prst="roundRect">
            <a:avLst>
              <a:gd name="adj" fmla="val 1927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94944" y="2305812"/>
            <a:ext cx="475488" cy="52197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2200" b="1">
                <a:solidFill>
                  <a:srgbClr val="1D1D1F"/>
                </a:solidFill>
                <a:latin typeface="Helvetica Ne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" y="2305812"/>
            <a:ext cx="7278624" cy="5219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600" b="0">
                <a:solidFill>
                  <a:srgbClr val="1D1D1F"/>
                </a:solidFill>
                <a:latin typeface="Menlo"/>
              </a:rPr>
              <a:t>What baseline, if one applies?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919222"/>
            <a:ext cx="8229600" cy="521970"/>
          </a:xfrm>
          <a:prstGeom prst="roundRect">
            <a:avLst>
              <a:gd name="adj" fmla="val 1927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94944" y="2919222"/>
            <a:ext cx="475488" cy="52197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2200" b="1">
                <a:solidFill>
                  <a:srgbClr val="1D1D1F"/>
                </a:solidFill>
                <a:latin typeface="Helvetica Ne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" y="2919222"/>
            <a:ext cx="7278624" cy="5219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600" b="0">
                <a:solidFill>
                  <a:srgbClr val="1D1D1F"/>
                </a:solidFill>
                <a:latin typeface="Menlo"/>
              </a:rPr>
              <a:t>Metrics and evaluation?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532632"/>
            <a:ext cx="8229600" cy="521970"/>
          </a:xfrm>
          <a:prstGeom prst="roundRect">
            <a:avLst>
              <a:gd name="adj" fmla="val 1927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94944" y="3532632"/>
            <a:ext cx="475488" cy="52197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2200" b="1">
                <a:solidFill>
                  <a:srgbClr val="1D1D1F"/>
                </a:solidFill>
                <a:latin typeface="Helvetica Ne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0432" y="3532632"/>
            <a:ext cx="7278624" cy="5219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600" b="0">
                <a:solidFill>
                  <a:srgbClr val="1D1D1F"/>
                </a:solidFill>
                <a:latin typeface="Menlo"/>
              </a:rPr>
              <a:t>What is your contribution?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146042"/>
            <a:ext cx="8229600" cy="521970"/>
          </a:xfrm>
          <a:prstGeom prst="roundRect">
            <a:avLst>
              <a:gd name="adj" fmla="val 1927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94944" y="4146042"/>
            <a:ext cx="475488" cy="52197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2200" b="1">
                <a:solidFill>
                  <a:srgbClr val="1D1D1F"/>
                </a:solidFill>
                <a:latin typeface="Helvetica Neue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4146042"/>
            <a:ext cx="7278624" cy="5219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600" b="0">
                <a:solidFill>
                  <a:srgbClr val="1D1D1F"/>
                </a:solidFill>
                <a:latin typeface="Menlo"/>
              </a:rPr>
              <a:t>Who is doing what?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project/proposal/TEMPLATE.md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