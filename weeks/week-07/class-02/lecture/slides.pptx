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3"/>
  </p:sldMasterIdLst>
  <p:notesMasterIdLst>
    <p:notesMasterId r:id="rId4"/>
  </p:notesMasterIdLst>
  <p:sldIdLst>
    <p:sldId id="256" r:id="rId21"/>
    <p:sldId id="257" r:id="rId22"/>
    <p:sldId id="258" r:id="rId20"/>
    <p:sldId id="259" r:id="rId19"/>
    <p:sldId id="260" r:id="rId18"/>
    <p:sldId id="261" r:id="rId17"/>
    <p:sldId id="262" r:id="rId16"/>
    <p:sldId id="263" r:id="rId15"/>
    <p:sldId id="264" r:id="rId14"/>
    <p:sldId id="265" r:id="rId13"/>
    <p:sldId id="266" r:id="rId12"/>
    <p:sldId id="267" r:id="rId11"/>
    <p:sldId id="268" r:id="rId10"/>
    <p:sldId id="269" r:id="rId9"/>
    <p:sldId id="270" r:id="rId8"/>
    <p:sldId id="271" r:id="rId7"/>
    <p:sldId id="272" r:id="rId6"/>
    <p:sldId id="273" r:id="rId5"/>
    <p:sldId id="274" r:id="rId39"/>
    <p:sldId id="275" r:id="rId40"/>
    <p:sldId id="276" r:id="rId41"/>
  </p:sldIdLst>
  <p:sldSz cy="5143500" cx="9144000"/>
  <p:notesSz cx="6858000" cy="9144000"/>
  <p:embeddedFontLst>
    <p:embeddedFont>
      <p:font typeface="Roboto"/>
      <p:regular r:id="rId23"/>
      <p:bold r:id="rId24"/>
      <p:italic r:id="rId25"/>
      <p:boldItalic r:id="rId26"/>
    </p:embeddedFont>
    <p:embeddedFont>
      <p:font typeface="Playfair Display"/>
      <p:regular r:id="rId27"/>
      <p:bold r:id="rId28"/>
      <p:italic r:id="rId29"/>
      <p:boldItalic r:id="rId30"/>
    </p:embeddedFont>
    <p:embeddedFont>
      <p:font typeface="Roboto Mono Light"/>
      <p:regular r:id="rId31"/>
      <p:bold r:id="rId32"/>
      <p:italic r:id="rId33"/>
      <p:boldItalic r:id="rId34"/>
    </p:embeddedFont>
    <p:embeddedFont>
      <p:font typeface="Roboto Light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8.xml"/><Relationship Id="rId6" Type="http://schemas.openxmlformats.org/officeDocument/2006/relationships/slide" Target="slides/slide17.xml"/><Relationship Id="rId7" Type="http://schemas.openxmlformats.org/officeDocument/2006/relationships/slide" Target="slides/slide16.xml"/><Relationship Id="rId8" Type="http://schemas.openxmlformats.org/officeDocument/2006/relationships/slide" Target="slides/slide15.xml"/><Relationship Id="rId9" Type="http://schemas.openxmlformats.org/officeDocument/2006/relationships/slide" Target="slides/slide14.xml"/><Relationship Id="rId10" Type="http://schemas.openxmlformats.org/officeDocument/2006/relationships/slide" Target="slides/slide13.xml"/><Relationship Id="rId11" Type="http://schemas.openxmlformats.org/officeDocument/2006/relationships/slide" Target="slides/slide12.xml"/><Relationship Id="rId12" Type="http://schemas.openxmlformats.org/officeDocument/2006/relationships/slide" Target="slides/slide11.xml"/><Relationship Id="rId13" Type="http://schemas.openxmlformats.org/officeDocument/2006/relationships/slide" Target="slides/slide10.xml"/><Relationship Id="rId14" Type="http://schemas.openxmlformats.org/officeDocument/2006/relationships/slide" Target="slides/slide9.xml"/><Relationship Id="rId15" Type="http://schemas.openxmlformats.org/officeDocument/2006/relationships/slide" Target="slides/slide8.xml"/><Relationship Id="rId16" Type="http://schemas.openxmlformats.org/officeDocument/2006/relationships/slide" Target="slides/slide7.xml"/><Relationship Id="rId17" Type="http://schemas.openxmlformats.org/officeDocument/2006/relationships/slide" Target="slides/slide6.xml"/><Relationship Id="rId18" Type="http://schemas.openxmlformats.org/officeDocument/2006/relationships/slide" Target="slides/slide5.xml"/><Relationship Id="rId19" Type="http://schemas.openxmlformats.org/officeDocument/2006/relationships/slide" Target="slides/slide4.xml"/><Relationship Id="rId20" Type="http://schemas.openxmlformats.org/officeDocument/2006/relationships/slide" Target="slides/slide3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font" Target="fonts/Roboto-regular.fntdata"/><Relationship Id="rId24" Type="http://schemas.openxmlformats.org/officeDocument/2006/relationships/font" Target="fonts/Roboto-bold.fntdata"/><Relationship Id="rId25" Type="http://schemas.openxmlformats.org/officeDocument/2006/relationships/font" Target="fonts/Roboto-italic.fntdata"/><Relationship Id="rId26" Type="http://schemas.openxmlformats.org/officeDocument/2006/relationships/font" Target="fonts/Roboto-boldItalic.fntdata"/><Relationship Id="rId27" Type="http://schemas.openxmlformats.org/officeDocument/2006/relationships/font" Target="fonts/PlayfairDisplay-regular.fntdata"/><Relationship Id="rId28" Type="http://schemas.openxmlformats.org/officeDocument/2006/relationships/font" Target="fonts/PlayfairDisplay-bold.fntdata"/><Relationship Id="rId29" Type="http://schemas.openxmlformats.org/officeDocument/2006/relationships/font" Target="fonts/PlayfairDisplay-italic.fntdata"/><Relationship Id="rId30" Type="http://schemas.openxmlformats.org/officeDocument/2006/relationships/font" Target="fonts/PlayfairDisplay-boldItalic.fntdata"/><Relationship Id="rId31" Type="http://schemas.openxmlformats.org/officeDocument/2006/relationships/font" Target="fonts/RobotoMonoLight-regular.fntdata"/><Relationship Id="rId32" Type="http://schemas.openxmlformats.org/officeDocument/2006/relationships/font" Target="fonts/RobotoMonoLight-bold.fntdata"/><Relationship Id="rId33" Type="http://schemas.openxmlformats.org/officeDocument/2006/relationships/font" Target="fonts/RobotoMonoLight-italic.fntdata"/><Relationship Id="rId34" Type="http://schemas.openxmlformats.org/officeDocument/2006/relationships/font" Target="fonts/RobotoMonoLight-boldItalic.fntdata"/><Relationship Id="rId35" Type="http://schemas.openxmlformats.org/officeDocument/2006/relationships/font" Target="fonts/RobotoLight-regular.fntdata"/><Relationship Id="rId36" Type="http://schemas.openxmlformats.org/officeDocument/2006/relationships/font" Target="fonts/RobotoLight-bold.fntdata"/><Relationship Id="rId37" Type="http://schemas.openxmlformats.org/officeDocument/2006/relationships/font" Target="fonts/RobotoLight-italic.fntdata"/><Relationship Id="rId38" Type="http://schemas.openxmlformats.org/officeDocument/2006/relationships/font" Target="fonts/RobotoLight-boldItalic.fntdata"/><Relationship Id="rId39" Type="http://schemas.openxmlformats.org/officeDocument/2006/relationships/slide" Target="slides/slide19.xml"/><Relationship Id="rId40" Type="http://schemas.openxmlformats.org/officeDocument/2006/relationships/slide" Target="slides/slide20.xml"/><Relationship Id="rId41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523" y="685800"/>
            <a:ext cx="4571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3390300"/>
            <a:ext cx="91440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13732" l="600" r="-600" t="43847"/>
          <a:stretch/>
        </p:blipFill>
        <p:spPr>
          <a:xfrm>
            <a:off x="0" y="-70472"/>
            <a:ext cx="9198797" cy="34607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2 Columns">
  <p:cSld name="2_Portfolio Thre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idx="1" type="body"/>
          </p:nvPr>
        </p:nvSpPr>
        <p:spPr>
          <a:xfrm>
            <a:off x="50957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8" name="Google Shape;18;p3"/>
          <p:cNvSpPr txBox="1"/>
          <p:nvPr>
            <p:ph idx="2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3" type="body"/>
          </p:nvPr>
        </p:nvSpPr>
        <p:spPr>
          <a:xfrm>
            <a:off x="482712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3 Columns">
  <p:cSld name="1_Slide with Placeholder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2" type="body"/>
          </p:nvPr>
        </p:nvSpPr>
        <p:spPr>
          <a:xfrm>
            <a:off x="5521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3" type="body"/>
          </p:nvPr>
        </p:nvSpPr>
        <p:spPr>
          <a:xfrm>
            <a:off x="33374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5" name="Google Shape;25;p4"/>
          <p:cNvSpPr txBox="1"/>
          <p:nvPr>
            <p:ph idx="4" type="body"/>
          </p:nvPr>
        </p:nvSpPr>
        <p:spPr>
          <a:xfrm>
            <a:off x="6160800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">
  <p:cSld name="Cover Slide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 with Logo">
  <p:cSld name="Cover Slide_2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514" y="628706"/>
            <a:ext cx="4936973" cy="3885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Acknowledgments Slide">
  <p:cSld name="Cover Slide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Playfair Display"/>
              <a:buNone/>
              <a:defRPr i="0" sz="5600" u="none" cap="none" strike="noStrik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4" name="Google Shape;34;p7"/>
          <p:cNvSpPr txBox="1"/>
          <p:nvPr>
            <p:ph idx="1" type="subTitle"/>
          </p:nvPr>
        </p:nvSpPr>
        <p:spPr>
          <a:xfrm>
            <a:off x="509521" y="1401113"/>
            <a:ext cx="5120100" cy="1558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only">
  <p:cSld name="Custom Layou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7" name="Google Shape;37;p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Big Concept Slide">
  <p:cSld name="Slide with Placehold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title"/>
          </p:nvPr>
        </p:nvSpPr>
        <p:spPr>
          <a:xfrm>
            <a:off x="509577" y="2245519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509577" y="3154509"/>
            <a:ext cx="6737700" cy="953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">
  <p:cSld name="Large Picture with Logo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3" name="Google Shape;43;p10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44" name="Google Shape;44;p10"/>
          <p:cNvPicPr preferRelativeResize="0"/>
          <p:nvPr/>
        </p:nvPicPr>
        <p:blipFill rotWithShape="1">
          <a:blip r:embed="rId2">
            <a:alphaModFix/>
          </a:blip>
          <a:srcRect b="2009" l="27412" r="6551" t="0"/>
          <a:stretch/>
        </p:blipFill>
        <p:spPr>
          <a:xfrm>
            <a:off x="7006675" y="-56025"/>
            <a:ext cx="2176574" cy="484604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0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1">
  <p:cSld name="Large Picture with Logo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8" name="Google Shape;48;p11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2">
  <p:cSld name="Large Picture with Logo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2" name="Google Shape;52;p12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53" name="Google Shape;53;p12"/>
          <p:cNvPicPr preferRelativeResize="0"/>
          <p:nvPr/>
        </p:nvPicPr>
        <p:blipFill rotWithShape="1">
          <a:blip r:embed="rId2">
            <a:alphaModFix/>
          </a:blip>
          <a:srcRect b="0" l="27412" r="6551" t="0"/>
          <a:stretch/>
        </p:blipFill>
        <p:spPr>
          <a:xfrm>
            <a:off x="7006675" y="-57150"/>
            <a:ext cx="2137324" cy="485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12"/>
          <p:cNvPicPr preferRelativeResize="0"/>
          <p:nvPr/>
        </p:nvPicPr>
        <p:blipFill rotWithShape="1">
          <a:blip r:embed="rId3">
            <a:alphaModFix/>
          </a:blip>
          <a:srcRect b="0" l="8950" r="0" t="0"/>
          <a:stretch/>
        </p:blipFill>
        <p:spPr>
          <a:xfrm>
            <a:off x="7006665" y="-57150"/>
            <a:ext cx="6633784" cy="485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4">
            <a:alphaModFix/>
          </a:blip>
          <a:srcRect b="0" l="39028" r="0" t="0"/>
          <a:stretch/>
        </p:blipFill>
        <p:spPr>
          <a:xfrm>
            <a:off x="7006676" y="-57150"/>
            <a:ext cx="4442373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3">
  <p:cSld name="Large Picture with Logo_1_1_1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9" name="Google Shape;59;p13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 b="0" l="24210" r="1252" t="0"/>
          <a:stretch/>
        </p:blipFill>
        <p:spPr>
          <a:xfrm>
            <a:off x="7006675" y="-57150"/>
            <a:ext cx="5430948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4">
  <p:cSld name="Large Picture with Logo_1_1_1_1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2">
            <a:alphaModFix/>
          </a:blip>
          <a:srcRect b="0" l="34525" r="0" t="0"/>
          <a:stretch/>
        </p:blipFill>
        <p:spPr>
          <a:xfrm>
            <a:off x="7010075" y="-57150"/>
            <a:ext cx="2543048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">
  <p:cSld name="3_Placeholder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9" name="Google Shape;69;p15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 1">
  <p:cSld name="3_Placeholder_1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3" name="Google Shape;73;p16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Single Statistic">
  <p:cSld name="1_Placeholder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type="title"/>
          </p:nvPr>
        </p:nvSpPr>
        <p:spPr>
          <a:xfrm>
            <a:off x="454066" y="182433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4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8" name="Google Shape;78;p17"/>
          <p:cNvSpPr txBox="1"/>
          <p:nvPr>
            <p:ph idx="2" type="subTitle"/>
          </p:nvPr>
        </p:nvSpPr>
        <p:spPr>
          <a:xfrm>
            <a:off x="454066" y="3127509"/>
            <a:ext cx="8353200" cy="715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3" type="subTitle"/>
          </p:nvPr>
        </p:nvSpPr>
        <p:spPr>
          <a:xfrm>
            <a:off x="4838166" y="1824350"/>
            <a:ext cx="38664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4" type="title"/>
          </p:nvPr>
        </p:nvSpPr>
        <p:spPr>
          <a:xfrm>
            <a:off x="509577" y="837514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Multiple Statistics">
  <p:cSld name="1_Placeholder_1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type="title"/>
          </p:nvPr>
        </p:nvSpPr>
        <p:spPr>
          <a:xfrm>
            <a:off x="454066" y="75948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4" name="Google Shape;84;p18"/>
          <p:cNvSpPr txBox="1"/>
          <p:nvPr>
            <p:ph idx="2" type="subTitle"/>
          </p:nvPr>
        </p:nvSpPr>
        <p:spPr>
          <a:xfrm>
            <a:off x="4759893" y="759488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title"/>
          </p:nvPr>
        </p:nvSpPr>
        <p:spPr>
          <a:xfrm>
            <a:off x="454066" y="2037533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5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6" name="Google Shape;86;p18"/>
          <p:cNvSpPr txBox="1"/>
          <p:nvPr>
            <p:ph idx="4" type="subTitle"/>
          </p:nvPr>
        </p:nvSpPr>
        <p:spPr>
          <a:xfrm>
            <a:off x="4759893" y="2037533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5" type="title"/>
          </p:nvPr>
        </p:nvSpPr>
        <p:spPr>
          <a:xfrm>
            <a:off x="454066" y="343770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6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6" type="subTitle"/>
          </p:nvPr>
        </p:nvSpPr>
        <p:spPr>
          <a:xfrm>
            <a:off x="4759893" y="3437709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Quote">
  <p:cSld name="CUSTOM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91" name="Google Shape;91;p19"/>
          <p:cNvSpPr/>
          <p:nvPr/>
        </p:nvSpPr>
        <p:spPr>
          <a:xfrm>
            <a:off x="5748887" y="1561152"/>
            <a:ext cx="1718100" cy="219300"/>
          </a:xfrm>
          <a:prstGeom prst="rect">
            <a:avLst/>
          </a:prstGeom>
          <a:solidFill>
            <a:srgbClr val="738D33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467434" y="1561152"/>
            <a:ext cx="1718100" cy="219300"/>
          </a:xfrm>
          <a:prstGeom prst="rect">
            <a:avLst/>
          </a:prstGeom>
          <a:solidFill>
            <a:srgbClr val="625578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9"/>
          <p:cNvSpPr/>
          <p:nvPr/>
        </p:nvSpPr>
        <p:spPr>
          <a:xfrm>
            <a:off x="0" y="1561152"/>
            <a:ext cx="1718100" cy="2193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1718076" y="1561152"/>
            <a:ext cx="1718100" cy="219300"/>
          </a:xfrm>
          <a:prstGeom prst="rect">
            <a:avLst/>
          </a:prstGeom>
          <a:solidFill>
            <a:srgbClr val="498DA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9"/>
          <p:cNvSpPr txBox="1"/>
          <p:nvPr/>
        </p:nvSpPr>
        <p:spPr>
          <a:xfrm>
            <a:off x="3589051" y="975950"/>
            <a:ext cx="1965900" cy="8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0">
                <a:solidFill>
                  <a:srgbClr val="818387"/>
                </a:solidFill>
              </a:rPr>
              <a:t>“</a:t>
            </a:r>
            <a:endParaRPr b="1" sz="12000">
              <a:solidFill>
                <a:srgbClr val="818387"/>
              </a:solidFill>
            </a:endParaRPr>
          </a:p>
        </p:txBody>
      </p:sp>
      <p:sp>
        <p:nvSpPr>
          <p:cNvPr id="96" name="Google Shape;96;p19"/>
          <p:cNvSpPr txBox="1"/>
          <p:nvPr>
            <p:ph type="title"/>
          </p:nvPr>
        </p:nvSpPr>
        <p:spPr>
          <a:xfrm>
            <a:off x="1682308" y="2130769"/>
            <a:ext cx="5779500" cy="1962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7" name="Google Shape;97;p19"/>
          <p:cNvSpPr txBox="1"/>
          <p:nvPr>
            <p:ph idx="2" type="subTitle"/>
          </p:nvPr>
        </p:nvSpPr>
        <p:spPr>
          <a:xfrm>
            <a:off x="3300470" y="3999056"/>
            <a:ext cx="2543100" cy="384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70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le Slide" showMasterSp="0">
  <p:cSld name="13_Title Slide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/>
          <p:nvPr>
            <p:ph idx="2" type="pic"/>
          </p:nvPr>
        </p:nvSpPr>
        <p:spPr>
          <a:xfrm>
            <a:off x="192505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0"/>
          <p:cNvSpPr/>
          <p:nvPr>
            <p:ph idx="3" type="pic"/>
          </p:nvPr>
        </p:nvSpPr>
        <p:spPr>
          <a:xfrm>
            <a:off x="1997242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0"/>
          <p:cNvSpPr/>
          <p:nvPr>
            <p:ph idx="4" type="pic"/>
          </p:nvPr>
        </p:nvSpPr>
        <p:spPr>
          <a:xfrm>
            <a:off x="3801980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20"/>
          <p:cNvSpPr/>
          <p:nvPr>
            <p:ph idx="5" type="pic"/>
          </p:nvPr>
        </p:nvSpPr>
        <p:spPr>
          <a:xfrm>
            <a:off x="5606716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0"/>
          <p:cNvSpPr/>
          <p:nvPr>
            <p:ph idx="6" type="pic"/>
          </p:nvPr>
        </p:nvSpPr>
        <p:spPr>
          <a:xfrm>
            <a:off x="7411453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 1">
  <p:cSld name="1_Cover Page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-53437" y="3390300"/>
            <a:ext cx="91974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2">
            <a:alphaModFix/>
          </a:blip>
          <a:srcRect b="13732" l="0" r="-563" t="43844"/>
          <a:stretch/>
        </p:blipFill>
        <p:spPr>
          <a:xfrm>
            <a:off x="-53437" y="-70462"/>
            <a:ext cx="9250875" cy="34607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700" lIns="25700" spcFirstLastPara="1" rIns="25700" wrap="square" tIns="2570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9pPr>
          </a:lstStyle>
          <a:p/>
        </p:txBody>
      </p:sp>
      <p:sp>
        <p:nvSpPr>
          <p:cNvPr id="108" name="Google Shape;108;p21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  <p:sp>
        <p:nvSpPr>
          <p:cNvPr id="109" name="Google Shape;109;p21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/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09577" y="1401113"/>
            <a:ext cx="80058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Roboto"/>
              <a:buNone/>
              <a:defRPr i="0" sz="22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None/>
              <a:defRPr i="0" sz="15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None/>
              <a:defRPr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None/>
              <a:defRPr i="0" sz="11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sz="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1">
            <a:alphaModFix/>
          </a:blip>
          <a:srcRect b="0" l="0" r="0" t="35296"/>
          <a:stretch/>
        </p:blipFill>
        <p:spPr>
          <a:xfrm>
            <a:off x="0" y="4794384"/>
            <a:ext cx="9144000" cy="34911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7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2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marL="0" indent="0">
              <a:buNone/>
            </a:pPr>
            <a:r>
              <a:t>CSCI 3495</a:t>
            </a:r>
          </a:p>
          <a:p>
            <a:pPr marL="0" indent="0">
              <a:buNone/>
            </a:pPr>
            <a:r>
              <a:t>Scaling Laws &amp; Emergent Abilities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926" y="3549825"/>
            <a:ext cx="6080610" cy="970800"/>
          </a:xfrm>
        </p:spPr>
        <p:txBody>
          <a:bodyPr wrap="square"/>
          <a:lstStyle/>
          <a:p>
            <a:pPr marL="0" indent="0">
              <a:buNone/>
            </a:pPr>
            <a:r>
              <a:t>Natural Language Processing &amp; Large Language Models</a:t>
            </a:r>
          </a:p>
          <a:p>
            <a:pPr marL="0" indent="0">
              <a:buNone/>
            </a:pPr>
            <a:r>
              <a:t>Week 7, Class 2</a:t>
            </a:r>
          </a:p>
        </p:txBody>
      </p:sp>
      <p:pic>
        <p:nvPicPr>
          <p:cNvPr id="5" name="Picture 4" descr="Meet the chinchilla. Ask the class: why is one of the most important LLM papers of 2022 named after this rodent?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36" y="3474720"/>
            <a:ext cx="1975104" cy="14813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777777"/>
                </a:solidFill>
              </a:defRPr>
            </a:pPr>
            <a:r>
              <a:t>Source: Guerin Nicolas, Wikimedia Commons, CC BY-SA 3.0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central question</a:t>
            </a:r>
          </a:p>
        </p:txBody>
      </p:sp>
      <p:pic>
        <p:nvPicPr>
          <p:cNvPr id="5" name="Picture 4" descr="The central ques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527" y="1078992"/>
            <a:ext cx="7308946" cy="35890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Three axes of scale</a:t>
            </a:r>
          </a:p>
        </p:txBody>
      </p:sp>
      <p:pic>
        <p:nvPicPr>
          <p:cNvPr id="5" name="Picture 4" descr="Three axes of scal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6710"/>
            <a:ext cx="8595360" cy="24535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Scale costs real hardware</a:t>
            </a:r>
          </a:p>
        </p:txBody>
      </p:sp>
      <p:pic>
        <p:nvPicPr>
          <p:cNvPr id="5" name="Picture 4" descr="More parameters and more data mean more of this: racks of GPUs running for week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4655" y="1078992"/>
            <a:ext cx="6394690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https://images.unsplash.com/photo-1558494949-ef010cbdcc31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Parameters on one pan, training tokens on the other. Chinchilla settles the balance soon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477203"/>
            <a:ext cx="9144000" cy="609790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FFFFFF"/>
                </a:solidFill>
              </a:rPr>
              <a:t>If you doubled your compute budget, where should it go: a bigger model or more data?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59"/>
            <a:ext cx="78638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Parameters on one pan, training tokens on the other. Chinchilla settles the balance soon.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https://images.unsplash.com/photo-1589829545856-d10d557cf95f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Scaling laws (Kaplan et al., 2020)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5711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Forecasts a big model's loss from small runs, within the studied compute range; extrapolation far beyond it is unreliable</a:t>
            </a:r>
          </a:p>
        </p:txBody>
      </p:sp>
      <p:pic>
        <p:nvPicPr>
          <p:cNvPr id="6" name="Picture 5" descr="One of the most reproduced plots in modern ML. A straight line on log-log axes IS a power law; each panel holds when the other two factors are not the bottleneck. Note the exponents: loss falls slowly, so gains cost orders of magnitud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786" y="1078992"/>
            <a:ext cx="7204427" cy="31866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Kaplan et al. 2020, "Scaling Laws for Neural Language Models" (arXiv:2001.08361), Fig. 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Why power laws matter</a:t>
            </a:r>
          </a:p>
        </p:txBody>
      </p:sp>
      <p:pic>
        <p:nvPicPr>
          <p:cNvPr id="5" name="Picture 4" descr="Why power laws matt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73384"/>
            <a:ext cx="8595360" cy="32002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Kaplan's original takeaway</a:t>
            </a:r>
          </a:p>
        </p:txBody>
      </p:sp>
      <p:pic>
        <p:nvPicPr>
          <p:cNvPr id="5" name="Picture 4" descr="Kaplan's advice for a billion-fold compute increase: pour almost all of it into model size, barely any into data. This chart is why GPT-3 got 175B parameters but only about 300B tokens. Chinchilla revisits this split nex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0080" y="1078992"/>
            <a:ext cx="7403839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Kaplan et al. 2020, "Scaling Laws for Neural Language Models" (arXiv:2001.08361), Fig. 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Chinchilla result</a:t>
            </a:r>
          </a:p>
        </p:txBody>
      </p:sp>
      <p:pic>
        <p:nvPicPr>
          <p:cNvPr id="5" name="Picture 4" descr="The Chinchilla resul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05128"/>
            <a:ext cx="8595360" cy="29367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Hoffmann et al. 2022, "Training Compute-Optimal LLMs" (arXiv:2203.15556)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Compute-optimal scaling</a:t>
            </a:r>
          </a:p>
        </p:txBody>
      </p:sp>
      <p:pic>
        <p:nvPicPr>
          <p:cNvPr id="5" name="Picture 4" descr="Each U-curve fixes a FLOP budget and trades parameters against tokens: too big is as wasteful as too small. At Gopher's budget the valley bottoms read off 63B parameters and 1.4T tokens, the recipe that became Chinchilla (70B)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8977" y="1078992"/>
            <a:ext cx="6306046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Hoffmann et al. 2022, "Training Compute-Optimal Large Language Models" (arXiv:2203.15556), Fig. 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Emergent abilities</a:t>
            </a:r>
          </a:p>
        </p:txBody>
      </p:sp>
      <p:pic>
        <p:nvPicPr>
          <p:cNvPr id="5" name="Picture 4" descr="Emergent abiliti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474" y="1078992"/>
            <a:ext cx="7775052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Wei et al. 2022, "Emergent Abilities of Large Language Models"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Emergence: nuance &amp; debate</a:t>
            </a:r>
          </a:p>
        </p:txBody>
      </p:sp>
      <p:pic>
        <p:nvPicPr>
          <p:cNvPr id="5" name="Picture 4" descr="Emergence: nuance &amp; debat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52105"/>
            <a:ext cx="8595360" cy="324279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Schaeffer et al. 2023 on metric artifacts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Loss ≠ usefulness</a:t>
            </a:r>
          </a:p>
        </p:txBody>
      </p:sp>
      <p:pic>
        <p:nvPicPr>
          <p:cNvPr id="5" name="Picture 4" descr="Loss ≠ usefulnes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735413"/>
            <a:ext cx="8595360" cy="22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"large" really buys you</a:t>
            </a:r>
          </a:p>
        </p:txBody>
      </p:sp>
      <p:pic>
        <p:nvPicPr>
          <p:cNvPr id="5" name="Picture 4" descr="What &quot;large&quot; really buys you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05735"/>
            <a:ext cx="8595360" cy="29355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GPT-3 family sizes per Brown et al. 2020; emergence per Wei et al. 2022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Quiz 7 (paper)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46219"/>
            <a:ext cx="8229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Clear your desk; covers Week 7 lecture + GPT-3 (Brown 2020)</a:t>
            </a:r>
          </a:p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Finish early and your break starts early; need more time and it comes out of the break</a:t>
            </a:r>
          </a:p>
        </p:txBody>
      </p:sp>
      <p:pic>
        <p:nvPicPr>
          <p:cNvPr id="6" name="Picture 5" descr="Quiz 7 runs right before the break: finish early and your break starts early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5861" y="1078992"/>
            <a:ext cx="5272277" cy="287578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Break</a:t>
            </a:r>
          </a:p>
        </p:txBody>
      </p:sp>
      <p:pic>
        <p:nvPicPr>
          <p:cNvPr id="5" name="Picture 4" descr="Five minutes: stretch, refill water, compare notes. Then Budget the compute at the whiteboard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312"/>
            <a:ext cx="8595360" cy="3186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Activity A: budget the compute</a:t>
            </a:r>
          </a:p>
        </p:txBody>
      </p:sp>
      <p:pic>
        <p:nvPicPr>
          <p:cNvPr id="5" name="Picture 4" descr="Activity A: budget the comput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13" y="1078992"/>
            <a:ext cx="8191573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Chinchilla rule, Hoffmann et al. 2022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Activity B: structured debate</a:t>
            </a:r>
          </a:p>
        </p:txBody>
      </p:sp>
      <p:pic>
        <p:nvPicPr>
          <p:cNvPr id="5" name="Picture 4" descr="Activity B: structured debat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52497"/>
            <a:ext cx="8595360" cy="304201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Is bigger always better? Is emergence real or a metric mirage? Argue your assigned position with evidenc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477203"/>
            <a:ext cx="9144000" cy="609790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4000" b="1">
                <a:solidFill>
                  <a:srgbClr val="FFFFFF"/>
                </a:solidFill>
              </a:rPr>
              <a:t>Take a side and defend it</a:t>
            </a:r>
          </a:p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Is bigger always better? Is emergence real or a metric mirage? Argue your assigned position with evidence.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https://images.unsplash.com/photo-1475721027785-f74eccf877e2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Optional take-home: measure scaling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46220"/>
            <a:ext cx="8229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Use simple arithmetic or strict-format tasks, not tiny MMLU runs near the 25% chance floor</a:t>
            </a:r>
          </a:p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Tiny suites are noisy: read the direction of the trend, not one-item flips</a:t>
            </a:r>
          </a:p>
        </p:txBody>
      </p:sp>
      <p:pic>
        <p:nvPicPr>
          <p:cNvPr id="6" name="Picture 5" descr="Optional take-home: measure scali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5978" y="1078992"/>
            <a:ext cx="4532044" cy="28757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weeks/week-07/class-02/exercise/scaling.py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Recap</a:t>
            </a:r>
          </a:p>
        </p:txBody>
      </p:sp>
      <p:pic>
        <p:nvPicPr>
          <p:cNvPr id="5" name="Picture 4" descr="Reca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69831"/>
            <a:ext cx="8595360" cy="32073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">
      <a:dk1>
        <a:srgbClr val="434343"/>
      </a:dk1>
      <a:lt1>
        <a:srgbClr val="FFFFFF"/>
      </a:lt1>
      <a:dk2>
        <a:srgbClr val="818387"/>
      </a:dk2>
      <a:lt2>
        <a:srgbClr val="F6F7FA"/>
      </a:lt2>
      <a:accent1>
        <a:srgbClr val="723130"/>
      </a:accent1>
      <a:accent2>
        <a:srgbClr val="818387"/>
      </a:accent2>
      <a:accent3>
        <a:srgbClr val="FFB600"/>
      </a:accent3>
      <a:accent4>
        <a:srgbClr val="738D33"/>
      </a:accent4>
      <a:accent5>
        <a:srgbClr val="625578"/>
      </a:accent5>
      <a:accent6>
        <a:srgbClr val="498DA0"/>
      </a:accent6>
      <a:hlink>
        <a:srgbClr val="B1B4B5"/>
      </a:hlink>
      <a:folHlink>
        <a:srgbClr val="B0B1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