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8" r:id="rId3"/>
  </p:sldMasterIdLst>
  <p:notesMasterIdLst>
    <p:notesMasterId r:id="rId4"/>
  </p:notesMasterIdLst>
  <p:sldIdLst>
    <p:sldId id="256" r:id="rId21"/>
    <p:sldId id="257" r:id="rId22"/>
    <p:sldId id="258" r:id="rId20"/>
    <p:sldId id="259" r:id="rId19"/>
    <p:sldId id="260" r:id="rId18"/>
    <p:sldId id="261" r:id="rId17"/>
    <p:sldId id="262" r:id="rId16"/>
    <p:sldId id="263" r:id="rId15"/>
    <p:sldId id="264" r:id="rId14"/>
    <p:sldId id="265" r:id="rId13"/>
    <p:sldId id="266" r:id="rId12"/>
    <p:sldId id="267" r:id="rId11"/>
  </p:sldIdLst>
  <p:sldSz cy="5143500" cx="9144000"/>
  <p:notesSz cx="6858000" cy="9144000"/>
  <p:embeddedFontLst>
    <p:embeddedFont>
      <p:font typeface="Roboto"/>
      <p:regular r:id="rId23"/>
      <p:bold r:id="rId24"/>
      <p:italic r:id="rId25"/>
      <p:boldItalic r:id="rId26"/>
    </p:embeddedFont>
    <p:embeddedFont>
      <p:font typeface="Playfair Display"/>
      <p:regular r:id="rId27"/>
      <p:bold r:id="rId28"/>
      <p:italic r:id="rId29"/>
      <p:boldItalic r:id="rId30"/>
    </p:embeddedFont>
    <p:embeddedFont>
      <p:font typeface="Roboto Mono Light"/>
      <p:regular r:id="rId31"/>
      <p:bold r:id="rId32"/>
      <p:italic r:id="rId33"/>
      <p:boldItalic r:id="rId34"/>
    </p:embeddedFont>
    <p:embeddedFont>
      <p:font typeface="Roboto Light"/>
      <p:regular r:id="rId35"/>
      <p:bold r:id="rId36"/>
      <p:italic r:id="rId37"/>
      <p:boldItalic r:id="rId3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11" Type="http://schemas.openxmlformats.org/officeDocument/2006/relationships/slide" Target="slides/slide12.xml"/><Relationship Id="rId12" Type="http://schemas.openxmlformats.org/officeDocument/2006/relationships/slide" Target="slides/slide11.xml"/><Relationship Id="rId13" Type="http://schemas.openxmlformats.org/officeDocument/2006/relationships/slide" Target="slides/slide10.xml"/><Relationship Id="rId14" Type="http://schemas.openxmlformats.org/officeDocument/2006/relationships/slide" Target="slides/slide9.xml"/><Relationship Id="rId15" Type="http://schemas.openxmlformats.org/officeDocument/2006/relationships/slide" Target="slides/slide8.xml"/><Relationship Id="rId16" Type="http://schemas.openxmlformats.org/officeDocument/2006/relationships/slide" Target="slides/slide7.xml"/><Relationship Id="rId17" Type="http://schemas.openxmlformats.org/officeDocument/2006/relationships/slide" Target="slides/slide6.xml"/><Relationship Id="rId18" Type="http://schemas.openxmlformats.org/officeDocument/2006/relationships/slide" Target="slides/slide5.xml"/><Relationship Id="rId19" Type="http://schemas.openxmlformats.org/officeDocument/2006/relationships/slide" Target="slides/slide4.xml"/><Relationship Id="rId20" Type="http://schemas.openxmlformats.org/officeDocument/2006/relationships/slide" Target="slides/slide3.xml"/><Relationship Id="rId21" Type="http://schemas.openxmlformats.org/officeDocument/2006/relationships/slide" Target="slides/slide1.xml"/><Relationship Id="rId22" Type="http://schemas.openxmlformats.org/officeDocument/2006/relationships/slide" Target="slides/slide2.xml"/><Relationship Id="rId23" Type="http://schemas.openxmlformats.org/officeDocument/2006/relationships/font" Target="fonts/Roboto-regular.fntdata"/><Relationship Id="rId24" Type="http://schemas.openxmlformats.org/officeDocument/2006/relationships/font" Target="fonts/Roboto-bold.fntdata"/><Relationship Id="rId25" Type="http://schemas.openxmlformats.org/officeDocument/2006/relationships/font" Target="fonts/Roboto-italic.fntdata"/><Relationship Id="rId26" Type="http://schemas.openxmlformats.org/officeDocument/2006/relationships/font" Target="fonts/Roboto-boldItalic.fntdata"/><Relationship Id="rId27" Type="http://schemas.openxmlformats.org/officeDocument/2006/relationships/font" Target="fonts/PlayfairDisplay-regular.fntdata"/><Relationship Id="rId28" Type="http://schemas.openxmlformats.org/officeDocument/2006/relationships/font" Target="fonts/PlayfairDisplay-bold.fntdata"/><Relationship Id="rId29" Type="http://schemas.openxmlformats.org/officeDocument/2006/relationships/font" Target="fonts/PlayfairDisplay-italic.fntdata"/><Relationship Id="rId30" Type="http://schemas.openxmlformats.org/officeDocument/2006/relationships/font" Target="fonts/PlayfairDisplay-boldItalic.fntdata"/><Relationship Id="rId31" Type="http://schemas.openxmlformats.org/officeDocument/2006/relationships/font" Target="fonts/RobotoMonoLight-regular.fntdata"/><Relationship Id="rId32" Type="http://schemas.openxmlformats.org/officeDocument/2006/relationships/font" Target="fonts/RobotoMonoLight-bold.fntdata"/><Relationship Id="rId33" Type="http://schemas.openxmlformats.org/officeDocument/2006/relationships/font" Target="fonts/RobotoMonoLight-italic.fntdata"/><Relationship Id="rId34" Type="http://schemas.openxmlformats.org/officeDocument/2006/relationships/font" Target="fonts/RobotoMonoLight-boldItalic.fntdata"/><Relationship Id="rId35" Type="http://schemas.openxmlformats.org/officeDocument/2006/relationships/font" Target="fonts/RobotoLight-regular.fntdata"/><Relationship Id="rId36" Type="http://schemas.openxmlformats.org/officeDocument/2006/relationships/font" Target="fonts/RobotoLight-bold.fntdata"/><Relationship Id="rId37" Type="http://schemas.openxmlformats.org/officeDocument/2006/relationships/font" Target="fonts/RobotoLight-italic.fntdata"/><Relationship Id="rId38" Type="http://schemas.openxmlformats.org/officeDocument/2006/relationships/font" Target="fonts/RobotoLight-boldItalic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523" y="685800"/>
            <a:ext cx="45717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Two halves and a quiz between them. First thirty minutes: markers, no laptops, and six problems that take a transformer apart with arithmetic. Everything they need is on the slide, so nobody has to remember a formula. After the break the laptops come out but not for code: teams sit together and get the proposal into a state where it can be written down. Say both halves out loud at the start so nobody is waiting for a lab that is not coming.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Leave this up. Every formula the problems need is on this slide and the next, so nobody has to remember anything. Three steps: score each key against the query and divide by root d_k, softmax the scores into weights that sum to one, then average the values with those weights. The mask line at the bottom matters for problem 2: a decoder deletes the future scores BEFORE the softmax, not after, which is why the surviving weights still sum to one.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rest of the toolkit, and again it stays up for the whole half. Multi-head splits the width across h heads, so each head is narrower. Positional encodings are sines and cosines of the position, one pair per i, and the wavelength line is what problem 5 turns on. The cost line is problem 6. Do not explain any of these now; they are here to be referred to, and the problems are where they get understood.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Let them finish this one before anything else; it is the whole mechanism in one calculation. Scores 4, 0, 2, halved to 2, 0, 1, weights 0.665, 0.090, 0.245, output 0.910, 0.335. If a team is stuck, ask what the dot product is measuring. k1 points the same way as q and twice as far, which is why token 1 dominates, and k2 is orthogonal so it scores zero and STILL gets nine per cent, because softmax never returns a hard zero.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Short. Only the first three survive; token 4 is deleted. Softmax of 1, 2, 0 gives 0.245, 0.665, 0.090. The point to draw out is that token 4 had the HIGHEST score, 3, and it is still forbidden, because at generation time token 4 has not been produced yet. Train with it visible and the model learns to lean on something it will never have.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Unscaled: 0.980, 0.018, 0.002. Scaled by 2: 0.844, 0.114, 0.042. The unscaled one is nearly a hard choice, and a saturated softmax has almost no gradient, so the layer stops learning. Add the part that makes it matter: dot products grow with d_k, so without the division the problem gets worse the wider you build.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d_k is 64. One W_Q is 512 by 64, so 32,768. Q, K and V over eight heads is 786,432, which is three d_model squared, plus W_O at 262,144, so 1,048,576 in total, four d_model squared. Question 2 is the good one: there is NO h that halves it, because h cancels. Eight heads cost exactly what one head of full width costs. Ask for a guess before they compute.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pos 0 is 0, 1, 0, 1. pos 1 is 0.841, 0.540, 0.010, 1.000. The i=1 pair barely moved, and question 2 says why: its wavelength is 2 pi times 100, about 628 positions, against about 6 for the fast pair. Fast pairs separate neighbours, slow pairs separate position 5 from position 500. It is a counter written in sines.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At n=64: attention about 2.1 million, recurrence about 16.8 million, so attention wins by eight times. At n=4096 it reverses exactly: 8.6 billion against 1.07 billion. They are equal at n = d = 512. Then the real answer to why attention won in 2017: sentences were short, so it was on the cheap side, AND every position computes at once while recurrence cannot. Parallelism is the reason; the arithmetic just does not stand in the way.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Covers Week 7 lecture + Attention Is All You Need (Vaswani 2017). Markers down, desks clear. Finish early and your break starts early; need more time and it comes out of the break.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Teams sit together. Answer these six out loud, in order, and write the answers down; the proposal is a one-page write-up of them. I am walking the room the whole time. The order matters: a team that cannot answer the first one in a single sentence with no method in it does not have a project yet. Push hardest on the baseline and on whether it runs on a laptop, because those two kill more projects than ambition does. Question five is the one people skip, and it is the one the rubric weighs most.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3.jp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8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5.jp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5.jpg"/><Relationship Id="rId3" Type="http://schemas.openxmlformats.org/officeDocument/2006/relationships/image" Target="../media/image26.jpg"/><Relationship Id="rId4" Type="http://schemas.openxmlformats.org/officeDocument/2006/relationships/image" Target="../media/image27.jp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8.jp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9.jp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4.jp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Cover Page" type="blank">
  <p:cSld name="BLANK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0" y="3390300"/>
            <a:ext cx="9144000" cy="175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1" name="Google Shape;11;p2"/>
          <p:cNvPicPr preferRelativeResize="0"/>
          <p:nvPr/>
        </p:nvPicPr>
        <p:blipFill rotWithShape="1">
          <a:blip r:embed="rId2">
            <a:alphaModFix/>
          </a:blip>
          <a:srcRect b="13732" l="600" r="-600" t="43847"/>
          <a:stretch/>
        </p:blipFill>
        <p:spPr>
          <a:xfrm>
            <a:off x="0" y="-70472"/>
            <a:ext cx="9198797" cy="3460774"/>
          </a:xfrm>
          <a:prstGeom prst="rect">
            <a:avLst/>
          </a:prstGeom>
          <a:noFill/>
          <a:ln>
            <a:noFill/>
          </a:ln>
        </p:spPr>
      </p:pic>
      <p:sp>
        <p:nvSpPr>
          <p:cNvPr id="12" name="Google Shape;12;p2"/>
          <p:cNvSpPr txBox="1"/>
          <p:nvPr>
            <p:ph type="title"/>
          </p:nvPr>
        </p:nvSpPr>
        <p:spPr>
          <a:xfrm>
            <a:off x="493923" y="976378"/>
            <a:ext cx="8005800" cy="182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Playfair Display"/>
              <a:buNone/>
              <a:defRPr i="0" sz="3600" u="none" cap="none" strike="noStrike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13" name="Google Shape;13;p2"/>
          <p:cNvSpPr txBox="1"/>
          <p:nvPr>
            <p:ph idx="1" type="subTitle"/>
          </p:nvPr>
        </p:nvSpPr>
        <p:spPr>
          <a:xfrm>
            <a:off x="493926" y="3549825"/>
            <a:ext cx="7661100" cy="9708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2" type="subTitle"/>
          </p:nvPr>
        </p:nvSpPr>
        <p:spPr>
          <a:xfrm>
            <a:off x="493923" y="4079316"/>
            <a:ext cx="7327800" cy="2987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18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+ 2 Columns">
  <p:cSld name="2_Portfolio Thre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idx="1" type="body"/>
          </p:nvPr>
        </p:nvSpPr>
        <p:spPr>
          <a:xfrm>
            <a:off x="509577" y="1369219"/>
            <a:ext cx="36882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17" name="Google Shape;17;p3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18" name="Google Shape;18;p3"/>
          <p:cNvSpPr txBox="1"/>
          <p:nvPr>
            <p:ph idx="2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3" type="body"/>
          </p:nvPr>
        </p:nvSpPr>
        <p:spPr>
          <a:xfrm>
            <a:off x="4827127" y="1369219"/>
            <a:ext cx="36882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+ 3 Columns">
  <p:cSld name="1_Slide with Placeholder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4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22" name="Google Shape;22;p4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2" type="body"/>
          </p:nvPr>
        </p:nvSpPr>
        <p:spPr>
          <a:xfrm>
            <a:off x="552175" y="1369225"/>
            <a:ext cx="2502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24" name="Google Shape;24;p4"/>
          <p:cNvSpPr txBox="1"/>
          <p:nvPr>
            <p:ph idx="3" type="body"/>
          </p:nvPr>
        </p:nvSpPr>
        <p:spPr>
          <a:xfrm>
            <a:off x="3337475" y="1369225"/>
            <a:ext cx="2502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25" name="Google Shape;25;p4"/>
          <p:cNvSpPr txBox="1"/>
          <p:nvPr>
            <p:ph idx="4" type="body"/>
          </p:nvPr>
        </p:nvSpPr>
        <p:spPr>
          <a:xfrm>
            <a:off x="6160800" y="1369225"/>
            <a:ext cx="2502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over Slide">
  <p:cSld name="Cover Slide"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Google Shape;27;p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95" y="0"/>
            <a:ext cx="9142810" cy="514283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over Slide with Logo">
  <p:cSld name="Cover Slide_2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Google Shape;29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95" y="0"/>
            <a:ext cx="9142810" cy="5142831"/>
          </a:xfrm>
          <a:prstGeom prst="rect">
            <a:avLst/>
          </a:prstGeom>
          <a:noFill/>
          <a:ln>
            <a:noFill/>
          </a:ln>
        </p:spPr>
      </p:pic>
      <p:pic>
        <p:nvPicPr>
          <p:cNvPr id="30" name="Google Shape;30;p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03514" y="628706"/>
            <a:ext cx="4936973" cy="388558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Acknowledgments Slide">
  <p:cSld name="Cover Slide_1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Google Shape;32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95" y="0"/>
            <a:ext cx="9142810" cy="5142831"/>
          </a:xfrm>
          <a:prstGeom prst="rect">
            <a:avLst/>
          </a:prstGeom>
          <a:noFill/>
          <a:ln>
            <a:noFill/>
          </a:ln>
        </p:spPr>
      </p:pic>
      <p:sp>
        <p:nvSpPr>
          <p:cNvPr id="33" name="Google Shape;33;p7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Font typeface="Playfair Display"/>
              <a:buNone/>
              <a:defRPr i="0" sz="5600" u="none" cap="none" strike="noStrike">
                <a:solidFill>
                  <a:schemeClr val="lt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34" name="Google Shape;34;p7"/>
          <p:cNvSpPr txBox="1"/>
          <p:nvPr>
            <p:ph idx="1" type="subTitle"/>
          </p:nvPr>
        </p:nvSpPr>
        <p:spPr>
          <a:xfrm>
            <a:off x="509521" y="1401113"/>
            <a:ext cx="5120100" cy="15582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2700">
                <a:solidFill>
                  <a:schemeClr val="lt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Title only">
  <p:cSld name="Custom Layout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8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37" name="Google Shape;37;p8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Big Concept Slide">
  <p:cSld name="Slide with Placeholder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title"/>
          </p:nvPr>
        </p:nvSpPr>
        <p:spPr>
          <a:xfrm>
            <a:off x="509577" y="2245519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509577" y="3154509"/>
            <a:ext cx="6737700" cy="953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">
  <p:cSld name="Large Picture with Logo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43" name="Google Shape;43;p10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44" name="Google Shape;44;p10"/>
          <p:cNvPicPr preferRelativeResize="0"/>
          <p:nvPr/>
        </p:nvPicPr>
        <p:blipFill rotWithShape="1">
          <a:blip r:embed="rId2">
            <a:alphaModFix/>
          </a:blip>
          <a:srcRect b="2009" l="27412" r="6551" t="0"/>
          <a:stretch/>
        </p:blipFill>
        <p:spPr>
          <a:xfrm>
            <a:off x="7006675" y="-56025"/>
            <a:ext cx="2176574" cy="4846049"/>
          </a:xfrm>
          <a:prstGeom prst="rect">
            <a:avLst/>
          </a:prstGeom>
          <a:noFill/>
          <a:ln>
            <a:noFill/>
          </a:ln>
        </p:spPr>
      </p:pic>
      <p:sp>
        <p:nvSpPr>
          <p:cNvPr id="45" name="Google Shape;45;p10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1">
  <p:cSld name="Large Picture with Logo_1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11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48" name="Google Shape;48;p11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49" name="Google Shape;49;p11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2">
  <p:cSld name="Large Picture with Logo_1_1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2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52" name="Google Shape;52;p12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53" name="Google Shape;53;p12"/>
          <p:cNvPicPr preferRelativeResize="0"/>
          <p:nvPr/>
        </p:nvPicPr>
        <p:blipFill rotWithShape="1">
          <a:blip r:embed="rId2">
            <a:alphaModFix/>
          </a:blip>
          <a:srcRect b="0" l="27412" r="6551" t="0"/>
          <a:stretch/>
        </p:blipFill>
        <p:spPr>
          <a:xfrm>
            <a:off x="7006675" y="-57150"/>
            <a:ext cx="2137324" cy="4856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54" name="Google Shape;54;p12"/>
          <p:cNvPicPr preferRelativeResize="0"/>
          <p:nvPr/>
        </p:nvPicPr>
        <p:blipFill rotWithShape="1">
          <a:blip r:embed="rId3">
            <a:alphaModFix/>
          </a:blip>
          <a:srcRect b="0" l="8950" r="0" t="0"/>
          <a:stretch/>
        </p:blipFill>
        <p:spPr>
          <a:xfrm>
            <a:off x="7006665" y="-57150"/>
            <a:ext cx="6633784" cy="4856124"/>
          </a:xfrm>
          <a:prstGeom prst="rect">
            <a:avLst/>
          </a:prstGeom>
          <a:noFill/>
          <a:ln>
            <a:noFill/>
          </a:ln>
        </p:spPr>
      </p:pic>
      <p:pic>
        <p:nvPicPr>
          <p:cNvPr id="55" name="Google Shape;55;p12"/>
          <p:cNvPicPr preferRelativeResize="0"/>
          <p:nvPr/>
        </p:nvPicPr>
        <p:blipFill rotWithShape="1">
          <a:blip r:embed="rId4">
            <a:alphaModFix/>
          </a:blip>
          <a:srcRect b="0" l="39028" r="0" t="0"/>
          <a:stretch/>
        </p:blipFill>
        <p:spPr>
          <a:xfrm>
            <a:off x="7006676" y="-57150"/>
            <a:ext cx="4442373" cy="4856124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2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3">
  <p:cSld name="Large Picture with Logo_1_1_1"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13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59" name="Google Shape;59;p13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60" name="Google Shape;60;p13"/>
          <p:cNvPicPr preferRelativeResize="0"/>
          <p:nvPr/>
        </p:nvPicPr>
        <p:blipFill rotWithShape="1">
          <a:blip r:embed="rId2">
            <a:alphaModFix/>
          </a:blip>
          <a:srcRect b="0" l="24210" r="1252" t="0"/>
          <a:stretch/>
        </p:blipFill>
        <p:spPr>
          <a:xfrm>
            <a:off x="7006675" y="-57150"/>
            <a:ext cx="5430948" cy="4856124"/>
          </a:xfrm>
          <a:prstGeom prst="rect">
            <a:avLst/>
          </a:prstGeom>
          <a:noFill/>
          <a:ln>
            <a:noFill/>
          </a:ln>
        </p:spPr>
      </p:pic>
      <p:sp>
        <p:nvSpPr>
          <p:cNvPr id="61" name="Google Shape;61;p13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4">
  <p:cSld name="Large Picture with Logo_1_1_1_1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4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64" name="Google Shape;64;p14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65" name="Google Shape;65;p14"/>
          <p:cNvPicPr preferRelativeResize="0"/>
          <p:nvPr/>
        </p:nvPicPr>
        <p:blipFill rotWithShape="1">
          <a:blip r:embed="rId2">
            <a:alphaModFix/>
          </a:blip>
          <a:srcRect b="0" l="34525" r="0" t="0"/>
          <a:stretch/>
        </p:blipFill>
        <p:spPr>
          <a:xfrm>
            <a:off x="7010075" y="-57150"/>
            <a:ext cx="2543048" cy="4856125"/>
          </a:xfrm>
          <a:prstGeom prst="rect">
            <a:avLst/>
          </a:prstGeom>
          <a:noFill/>
          <a:ln>
            <a:noFill/>
          </a:ln>
        </p:spPr>
      </p:pic>
      <p:sp>
        <p:nvSpPr>
          <p:cNvPr id="66" name="Google Shape;66;p14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with Large Photo">
  <p:cSld name="3_Placeholder"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5"/>
          <p:cNvSpPr txBox="1"/>
          <p:nvPr>
            <p:ph type="title"/>
          </p:nvPr>
        </p:nvSpPr>
        <p:spPr>
          <a:xfrm>
            <a:off x="509577" y="702469"/>
            <a:ext cx="22071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Playfair Display"/>
              <a:buNone/>
              <a:defRPr i="0" sz="27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69" name="Google Shape;69;p15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0" name="Google Shape;70;p15"/>
          <p:cNvSpPr txBox="1"/>
          <p:nvPr>
            <p:ph idx="2" type="body"/>
          </p:nvPr>
        </p:nvSpPr>
        <p:spPr>
          <a:xfrm>
            <a:off x="509575" y="1902650"/>
            <a:ext cx="225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with Large Photo 1">
  <p:cSld name="3_Placeholder_1"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6"/>
          <p:cNvSpPr txBox="1"/>
          <p:nvPr>
            <p:ph type="title"/>
          </p:nvPr>
        </p:nvSpPr>
        <p:spPr>
          <a:xfrm>
            <a:off x="509577" y="702469"/>
            <a:ext cx="22071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Playfair Display"/>
              <a:buNone/>
              <a:defRPr i="0" sz="27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73" name="Google Shape;73;p16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4" name="Google Shape;74;p16"/>
          <p:cNvSpPr txBox="1"/>
          <p:nvPr>
            <p:ph idx="2" type="body"/>
          </p:nvPr>
        </p:nvSpPr>
        <p:spPr>
          <a:xfrm>
            <a:off x="509575" y="1902650"/>
            <a:ext cx="225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Single Statistic">
  <p:cSld name="1_Placeholder"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7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7" name="Google Shape;77;p17"/>
          <p:cNvSpPr txBox="1"/>
          <p:nvPr>
            <p:ph type="title"/>
          </p:nvPr>
        </p:nvSpPr>
        <p:spPr>
          <a:xfrm>
            <a:off x="454066" y="1824338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9400">
                <a:solidFill>
                  <a:schemeClr val="accent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78" name="Google Shape;78;p17"/>
          <p:cNvSpPr txBox="1"/>
          <p:nvPr>
            <p:ph idx="2" type="subTitle"/>
          </p:nvPr>
        </p:nvSpPr>
        <p:spPr>
          <a:xfrm>
            <a:off x="454066" y="3127509"/>
            <a:ext cx="8353200" cy="7152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1800"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9" name="Google Shape;79;p17"/>
          <p:cNvSpPr txBox="1"/>
          <p:nvPr>
            <p:ph idx="3" type="subTitle"/>
          </p:nvPr>
        </p:nvSpPr>
        <p:spPr>
          <a:xfrm>
            <a:off x="4838166" y="1824350"/>
            <a:ext cx="38664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0" name="Google Shape;80;p17"/>
          <p:cNvSpPr txBox="1"/>
          <p:nvPr>
            <p:ph idx="4" type="title"/>
          </p:nvPr>
        </p:nvSpPr>
        <p:spPr>
          <a:xfrm>
            <a:off x="509577" y="837514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Multiple Statistics">
  <p:cSld name="1_Placeholder_1"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8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3" name="Google Shape;83;p18"/>
          <p:cNvSpPr txBox="1"/>
          <p:nvPr>
            <p:ph type="title"/>
          </p:nvPr>
        </p:nvSpPr>
        <p:spPr>
          <a:xfrm>
            <a:off x="454066" y="759488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7500">
                <a:solidFill>
                  <a:schemeClr val="accent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4" name="Google Shape;84;p18"/>
          <p:cNvSpPr txBox="1"/>
          <p:nvPr>
            <p:ph idx="2" type="subTitle"/>
          </p:nvPr>
        </p:nvSpPr>
        <p:spPr>
          <a:xfrm>
            <a:off x="4759893" y="759488"/>
            <a:ext cx="40083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5" name="Google Shape;85;p18"/>
          <p:cNvSpPr txBox="1"/>
          <p:nvPr>
            <p:ph idx="3" type="title"/>
          </p:nvPr>
        </p:nvSpPr>
        <p:spPr>
          <a:xfrm>
            <a:off x="454066" y="2037533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7500">
                <a:solidFill>
                  <a:schemeClr val="accent5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6" name="Google Shape;86;p18"/>
          <p:cNvSpPr txBox="1"/>
          <p:nvPr>
            <p:ph idx="4" type="subTitle"/>
          </p:nvPr>
        </p:nvSpPr>
        <p:spPr>
          <a:xfrm>
            <a:off x="4759893" y="2037533"/>
            <a:ext cx="40083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7" name="Google Shape;87;p18"/>
          <p:cNvSpPr txBox="1"/>
          <p:nvPr>
            <p:ph idx="5" type="title"/>
          </p:nvPr>
        </p:nvSpPr>
        <p:spPr>
          <a:xfrm>
            <a:off x="454066" y="3437708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7500">
                <a:solidFill>
                  <a:schemeClr val="accent6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8" name="Google Shape;88;p18"/>
          <p:cNvSpPr txBox="1"/>
          <p:nvPr>
            <p:ph idx="6" type="subTitle"/>
          </p:nvPr>
        </p:nvSpPr>
        <p:spPr>
          <a:xfrm>
            <a:off x="4759893" y="3437709"/>
            <a:ext cx="40083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Quote">
  <p:cSld name="CUSTOM"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9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91" name="Google Shape;91;p19"/>
          <p:cNvSpPr/>
          <p:nvPr/>
        </p:nvSpPr>
        <p:spPr>
          <a:xfrm>
            <a:off x="5748887" y="1561152"/>
            <a:ext cx="1718100" cy="219300"/>
          </a:xfrm>
          <a:prstGeom prst="rect">
            <a:avLst/>
          </a:prstGeom>
          <a:solidFill>
            <a:srgbClr val="738D33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" name="Google Shape;92;p19"/>
          <p:cNvSpPr/>
          <p:nvPr/>
        </p:nvSpPr>
        <p:spPr>
          <a:xfrm>
            <a:off x="7467434" y="1561152"/>
            <a:ext cx="1718100" cy="219300"/>
          </a:xfrm>
          <a:prstGeom prst="rect">
            <a:avLst/>
          </a:prstGeom>
          <a:solidFill>
            <a:srgbClr val="625578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9"/>
          <p:cNvSpPr/>
          <p:nvPr/>
        </p:nvSpPr>
        <p:spPr>
          <a:xfrm>
            <a:off x="0" y="1561152"/>
            <a:ext cx="1718100" cy="219300"/>
          </a:xfrm>
          <a:prstGeom prst="rect">
            <a:avLst/>
          </a:prstGeom>
          <a:solidFill>
            <a:srgbClr val="FFB600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" name="Google Shape;94;p19"/>
          <p:cNvSpPr/>
          <p:nvPr/>
        </p:nvSpPr>
        <p:spPr>
          <a:xfrm>
            <a:off x="1718076" y="1561152"/>
            <a:ext cx="1718100" cy="219300"/>
          </a:xfrm>
          <a:prstGeom prst="rect">
            <a:avLst/>
          </a:prstGeom>
          <a:solidFill>
            <a:srgbClr val="498DA0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9"/>
          <p:cNvSpPr txBox="1"/>
          <p:nvPr/>
        </p:nvSpPr>
        <p:spPr>
          <a:xfrm>
            <a:off x="3589051" y="975950"/>
            <a:ext cx="1965900" cy="875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0">
                <a:solidFill>
                  <a:srgbClr val="818387"/>
                </a:solidFill>
              </a:rPr>
              <a:t>“</a:t>
            </a:r>
            <a:endParaRPr b="1" sz="12000">
              <a:solidFill>
                <a:srgbClr val="818387"/>
              </a:solidFill>
            </a:endParaRPr>
          </a:p>
        </p:txBody>
      </p:sp>
      <p:sp>
        <p:nvSpPr>
          <p:cNvPr id="96" name="Google Shape;96;p19"/>
          <p:cNvSpPr txBox="1"/>
          <p:nvPr>
            <p:ph type="title"/>
          </p:nvPr>
        </p:nvSpPr>
        <p:spPr>
          <a:xfrm>
            <a:off x="1682308" y="2130769"/>
            <a:ext cx="5779500" cy="19626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97" name="Google Shape;97;p19"/>
          <p:cNvSpPr txBox="1"/>
          <p:nvPr>
            <p:ph idx="2" type="subTitle"/>
          </p:nvPr>
        </p:nvSpPr>
        <p:spPr>
          <a:xfrm>
            <a:off x="3300470" y="3999056"/>
            <a:ext cx="2543100" cy="3846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 algn="ctr">
              <a:spcBef>
                <a:spcPts val="700"/>
              </a:spcBef>
              <a:spcAft>
                <a:spcPts val="0"/>
              </a:spcAft>
              <a:buNone/>
              <a:defRPr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3_Title Slide" showMasterSp="0">
  <p:cSld name="13_Title Slide"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20"/>
          <p:cNvSpPr/>
          <p:nvPr>
            <p:ph idx="2" type="pic"/>
          </p:nvPr>
        </p:nvSpPr>
        <p:spPr>
          <a:xfrm>
            <a:off x="192505" y="51435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0" name="Google Shape;100;p20"/>
          <p:cNvSpPr/>
          <p:nvPr>
            <p:ph idx="3" type="pic"/>
          </p:nvPr>
        </p:nvSpPr>
        <p:spPr>
          <a:xfrm>
            <a:off x="1997242" y="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1" name="Google Shape;101;p20"/>
          <p:cNvSpPr/>
          <p:nvPr>
            <p:ph idx="4" type="pic"/>
          </p:nvPr>
        </p:nvSpPr>
        <p:spPr>
          <a:xfrm>
            <a:off x="3801980" y="51435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2" name="Google Shape;102;p20"/>
          <p:cNvSpPr/>
          <p:nvPr>
            <p:ph idx="5" type="pic"/>
          </p:nvPr>
        </p:nvSpPr>
        <p:spPr>
          <a:xfrm>
            <a:off x="5606716" y="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3" name="Google Shape;103;p20"/>
          <p:cNvSpPr/>
          <p:nvPr>
            <p:ph idx="6" type="pic"/>
          </p:nvPr>
        </p:nvSpPr>
        <p:spPr>
          <a:xfrm>
            <a:off x="7411453" y="514350"/>
            <a:ext cx="1600200" cy="46293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Cover Page 1">
  <p:cSld name="1_Cover Page"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1"/>
          <p:cNvSpPr/>
          <p:nvPr/>
        </p:nvSpPr>
        <p:spPr>
          <a:xfrm>
            <a:off x="-53437" y="3390300"/>
            <a:ext cx="9197400" cy="175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6" name="Google Shape;106;p21"/>
          <p:cNvPicPr preferRelativeResize="0"/>
          <p:nvPr/>
        </p:nvPicPr>
        <p:blipFill rotWithShape="1">
          <a:blip r:embed="rId2">
            <a:alphaModFix/>
          </a:blip>
          <a:srcRect b="13732" l="0" r="-563" t="43844"/>
          <a:stretch/>
        </p:blipFill>
        <p:spPr>
          <a:xfrm>
            <a:off x="-53437" y="-70462"/>
            <a:ext cx="9250875" cy="3460759"/>
          </a:xfrm>
          <a:prstGeom prst="rect">
            <a:avLst/>
          </a:prstGeom>
          <a:noFill/>
          <a:ln>
            <a:noFill/>
          </a:ln>
        </p:spPr>
      </p:pic>
      <p:sp>
        <p:nvSpPr>
          <p:cNvPr id="107" name="Google Shape;107;p21"/>
          <p:cNvSpPr txBox="1"/>
          <p:nvPr>
            <p:ph type="title"/>
          </p:nvPr>
        </p:nvSpPr>
        <p:spPr>
          <a:xfrm>
            <a:off x="493923" y="976378"/>
            <a:ext cx="8005800" cy="182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700" lIns="25700" spcFirstLastPara="1" rIns="25700" wrap="square" tIns="25700">
            <a:norm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700"/>
              <a:buFont typeface="Playfair Display"/>
              <a:buNone/>
              <a:defRPr i="0" sz="3600" u="none" cap="none" strike="noStrike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9pPr>
          </a:lstStyle>
          <a:p/>
        </p:txBody>
      </p:sp>
      <p:sp>
        <p:nvSpPr>
          <p:cNvPr id="108" name="Google Shape;108;p21"/>
          <p:cNvSpPr txBox="1"/>
          <p:nvPr>
            <p:ph idx="1" type="subTitle"/>
          </p:nvPr>
        </p:nvSpPr>
        <p:spPr>
          <a:xfrm>
            <a:off x="493926" y="3549825"/>
            <a:ext cx="7661100" cy="9708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rm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2pPr>
            <a:lvl3pPr lvl="2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3pPr>
            <a:lvl4pPr lvl="3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4pPr>
            <a:lvl5pPr lvl="4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5pPr>
            <a:lvl6pPr lvl="5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6pPr>
            <a:lvl7pPr lvl="6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7pPr>
            <a:lvl8pPr lvl="7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8pPr>
            <a:lvl9pPr lvl="8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None/>
              <a:defRPr/>
            </a:lvl9pPr>
          </a:lstStyle>
          <a:p/>
        </p:txBody>
      </p:sp>
      <p:sp>
        <p:nvSpPr>
          <p:cNvPr id="109" name="Google Shape;109;p21"/>
          <p:cNvSpPr txBox="1"/>
          <p:nvPr>
            <p:ph idx="2" type="subTitle"/>
          </p:nvPr>
        </p:nvSpPr>
        <p:spPr>
          <a:xfrm>
            <a:off x="493923" y="4079316"/>
            <a:ext cx="7327800" cy="29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rm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800"/>
            </a:lvl1pPr>
            <a:lvl2pPr lvl="1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2pPr>
            <a:lvl3pPr lvl="2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3pPr>
            <a:lvl4pPr lvl="3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4pPr>
            <a:lvl5pPr lvl="4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5pPr>
            <a:lvl6pPr lvl="5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6pPr>
            <a:lvl7pPr lvl="6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7pPr>
            <a:lvl8pPr lvl="7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8pPr>
            <a:lvl9pPr lvl="8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image" Target="../media/image6.jp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15.xml"/><Relationship Id="rId17" Type="http://schemas.openxmlformats.org/officeDocument/2006/relationships/slideLayout" Target="../slideLayouts/slideLayout16.xml"/><Relationship Id="rId18" Type="http://schemas.openxmlformats.org/officeDocument/2006/relationships/slideLayout" Target="../slideLayouts/slideLayout17.xml"/><Relationship Id="rId19" Type="http://schemas.openxmlformats.org/officeDocument/2006/relationships/slideLayout" Target="../slideLayouts/slideLayout18.xml"/><Relationship Id="rId20" Type="http://schemas.openxmlformats.org/officeDocument/2006/relationships/slideLayout" Target="../slideLayouts/slideLayout19.xml"/><Relationship Id="rId21" Type="http://schemas.openxmlformats.org/officeDocument/2006/relationships/slideLayout" Target="../slideLayouts/slideLayout20.xml"/><Relationship Id="rId2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509577" y="1401113"/>
            <a:ext cx="80058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dk2"/>
              </a:buClr>
              <a:buSzPts val="2200"/>
              <a:buFont typeface="Roboto"/>
              <a:buNone/>
              <a:defRPr i="0" sz="22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None/>
              <a:defRPr i="0" sz="18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Roboto"/>
              <a:buNone/>
              <a:defRPr i="0" sz="15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None/>
              <a:defRPr i="0" sz="13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None/>
              <a:defRPr i="0" sz="11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sz="5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pic>
        <p:nvPicPr>
          <p:cNvPr id="8" name="Google Shape;8;p1"/>
          <p:cNvPicPr preferRelativeResize="0"/>
          <p:nvPr/>
        </p:nvPicPr>
        <p:blipFill rotWithShape="1">
          <a:blip r:embed="rId1">
            <a:alphaModFix/>
          </a:blip>
          <a:srcRect b="0" l="0" r="0" t="35296"/>
          <a:stretch/>
        </p:blipFill>
        <p:spPr>
          <a:xfrm>
            <a:off x="0" y="4794384"/>
            <a:ext cx="9144000" cy="349116"/>
          </a:xfrm>
          <a:prstGeom prst="rect">
            <a:avLst/>
          </a:prstGeom>
          <a:noFill/>
          <a:ln>
            <a:noFill/>
          </a:ln>
        </p:spPr>
      </p:pic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  <p:sldLayoutId id="2147483659" r:id="rId13"/>
    <p:sldLayoutId id="2147483660" r:id="rId14"/>
    <p:sldLayoutId id="2147483661" r:id="rId15"/>
    <p:sldLayoutId id="2147483662" r:id="rId16"/>
    <p:sldLayoutId id="2147483663" r:id="rId17"/>
    <p:sldLayoutId id="2147483664" r:id="rId18"/>
    <p:sldLayoutId id="2147483665" r:id="rId19"/>
    <p:sldLayoutId id="2147483666" r:id="rId20"/>
    <p:sldLayoutId id="2147483667" r:id="rId21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marL="0" indent="0">
              <a:buNone/>
            </a:pPr>
            <a:r>
              <a:t>CSCI 3495</a:t>
            </a:r>
          </a:p>
          <a:p>
            <a:pPr marL="0" indent="0">
              <a:buNone/>
            </a:pPr>
            <a:r>
              <a:t>Transformers by hand, then your project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93926" y="3549825"/>
            <a:ext cx="5828502" cy="970800"/>
          </a:xfrm>
        </p:spPr>
        <p:txBody>
          <a:bodyPr wrap="square"/>
          <a:lstStyle/>
          <a:p>
            <a:pPr marL="0" indent="0">
              <a:buNone/>
            </a:pPr>
            <a:r>
              <a:t>Natural Language Processing &amp; Large Language Models</a:t>
            </a:r>
          </a:p>
          <a:p>
            <a:pPr marL="0" indent="0">
              <a:buNone/>
            </a:pPr>
            <a:r>
              <a:t>Week 7, Class 2  ·  Wed Oct 7, 2026</a:t>
            </a:r>
          </a:p>
        </p:txBody>
      </p:sp>
      <p:pic>
        <p:nvPicPr>
          <p:cNvPr id="5" name="Picture 4" descr="Transformers by hand, then your projec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028" y="3474720"/>
            <a:ext cx="2227212" cy="14813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777777"/>
                </a:solidFill>
              </a:defRPr>
            </a:pPr>
            <a:r>
              <a:t>Source: Nenad Stojkovic, Wikimedia Commons, CC BY 2.0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Refresher: what attention computes</a:t>
            </a:r>
          </a:p>
        </p:txBody>
      </p:sp>
      <p:pic>
        <p:nvPicPr>
          <p:cNvPr id="5" name="Picture 4" descr="Refresher: what attention compute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380240"/>
            <a:ext cx="8595360" cy="298652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Refresher: heads, positions, and cost</a:t>
            </a:r>
          </a:p>
        </p:txBody>
      </p:sp>
      <p:pic>
        <p:nvPicPr>
          <p:cNvPr id="5" name="Picture 4" descr="Refresher: heads, positions, and cos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9353" y="1078992"/>
            <a:ext cx="7365293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Problem 1: one attention step</a:t>
            </a:r>
          </a:p>
        </p:txBody>
      </p:sp>
      <p:pic>
        <p:nvPicPr>
          <p:cNvPr id="5" name="Picture 4" descr="Problem 1: one attention step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689819"/>
            <a:ext cx="8595360" cy="236736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Problem 2: the causal mask</a:t>
            </a:r>
          </a:p>
        </p:txBody>
      </p:sp>
      <p:pic>
        <p:nvPicPr>
          <p:cNvPr id="5" name="Picture 4" descr="Problem 2: the causal mas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846429"/>
            <a:ext cx="8595360" cy="205414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Problem 3: why the square root</a:t>
            </a:r>
          </a:p>
        </p:txBody>
      </p:sp>
      <p:pic>
        <p:nvPicPr>
          <p:cNvPr id="5" name="Picture 4" descr="Problem 3: why the square roo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733524"/>
            <a:ext cx="8595360" cy="227995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Problem 4: counting the parameters</a:t>
            </a:r>
          </a:p>
        </p:txBody>
      </p:sp>
      <p:pic>
        <p:nvPicPr>
          <p:cNvPr id="5" name="Picture 4" descr="Problem 4: counting the parameter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875566"/>
            <a:ext cx="8595360" cy="199587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Problem 5: encoding position</a:t>
            </a:r>
          </a:p>
        </p:txBody>
      </p:sp>
      <p:pic>
        <p:nvPicPr>
          <p:cNvPr id="5" name="Picture 4" descr="Problem 5: encoding positio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507714"/>
            <a:ext cx="8595360" cy="273157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Problem 6: what attention costs</a:t>
            </a:r>
          </a:p>
        </p:txBody>
      </p:sp>
      <p:pic>
        <p:nvPicPr>
          <p:cNvPr id="5" name="Picture 4" descr="Problem 6: what attention cost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842787"/>
            <a:ext cx="8595360" cy="206142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Quiz 5</a:t>
            </a:r>
          </a:p>
        </p:txBody>
      </p:sp>
      <p:pic>
        <p:nvPicPr>
          <p:cNvPr id="5" name="Picture 4" descr="Quiz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2065" y="1078992"/>
            <a:ext cx="6579870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Break</a:t>
            </a:r>
          </a:p>
        </p:txBody>
      </p:sp>
      <p:pic>
        <p:nvPicPr>
          <p:cNvPr id="5" name="Picture 4" descr="Then sit with your project team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80312"/>
            <a:ext cx="8595360" cy="31863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Six questions, on paper, before you write anything</a:t>
            </a:r>
          </a:p>
        </p:txBody>
      </p:sp>
      <p:pic>
        <p:nvPicPr>
          <p:cNvPr id="5" name="Picture 4" descr="Six questions, on paper, before you write anythi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4948" y="1078992"/>
            <a:ext cx="8354103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figure; project/proposal/TEMPLATE.md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">
      <a:dk1>
        <a:srgbClr val="434343"/>
      </a:dk1>
      <a:lt1>
        <a:srgbClr val="FFFFFF"/>
      </a:lt1>
      <a:dk2>
        <a:srgbClr val="818387"/>
      </a:dk2>
      <a:lt2>
        <a:srgbClr val="F6F7FA"/>
      </a:lt2>
      <a:accent1>
        <a:srgbClr val="723130"/>
      </a:accent1>
      <a:accent2>
        <a:srgbClr val="818387"/>
      </a:accent2>
      <a:accent3>
        <a:srgbClr val="FFB600"/>
      </a:accent3>
      <a:accent4>
        <a:srgbClr val="738D33"/>
      </a:accent4>
      <a:accent5>
        <a:srgbClr val="625578"/>
      </a:accent5>
      <a:accent6>
        <a:srgbClr val="498DA0"/>
      </a:accent6>
      <a:hlink>
        <a:srgbClr val="B1B4B5"/>
      </a:hlink>
      <a:folHlink>
        <a:srgbClr val="B0B1B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