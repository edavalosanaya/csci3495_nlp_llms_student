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Lst>
  <p:notesMasterIdLst>
    <p:notesMasterId r:id="rId4"/>
  </p:notesMasterIdLst>
  <p:sldIdLst>
    <p:sldId id="256" r:id="rId21"/>
    <p:sldId id="257" r:id="rId22"/>
    <p:sldId id="258" r:id="rId20"/>
    <p:sldId id="259" r:id="rId19"/>
    <p:sldId id="260" r:id="rId18"/>
    <p:sldId id="261" r:id="rId17"/>
    <p:sldId id="262" r:id="rId16"/>
    <p:sldId id="263" r:id="rId15"/>
    <p:sldId id="264" r:id="rId14"/>
    <p:sldId id="265" r:id="rId13"/>
    <p:sldId id="266" r:id="rId12"/>
    <p:sldId id="267" r:id="rId11"/>
  </p:sldIdLst>
  <p:sldSz cy="5143500" cx="9144000"/>
  <p:notesSz cx="6858000" cy="9144000"/>
  <p:embeddedFontLst>
    <p:embeddedFont>
      <p:font typeface="Roboto"/>
      <p:regular r:id="rId23"/>
      <p:bold r:id="rId24"/>
      <p:italic r:id="rId25"/>
      <p:boldItalic r:id="rId26"/>
    </p:embeddedFont>
    <p:embeddedFont>
      <p:font typeface="Playfair Display"/>
      <p:regular r:id="rId27"/>
      <p:bold r:id="rId28"/>
      <p:italic r:id="rId29"/>
      <p:boldItalic r:id="rId30"/>
    </p:embeddedFont>
    <p:embeddedFont>
      <p:font typeface="Roboto Mono Light"/>
      <p:regular r:id="rId31"/>
      <p:bold r:id="rId32"/>
      <p:italic r:id="rId33"/>
      <p:boldItalic r:id="rId34"/>
    </p:embeddedFont>
    <p:embeddedFont>
      <p:font typeface="Roboto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12.xml"/><Relationship Id="rId12" Type="http://schemas.openxmlformats.org/officeDocument/2006/relationships/slide" Target="slides/slide11.xml"/><Relationship Id="rId13" Type="http://schemas.openxmlformats.org/officeDocument/2006/relationships/slide" Target="slides/slide10.xml"/><Relationship Id="rId14" Type="http://schemas.openxmlformats.org/officeDocument/2006/relationships/slide" Target="slides/slide9.xml"/><Relationship Id="rId15" Type="http://schemas.openxmlformats.org/officeDocument/2006/relationships/slide" Target="slides/slide8.xml"/><Relationship Id="rId16" Type="http://schemas.openxmlformats.org/officeDocument/2006/relationships/slide" Target="slides/slide7.xml"/><Relationship Id="rId17" Type="http://schemas.openxmlformats.org/officeDocument/2006/relationships/slide" Target="slides/slide6.xml"/><Relationship Id="rId18" Type="http://schemas.openxmlformats.org/officeDocument/2006/relationships/slide" Target="slides/slide5.xml"/><Relationship Id="rId19" Type="http://schemas.openxmlformats.org/officeDocument/2006/relationships/slide" Target="slides/slide4.xml"/><Relationship Id="rId20" Type="http://schemas.openxmlformats.org/officeDocument/2006/relationships/slide" Target="slides/slide3.xml"/><Relationship Id="rId21" Type="http://schemas.openxmlformats.org/officeDocument/2006/relationships/slide" Target="slides/slide1.xml"/><Relationship Id="rId22" Type="http://schemas.openxmlformats.org/officeDocument/2006/relationships/slide" Target="slides/slide2.xml"/><Relationship Id="rId23" Type="http://schemas.openxmlformats.org/officeDocument/2006/relationships/font" Target="fonts/Roboto-regular.fntdata"/><Relationship Id="rId24" Type="http://schemas.openxmlformats.org/officeDocument/2006/relationships/font" Target="fonts/Roboto-bold.fntdata"/><Relationship Id="rId25" Type="http://schemas.openxmlformats.org/officeDocument/2006/relationships/font" Target="fonts/Roboto-italic.fntdata"/><Relationship Id="rId26" Type="http://schemas.openxmlformats.org/officeDocument/2006/relationships/font" Target="fonts/Roboto-boldItalic.fntdata"/><Relationship Id="rId27" Type="http://schemas.openxmlformats.org/officeDocument/2006/relationships/font" Target="fonts/PlayfairDisplay-regular.fntdata"/><Relationship Id="rId28" Type="http://schemas.openxmlformats.org/officeDocument/2006/relationships/font" Target="fonts/PlayfairDisplay-bold.fntdata"/><Relationship Id="rId29" Type="http://schemas.openxmlformats.org/officeDocument/2006/relationships/font" Target="fonts/PlayfairDisplay-italic.fntdata"/><Relationship Id="rId30" Type="http://schemas.openxmlformats.org/officeDocument/2006/relationships/font" Target="fonts/PlayfairDisplay-boldItalic.fntdata"/><Relationship Id="rId31" Type="http://schemas.openxmlformats.org/officeDocument/2006/relationships/font" Target="fonts/RobotoMonoLight-regular.fntdata"/><Relationship Id="rId32" Type="http://schemas.openxmlformats.org/officeDocument/2006/relationships/font" Target="fonts/RobotoMonoLight-bold.fntdata"/><Relationship Id="rId33" Type="http://schemas.openxmlformats.org/officeDocument/2006/relationships/font" Target="fonts/RobotoMonoLight-italic.fntdata"/><Relationship Id="rId34" Type="http://schemas.openxmlformats.org/officeDocument/2006/relationships/font" Target="fonts/RobotoMonoLight-boldItalic.fntdata"/><Relationship Id="rId35" Type="http://schemas.openxmlformats.org/officeDocument/2006/relationships/font" Target="fonts/RobotoLight-regular.fntdata"/><Relationship Id="rId36" Type="http://schemas.openxmlformats.org/officeDocument/2006/relationships/font" Target="fonts/RobotoLight-bold.fntdata"/><Relationship Id="rId37" Type="http://schemas.openxmlformats.org/officeDocument/2006/relationships/font" Target="fonts/RobotoLight-italic.fntdata"/><Relationship Id="rId38" Type="http://schemas.openxmlformats.org/officeDocument/2006/relationships/font" Target="fonts/Roboto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523" y="685800"/>
            <a:ext cx="4571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halves and a quiz between them. First thirty minutes: markers, no laptops, and six problems that take a transformer apart with arithmetic. Everything they need is on the slide, so nobody has to remember a formula. After the break the laptops come out but not for code: teams sit together and get the proposal into a state where it can be written down. Say both halves out loud at the start so nobody is waiting for a lab that is not coming.</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Leave this up. Every formula the problems need is on this slide and the next, so nobody has to remember anything. Three steps: score each key against the query and divide by root d_k, softmax the scores into weights that sum to one, then average the values with those weights. The mask line at the bottom matters for problem 2: a decoder deletes the future scores BEFORE the softmax, not after, which is why the surviving weights still sum to one.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rest of the toolkit, and again it stays up for the whole half. Multi-head splits the width across h heads, so each head is narrower. Positional encodings are sines and cosines of the position, one pair per i, and the wavelength line is what problem 5 turns on. The cost line is problem 6. Do not explain any of these now; they are here to be referred to, and the problems are where they get understood.</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Let them finish this one before anything else; it is the whole mechanism in one calculation. Scores 4, 0, 2, halved to 2, 0, 1, weights 0.665, 0.090, 0.245, output 0.910, 0.335. If a team is stuck, ask what the dot product is measuring. k1 points the same way as q and twice as far, which is why token 1 dominates, and k2 is orthogonal so it scores zero and STILL gets nine per cent, because softmax never returns a hard zero.</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Short. Only the first three survive; token 4 is deleted. Softmax of 1, 2, 0 gives 0.245, 0.665, 0.090. The point to draw out is that token 4 had the HIGHEST score, 3, and it is still forbidden, because at generation time token 4 has not been produced yet. Train with it visible and the model learns to lean on something it will never have.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Unscaled: 0.980, 0.018, 0.002. Scaled by 2: 0.844, 0.114, 0.042. The unscaled one is nearly a hard choice, and a saturated softmax has almost no gradient, so the layer stops learning. Add the part that makes it matter: dot products grow with d_k, so without the division the problem gets worse the wider you build.</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d_k is 64. One W_Q is 512 by 64, so 32,768. Q, K and V over eight heads is 786,432, which is three d_model squared, plus W_O at 262,144, so 1,048,576 in total, four d_model squared. Question 2 is the good one: there is NO h that halves it, because h cancels. Eight heads cost exactly what one head of full width costs. Ask for a guess before they compute.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pos 0 is 0, 1, 0, 1. pos 1 is 0.841, 0.540, 0.010, 1.000. The i=1 pair barely moved, and question 2 says why: its wavelength is 2 pi times 100, about 628 positions, against about 6 for the fast pair. Fast pairs separate neighbours, slow pairs separate position 5 from position 500. It is a counter written in sines.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At n=64: attention about 2.1 million, recurrence about 16.8 million, so attention wins by eight times. At n=4096 it reverses exactly: 8.6 billion against 1.07 billion. They are equal at n = d = 512. Then the real answer to why attention won in 2017: sentences were short, so it was on the cheap side, AND every position computes at once while recurrence cannot. Parallelism is the reason; the arithmetic just does not stand in the way.</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Covers Weeks 6 and 7: neural nets, RNNs and LSTMs, attention and the Transformer, plus seq2seq (Sutskever 2014) and Attention Is All You Need (Vaswani 2017). Clear your desk. Finish early and your break starts early; need more time and it comes out of the break.</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Teams sit together. Answer these six out loud, in order, and write the answers down; the proposal is a one-page write-up of them. I am walking the room the whole time. The order matters: a team that cannot answer the first one in a single sentence with no method in it does not have a project yet. Push hardest on the baseline and on whether it runs on a laptop, because those two kill more projects than ambition does. Question five is the one people skip, and it is the one the rubric weighs most.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image" Target="../media/image27.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type="blank">
  <p:cSld name="BLANK">
    <p:spTree>
      <p:nvGrpSpPr>
        <p:cNvPr id="9" name="Shape 9"/>
        <p:cNvGrpSpPr/>
        <p:nvPr/>
      </p:nvGrpSpPr>
      <p:grpSpPr>
        <a:xfrm>
          <a:off x="0" y="0"/>
          <a:ext cx="0" cy="0"/>
          <a:chOff x="0" y="0"/>
          <a:chExt cx="0" cy="0"/>
        </a:xfrm>
      </p:grpSpPr>
      <p:sp>
        <p:nvSpPr>
          <p:cNvPr id="10" name="Google Shape;10;p2"/>
          <p:cNvSpPr/>
          <p:nvPr/>
        </p:nvSpPr>
        <p:spPr>
          <a:xfrm>
            <a:off x="0" y="3390300"/>
            <a:ext cx="91440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id="11" name="Google Shape;11;p2"/>
          <p:cNvPicPr preferRelativeResize="0"/>
          <p:nvPr/>
        </p:nvPicPr>
        <p:blipFill rotWithShape="1">
          <a:blip r:embed="rId2">
            <a:alphaModFix/>
          </a:blip>
          <a:srcRect b="13732" l="600" r="-600" t="43847"/>
          <a:stretch/>
        </p:blipFill>
        <p:spPr>
          <a:xfrm>
            <a:off x="0" y="-70472"/>
            <a:ext cx="9198797" cy="3460774"/>
          </a:xfrm>
          <a:prstGeom prst="rect">
            <a:avLst/>
          </a:prstGeom>
          <a:noFill/>
          <a:ln>
            <a:noFill/>
          </a:ln>
        </p:spPr>
      </p:pic>
      <p:sp>
        <p:nvSpPr>
          <p:cNvPr id="12" name="Google Shape;12;p2"/>
          <p:cNvSpPr txBox="1"/>
          <p:nvPr>
            <p:ph type="title"/>
          </p:nvPr>
        </p:nvSpPr>
        <p:spPr>
          <a:xfrm>
            <a:off x="493923" y="976378"/>
            <a:ext cx="8005800" cy="18243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rgbClr val="FFFFFF"/>
              </a:buClr>
              <a:buSzPts val="36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3" name="Google Shape;13;p2"/>
          <p:cNvSpPr txBox="1"/>
          <p:nvPr>
            <p:ph idx="1" type="subTitle"/>
          </p:nvPr>
        </p:nvSpPr>
        <p:spPr>
          <a:xfrm>
            <a:off x="493926" y="3549825"/>
            <a:ext cx="7661100" cy="970800"/>
          </a:xfrm>
          <a:prstGeom prst="rect">
            <a:avLst/>
          </a:prstGeom>
        </p:spPr>
        <p:txBody>
          <a:bodyPr anchorCtr="0" anchor="t" bIns="34275" lIns="34275" spcFirstLastPara="1" rIns="34275" wrap="square" tIns="34275">
            <a:noAutofit/>
          </a:bodyPr>
          <a:lstStyle>
            <a:lvl1pPr lvl="0">
              <a:spcBef>
                <a:spcPts val="700"/>
              </a:spcBef>
              <a:spcAft>
                <a:spcPts val="0"/>
              </a:spcAft>
              <a:buNone/>
              <a:defRPr>
                <a:solidFill>
                  <a:schemeClr val="dk1"/>
                </a:solidFill>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4" name="Google Shape;14;p2"/>
          <p:cNvSpPr txBox="1"/>
          <p:nvPr>
            <p:ph idx="2" type="subTitle"/>
          </p:nvPr>
        </p:nvSpPr>
        <p:spPr>
          <a:xfrm>
            <a:off x="493923" y="4079316"/>
            <a:ext cx="7327800" cy="29871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2 Columns">
  <p:cSld name="2_Portfolio Three">
    <p:spTree>
      <p:nvGrpSpPr>
        <p:cNvPr id="15" name="Shape 15"/>
        <p:cNvGrpSpPr/>
        <p:nvPr/>
      </p:nvGrpSpPr>
      <p:grpSpPr>
        <a:xfrm>
          <a:off x="0" y="0"/>
          <a:ext cx="0" cy="0"/>
          <a:chOff x="0" y="0"/>
          <a:chExt cx="0" cy="0"/>
        </a:xfrm>
      </p:grpSpPr>
      <p:sp>
        <p:nvSpPr>
          <p:cNvPr id="16" name="Google Shape;16;p3"/>
          <p:cNvSpPr txBox="1"/>
          <p:nvPr>
            <p:ph idx="1" type="body"/>
          </p:nvPr>
        </p:nvSpPr>
        <p:spPr>
          <a:xfrm>
            <a:off x="50957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17" name="Google Shape;17;p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8" name="Google Shape;18;p3"/>
          <p:cNvSpPr txBox="1"/>
          <p:nvPr>
            <p:ph idx="2"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9" name="Google Shape;19;p3"/>
          <p:cNvSpPr txBox="1"/>
          <p:nvPr>
            <p:ph idx="3" type="body"/>
          </p:nvPr>
        </p:nvSpPr>
        <p:spPr>
          <a:xfrm>
            <a:off x="482712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3 Columns">
  <p:cSld name="1_Slide with Placeholder">
    <p:spTree>
      <p:nvGrpSpPr>
        <p:cNvPr id="20" name="Shape 20"/>
        <p:cNvGrpSpPr/>
        <p:nvPr/>
      </p:nvGrpSpPr>
      <p:grpSpPr>
        <a:xfrm>
          <a:off x="0" y="0"/>
          <a:ext cx="0" cy="0"/>
          <a:chOff x="0" y="0"/>
          <a:chExt cx="0" cy="0"/>
        </a:xfrm>
      </p:grpSpPr>
      <p:sp>
        <p:nvSpPr>
          <p:cNvPr id="21" name="Google Shape;21;p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22" name="Google Shape;22;p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23" name="Google Shape;23;p4"/>
          <p:cNvSpPr txBox="1"/>
          <p:nvPr>
            <p:ph idx="2" type="body"/>
          </p:nvPr>
        </p:nvSpPr>
        <p:spPr>
          <a:xfrm>
            <a:off x="5521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4" name="Google Shape;24;p4"/>
          <p:cNvSpPr txBox="1"/>
          <p:nvPr>
            <p:ph idx="3" type="body"/>
          </p:nvPr>
        </p:nvSpPr>
        <p:spPr>
          <a:xfrm>
            <a:off x="33374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5" name="Google Shape;25;p4"/>
          <p:cNvSpPr txBox="1"/>
          <p:nvPr>
            <p:ph idx="4" type="body"/>
          </p:nvPr>
        </p:nvSpPr>
        <p:spPr>
          <a:xfrm>
            <a:off x="6160800"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p:cSld name="Cover Slide">
    <p:spTree>
      <p:nvGrpSpPr>
        <p:cNvPr id="26"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b="0" l="0" r="0" t="0"/>
          <a:stretch/>
        </p:blipFill>
        <p:spPr>
          <a:xfrm>
            <a:off x="595" y="0"/>
            <a:ext cx="9142810" cy="514283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with Logo">
  <p:cSld name="Cover Slide_2">
    <p:spTree>
      <p:nvGrpSpPr>
        <p:cNvPr id="28" name="Shape 28"/>
        <p:cNvGrpSpPr/>
        <p:nvPr/>
      </p:nvGrpSpPr>
      <p:grpSpPr>
        <a:xfrm>
          <a:off x="0" y="0"/>
          <a:ext cx="0" cy="0"/>
          <a:chOff x="0" y="0"/>
          <a:chExt cx="0" cy="0"/>
        </a:xfrm>
      </p:grpSpPr>
      <p:pic>
        <p:nvPicPr>
          <p:cNvPr id="29" name="Google Shape;29;p6"/>
          <p:cNvPicPr preferRelativeResize="0"/>
          <p:nvPr/>
        </p:nvPicPr>
        <p:blipFill rotWithShape="1">
          <a:blip r:embed="rId2">
            <a:alphaModFix/>
          </a:blip>
          <a:srcRect b="0" l="0" r="0" t="0"/>
          <a:stretch/>
        </p:blipFill>
        <p:spPr>
          <a:xfrm>
            <a:off x="595" y="0"/>
            <a:ext cx="9142810" cy="5142831"/>
          </a:xfrm>
          <a:prstGeom prst="rect">
            <a:avLst/>
          </a:prstGeom>
          <a:noFill/>
          <a:ln>
            <a:noFill/>
          </a:ln>
        </p:spPr>
      </p:pic>
      <p:pic>
        <p:nvPicPr>
          <p:cNvPr id="30" name="Google Shape;30;p6"/>
          <p:cNvPicPr preferRelativeResize="0"/>
          <p:nvPr/>
        </p:nvPicPr>
        <p:blipFill>
          <a:blip r:embed="rId3">
            <a:alphaModFix/>
          </a:blip>
          <a:stretch>
            <a:fillRect/>
          </a:stretch>
        </p:blipFill>
        <p:spPr>
          <a:xfrm>
            <a:off x="2103514" y="628706"/>
            <a:ext cx="4936973" cy="388558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Acknowledgments Slide">
  <p:cSld name="Cover Slide_1">
    <p:spTree>
      <p:nvGrpSpPr>
        <p:cNvPr id="31" name="Shape 31"/>
        <p:cNvGrpSpPr/>
        <p:nvPr/>
      </p:nvGrpSpPr>
      <p:grpSpPr>
        <a:xfrm>
          <a:off x="0" y="0"/>
          <a:ext cx="0" cy="0"/>
          <a:chOff x="0" y="0"/>
          <a:chExt cx="0" cy="0"/>
        </a:xfrm>
      </p:grpSpPr>
      <p:pic>
        <p:nvPicPr>
          <p:cNvPr id="32" name="Google Shape;32;p7"/>
          <p:cNvPicPr preferRelativeResize="0"/>
          <p:nvPr/>
        </p:nvPicPr>
        <p:blipFill rotWithShape="1">
          <a:blip r:embed="rId2">
            <a:alphaModFix/>
          </a:blip>
          <a:srcRect b="0" l="0" r="0" t="0"/>
          <a:stretch/>
        </p:blipFill>
        <p:spPr>
          <a:xfrm>
            <a:off x="595" y="0"/>
            <a:ext cx="9142810" cy="5142831"/>
          </a:xfrm>
          <a:prstGeom prst="rect">
            <a:avLst/>
          </a:prstGeom>
          <a:noFill/>
          <a:ln>
            <a:noFill/>
          </a:ln>
        </p:spPr>
      </p:pic>
      <p:sp>
        <p:nvSpPr>
          <p:cNvPr id="33" name="Google Shape;33;p7"/>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lt1"/>
              </a:buClr>
              <a:buSzPts val="5600"/>
              <a:buFont typeface="Playfair Display"/>
              <a:buNone/>
              <a:defRPr i="0" sz="5600" u="none" cap="none" strike="noStrike">
                <a:solidFill>
                  <a:schemeClr val="lt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4" name="Google Shape;34;p7"/>
          <p:cNvSpPr txBox="1"/>
          <p:nvPr>
            <p:ph idx="1" type="subTitle"/>
          </p:nvPr>
        </p:nvSpPr>
        <p:spPr>
          <a:xfrm>
            <a:off x="509521" y="1401113"/>
            <a:ext cx="5120100" cy="1558200"/>
          </a:xfrm>
          <a:prstGeom prst="rect">
            <a:avLst/>
          </a:prstGeom>
        </p:spPr>
        <p:txBody>
          <a:bodyPr anchorCtr="0" anchor="t" bIns="34275" lIns="34275" spcFirstLastPara="1" rIns="34275" wrap="square" tIns="34275">
            <a:noAutofit/>
          </a:bodyPr>
          <a:lstStyle>
            <a:lvl1pPr lvl="0">
              <a:spcBef>
                <a:spcPts val="700"/>
              </a:spcBef>
              <a:spcAft>
                <a:spcPts val="0"/>
              </a:spcAft>
              <a:buNone/>
              <a:defRPr sz="2700">
                <a:solidFill>
                  <a:schemeClr val="lt1"/>
                </a:solidFill>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Custom Layout">
    <p:spTree>
      <p:nvGrpSpPr>
        <p:cNvPr id="35" name="Shape 35"/>
        <p:cNvGrpSpPr/>
        <p:nvPr/>
      </p:nvGrpSpPr>
      <p:grpSpPr>
        <a:xfrm>
          <a:off x="0" y="0"/>
          <a:ext cx="0" cy="0"/>
          <a:chOff x="0" y="0"/>
          <a:chExt cx="0" cy="0"/>
        </a:xfrm>
      </p:grpSpPr>
      <p:sp>
        <p:nvSpPr>
          <p:cNvPr id="36" name="Google Shape;36;p8"/>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7" name="Google Shape;37;p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ig Concept Slide">
  <p:cSld name="Slide with Placeholder">
    <p:spTree>
      <p:nvGrpSpPr>
        <p:cNvPr id="38" name="Shape 38"/>
        <p:cNvGrpSpPr/>
        <p:nvPr/>
      </p:nvGrpSpPr>
      <p:grpSpPr>
        <a:xfrm>
          <a:off x="0" y="0"/>
          <a:ext cx="0" cy="0"/>
          <a:chOff x="0" y="0"/>
          <a:chExt cx="0" cy="0"/>
        </a:xfrm>
      </p:grpSpPr>
      <p:sp>
        <p:nvSpPr>
          <p:cNvPr id="39" name="Google Shape;39;p9"/>
          <p:cNvSpPr txBox="1"/>
          <p:nvPr>
            <p:ph type="title"/>
          </p:nvPr>
        </p:nvSpPr>
        <p:spPr>
          <a:xfrm>
            <a:off x="509577" y="2245519"/>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0" name="Google Shape;40;p9"/>
          <p:cNvSpPr txBox="1"/>
          <p:nvPr>
            <p:ph idx="1" type="subTitle"/>
          </p:nvPr>
        </p:nvSpPr>
        <p:spPr>
          <a:xfrm>
            <a:off x="509577" y="3154509"/>
            <a:ext cx="6737700" cy="9531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p:cSld name="Large Picture with Logo">
    <p:spTree>
      <p:nvGrpSpPr>
        <p:cNvPr id="41" name="Shape 41"/>
        <p:cNvGrpSpPr/>
        <p:nvPr/>
      </p:nvGrpSpPr>
      <p:grpSpPr>
        <a:xfrm>
          <a:off x="0" y="0"/>
          <a:ext cx="0" cy="0"/>
          <a:chOff x="0" y="0"/>
          <a:chExt cx="0" cy="0"/>
        </a:xfrm>
      </p:grpSpPr>
      <p:sp>
        <p:nvSpPr>
          <p:cNvPr id="42" name="Google Shape;42;p10"/>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3" name="Google Shape;43;p10"/>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44" name="Google Shape;44;p10"/>
          <p:cNvPicPr preferRelativeResize="0"/>
          <p:nvPr/>
        </p:nvPicPr>
        <p:blipFill rotWithShape="1">
          <a:blip r:embed="rId2">
            <a:alphaModFix/>
          </a:blip>
          <a:srcRect b="2009" l="27412" r="6551" t="0"/>
          <a:stretch/>
        </p:blipFill>
        <p:spPr>
          <a:xfrm>
            <a:off x="7006675" y="-56025"/>
            <a:ext cx="2176574" cy="4846049"/>
          </a:xfrm>
          <a:prstGeom prst="rect">
            <a:avLst/>
          </a:prstGeom>
          <a:noFill/>
          <a:ln>
            <a:noFill/>
          </a:ln>
        </p:spPr>
      </p:pic>
      <p:sp>
        <p:nvSpPr>
          <p:cNvPr id="45" name="Google Shape;45;p10"/>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1">
  <p:cSld name="Large Picture with Logo_1">
    <p:spTree>
      <p:nvGrpSpPr>
        <p:cNvPr id="46" name="Shape 46"/>
        <p:cNvGrpSpPr/>
        <p:nvPr/>
      </p:nvGrpSpPr>
      <p:grpSpPr>
        <a:xfrm>
          <a:off x="0" y="0"/>
          <a:ext cx="0" cy="0"/>
          <a:chOff x="0" y="0"/>
          <a:chExt cx="0" cy="0"/>
        </a:xfrm>
      </p:grpSpPr>
      <p:sp>
        <p:nvSpPr>
          <p:cNvPr id="47" name="Google Shape;47;p1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8" name="Google Shape;48;p11"/>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49" name="Google Shape;49;p11"/>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2">
  <p:cSld name="Large Picture with Logo_1_1">
    <p:spTree>
      <p:nvGrpSpPr>
        <p:cNvPr id="50" name="Shape 50"/>
        <p:cNvGrpSpPr/>
        <p:nvPr/>
      </p:nvGrpSpPr>
      <p:grpSpPr>
        <a:xfrm>
          <a:off x="0" y="0"/>
          <a:ext cx="0" cy="0"/>
          <a:chOff x="0" y="0"/>
          <a:chExt cx="0" cy="0"/>
        </a:xfrm>
      </p:grpSpPr>
      <p:sp>
        <p:nvSpPr>
          <p:cNvPr id="51" name="Google Shape;51;p12"/>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2" name="Google Shape;52;p12"/>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53" name="Google Shape;53;p12"/>
          <p:cNvPicPr preferRelativeResize="0"/>
          <p:nvPr/>
        </p:nvPicPr>
        <p:blipFill rotWithShape="1">
          <a:blip r:embed="rId2">
            <a:alphaModFix/>
          </a:blip>
          <a:srcRect b="0" l="27412" r="6551" t="0"/>
          <a:stretch/>
        </p:blipFill>
        <p:spPr>
          <a:xfrm>
            <a:off x="7006675" y="-57150"/>
            <a:ext cx="2137324" cy="4856125"/>
          </a:xfrm>
          <a:prstGeom prst="rect">
            <a:avLst/>
          </a:prstGeom>
          <a:noFill/>
          <a:ln>
            <a:noFill/>
          </a:ln>
        </p:spPr>
      </p:pic>
      <p:pic>
        <p:nvPicPr>
          <p:cNvPr id="54" name="Google Shape;54;p12"/>
          <p:cNvPicPr preferRelativeResize="0"/>
          <p:nvPr/>
        </p:nvPicPr>
        <p:blipFill rotWithShape="1">
          <a:blip r:embed="rId3">
            <a:alphaModFix/>
          </a:blip>
          <a:srcRect b="0" l="8950" r="0" t="0"/>
          <a:stretch/>
        </p:blipFill>
        <p:spPr>
          <a:xfrm>
            <a:off x="7006665" y="-57150"/>
            <a:ext cx="6633784" cy="4856124"/>
          </a:xfrm>
          <a:prstGeom prst="rect">
            <a:avLst/>
          </a:prstGeom>
          <a:noFill/>
          <a:ln>
            <a:noFill/>
          </a:ln>
        </p:spPr>
      </p:pic>
      <p:pic>
        <p:nvPicPr>
          <p:cNvPr id="55" name="Google Shape;55;p12"/>
          <p:cNvPicPr preferRelativeResize="0"/>
          <p:nvPr/>
        </p:nvPicPr>
        <p:blipFill rotWithShape="1">
          <a:blip r:embed="rId4">
            <a:alphaModFix/>
          </a:blip>
          <a:srcRect b="0" l="39028" r="0" t="0"/>
          <a:stretch/>
        </p:blipFill>
        <p:spPr>
          <a:xfrm>
            <a:off x="7006676" y="-57150"/>
            <a:ext cx="4442373" cy="4856124"/>
          </a:xfrm>
          <a:prstGeom prst="rect">
            <a:avLst/>
          </a:prstGeom>
          <a:noFill/>
          <a:ln>
            <a:noFill/>
          </a:ln>
        </p:spPr>
      </p:pic>
      <p:sp>
        <p:nvSpPr>
          <p:cNvPr id="56" name="Google Shape;56;p12"/>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3">
  <p:cSld name="Large Picture with Logo_1_1_1">
    <p:spTree>
      <p:nvGrpSpPr>
        <p:cNvPr id="57" name="Shape 57"/>
        <p:cNvGrpSpPr/>
        <p:nvPr/>
      </p:nvGrpSpPr>
      <p:grpSpPr>
        <a:xfrm>
          <a:off x="0" y="0"/>
          <a:ext cx="0" cy="0"/>
          <a:chOff x="0" y="0"/>
          <a:chExt cx="0" cy="0"/>
        </a:xfrm>
      </p:grpSpPr>
      <p:sp>
        <p:nvSpPr>
          <p:cNvPr id="58" name="Google Shape;58;p1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9" name="Google Shape;59;p13"/>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0" name="Google Shape;60;p13"/>
          <p:cNvPicPr preferRelativeResize="0"/>
          <p:nvPr/>
        </p:nvPicPr>
        <p:blipFill rotWithShape="1">
          <a:blip r:embed="rId2">
            <a:alphaModFix/>
          </a:blip>
          <a:srcRect b="0" l="24210" r="1252" t="0"/>
          <a:stretch/>
        </p:blipFill>
        <p:spPr>
          <a:xfrm>
            <a:off x="7006675" y="-57150"/>
            <a:ext cx="5430948" cy="4856124"/>
          </a:xfrm>
          <a:prstGeom prst="rect">
            <a:avLst/>
          </a:prstGeom>
          <a:noFill/>
          <a:ln>
            <a:noFill/>
          </a:ln>
        </p:spPr>
      </p:pic>
      <p:sp>
        <p:nvSpPr>
          <p:cNvPr id="61" name="Google Shape;61;p13"/>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4">
  <p:cSld name="Large Picture with Logo_1_1_1_1">
    <p:spTree>
      <p:nvGrpSpPr>
        <p:cNvPr id="62" name="Shape 62"/>
        <p:cNvGrpSpPr/>
        <p:nvPr/>
      </p:nvGrpSpPr>
      <p:grpSpPr>
        <a:xfrm>
          <a:off x="0" y="0"/>
          <a:ext cx="0" cy="0"/>
          <a:chOff x="0" y="0"/>
          <a:chExt cx="0" cy="0"/>
        </a:xfrm>
      </p:grpSpPr>
      <p:sp>
        <p:nvSpPr>
          <p:cNvPr id="63" name="Google Shape;63;p1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4" name="Google Shape;64;p1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5" name="Google Shape;65;p14"/>
          <p:cNvPicPr preferRelativeResize="0"/>
          <p:nvPr/>
        </p:nvPicPr>
        <p:blipFill rotWithShape="1">
          <a:blip r:embed="rId2">
            <a:alphaModFix/>
          </a:blip>
          <a:srcRect b="0" l="34525" r="0" t="0"/>
          <a:stretch/>
        </p:blipFill>
        <p:spPr>
          <a:xfrm>
            <a:off x="7010075" y="-57150"/>
            <a:ext cx="2543048" cy="4856125"/>
          </a:xfrm>
          <a:prstGeom prst="rect">
            <a:avLst/>
          </a:prstGeom>
          <a:noFill/>
          <a:ln>
            <a:noFill/>
          </a:ln>
        </p:spPr>
      </p:pic>
      <p:sp>
        <p:nvSpPr>
          <p:cNvPr id="66" name="Google Shape;66;p14"/>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p:cSld name="3_Placeholder">
    <p:spTree>
      <p:nvGrpSpPr>
        <p:cNvPr id="67" name="Shape 67"/>
        <p:cNvGrpSpPr/>
        <p:nvPr/>
      </p:nvGrpSpPr>
      <p:grpSpPr>
        <a:xfrm>
          <a:off x="0" y="0"/>
          <a:ext cx="0" cy="0"/>
          <a:chOff x="0" y="0"/>
          <a:chExt cx="0" cy="0"/>
        </a:xfrm>
      </p:grpSpPr>
      <p:sp>
        <p:nvSpPr>
          <p:cNvPr id="68" name="Google Shape;68;p15"/>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9" name="Google Shape;69;p15"/>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0" name="Google Shape;70;p15"/>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1">
  <p:cSld name="3_Placeholder_1">
    <p:spTree>
      <p:nvGrpSpPr>
        <p:cNvPr id="71" name="Shape 71"/>
        <p:cNvGrpSpPr/>
        <p:nvPr/>
      </p:nvGrpSpPr>
      <p:grpSpPr>
        <a:xfrm>
          <a:off x="0" y="0"/>
          <a:ext cx="0" cy="0"/>
          <a:chOff x="0" y="0"/>
          <a:chExt cx="0" cy="0"/>
        </a:xfrm>
      </p:grpSpPr>
      <p:sp>
        <p:nvSpPr>
          <p:cNvPr id="72" name="Google Shape;72;p16"/>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3" name="Google Shape;73;p16"/>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4" name="Google Shape;74;p16"/>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ingle Statistic">
  <p:cSld name="1_Placeholder">
    <p:spTree>
      <p:nvGrpSpPr>
        <p:cNvPr id="75" name="Shape 75"/>
        <p:cNvGrpSpPr/>
        <p:nvPr/>
      </p:nvGrpSpPr>
      <p:grpSpPr>
        <a:xfrm>
          <a:off x="0" y="0"/>
          <a:ext cx="0" cy="0"/>
          <a:chOff x="0" y="0"/>
          <a:chExt cx="0" cy="0"/>
        </a:xfrm>
      </p:grpSpPr>
      <p:sp>
        <p:nvSpPr>
          <p:cNvPr id="76" name="Google Shape;76;p17"/>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7" name="Google Shape;77;p17"/>
          <p:cNvSpPr txBox="1"/>
          <p:nvPr>
            <p:ph type="title"/>
          </p:nvPr>
        </p:nvSpPr>
        <p:spPr>
          <a:xfrm>
            <a:off x="454066" y="182433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94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8" name="Google Shape;78;p17"/>
          <p:cNvSpPr txBox="1"/>
          <p:nvPr>
            <p:ph idx="2" type="subTitle"/>
          </p:nvPr>
        </p:nvSpPr>
        <p:spPr>
          <a:xfrm>
            <a:off x="454066" y="3127509"/>
            <a:ext cx="8353200" cy="7152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9" name="Google Shape;79;p17"/>
          <p:cNvSpPr txBox="1"/>
          <p:nvPr>
            <p:ph idx="3" type="subTitle"/>
          </p:nvPr>
        </p:nvSpPr>
        <p:spPr>
          <a:xfrm>
            <a:off x="4838166" y="1824350"/>
            <a:ext cx="38664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0" name="Google Shape;80;p17"/>
          <p:cNvSpPr txBox="1"/>
          <p:nvPr>
            <p:ph idx="4" type="title"/>
          </p:nvPr>
        </p:nvSpPr>
        <p:spPr>
          <a:xfrm>
            <a:off x="509577" y="837514"/>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ultiple Statistics">
  <p:cSld name="1_Placeholder_1">
    <p:spTree>
      <p:nvGrpSpPr>
        <p:cNvPr id="81" name="Shape 81"/>
        <p:cNvGrpSpPr/>
        <p:nvPr/>
      </p:nvGrpSpPr>
      <p:grpSpPr>
        <a:xfrm>
          <a:off x="0" y="0"/>
          <a:ext cx="0" cy="0"/>
          <a:chOff x="0" y="0"/>
          <a:chExt cx="0" cy="0"/>
        </a:xfrm>
      </p:grpSpPr>
      <p:sp>
        <p:nvSpPr>
          <p:cNvPr id="82" name="Google Shape;82;p1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3" name="Google Shape;83;p18"/>
          <p:cNvSpPr txBox="1"/>
          <p:nvPr>
            <p:ph type="title"/>
          </p:nvPr>
        </p:nvSpPr>
        <p:spPr>
          <a:xfrm>
            <a:off x="454066" y="75948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4" name="Google Shape;84;p18"/>
          <p:cNvSpPr txBox="1"/>
          <p:nvPr>
            <p:ph idx="2" type="subTitle"/>
          </p:nvPr>
        </p:nvSpPr>
        <p:spPr>
          <a:xfrm>
            <a:off x="4759893" y="759488"/>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5" name="Google Shape;85;p18"/>
          <p:cNvSpPr txBox="1"/>
          <p:nvPr>
            <p:ph idx="3" type="title"/>
          </p:nvPr>
        </p:nvSpPr>
        <p:spPr>
          <a:xfrm>
            <a:off x="454066" y="2037533"/>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5"/>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6" name="Google Shape;86;p18"/>
          <p:cNvSpPr txBox="1"/>
          <p:nvPr>
            <p:ph idx="4" type="subTitle"/>
          </p:nvPr>
        </p:nvSpPr>
        <p:spPr>
          <a:xfrm>
            <a:off x="4759893" y="2037533"/>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7" name="Google Shape;87;p18"/>
          <p:cNvSpPr txBox="1"/>
          <p:nvPr>
            <p:ph idx="5" type="title"/>
          </p:nvPr>
        </p:nvSpPr>
        <p:spPr>
          <a:xfrm>
            <a:off x="454066" y="343770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6"/>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8" name="Google Shape;88;p18"/>
          <p:cNvSpPr txBox="1"/>
          <p:nvPr>
            <p:ph idx="6" type="subTitle"/>
          </p:nvPr>
        </p:nvSpPr>
        <p:spPr>
          <a:xfrm>
            <a:off x="4759893" y="3437709"/>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Quote">
  <p:cSld name="CUSTOM">
    <p:spTree>
      <p:nvGrpSpPr>
        <p:cNvPr id="89" name="Shape 89"/>
        <p:cNvGrpSpPr/>
        <p:nvPr/>
      </p:nvGrpSpPr>
      <p:grpSpPr>
        <a:xfrm>
          <a:off x="0" y="0"/>
          <a:ext cx="0" cy="0"/>
          <a:chOff x="0" y="0"/>
          <a:chExt cx="0" cy="0"/>
        </a:xfrm>
      </p:grpSpPr>
      <p:sp>
        <p:nvSpPr>
          <p:cNvPr id="90" name="Google Shape;90;p19"/>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91" name="Google Shape;91;p19"/>
          <p:cNvSpPr/>
          <p:nvPr/>
        </p:nvSpPr>
        <p:spPr>
          <a:xfrm>
            <a:off x="5748887" y="1561152"/>
            <a:ext cx="1718100" cy="219300"/>
          </a:xfrm>
          <a:prstGeom prst="rect">
            <a:avLst/>
          </a:prstGeom>
          <a:solidFill>
            <a:srgbClr val="738D3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2" name="Google Shape;92;p19"/>
          <p:cNvSpPr/>
          <p:nvPr/>
        </p:nvSpPr>
        <p:spPr>
          <a:xfrm>
            <a:off x="7467434" y="1561152"/>
            <a:ext cx="1718100" cy="219300"/>
          </a:xfrm>
          <a:prstGeom prst="rect">
            <a:avLst/>
          </a:prstGeom>
          <a:solidFill>
            <a:srgbClr val="625578"/>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3" name="Google Shape;93;p19"/>
          <p:cNvSpPr/>
          <p:nvPr/>
        </p:nvSpPr>
        <p:spPr>
          <a:xfrm>
            <a:off x="0" y="1561152"/>
            <a:ext cx="1718100" cy="219300"/>
          </a:xfrm>
          <a:prstGeom prst="rect">
            <a:avLst/>
          </a:prstGeom>
          <a:solidFill>
            <a:srgbClr val="FFB6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4" name="Google Shape;94;p19"/>
          <p:cNvSpPr/>
          <p:nvPr/>
        </p:nvSpPr>
        <p:spPr>
          <a:xfrm>
            <a:off x="1718076" y="1561152"/>
            <a:ext cx="1718100" cy="219300"/>
          </a:xfrm>
          <a:prstGeom prst="rect">
            <a:avLst/>
          </a:prstGeom>
          <a:solidFill>
            <a:srgbClr val="498DA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5" name="Google Shape;95;p19"/>
          <p:cNvSpPr txBox="1"/>
          <p:nvPr/>
        </p:nvSpPr>
        <p:spPr>
          <a:xfrm>
            <a:off x="3589051" y="975950"/>
            <a:ext cx="1965900" cy="875400"/>
          </a:xfrm>
          <a:prstGeom prst="rect">
            <a:avLst/>
          </a:prstGeom>
          <a:noFill/>
          <a:ln>
            <a:noFill/>
          </a:ln>
        </p:spPr>
        <p:txBody>
          <a:bodyPr anchorCtr="0" anchor="t" bIns="34275" lIns="34275" spcFirstLastPara="1" rIns="34275" wrap="square" tIns="34275">
            <a:noAutofit/>
          </a:bodyPr>
          <a:lstStyle/>
          <a:p>
            <a:pPr indent="0" lvl="0" marL="0" rtl="0" algn="ctr">
              <a:spcBef>
                <a:spcPts val="0"/>
              </a:spcBef>
              <a:spcAft>
                <a:spcPts val="0"/>
              </a:spcAft>
              <a:buNone/>
            </a:pPr>
            <a:r>
              <a:rPr b="1" lang="en" sz="12000">
                <a:solidFill>
                  <a:srgbClr val="818387"/>
                </a:solidFill>
              </a:rPr>
              <a:t>“</a:t>
            </a:r>
            <a:endParaRPr b="1" sz="12000">
              <a:solidFill>
                <a:srgbClr val="818387"/>
              </a:solidFill>
            </a:endParaRPr>
          </a:p>
        </p:txBody>
      </p:sp>
      <p:sp>
        <p:nvSpPr>
          <p:cNvPr id="96" name="Google Shape;96;p19"/>
          <p:cNvSpPr txBox="1"/>
          <p:nvPr>
            <p:ph type="title"/>
          </p:nvPr>
        </p:nvSpPr>
        <p:spPr>
          <a:xfrm>
            <a:off x="1682308" y="2130769"/>
            <a:ext cx="5779500" cy="1962600"/>
          </a:xfrm>
          <a:prstGeom prst="rect">
            <a:avLst/>
          </a:prstGeom>
        </p:spPr>
        <p:txBody>
          <a:bodyPr anchorCtr="0" anchor="t" bIns="34275" lIns="34275" spcFirstLastPara="1" rIns="34275" wrap="square" tIns="34275">
            <a:noAutofit/>
          </a:bodyPr>
          <a:lstStyle>
            <a:lvl1pPr lvl="0" algn="ctr">
              <a:spcBef>
                <a:spcPts val="0"/>
              </a:spcBef>
              <a:spcAft>
                <a:spcPts val="0"/>
              </a:spcAft>
              <a:buNone/>
              <a:defRPr sz="4500"/>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97" name="Google Shape;97;p19"/>
          <p:cNvSpPr txBox="1"/>
          <p:nvPr>
            <p:ph idx="2" type="subTitle"/>
          </p:nvPr>
        </p:nvSpPr>
        <p:spPr>
          <a:xfrm>
            <a:off x="3300470" y="3999056"/>
            <a:ext cx="2543100" cy="384600"/>
          </a:xfrm>
          <a:prstGeom prst="rect">
            <a:avLst/>
          </a:prstGeom>
        </p:spPr>
        <p:txBody>
          <a:bodyPr anchorCtr="0" anchor="t" bIns="34275" lIns="34275" spcFirstLastPara="1" rIns="34275" wrap="square" tIns="34275">
            <a:noAutofit/>
          </a:bodyPr>
          <a:lstStyle>
            <a:lvl1pPr lvl="0" algn="ctr">
              <a:spcBef>
                <a:spcPts val="700"/>
              </a:spcBef>
              <a:spcAft>
                <a:spcPts val="0"/>
              </a:spcAft>
              <a:buNone/>
              <a:defRPr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Slide" showMasterSp="0">
  <p:cSld name="13_Title Slide">
    <p:spTree>
      <p:nvGrpSpPr>
        <p:cNvPr id="98" name="Shape 98"/>
        <p:cNvGrpSpPr/>
        <p:nvPr/>
      </p:nvGrpSpPr>
      <p:grpSpPr>
        <a:xfrm>
          <a:off x="0" y="0"/>
          <a:ext cx="0" cy="0"/>
          <a:chOff x="0" y="0"/>
          <a:chExt cx="0" cy="0"/>
        </a:xfrm>
      </p:grpSpPr>
      <p:sp>
        <p:nvSpPr>
          <p:cNvPr id="99" name="Google Shape;99;p20"/>
          <p:cNvSpPr/>
          <p:nvPr>
            <p:ph idx="2" type="pic"/>
          </p:nvPr>
        </p:nvSpPr>
        <p:spPr>
          <a:xfrm>
            <a:off x="192505" y="514350"/>
            <a:ext cx="1600200" cy="4629300"/>
          </a:xfrm>
          <a:prstGeom prst="rect">
            <a:avLst/>
          </a:prstGeom>
          <a:noFill/>
          <a:ln>
            <a:noFill/>
          </a:ln>
        </p:spPr>
      </p:sp>
      <p:sp>
        <p:nvSpPr>
          <p:cNvPr id="100" name="Google Shape;100;p20"/>
          <p:cNvSpPr/>
          <p:nvPr>
            <p:ph idx="3" type="pic"/>
          </p:nvPr>
        </p:nvSpPr>
        <p:spPr>
          <a:xfrm>
            <a:off x="1997242" y="0"/>
            <a:ext cx="1600200" cy="4629300"/>
          </a:xfrm>
          <a:prstGeom prst="rect">
            <a:avLst/>
          </a:prstGeom>
          <a:noFill/>
          <a:ln>
            <a:noFill/>
          </a:ln>
        </p:spPr>
      </p:sp>
      <p:sp>
        <p:nvSpPr>
          <p:cNvPr id="101" name="Google Shape;101;p20"/>
          <p:cNvSpPr/>
          <p:nvPr>
            <p:ph idx="4" type="pic"/>
          </p:nvPr>
        </p:nvSpPr>
        <p:spPr>
          <a:xfrm>
            <a:off x="3801980" y="514350"/>
            <a:ext cx="1600200" cy="4629300"/>
          </a:xfrm>
          <a:prstGeom prst="rect">
            <a:avLst/>
          </a:prstGeom>
          <a:noFill/>
          <a:ln>
            <a:noFill/>
          </a:ln>
        </p:spPr>
      </p:sp>
      <p:sp>
        <p:nvSpPr>
          <p:cNvPr id="102" name="Google Shape;102;p20"/>
          <p:cNvSpPr/>
          <p:nvPr>
            <p:ph idx="5" type="pic"/>
          </p:nvPr>
        </p:nvSpPr>
        <p:spPr>
          <a:xfrm>
            <a:off x="5606716" y="0"/>
            <a:ext cx="1600200" cy="4629300"/>
          </a:xfrm>
          <a:prstGeom prst="rect">
            <a:avLst/>
          </a:prstGeom>
          <a:noFill/>
          <a:ln>
            <a:noFill/>
          </a:ln>
        </p:spPr>
      </p:sp>
      <p:sp>
        <p:nvSpPr>
          <p:cNvPr id="103" name="Google Shape;103;p20"/>
          <p:cNvSpPr/>
          <p:nvPr>
            <p:ph idx="6" type="pic"/>
          </p:nvPr>
        </p:nvSpPr>
        <p:spPr>
          <a:xfrm>
            <a:off x="7411453" y="514350"/>
            <a:ext cx="1600200" cy="462930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1">
  <p:cSld name="1_Cover Page">
    <p:spTree>
      <p:nvGrpSpPr>
        <p:cNvPr id="104" name="Shape 104"/>
        <p:cNvGrpSpPr/>
        <p:nvPr/>
      </p:nvGrpSpPr>
      <p:grpSpPr>
        <a:xfrm>
          <a:off x="0" y="0"/>
          <a:ext cx="0" cy="0"/>
          <a:chOff x="0" y="0"/>
          <a:chExt cx="0" cy="0"/>
        </a:xfrm>
      </p:grpSpPr>
      <p:sp>
        <p:nvSpPr>
          <p:cNvPr id="105" name="Google Shape;105;p21"/>
          <p:cNvSpPr/>
          <p:nvPr/>
        </p:nvSpPr>
        <p:spPr>
          <a:xfrm>
            <a:off x="-53437" y="3390300"/>
            <a:ext cx="91974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pic>
        <p:nvPicPr>
          <p:cNvPr id="106" name="Google Shape;106;p21"/>
          <p:cNvPicPr preferRelativeResize="0"/>
          <p:nvPr/>
        </p:nvPicPr>
        <p:blipFill rotWithShape="1">
          <a:blip r:embed="rId2">
            <a:alphaModFix/>
          </a:blip>
          <a:srcRect b="13732" l="0" r="-563" t="43844"/>
          <a:stretch/>
        </p:blipFill>
        <p:spPr>
          <a:xfrm>
            <a:off x="-53437" y="-70462"/>
            <a:ext cx="9250875" cy="3460759"/>
          </a:xfrm>
          <a:prstGeom prst="rect">
            <a:avLst/>
          </a:prstGeom>
          <a:noFill/>
          <a:ln>
            <a:noFill/>
          </a:ln>
        </p:spPr>
      </p:pic>
      <p:sp>
        <p:nvSpPr>
          <p:cNvPr id="107" name="Google Shape;107;p21"/>
          <p:cNvSpPr txBox="1"/>
          <p:nvPr>
            <p:ph type="title"/>
          </p:nvPr>
        </p:nvSpPr>
        <p:spPr>
          <a:xfrm>
            <a:off x="493923" y="976378"/>
            <a:ext cx="8005800" cy="1824300"/>
          </a:xfrm>
          <a:prstGeom prst="rect">
            <a:avLst/>
          </a:prstGeom>
          <a:noFill/>
          <a:ln>
            <a:noFill/>
          </a:ln>
        </p:spPr>
        <p:txBody>
          <a:bodyPr anchorCtr="0" anchor="ctr" bIns="25700" lIns="25700" spcFirstLastPara="1" rIns="25700" wrap="square" tIns="25700">
            <a:normAutofit/>
          </a:bodyPr>
          <a:lstStyle>
            <a:lvl1pPr lvl="0" marR="0" algn="l">
              <a:lnSpc>
                <a:spcPct val="90000"/>
              </a:lnSpc>
              <a:spcBef>
                <a:spcPts val="0"/>
              </a:spcBef>
              <a:spcAft>
                <a:spcPts val="0"/>
              </a:spcAft>
              <a:buClr>
                <a:srgbClr val="FFFFFF"/>
              </a:buClr>
              <a:buSzPts val="27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lgn="l">
              <a:lnSpc>
                <a:spcPct val="100000"/>
              </a:lnSpc>
              <a:spcBef>
                <a:spcPts val="0"/>
              </a:spcBef>
              <a:spcAft>
                <a:spcPts val="0"/>
              </a:spcAft>
              <a:buSzPts val="500"/>
              <a:buFont typeface="Arial"/>
              <a:buNone/>
              <a:defRPr sz="700"/>
            </a:lvl2pPr>
            <a:lvl3pPr lvl="2" algn="l">
              <a:lnSpc>
                <a:spcPct val="100000"/>
              </a:lnSpc>
              <a:spcBef>
                <a:spcPts val="0"/>
              </a:spcBef>
              <a:spcAft>
                <a:spcPts val="0"/>
              </a:spcAft>
              <a:buSzPts val="500"/>
              <a:buFont typeface="Arial"/>
              <a:buNone/>
              <a:defRPr sz="700"/>
            </a:lvl3pPr>
            <a:lvl4pPr lvl="3" algn="l">
              <a:lnSpc>
                <a:spcPct val="100000"/>
              </a:lnSpc>
              <a:spcBef>
                <a:spcPts val="0"/>
              </a:spcBef>
              <a:spcAft>
                <a:spcPts val="0"/>
              </a:spcAft>
              <a:buSzPts val="500"/>
              <a:buFont typeface="Arial"/>
              <a:buNone/>
              <a:defRPr sz="700"/>
            </a:lvl4pPr>
            <a:lvl5pPr lvl="4" algn="l">
              <a:lnSpc>
                <a:spcPct val="100000"/>
              </a:lnSpc>
              <a:spcBef>
                <a:spcPts val="0"/>
              </a:spcBef>
              <a:spcAft>
                <a:spcPts val="0"/>
              </a:spcAft>
              <a:buSzPts val="500"/>
              <a:buFont typeface="Arial"/>
              <a:buNone/>
              <a:defRPr sz="700"/>
            </a:lvl5pPr>
            <a:lvl6pPr lvl="5" algn="l">
              <a:lnSpc>
                <a:spcPct val="100000"/>
              </a:lnSpc>
              <a:spcBef>
                <a:spcPts val="0"/>
              </a:spcBef>
              <a:spcAft>
                <a:spcPts val="0"/>
              </a:spcAft>
              <a:buSzPts val="500"/>
              <a:buFont typeface="Arial"/>
              <a:buNone/>
              <a:defRPr sz="700"/>
            </a:lvl6pPr>
            <a:lvl7pPr lvl="6" algn="l">
              <a:lnSpc>
                <a:spcPct val="100000"/>
              </a:lnSpc>
              <a:spcBef>
                <a:spcPts val="0"/>
              </a:spcBef>
              <a:spcAft>
                <a:spcPts val="0"/>
              </a:spcAft>
              <a:buSzPts val="500"/>
              <a:buFont typeface="Arial"/>
              <a:buNone/>
              <a:defRPr sz="700"/>
            </a:lvl7pPr>
            <a:lvl8pPr lvl="7" algn="l">
              <a:lnSpc>
                <a:spcPct val="100000"/>
              </a:lnSpc>
              <a:spcBef>
                <a:spcPts val="0"/>
              </a:spcBef>
              <a:spcAft>
                <a:spcPts val="0"/>
              </a:spcAft>
              <a:buSzPts val="500"/>
              <a:buFont typeface="Arial"/>
              <a:buNone/>
              <a:defRPr sz="700"/>
            </a:lvl8pPr>
            <a:lvl9pPr lvl="8" algn="l">
              <a:lnSpc>
                <a:spcPct val="100000"/>
              </a:lnSpc>
              <a:spcBef>
                <a:spcPts val="0"/>
              </a:spcBef>
              <a:spcAft>
                <a:spcPts val="0"/>
              </a:spcAft>
              <a:buSzPts val="500"/>
              <a:buFont typeface="Arial"/>
              <a:buNone/>
              <a:defRPr sz="700"/>
            </a:lvl9pPr>
          </a:lstStyle>
          <a:p/>
        </p:txBody>
      </p:sp>
      <p:sp>
        <p:nvSpPr>
          <p:cNvPr id="108" name="Google Shape;108;p21"/>
          <p:cNvSpPr txBox="1"/>
          <p:nvPr>
            <p:ph idx="1" type="subTitle"/>
          </p:nvPr>
        </p:nvSpPr>
        <p:spPr>
          <a:xfrm>
            <a:off x="493926" y="3549825"/>
            <a:ext cx="7661100" cy="9708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
        <p:nvSpPr>
          <p:cNvPr id="109" name="Google Shape;109;p21"/>
          <p:cNvSpPr txBox="1"/>
          <p:nvPr>
            <p:ph idx="2" type="subTitle"/>
          </p:nvPr>
        </p:nvSpPr>
        <p:spPr>
          <a:xfrm>
            <a:off x="493923" y="4079316"/>
            <a:ext cx="7327800" cy="29871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sz="1800"/>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 name="Google Shape;7;p1"/>
          <p:cNvSpPr txBox="1"/>
          <p:nvPr>
            <p:ph idx="1" type="body"/>
          </p:nvPr>
        </p:nvSpPr>
        <p:spPr>
          <a:xfrm>
            <a:off x="509577" y="1401113"/>
            <a:ext cx="80058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Clr>
                <a:schemeClr val="dk2"/>
              </a:buClr>
              <a:buSzPts val="2200"/>
              <a:buFont typeface="Roboto"/>
              <a:buNone/>
              <a:defRPr i="0" sz="2200" u="none" cap="none" strike="noStrike">
                <a:solidFill>
                  <a:schemeClr val="dk2"/>
                </a:solidFill>
                <a:latin typeface="Roboto"/>
                <a:ea typeface="Roboto"/>
                <a:cs typeface="Roboto"/>
                <a:sym typeface="Roboto"/>
              </a:defRPr>
            </a:lvl1pPr>
            <a:lvl2pPr indent="-228600" lvl="1" marL="914400" marR="0" algn="l">
              <a:lnSpc>
                <a:spcPct val="90000"/>
              </a:lnSpc>
              <a:spcBef>
                <a:spcPts val="400"/>
              </a:spcBef>
              <a:spcAft>
                <a:spcPts val="0"/>
              </a:spcAft>
              <a:buClr>
                <a:schemeClr val="dk2"/>
              </a:buClr>
              <a:buSzPts val="1800"/>
              <a:buFont typeface="Roboto"/>
              <a:buNone/>
              <a:defRPr i="0" sz="1800" u="none" cap="none" strike="noStrike">
                <a:solidFill>
                  <a:schemeClr val="dk2"/>
                </a:solidFill>
                <a:latin typeface="Roboto"/>
                <a:ea typeface="Roboto"/>
                <a:cs typeface="Roboto"/>
                <a:sym typeface="Roboto"/>
              </a:defRPr>
            </a:lvl2pPr>
            <a:lvl3pPr indent="-228600" lvl="2" marL="1371600" marR="0" algn="l">
              <a:lnSpc>
                <a:spcPct val="90000"/>
              </a:lnSpc>
              <a:spcBef>
                <a:spcPts val="400"/>
              </a:spcBef>
              <a:spcAft>
                <a:spcPts val="0"/>
              </a:spcAft>
              <a:buClr>
                <a:schemeClr val="dk2"/>
              </a:buClr>
              <a:buSzPts val="1500"/>
              <a:buFont typeface="Roboto"/>
              <a:buNone/>
              <a:defRPr i="0" sz="1500" u="none" cap="none" strike="noStrike">
                <a:solidFill>
                  <a:schemeClr val="dk2"/>
                </a:solidFill>
                <a:latin typeface="Roboto"/>
                <a:ea typeface="Roboto"/>
                <a:cs typeface="Roboto"/>
                <a:sym typeface="Roboto"/>
              </a:defRPr>
            </a:lvl3pPr>
            <a:lvl4pPr indent="-228600" lvl="3" marL="1828800" marR="0" algn="l">
              <a:lnSpc>
                <a:spcPct val="90000"/>
              </a:lnSpc>
              <a:spcBef>
                <a:spcPts val="400"/>
              </a:spcBef>
              <a:spcAft>
                <a:spcPts val="0"/>
              </a:spcAft>
              <a:buClr>
                <a:schemeClr val="dk2"/>
              </a:buClr>
              <a:buSzPts val="1300"/>
              <a:buFont typeface="Roboto"/>
              <a:buNone/>
              <a:defRPr i="0" sz="1300" u="none" cap="none" strike="noStrike">
                <a:solidFill>
                  <a:schemeClr val="dk2"/>
                </a:solidFill>
                <a:latin typeface="Roboto"/>
                <a:ea typeface="Roboto"/>
                <a:cs typeface="Roboto"/>
                <a:sym typeface="Roboto"/>
              </a:defRPr>
            </a:lvl4pPr>
            <a:lvl5pPr indent="-228600" lvl="4" marL="2286000" marR="0" algn="l">
              <a:lnSpc>
                <a:spcPct val="90000"/>
              </a:lnSpc>
              <a:spcBef>
                <a:spcPts val="400"/>
              </a:spcBef>
              <a:spcAft>
                <a:spcPts val="0"/>
              </a:spcAft>
              <a:buClr>
                <a:schemeClr val="dk2"/>
              </a:buClr>
              <a:buSzPts val="1100"/>
              <a:buFont typeface="Roboto"/>
              <a:buNone/>
              <a:defRPr i="0" sz="1100" u="none" cap="none" strike="noStrike">
                <a:solidFill>
                  <a:schemeClr val="dk2"/>
                </a:solidFill>
                <a:latin typeface="Roboto"/>
                <a:ea typeface="Roboto"/>
                <a:cs typeface="Roboto"/>
                <a:sym typeface="Roboto"/>
              </a:defRPr>
            </a:lvl5pPr>
            <a:lvl6pPr indent="-285750" lvl="5" marL="2743200" marR="0" algn="l">
              <a:lnSpc>
                <a:spcPct val="90000"/>
              </a:lnSpc>
              <a:spcBef>
                <a:spcPts val="400"/>
              </a:spcBef>
              <a:spcAft>
                <a:spcPts val="0"/>
              </a:spcAft>
              <a:buClr>
                <a:schemeClr val="dk1"/>
              </a:buClr>
              <a:buSzPts val="900"/>
              <a:buFont typeface="Roboto"/>
              <a:buChar char="•"/>
              <a:defRPr i="0" sz="900" u="none" cap="none" strike="noStrike">
                <a:solidFill>
                  <a:schemeClr val="dk1"/>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sz="50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pic>
        <p:nvPicPr>
          <p:cNvPr id="8" name="Google Shape;8;p1"/>
          <p:cNvPicPr preferRelativeResize="0"/>
          <p:nvPr/>
        </p:nvPicPr>
        <p:blipFill rotWithShape="1">
          <a:blip r:embed="rId1">
            <a:alphaModFix/>
          </a:blip>
          <a:srcRect b="0" l="0" r="0" t="35296"/>
          <a:stretch/>
        </p:blipFill>
        <p:spPr>
          <a:xfrm>
            <a:off x="0" y="4794384"/>
            <a:ext cx="9144000" cy="34911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marL="0" indent="0">
              <a:buNone/>
            </a:pPr>
            <a:r>
              <a:t>CSCI 3495</a:t>
            </a:r>
          </a:p>
          <a:p>
            <a:pPr marL="0" indent="0">
              <a:buNone/>
            </a:pPr>
            <a:r>
              <a:t>Transformers by hand, then your project</a:t>
            </a:r>
          </a:p>
        </p:txBody>
      </p:sp>
      <p:sp>
        <p:nvSpPr>
          <p:cNvPr id="3" name="Subtitle 2"/>
          <p:cNvSpPr>
            <a:spLocks noGrp="1"/>
          </p:cNvSpPr>
          <p:nvPr>
            <p:ph type="subTitle" idx="1"/>
          </p:nvPr>
        </p:nvSpPr>
        <p:spPr>
          <a:xfrm>
            <a:off x="493926" y="3549825"/>
            <a:ext cx="5828502" cy="970800"/>
          </a:xfrm>
        </p:spPr>
        <p:txBody>
          <a:bodyPr wrap="square"/>
          <a:lstStyle/>
          <a:p>
            <a:pPr marL="0" indent="0">
              <a:buNone/>
            </a:pPr>
            <a:r>
              <a:t>Natural Language Processing &amp; Large Language Models</a:t>
            </a:r>
          </a:p>
          <a:p>
            <a:pPr marL="0" indent="0">
              <a:buNone/>
            </a:pPr>
            <a:r>
              <a:t>Week 7, Class 2  ·  Wed Oct 7, 2026</a:t>
            </a:r>
          </a:p>
        </p:txBody>
      </p:sp>
      <p:pic>
        <p:nvPicPr>
          <p:cNvPr id="5" name="Picture 4" descr="Transformers by hand, then your project"/>
          <p:cNvPicPr>
            <a:picLocks noChangeAspect="1"/>
          </p:cNvPicPr>
          <p:nvPr/>
        </p:nvPicPr>
        <p:blipFill>
          <a:blip r:embed="rId3"/>
          <a:stretch>
            <a:fillRect/>
          </a:stretch>
        </p:blipFill>
        <p:spPr>
          <a:xfrm>
            <a:off x="6551028" y="3474720"/>
            <a:ext cx="2227212" cy="1481328"/>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777777"/>
                </a:solidFill>
              </a:defRPr>
            </a:pPr>
            <a:r>
              <a:t>Source: Nenad Stojkovic, Wikimedia Commons, CC BY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Refresher: what attention computes</a:t>
            </a:r>
          </a:p>
        </p:txBody>
      </p:sp>
      <p:sp>
        <p:nvSpPr>
          <p:cNvPr id="5" name="Rounded Rectangle 4"/>
          <p:cNvSpPr/>
          <p:nvPr/>
        </p:nvSpPr>
        <p:spPr>
          <a:xfrm>
            <a:off x="457200" y="1078992"/>
            <a:ext cx="8229600" cy="1135380"/>
          </a:xfrm>
          <a:prstGeom prst="roundRect">
            <a:avLst>
              <a:gd name="adj" fmla="val 885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475488" cy="1135380"/>
          </a:xfrm>
          <a:prstGeom prst="rect">
            <a:avLst/>
          </a:prstGeom>
          <a:noFill/>
        </p:spPr>
        <p:txBody>
          <a:bodyPr wrap="none" anchor="ctr" lIns="0" rIns="0" tIns="0" bIns="0">
            <a:spAutoFit/>
          </a:bodyPr>
          <a:lstStyle/>
          <a:p>
            <a:pPr marL="0" indent="0" algn="l">
              <a:spcAft>
                <a:spcPts val="0"/>
              </a:spcAft>
              <a:buNone/>
            </a:pPr>
            <a:r>
              <a:rPr sz="2150" b="1">
                <a:solidFill>
                  <a:srgbClr val="1D1D1F"/>
                </a:solidFill>
                <a:latin typeface="Helvetica Neue"/>
              </a:rPr>
              <a:t>1</a:t>
            </a:r>
          </a:p>
        </p:txBody>
      </p:sp>
      <p:sp>
        <p:nvSpPr>
          <p:cNvPr id="7" name="TextBox 6"/>
          <p:cNvSpPr txBox="1"/>
          <p:nvPr/>
        </p:nvSpPr>
        <p:spPr>
          <a:xfrm>
            <a:off x="1170432" y="1078992"/>
            <a:ext cx="7278624" cy="1135380"/>
          </a:xfrm>
          <a:prstGeom prst="rect">
            <a:avLst/>
          </a:prstGeom>
          <a:noFill/>
        </p:spPr>
        <p:txBody>
          <a:bodyPr wrap="square" anchor="ctr" lIns="0" rIns="0" tIns="0" bIns="0">
            <a:spAutoFit/>
          </a:bodyPr>
          <a:lstStyle/>
          <a:p>
            <a:pPr marL="0" indent="0" algn="l">
              <a:spcAft>
                <a:spcPts val="0"/>
              </a:spcAft>
              <a:buNone/>
            </a:pPr>
            <a:r>
              <a:rPr sz="1550" b="0">
                <a:solidFill>
                  <a:srgbClr val="1D1D1F"/>
                </a:solidFill>
                <a:latin typeface="Menlo"/>
              </a:rPr>
              <a:t>Score every key against the query</a:t>
            </a:r>
          </a:p>
        </p:txBody>
      </p:sp>
      <p:sp>
        <p:nvSpPr>
          <p:cNvPr id="8" name="Rounded Rectangle 7"/>
          <p:cNvSpPr/>
          <p:nvPr/>
        </p:nvSpPr>
        <p:spPr>
          <a:xfrm>
            <a:off x="457200" y="2305812"/>
            <a:ext cx="8229600" cy="1135380"/>
          </a:xfrm>
          <a:prstGeom prst="roundRect">
            <a:avLst>
              <a:gd name="adj" fmla="val 885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2305812"/>
            <a:ext cx="475488" cy="1135380"/>
          </a:xfrm>
          <a:prstGeom prst="rect">
            <a:avLst/>
          </a:prstGeom>
          <a:noFill/>
        </p:spPr>
        <p:txBody>
          <a:bodyPr wrap="none" anchor="ctr" lIns="0" rIns="0" tIns="0" bIns="0">
            <a:spAutoFit/>
          </a:bodyPr>
          <a:lstStyle/>
          <a:p>
            <a:pPr marL="0" indent="0" algn="l">
              <a:spcAft>
                <a:spcPts val="0"/>
              </a:spcAft>
              <a:buNone/>
            </a:pPr>
            <a:r>
              <a:rPr sz="2150" b="1">
                <a:solidFill>
                  <a:srgbClr val="1D1D1F"/>
                </a:solidFill>
                <a:latin typeface="Helvetica Neue"/>
              </a:rPr>
              <a:t>2</a:t>
            </a:r>
          </a:p>
        </p:txBody>
      </p:sp>
      <p:sp>
        <p:nvSpPr>
          <p:cNvPr id="10" name="TextBox 9"/>
          <p:cNvSpPr txBox="1"/>
          <p:nvPr/>
        </p:nvSpPr>
        <p:spPr>
          <a:xfrm>
            <a:off x="1170432" y="2305812"/>
            <a:ext cx="7278624" cy="1135380"/>
          </a:xfrm>
          <a:prstGeom prst="rect">
            <a:avLst/>
          </a:prstGeom>
          <a:noFill/>
        </p:spPr>
        <p:txBody>
          <a:bodyPr wrap="square" anchor="ctr" lIns="0" rIns="0" tIns="0" bIns="0">
            <a:spAutoFit/>
          </a:bodyPr>
          <a:lstStyle/>
          <a:p>
            <a:pPr marL="0" indent="0" algn="l">
              <a:spcAft>
                <a:spcPts val="0"/>
              </a:spcAft>
              <a:buNone/>
            </a:pPr>
            <a:r>
              <a:rPr sz="1550" b="0">
                <a:solidFill>
                  <a:srgbClr val="1D1D1F"/>
                </a:solidFill>
                <a:latin typeface="Menlo"/>
              </a:rPr>
              <a:t>Turn the scores into weights with softmax, so they sum to 1</a:t>
            </a:r>
          </a:p>
        </p:txBody>
      </p:sp>
      <p:sp>
        <p:nvSpPr>
          <p:cNvPr id="11" name="Rounded Rectangle 10"/>
          <p:cNvSpPr/>
          <p:nvPr/>
        </p:nvSpPr>
        <p:spPr>
          <a:xfrm>
            <a:off x="457200" y="3532632"/>
            <a:ext cx="8229600" cy="1135380"/>
          </a:xfrm>
          <a:prstGeom prst="roundRect">
            <a:avLst>
              <a:gd name="adj" fmla="val 885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3532632"/>
            <a:ext cx="475488" cy="1135380"/>
          </a:xfrm>
          <a:prstGeom prst="rect">
            <a:avLst/>
          </a:prstGeom>
          <a:noFill/>
        </p:spPr>
        <p:txBody>
          <a:bodyPr wrap="none" anchor="ctr" lIns="0" rIns="0" tIns="0" bIns="0">
            <a:spAutoFit/>
          </a:bodyPr>
          <a:lstStyle/>
          <a:p>
            <a:pPr marL="0" indent="0" algn="l">
              <a:spcAft>
                <a:spcPts val="0"/>
              </a:spcAft>
              <a:buNone/>
            </a:pPr>
            <a:r>
              <a:rPr sz="2150" b="1">
                <a:solidFill>
                  <a:srgbClr val="1D1D1F"/>
                </a:solidFill>
                <a:latin typeface="Helvetica Neue"/>
              </a:rPr>
              <a:t>3</a:t>
            </a:r>
          </a:p>
        </p:txBody>
      </p:sp>
      <p:sp>
        <p:nvSpPr>
          <p:cNvPr id="13" name="TextBox 12"/>
          <p:cNvSpPr txBox="1"/>
          <p:nvPr/>
        </p:nvSpPr>
        <p:spPr>
          <a:xfrm>
            <a:off x="1170432" y="3532632"/>
            <a:ext cx="7278624" cy="1135380"/>
          </a:xfrm>
          <a:prstGeom prst="rect">
            <a:avLst/>
          </a:prstGeom>
          <a:noFill/>
        </p:spPr>
        <p:txBody>
          <a:bodyPr wrap="square" anchor="ctr" lIns="0" rIns="0" tIns="0" bIns="0">
            <a:spAutoFit/>
          </a:bodyPr>
          <a:lstStyle/>
          <a:p>
            <a:pPr marL="0" indent="0" algn="l">
              <a:spcAft>
                <a:spcPts val="0"/>
              </a:spcAft>
              <a:buNone/>
            </a:pPr>
            <a:r>
              <a:rPr sz="1550" b="0">
                <a:solidFill>
                  <a:srgbClr val="1D1D1F"/>
                </a:solidFill>
                <a:latin typeface="Menlo"/>
              </a:rPr>
              <a:t>Average the values, weighted by those numbers</a:t>
            </a:r>
          </a:p>
        </p:txBody>
      </p:sp>
      <p:sp>
        <p:nvSpPr>
          <p:cNvPr id="14" name="TextBox 13"/>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Refresher: heads, positions, and cost</a:t>
            </a:r>
          </a:p>
        </p:txBody>
      </p:sp>
      <p:sp>
        <p:nvSpPr>
          <p:cNvPr id="5" name="Rounded Rectangle 4"/>
          <p:cNvSpPr/>
          <p:nvPr/>
        </p:nvSpPr>
        <p:spPr>
          <a:xfrm>
            <a:off x="457200" y="2345563"/>
            <a:ext cx="2645664" cy="1055878"/>
          </a:xfrm>
          <a:prstGeom prst="roundRect">
            <a:avLst>
              <a:gd name="adj" fmla="val 1125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491867"/>
            <a:ext cx="2279904" cy="763270"/>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MULTI-HEAD</a:t>
            </a:r>
          </a:p>
          <a:p>
            <a:pPr marL="0" indent="0">
              <a:spcAft>
                <a:spcPts val="300"/>
              </a:spcAft>
              <a:buNone/>
            </a:pPr>
            <a:r>
              <a:rPr sz="1300" b="0" u="none">
                <a:solidFill>
                  <a:srgbClr val="1D1D1F"/>
                </a:solidFill>
                <a:latin typeface="Menlo"/>
              </a:rPr>
              <a:t>h heads, side by side</a:t>
            </a:r>
          </a:p>
          <a:p>
            <a:pPr marL="0" indent="0" algn="l">
              <a:spcAft>
                <a:spcPts val="200"/>
              </a:spcAft>
              <a:buNone/>
            </a:pPr>
            <a:r>
              <a:rPr sz="1100" b="0">
                <a:solidFill>
                  <a:srgbClr val="86868B"/>
                </a:solidFill>
                <a:latin typeface="Helvetica Neue"/>
              </a:rPr>
              <a:t>One WQ, WK, WV per head; one WO at the end.</a:t>
            </a:r>
          </a:p>
        </p:txBody>
      </p:sp>
      <p:sp>
        <p:nvSpPr>
          <p:cNvPr id="7" name="Rounded Rectangle 6"/>
          <p:cNvSpPr/>
          <p:nvPr/>
        </p:nvSpPr>
        <p:spPr>
          <a:xfrm>
            <a:off x="3249168" y="2345563"/>
            <a:ext cx="2645664" cy="1055878"/>
          </a:xfrm>
          <a:prstGeom prst="roundRect">
            <a:avLst>
              <a:gd name="adj" fmla="val 1125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32048" y="2491867"/>
            <a:ext cx="2279904" cy="763270"/>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POSITIONAL ENCODING</a:t>
            </a:r>
          </a:p>
          <a:p>
            <a:pPr marL="0" indent="0">
              <a:spcAft>
                <a:spcPts val="300"/>
              </a:spcAft>
              <a:buNone/>
            </a:pPr>
            <a:r>
              <a:rPr sz="1300" b="0" u="none">
                <a:solidFill>
                  <a:srgbClr val="1D1D1F"/>
                </a:solidFill>
                <a:latin typeface="Menlo"/>
              </a:rPr>
              <a:t>added to the embedding</a:t>
            </a:r>
          </a:p>
          <a:p>
            <a:pPr marL="0" indent="0" algn="l">
              <a:spcAft>
                <a:spcPts val="200"/>
              </a:spcAft>
              <a:buNone/>
            </a:pPr>
            <a:r>
              <a:rPr sz="1100" b="0">
                <a:solidFill>
                  <a:srgbClr val="86868B"/>
                </a:solidFill>
                <a:latin typeface="Helvetica Neue"/>
              </a:rPr>
              <a:t>Pair i has wavelength 2 x 10000^(2i/d).</a:t>
            </a:r>
          </a:p>
        </p:txBody>
      </p:sp>
      <p:sp>
        <p:nvSpPr>
          <p:cNvPr id="9" name="Rounded Rectangle 8"/>
          <p:cNvSpPr/>
          <p:nvPr/>
        </p:nvSpPr>
        <p:spPr>
          <a:xfrm>
            <a:off x="6041136" y="2345563"/>
            <a:ext cx="2645664" cy="1055878"/>
          </a:xfrm>
          <a:prstGeom prst="roundRect">
            <a:avLst>
              <a:gd name="adj" fmla="val 1125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24016" y="2491867"/>
            <a:ext cx="2279904" cy="763270"/>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COST PER LAYER</a:t>
            </a:r>
          </a:p>
          <a:p>
            <a:pPr marL="0" indent="0">
              <a:spcAft>
                <a:spcPts val="300"/>
              </a:spcAft>
              <a:buNone/>
            </a:pPr>
            <a:r>
              <a:rPr sz="1300" b="0" u="none">
                <a:solidFill>
                  <a:srgbClr val="1D1D1F"/>
                </a:solidFill>
                <a:latin typeface="Menlo"/>
              </a:rPr>
              <a:t>n tokens, width d</a:t>
            </a:r>
          </a:p>
          <a:p>
            <a:pPr marL="0" indent="0" algn="l">
              <a:spcAft>
                <a:spcPts val="200"/>
              </a:spcAft>
              <a:buNone/>
            </a:pPr>
            <a:r>
              <a:rPr sz="1100" b="0">
                <a:solidFill>
                  <a:srgbClr val="86868B"/>
                </a:solidFill>
                <a:latin typeface="Helvetica Neue"/>
              </a:rPr>
              <a:t>Attention runs all n positions at once. Recurrence cannot.</a:t>
            </a:r>
          </a:p>
        </p:txBody>
      </p:sp>
      <p:sp>
        <p:nvSpPr>
          <p:cNvPr id="11" name="TextBox 10"/>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Problem 1: one attention step</a:t>
            </a:r>
          </a:p>
        </p:txBody>
      </p:sp>
      <p:sp>
        <p:nvSpPr>
          <p:cNvPr id="5" name="Rounded Rectangle 4"/>
          <p:cNvSpPr/>
          <p:nvPr/>
        </p:nvSpPr>
        <p:spPr>
          <a:xfrm>
            <a:off x="457200" y="1078992"/>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GIVEN, DK = 4</a:t>
            </a:r>
          </a:p>
        </p:txBody>
      </p:sp>
      <p:sp>
        <p:nvSpPr>
          <p:cNvPr id="7" name="TextBox 6"/>
          <p:cNvSpPr txBox="1"/>
          <p:nvPr/>
        </p:nvSpPr>
        <p:spPr>
          <a:xfrm>
            <a:off x="2523744" y="1078992"/>
            <a:ext cx="5925312" cy="842391"/>
          </a:xfrm>
          <a:prstGeom prst="rect">
            <a:avLst/>
          </a:prstGeom>
          <a:noFill/>
        </p:spPr>
        <p:txBody>
          <a:bodyPr wrap="none" anchor="ctr" lIns="0" rIns="0" tIns="0" bIns="0">
            <a:spAutoFit/>
          </a:bodyPr>
          <a:lstStyle/>
          <a:p>
            <a:pPr marL="0" indent="0" algn="l">
              <a:spcAft>
                <a:spcPts val="0"/>
              </a:spcAft>
              <a:buNone/>
            </a:pPr>
            <a:r>
              <a:rPr sz="1000" b="0">
                <a:solidFill>
                  <a:srgbClr val="1D1D1F"/>
                </a:solidFill>
                <a:latin typeface="Menlo"/>
              </a:rPr>
              <a:t>q = [1, 0, 1, 0] k1 = [2, 0, 2, 0]   v1 = [1, 0] k2 = [0, 1, 0, 1]   v2 = [0, 1] k3 = [1, 0, 1, 0]   v3 = [1, 1]</a:t>
            </a:r>
          </a:p>
        </p:txBody>
      </p:sp>
      <p:sp>
        <p:nvSpPr>
          <p:cNvPr id="8" name="Rounded Rectangle 7"/>
          <p:cNvSpPr/>
          <p:nvPr/>
        </p:nvSpPr>
        <p:spPr>
          <a:xfrm>
            <a:off x="457200" y="1994535"/>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1994535"/>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1</a:t>
            </a:r>
          </a:p>
        </p:txBody>
      </p:sp>
      <p:sp>
        <p:nvSpPr>
          <p:cNvPr id="10" name="TextBox 9"/>
          <p:cNvSpPr txBox="1"/>
          <p:nvPr/>
        </p:nvSpPr>
        <p:spPr>
          <a:xfrm>
            <a:off x="2523744" y="1994535"/>
            <a:ext cx="5925312" cy="842391"/>
          </a:xfrm>
          <a:prstGeom prst="rect">
            <a:avLst/>
          </a:prstGeom>
          <a:noFill/>
        </p:spPr>
        <p:txBody>
          <a:bodyPr wrap="none" anchor="ctr" lIns="0" rIns="0" tIns="0" bIns="0">
            <a:spAutoFit/>
          </a:bodyPr>
          <a:lstStyle/>
          <a:p>
            <a:pPr marL="0" indent="0" algn="l">
              <a:spcAft>
                <a:spcPts val="0"/>
              </a:spcAft>
              <a:buNone/>
            </a:pPr>
            <a:r>
              <a:rPr sz="1000" b="0">
                <a:solidFill>
                  <a:srgbClr val="1D1D1F"/>
                </a:solidFill>
                <a:latin typeface="Menlo"/>
              </a:rPr>
              <a:t>Compute the attention weights a1, a2, a3</a:t>
            </a:r>
          </a:p>
        </p:txBody>
      </p:sp>
      <p:sp>
        <p:nvSpPr>
          <p:cNvPr id="11" name="Rounded Rectangle 10"/>
          <p:cNvSpPr/>
          <p:nvPr/>
        </p:nvSpPr>
        <p:spPr>
          <a:xfrm>
            <a:off x="457200" y="2910078"/>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2910078"/>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2</a:t>
            </a:r>
          </a:p>
        </p:txBody>
      </p:sp>
      <p:sp>
        <p:nvSpPr>
          <p:cNvPr id="13" name="TextBox 12"/>
          <p:cNvSpPr txBox="1"/>
          <p:nvPr/>
        </p:nvSpPr>
        <p:spPr>
          <a:xfrm>
            <a:off x="2523744" y="2910078"/>
            <a:ext cx="5925312" cy="842391"/>
          </a:xfrm>
          <a:prstGeom prst="rect">
            <a:avLst/>
          </a:prstGeom>
          <a:noFill/>
        </p:spPr>
        <p:txBody>
          <a:bodyPr wrap="none" anchor="ctr" lIns="0" rIns="0" tIns="0" bIns="0">
            <a:spAutoFit/>
          </a:bodyPr>
          <a:lstStyle/>
          <a:p>
            <a:pPr marL="0" indent="0" algn="l">
              <a:spcAft>
                <a:spcPts val="0"/>
              </a:spcAft>
              <a:buNone/>
            </a:pPr>
            <a:r>
              <a:rPr sz="1000" b="0">
                <a:solidFill>
                  <a:srgbClr val="1D1D1F"/>
                </a:solidFill>
                <a:latin typeface="Menlo"/>
              </a:rPr>
              <a:t>Compute the output vector</a:t>
            </a:r>
          </a:p>
        </p:txBody>
      </p:sp>
      <p:sp>
        <p:nvSpPr>
          <p:cNvPr id="14" name="Rounded Rectangle 13"/>
          <p:cNvSpPr/>
          <p:nvPr/>
        </p:nvSpPr>
        <p:spPr>
          <a:xfrm>
            <a:off x="457200" y="3825621"/>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3825621"/>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YOU MAY NEED</a:t>
            </a:r>
          </a:p>
        </p:txBody>
      </p:sp>
      <p:sp>
        <p:nvSpPr>
          <p:cNvPr id="16" name="TextBox 15"/>
          <p:cNvSpPr txBox="1"/>
          <p:nvPr/>
        </p:nvSpPr>
        <p:spPr>
          <a:xfrm>
            <a:off x="2523744" y="3825621"/>
            <a:ext cx="5925312" cy="842391"/>
          </a:xfrm>
          <a:prstGeom prst="rect">
            <a:avLst/>
          </a:prstGeom>
          <a:noFill/>
        </p:spPr>
        <p:txBody>
          <a:bodyPr wrap="none" anchor="ctr" lIns="0" rIns="0" tIns="0" bIns="0">
            <a:spAutoFit/>
          </a:bodyPr>
          <a:lstStyle/>
          <a:p>
            <a:pPr marL="0" indent="0" algn="l">
              <a:spcAft>
                <a:spcPts val="0"/>
              </a:spcAft>
              <a:buNone/>
            </a:pPr>
            <a:r>
              <a:rPr sz="1000" b="0">
                <a:solidFill>
                  <a:srgbClr val="1D1D1F"/>
                </a:solidFill>
                <a:latin typeface="Menlo"/>
              </a:rPr>
              <a:t>e^0 = 1.000   e^1 = 2.718   e^2 = 7.389</a:t>
            </a:r>
          </a:p>
        </p:txBody>
      </p:sp>
      <p:sp>
        <p:nvSpPr>
          <p:cNvPr id="17" name="TextBox 16"/>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Problem 2: the causal mask</a:t>
            </a:r>
          </a:p>
        </p:txBody>
      </p:sp>
      <p:sp>
        <p:nvSpPr>
          <p:cNvPr id="5" name="Rounded Rectangle 4"/>
          <p:cNvSpPr/>
          <p:nvPr/>
        </p:nvSpPr>
        <p:spPr>
          <a:xfrm>
            <a:off x="457200" y="1078992"/>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GIVEN</a:t>
            </a:r>
          </a:p>
        </p:txBody>
      </p:sp>
      <p:sp>
        <p:nvSpPr>
          <p:cNvPr id="7" name="TextBox 6"/>
          <p:cNvSpPr txBox="1"/>
          <p:nvPr/>
        </p:nvSpPr>
        <p:spPr>
          <a:xfrm>
            <a:off x="2523744" y="1078992"/>
            <a:ext cx="5925312" cy="842391"/>
          </a:xfrm>
          <a:prstGeom prst="rect">
            <a:avLst/>
          </a:prstGeom>
          <a:noFill/>
        </p:spPr>
        <p:txBody>
          <a:bodyPr wrap="none" anchor="ctr" lIns="0" rIns="0" tIns="0" bIns="0">
            <a:spAutoFit/>
          </a:bodyPr>
          <a:lstStyle/>
          <a:p>
            <a:pPr marL="0" indent="0" algn="l">
              <a:spcAft>
                <a:spcPts val="0"/>
              </a:spcAft>
              <a:buNone/>
            </a:pPr>
            <a:r>
              <a:rPr sz="1450" b="0">
                <a:solidFill>
                  <a:srgbClr val="1D1D1F"/>
                </a:solidFill>
                <a:latin typeface="Menlo"/>
              </a:rPr>
              <a:t>four tokens, scaled scores for token 3: 1, 2, 0, 3</a:t>
            </a:r>
          </a:p>
        </p:txBody>
      </p:sp>
      <p:sp>
        <p:nvSpPr>
          <p:cNvPr id="8" name="Rounded Rectangle 7"/>
          <p:cNvSpPr/>
          <p:nvPr/>
        </p:nvSpPr>
        <p:spPr>
          <a:xfrm>
            <a:off x="457200" y="1994535"/>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1994535"/>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1</a:t>
            </a:r>
          </a:p>
        </p:txBody>
      </p:sp>
      <p:sp>
        <p:nvSpPr>
          <p:cNvPr id="10" name="TextBox 9"/>
          <p:cNvSpPr txBox="1"/>
          <p:nvPr/>
        </p:nvSpPr>
        <p:spPr>
          <a:xfrm>
            <a:off x="2523744" y="1994535"/>
            <a:ext cx="5925312" cy="842391"/>
          </a:xfrm>
          <a:prstGeom prst="rect">
            <a:avLst/>
          </a:prstGeom>
          <a:noFill/>
        </p:spPr>
        <p:txBody>
          <a:bodyPr wrap="none" anchor="ctr" lIns="0" rIns="0" tIns="0" bIns="0">
            <a:spAutoFit/>
          </a:bodyPr>
          <a:lstStyle/>
          <a:p>
            <a:pPr marL="0" indent="0" algn="l">
              <a:spcAft>
                <a:spcPts val="0"/>
              </a:spcAft>
              <a:buNone/>
            </a:pPr>
            <a:r>
              <a:rPr sz="1450" b="0">
                <a:solidFill>
                  <a:srgbClr val="1D1D1F"/>
                </a:solidFill>
                <a:latin typeface="Menlo"/>
              </a:rPr>
              <a:t>Which scores survive the causal mask?</a:t>
            </a:r>
          </a:p>
        </p:txBody>
      </p:sp>
      <p:sp>
        <p:nvSpPr>
          <p:cNvPr id="11" name="Rounded Rectangle 10"/>
          <p:cNvSpPr/>
          <p:nvPr/>
        </p:nvSpPr>
        <p:spPr>
          <a:xfrm>
            <a:off x="457200" y="2910078"/>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2910078"/>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2</a:t>
            </a:r>
          </a:p>
        </p:txBody>
      </p:sp>
      <p:sp>
        <p:nvSpPr>
          <p:cNvPr id="13" name="TextBox 12"/>
          <p:cNvSpPr txBox="1"/>
          <p:nvPr/>
        </p:nvSpPr>
        <p:spPr>
          <a:xfrm>
            <a:off x="2523744" y="2910078"/>
            <a:ext cx="5925312" cy="842391"/>
          </a:xfrm>
          <a:prstGeom prst="rect">
            <a:avLst/>
          </a:prstGeom>
          <a:noFill/>
        </p:spPr>
        <p:txBody>
          <a:bodyPr wrap="none" anchor="ctr" lIns="0" rIns="0" tIns="0" bIns="0">
            <a:spAutoFit/>
          </a:bodyPr>
          <a:lstStyle/>
          <a:p>
            <a:pPr marL="0" indent="0" algn="l">
              <a:spcAft>
                <a:spcPts val="0"/>
              </a:spcAft>
              <a:buNone/>
            </a:pPr>
            <a:r>
              <a:rPr sz="1450" b="0">
                <a:solidFill>
                  <a:srgbClr val="1D1D1F"/>
                </a:solidFill>
                <a:latin typeface="Menlo"/>
              </a:rPr>
              <a:t>Compute the attention weights over the survivors</a:t>
            </a:r>
          </a:p>
        </p:txBody>
      </p:sp>
      <p:sp>
        <p:nvSpPr>
          <p:cNvPr id="14" name="Rounded Rectangle 13"/>
          <p:cNvSpPr/>
          <p:nvPr/>
        </p:nvSpPr>
        <p:spPr>
          <a:xfrm>
            <a:off x="457200" y="3825621"/>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3825621"/>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YOU MAY NEED</a:t>
            </a:r>
          </a:p>
        </p:txBody>
      </p:sp>
      <p:sp>
        <p:nvSpPr>
          <p:cNvPr id="16" name="TextBox 15"/>
          <p:cNvSpPr txBox="1"/>
          <p:nvPr/>
        </p:nvSpPr>
        <p:spPr>
          <a:xfrm>
            <a:off x="2523744" y="3825621"/>
            <a:ext cx="5925312" cy="842391"/>
          </a:xfrm>
          <a:prstGeom prst="rect">
            <a:avLst/>
          </a:prstGeom>
          <a:noFill/>
        </p:spPr>
        <p:txBody>
          <a:bodyPr wrap="none" anchor="ctr" lIns="0" rIns="0" tIns="0" bIns="0">
            <a:spAutoFit/>
          </a:bodyPr>
          <a:lstStyle/>
          <a:p>
            <a:pPr marL="0" indent="0" algn="l">
              <a:spcAft>
                <a:spcPts val="0"/>
              </a:spcAft>
              <a:buNone/>
            </a:pPr>
            <a:r>
              <a:rPr sz="1450" b="0">
                <a:solidFill>
                  <a:srgbClr val="1D1D1F"/>
                </a:solidFill>
                <a:latin typeface="Menlo"/>
              </a:rPr>
              <a:t>e^0 = 1.000   e^1 = 2.718   e^2 = 7.389</a:t>
            </a:r>
          </a:p>
        </p:txBody>
      </p:sp>
      <p:sp>
        <p:nvSpPr>
          <p:cNvPr id="17" name="TextBox 16"/>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Problem 3: why the square root</a:t>
            </a:r>
          </a:p>
        </p:txBody>
      </p:sp>
      <p:sp>
        <p:nvSpPr>
          <p:cNvPr id="5" name="Rounded Rectangle 4"/>
          <p:cNvSpPr/>
          <p:nvPr/>
        </p:nvSpPr>
        <p:spPr>
          <a:xfrm>
            <a:off x="457200" y="1078992"/>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GIVEN, DK = 4</a:t>
            </a:r>
          </a:p>
        </p:txBody>
      </p:sp>
      <p:sp>
        <p:nvSpPr>
          <p:cNvPr id="7" name="TextBox 6"/>
          <p:cNvSpPr txBox="1"/>
          <p:nvPr/>
        </p:nvSpPr>
        <p:spPr>
          <a:xfrm>
            <a:off x="2523744" y="1078992"/>
            <a:ext cx="5925312" cy="842391"/>
          </a:xfrm>
          <a:prstGeom prst="rect">
            <a:avLst/>
          </a:prstGeom>
          <a:noFill/>
        </p:spPr>
        <p:txBody>
          <a:bodyPr wrap="none" anchor="ctr" lIns="0" rIns="0" tIns="0" bIns="0">
            <a:spAutoFit/>
          </a:bodyPr>
          <a:lstStyle/>
          <a:p>
            <a:pPr marL="0" indent="0" algn="l">
              <a:spcAft>
                <a:spcPts val="0"/>
              </a:spcAft>
              <a:buNone/>
            </a:pPr>
            <a:r>
              <a:rPr sz="1500" b="0">
                <a:solidFill>
                  <a:srgbClr val="1D1D1F"/>
                </a:solidFill>
                <a:latin typeface="Menlo"/>
              </a:rPr>
              <a:t>q.k1 = 8      q.k2 = 4      q.k3 = 2</a:t>
            </a:r>
          </a:p>
        </p:txBody>
      </p:sp>
      <p:sp>
        <p:nvSpPr>
          <p:cNvPr id="8" name="Rounded Rectangle 7"/>
          <p:cNvSpPr/>
          <p:nvPr/>
        </p:nvSpPr>
        <p:spPr>
          <a:xfrm>
            <a:off x="457200" y="1994535"/>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1994535"/>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1</a:t>
            </a:r>
          </a:p>
        </p:txBody>
      </p:sp>
      <p:sp>
        <p:nvSpPr>
          <p:cNvPr id="10" name="TextBox 9"/>
          <p:cNvSpPr txBox="1"/>
          <p:nvPr/>
        </p:nvSpPr>
        <p:spPr>
          <a:xfrm>
            <a:off x="2523744" y="1994535"/>
            <a:ext cx="5925312" cy="842391"/>
          </a:xfrm>
          <a:prstGeom prst="rect">
            <a:avLst/>
          </a:prstGeom>
          <a:noFill/>
        </p:spPr>
        <p:txBody>
          <a:bodyPr wrap="none" anchor="ctr" lIns="0" rIns="0" tIns="0" bIns="0">
            <a:spAutoFit/>
          </a:bodyPr>
          <a:lstStyle/>
          <a:p>
            <a:pPr marL="0" indent="0" algn="l">
              <a:spcAft>
                <a:spcPts val="0"/>
              </a:spcAft>
              <a:buNone/>
            </a:pPr>
            <a:r>
              <a:rPr sz="1500" b="0">
                <a:solidFill>
                  <a:srgbClr val="1D1D1F"/>
                </a:solidFill>
                <a:latin typeface="Menlo"/>
              </a:rPr>
              <a:t>Compute the weights without scaling, then with it</a:t>
            </a:r>
          </a:p>
        </p:txBody>
      </p:sp>
      <p:sp>
        <p:nvSpPr>
          <p:cNvPr id="11" name="Rounded Rectangle 10"/>
          <p:cNvSpPr/>
          <p:nvPr/>
        </p:nvSpPr>
        <p:spPr>
          <a:xfrm>
            <a:off x="457200" y="2910078"/>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2910078"/>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2</a:t>
            </a:r>
          </a:p>
        </p:txBody>
      </p:sp>
      <p:sp>
        <p:nvSpPr>
          <p:cNvPr id="13" name="TextBox 12"/>
          <p:cNvSpPr txBox="1"/>
          <p:nvPr/>
        </p:nvSpPr>
        <p:spPr>
          <a:xfrm>
            <a:off x="2523744" y="2910078"/>
            <a:ext cx="5925312" cy="842391"/>
          </a:xfrm>
          <a:prstGeom prst="rect">
            <a:avLst/>
          </a:prstGeom>
          <a:noFill/>
        </p:spPr>
        <p:txBody>
          <a:bodyPr wrap="none" anchor="ctr" lIns="0" rIns="0" tIns="0" bIns="0">
            <a:spAutoFit/>
          </a:bodyPr>
          <a:lstStyle/>
          <a:p>
            <a:pPr marL="0" indent="0" algn="l">
              <a:spcAft>
                <a:spcPts val="0"/>
              </a:spcAft>
              <a:buNone/>
            </a:pPr>
            <a:r>
              <a:rPr sz="1500" b="0">
                <a:solidFill>
                  <a:srgbClr val="1D1D1F"/>
                </a:solidFill>
                <a:latin typeface="Menlo"/>
              </a:rPr>
              <a:t>Which is harder to train from, and why?</a:t>
            </a:r>
          </a:p>
        </p:txBody>
      </p:sp>
      <p:sp>
        <p:nvSpPr>
          <p:cNvPr id="14" name="Rounded Rectangle 13"/>
          <p:cNvSpPr/>
          <p:nvPr/>
        </p:nvSpPr>
        <p:spPr>
          <a:xfrm>
            <a:off x="457200" y="3825621"/>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3825621"/>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YOU MAY NEED</a:t>
            </a:r>
          </a:p>
        </p:txBody>
      </p:sp>
      <p:sp>
        <p:nvSpPr>
          <p:cNvPr id="16" name="TextBox 15"/>
          <p:cNvSpPr txBox="1"/>
          <p:nvPr/>
        </p:nvSpPr>
        <p:spPr>
          <a:xfrm>
            <a:off x="2523744" y="3825621"/>
            <a:ext cx="5925312" cy="842391"/>
          </a:xfrm>
          <a:prstGeom prst="rect">
            <a:avLst/>
          </a:prstGeom>
          <a:noFill/>
        </p:spPr>
        <p:txBody>
          <a:bodyPr wrap="none" anchor="ctr" lIns="0" rIns="0" tIns="0" bIns="0">
            <a:spAutoFit/>
          </a:bodyPr>
          <a:lstStyle/>
          <a:p>
            <a:pPr marL="0" indent="0" algn="l">
              <a:spcAft>
                <a:spcPts val="0"/>
              </a:spcAft>
              <a:buNone/>
            </a:pPr>
            <a:r>
              <a:rPr sz="1500" b="0">
                <a:solidFill>
                  <a:srgbClr val="1D1D1F"/>
                </a:solidFill>
                <a:latin typeface="Menlo"/>
              </a:rPr>
              <a:t>e^1 = 2.72   e^2 = 7.39   e^4 = 54.6   e^8 = 2981</a:t>
            </a:r>
          </a:p>
        </p:txBody>
      </p:sp>
      <p:sp>
        <p:nvSpPr>
          <p:cNvPr id="17" name="TextBox 16"/>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Problem 4: counting the parameters</a:t>
            </a:r>
          </a:p>
        </p:txBody>
      </p:sp>
      <p:sp>
        <p:nvSpPr>
          <p:cNvPr id="5" name="Rounded Rectangle 4"/>
          <p:cNvSpPr/>
          <p:nvPr/>
        </p:nvSpPr>
        <p:spPr>
          <a:xfrm>
            <a:off x="457200" y="1078992"/>
            <a:ext cx="8229600" cy="1147572"/>
          </a:xfrm>
          <a:prstGeom prst="roundRect">
            <a:avLst>
              <a:gd name="adj" fmla="val 796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1828800" cy="1147572"/>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GIVEN</a:t>
            </a:r>
          </a:p>
        </p:txBody>
      </p:sp>
      <p:sp>
        <p:nvSpPr>
          <p:cNvPr id="7" name="TextBox 6"/>
          <p:cNvSpPr txBox="1"/>
          <p:nvPr/>
        </p:nvSpPr>
        <p:spPr>
          <a:xfrm>
            <a:off x="2523744" y="1078992"/>
            <a:ext cx="5925312" cy="1147572"/>
          </a:xfrm>
          <a:prstGeom prst="rect">
            <a:avLst/>
          </a:prstGeom>
          <a:noFill/>
        </p:spPr>
        <p:txBody>
          <a:bodyPr wrap="none" anchor="ctr" lIns="0" rIns="0" tIns="0" bIns="0">
            <a:spAutoFit/>
          </a:bodyPr>
          <a:lstStyle/>
          <a:p>
            <a:pPr marL="0" indent="0" algn="l">
              <a:spcAft>
                <a:spcPts val="0"/>
              </a:spcAft>
              <a:buNone/>
            </a:pPr>
            <a:r>
              <a:rPr sz="1050" b="0">
                <a:solidFill>
                  <a:srgbClr val="1D1D1F"/>
                </a:solidFill>
                <a:latin typeface="Menlo"/>
              </a:rPr>
              <a:t>d_model = 512, h = 8 heads</a:t>
            </a:r>
          </a:p>
        </p:txBody>
      </p:sp>
      <p:sp>
        <p:nvSpPr>
          <p:cNvPr id="8" name="Rounded Rectangle 7"/>
          <p:cNvSpPr/>
          <p:nvPr/>
        </p:nvSpPr>
        <p:spPr>
          <a:xfrm>
            <a:off x="457200" y="2299716"/>
            <a:ext cx="8229600" cy="1147572"/>
          </a:xfrm>
          <a:prstGeom prst="roundRect">
            <a:avLst>
              <a:gd name="adj" fmla="val 796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2299716"/>
            <a:ext cx="1828800" cy="1147572"/>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1</a:t>
            </a:r>
          </a:p>
        </p:txBody>
      </p:sp>
      <p:sp>
        <p:nvSpPr>
          <p:cNvPr id="10" name="TextBox 9"/>
          <p:cNvSpPr txBox="1"/>
          <p:nvPr/>
        </p:nvSpPr>
        <p:spPr>
          <a:xfrm>
            <a:off x="2523744" y="2299716"/>
            <a:ext cx="5925312" cy="1147572"/>
          </a:xfrm>
          <a:prstGeom prst="rect">
            <a:avLst/>
          </a:prstGeom>
          <a:noFill/>
        </p:spPr>
        <p:txBody>
          <a:bodyPr wrap="none" anchor="ctr" lIns="0" rIns="0" tIns="0" bIns="0">
            <a:spAutoFit/>
          </a:bodyPr>
          <a:lstStyle/>
          <a:p>
            <a:pPr marL="0" indent="0" algn="l">
              <a:spcAft>
                <a:spcPts val="0"/>
              </a:spcAft>
              <a:buNone/>
            </a:pPr>
            <a:r>
              <a:rPr sz="1050" b="0">
                <a:solidFill>
                  <a:srgbClr val="1D1D1F"/>
                </a:solidFill>
                <a:latin typeface="Menlo"/>
              </a:rPr>
              <a:t>Compute dk, then every parameter in WQ, WK, WV over all heads, plus WO</a:t>
            </a:r>
          </a:p>
        </p:txBody>
      </p:sp>
      <p:sp>
        <p:nvSpPr>
          <p:cNvPr id="11" name="Rounded Rectangle 10"/>
          <p:cNvSpPr/>
          <p:nvPr/>
        </p:nvSpPr>
        <p:spPr>
          <a:xfrm>
            <a:off x="457200" y="3520440"/>
            <a:ext cx="8229600" cy="1147572"/>
          </a:xfrm>
          <a:prstGeom prst="roundRect">
            <a:avLst>
              <a:gd name="adj" fmla="val 796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3520440"/>
            <a:ext cx="1828800" cy="1147572"/>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2</a:t>
            </a:r>
          </a:p>
        </p:txBody>
      </p:sp>
      <p:sp>
        <p:nvSpPr>
          <p:cNvPr id="13" name="TextBox 12"/>
          <p:cNvSpPr txBox="1"/>
          <p:nvPr/>
        </p:nvSpPr>
        <p:spPr>
          <a:xfrm>
            <a:off x="2523744" y="3520440"/>
            <a:ext cx="5925312" cy="1147572"/>
          </a:xfrm>
          <a:prstGeom prst="rect">
            <a:avLst/>
          </a:prstGeom>
          <a:noFill/>
        </p:spPr>
        <p:txBody>
          <a:bodyPr wrap="none" anchor="ctr" lIns="0" rIns="0" tIns="0" bIns="0">
            <a:spAutoFit/>
          </a:bodyPr>
          <a:lstStyle/>
          <a:p>
            <a:pPr marL="0" indent="0" algn="l">
              <a:spcAft>
                <a:spcPts val="0"/>
              </a:spcAft>
              <a:buNone/>
            </a:pPr>
            <a:r>
              <a:rPr sz="1050" b="0">
                <a:solidFill>
                  <a:srgbClr val="1D1D1F"/>
                </a:solidFill>
                <a:latin typeface="Menlo"/>
              </a:rPr>
              <a:t>Solve for the h that would halve that total</a:t>
            </a:r>
          </a:p>
        </p:txBody>
      </p:sp>
      <p:sp>
        <p:nvSpPr>
          <p:cNvPr id="14" name="TextBox 13"/>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Problem 5: encoding position</a:t>
            </a:r>
          </a:p>
        </p:txBody>
      </p:sp>
      <p:sp>
        <p:nvSpPr>
          <p:cNvPr id="5" name="Rounded Rectangle 4"/>
          <p:cNvSpPr/>
          <p:nvPr/>
        </p:nvSpPr>
        <p:spPr>
          <a:xfrm>
            <a:off x="457200" y="1078992"/>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GIVEN</a:t>
            </a:r>
          </a:p>
        </p:txBody>
      </p:sp>
      <p:sp>
        <p:nvSpPr>
          <p:cNvPr id="7" name="TextBox 6"/>
          <p:cNvSpPr txBox="1"/>
          <p:nvPr/>
        </p:nvSpPr>
        <p:spPr>
          <a:xfrm>
            <a:off x="2523744" y="1078992"/>
            <a:ext cx="5925312" cy="842391"/>
          </a:xfrm>
          <a:prstGeom prst="rect">
            <a:avLst/>
          </a:prstGeom>
          <a:noFill/>
        </p:spPr>
        <p:txBody>
          <a:bodyPr wrap="none" anchor="ctr" lIns="0" rIns="0" tIns="0" bIns="0">
            <a:spAutoFit/>
          </a:bodyPr>
          <a:lstStyle/>
          <a:p>
            <a:pPr marL="0" indent="0" algn="l">
              <a:spcAft>
                <a:spcPts val="0"/>
              </a:spcAft>
              <a:buNone/>
            </a:pPr>
            <a:r>
              <a:rPr sz="1100" b="0">
                <a:solidFill>
                  <a:srgbClr val="1D1D1F"/>
                </a:solidFill>
                <a:latin typeface="Menlo"/>
              </a:rPr>
              <a:t>d = 4, two pairs (i = 0 and i = 1), positions 0 and 1</a:t>
            </a:r>
          </a:p>
        </p:txBody>
      </p:sp>
      <p:sp>
        <p:nvSpPr>
          <p:cNvPr id="8" name="Rounded Rectangle 7"/>
          <p:cNvSpPr/>
          <p:nvPr/>
        </p:nvSpPr>
        <p:spPr>
          <a:xfrm>
            <a:off x="457200" y="1994535"/>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1994535"/>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1</a:t>
            </a:r>
          </a:p>
        </p:txBody>
      </p:sp>
      <p:sp>
        <p:nvSpPr>
          <p:cNvPr id="10" name="TextBox 9"/>
          <p:cNvSpPr txBox="1"/>
          <p:nvPr/>
        </p:nvSpPr>
        <p:spPr>
          <a:xfrm>
            <a:off x="2523744" y="1994535"/>
            <a:ext cx="5925312" cy="842391"/>
          </a:xfrm>
          <a:prstGeom prst="rect">
            <a:avLst/>
          </a:prstGeom>
          <a:noFill/>
        </p:spPr>
        <p:txBody>
          <a:bodyPr wrap="none" anchor="ctr" lIns="0" rIns="0" tIns="0" bIns="0">
            <a:spAutoFit/>
          </a:bodyPr>
          <a:lstStyle/>
          <a:p>
            <a:pPr marL="0" indent="0" algn="l">
              <a:spcAft>
                <a:spcPts val="0"/>
              </a:spcAft>
              <a:buNone/>
            </a:pPr>
            <a:r>
              <a:rPr sz="1100" b="0">
                <a:solidFill>
                  <a:srgbClr val="1D1D1F"/>
                </a:solidFill>
                <a:latin typeface="Menlo"/>
              </a:rPr>
              <a:t>Compute both position vectors</a:t>
            </a:r>
          </a:p>
        </p:txBody>
      </p:sp>
      <p:sp>
        <p:nvSpPr>
          <p:cNvPr id="11" name="Rounded Rectangle 10"/>
          <p:cNvSpPr/>
          <p:nvPr/>
        </p:nvSpPr>
        <p:spPr>
          <a:xfrm>
            <a:off x="457200" y="2910078"/>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2910078"/>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2</a:t>
            </a:r>
          </a:p>
        </p:txBody>
      </p:sp>
      <p:sp>
        <p:nvSpPr>
          <p:cNvPr id="13" name="TextBox 12"/>
          <p:cNvSpPr txBox="1"/>
          <p:nvPr/>
        </p:nvSpPr>
        <p:spPr>
          <a:xfrm>
            <a:off x="2523744" y="2910078"/>
            <a:ext cx="5925312" cy="842391"/>
          </a:xfrm>
          <a:prstGeom prst="rect">
            <a:avLst/>
          </a:prstGeom>
          <a:noFill/>
        </p:spPr>
        <p:txBody>
          <a:bodyPr wrap="none" anchor="ctr" lIns="0" rIns="0" tIns="0" bIns="0">
            <a:spAutoFit/>
          </a:bodyPr>
          <a:lstStyle/>
          <a:p>
            <a:pPr marL="0" indent="0" algn="l">
              <a:spcAft>
                <a:spcPts val="0"/>
              </a:spcAft>
              <a:buNone/>
            </a:pPr>
            <a:r>
              <a:rPr sz="1100" b="0">
                <a:solidFill>
                  <a:srgbClr val="1D1D1F"/>
                </a:solidFill>
                <a:latin typeface="Menlo"/>
              </a:rPr>
              <a:t>How many positions does the i = 1 pair need for one full cycle?</a:t>
            </a:r>
          </a:p>
        </p:txBody>
      </p:sp>
      <p:sp>
        <p:nvSpPr>
          <p:cNvPr id="14" name="Rounded Rectangle 13"/>
          <p:cNvSpPr/>
          <p:nvPr/>
        </p:nvSpPr>
        <p:spPr>
          <a:xfrm>
            <a:off x="457200" y="3825621"/>
            <a:ext cx="8229600" cy="842391"/>
          </a:xfrm>
          <a:prstGeom prst="roundRect">
            <a:avLst>
              <a:gd name="adj" fmla="val 108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3825621"/>
            <a:ext cx="1828800" cy="842391"/>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YOU MAY NEED</a:t>
            </a:r>
          </a:p>
        </p:txBody>
      </p:sp>
      <p:sp>
        <p:nvSpPr>
          <p:cNvPr id="16" name="TextBox 15"/>
          <p:cNvSpPr txBox="1"/>
          <p:nvPr/>
        </p:nvSpPr>
        <p:spPr>
          <a:xfrm>
            <a:off x="2523744" y="3825621"/>
            <a:ext cx="5925312" cy="842391"/>
          </a:xfrm>
          <a:prstGeom prst="rect">
            <a:avLst/>
          </a:prstGeom>
          <a:noFill/>
        </p:spPr>
        <p:txBody>
          <a:bodyPr wrap="none" anchor="ctr" lIns="0" rIns="0" tIns="0" bIns="0">
            <a:spAutoFit/>
          </a:bodyPr>
          <a:lstStyle/>
          <a:p>
            <a:pPr marL="0" indent="0" algn="l">
              <a:spcAft>
                <a:spcPts val="0"/>
              </a:spcAft>
              <a:buNone/>
            </a:pPr>
            <a:r>
              <a:rPr sz="1100" b="0">
                <a:solidFill>
                  <a:srgbClr val="1D1D1F"/>
                </a:solidFill>
                <a:latin typeface="Menlo"/>
              </a:rPr>
              <a:t>sin 0 = 0   cos 0 = 1   sin 1 = 0.841   cos 1 = 0.540   2pi = 6.283</a:t>
            </a:r>
          </a:p>
        </p:txBody>
      </p:sp>
      <p:sp>
        <p:nvSpPr>
          <p:cNvPr id="17" name="TextBox 16"/>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Problem 6: what attention costs</a:t>
            </a:r>
          </a:p>
        </p:txBody>
      </p:sp>
      <p:sp>
        <p:nvSpPr>
          <p:cNvPr id="5" name="Rounded Rectangle 4"/>
          <p:cNvSpPr/>
          <p:nvPr/>
        </p:nvSpPr>
        <p:spPr>
          <a:xfrm>
            <a:off x="457200" y="1078992"/>
            <a:ext cx="8229600" cy="1147572"/>
          </a:xfrm>
          <a:prstGeom prst="roundRect">
            <a:avLst>
              <a:gd name="adj" fmla="val 796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1828800" cy="1147572"/>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GIVEN</a:t>
            </a:r>
          </a:p>
        </p:txBody>
      </p:sp>
      <p:sp>
        <p:nvSpPr>
          <p:cNvPr id="7" name="TextBox 6"/>
          <p:cNvSpPr txBox="1"/>
          <p:nvPr/>
        </p:nvSpPr>
        <p:spPr>
          <a:xfrm>
            <a:off x="2523744" y="1078992"/>
            <a:ext cx="5925312" cy="1147572"/>
          </a:xfrm>
          <a:prstGeom prst="rect">
            <a:avLst/>
          </a:prstGeom>
          <a:noFill/>
        </p:spPr>
        <p:txBody>
          <a:bodyPr wrap="none" anchor="ctr" lIns="0" rIns="0" tIns="0" bIns="0">
            <a:spAutoFit/>
          </a:bodyPr>
          <a:lstStyle/>
          <a:p>
            <a:pPr marL="0" indent="0" algn="l">
              <a:spcAft>
                <a:spcPts val="0"/>
              </a:spcAft>
              <a:buNone/>
            </a:pPr>
            <a:r>
              <a:rPr sz="1400" b="0">
                <a:solidFill>
                  <a:srgbClr val="1D1D1F"/>
                </a:solidFill>
                <a:latin typeface="Menlo"/>
              </a:rPr>
              <a:t>width d = 512, attention ~ n^2 d, recurrence ~ n d^2</a:t>
            </a:r>
          </a:p>
        </p:txBody>
      </p:sp>
      <p:sp>
        <p:nvSpPr>
          <p:cNvPr id="8" name="Rounded Rectangle 7"/>
          <p:cNvSpPr/>
          <p:nvPr/>
        </p:nvSpPr>
        <p:spPr>
          <a:xfrm>
            <a:off x="457200" y="2299716"/>
            <a:ext cx="8229600" cy="1147572"/>
          </a:xfrm>
          <a:prstGeom prst="roundRect">
            <a:avLst>
              <a:gd name="adj" fmla="val 796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2299716"/>
            <a:ext cx="1828800" cy="1147572"/>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1</a:t>
            </a:r>
          </a:p>
        </p:txBody>
      </p:sp>
      <p:sp>
        <p:nvSpPr>
          <p:cNvPr id="10" name="TextBox 9"/>
          <p:cNvSpPr txBox="1"/>
          <p:nvPr/>
        </p:nvSpPr>
        <p:spPr>
          <a:xfrm>
            <a:off x="2523744" y="2299716"/>
            <a:ext cx="5925312" cy="1147572"/>
          </a:xfrm>
          <a:prstGeom prst="rect">
            <a:avLst/>
          </a:prstGeom>
          <a:noFill/>
        </p:spPr>
        <p:txBody>
          <a:bodyPr wrap="none" anchor="ctr" lIns="0" rIns="0" tIns="0" bIns="0">
            <a:spAutoFit/>
          </a:bodyPr>
          <a:lstStyle/>
          <a:p>
            <a:pPr marL="0" indent="0" algn="l">
              <a:spcAft>
                <a:spcPts val="0"/>
              </a:spcAft>
              <a:buNone/>
            </a:pPr>
            <a:r>
              <a:rPr sz="1400" b="0">
                <a:solidFill>
                  <a:srgbClr val="1D1D1F"/>
                </a:solidFill>
                <a:latin typeface="Menlo"/>
              </a:rPr>
              <a:t>Compute both costs at n = 64 and at n = 4096</a:t>
            </a:r>
          </a:p>
        </p:txBody>
      </p:sp>
      <p:sp>
        <p:nvSpPr>
          <p:cNvPr id="11" name="Rounded Rectangle 10"/>
          <p:cNvSpPr/>
          <p:nvPr/>
        </p:nvSpPr>
        <p:spPr>
          <a:xfrm>
            <a:off x="457200" y="3520440"/>
            <a:ext cx="8229600" cy="1147572"/>
          </a:xfrm>
          <a:prstGeom prst="roundRect">
            <a:avLst>
              <a:gd name="adj" fmla="val 796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3520440"/>
            <a:ext cx="1828800" cy="1147572"/>
          </a:xfrm>
          <a:prstGeom prst="rect">
            <a:avLst/>
          </a:prstGeom>
          <a:noFill/>
        </p:spPr>
        <p:txBody>
          <a:bodyPr wrap="square" anchor="ctr" lIns="0" rIns="0" tIns="0" bIns="0">
            <a:spAutoFit/>
          </a:bodyPr>
          <a:lstStyle/>
          <a:p>
            <a:pPr marL="0" indent="0" algn="l">
              <a:spcAft>
                <a:spcPts val="0"/>
              </a:spcAft>
              <a:buNone/>
            </a:pPr>
            <a:r>
              <a:rPr sz="1100" b="1" spc="60">
                <a:solidFill>
                  <a:srgbClr val="86868B"/>
                </a:solidFill>
                <a:latin typeface="Helvetica Neue"/>
              </a:rPr>
              <a:t>2</a:t>
            </a:r>
          </a:p>
        </p:txBody>
      </p:sp>
      <p:sp>
        <p:nvSpPr>
          <p:cNvPr id="13" name="TextBox 12"/>
          <p:cNvSpPr txBox="1"/>
          <p:nvPr/>
        </p:nvSpPr>
        <p:spPr>
          <a:xfrm>
            <a:off x="2523744" y="3520440"/>
            <a:ext cx="5925312" cy="1147572"/>
          </a:xfrm>
          <a:prstGeom prst="rect">
            <a:avLst/>
          </a:prstGeom>
          <a:noFill/>
        </p:spPr>
        <p:txBody>
          <a:bodyPr wrap="none" anchor="ctr" lIns="0" rIns="0" tIns="0" bIns="0">
            <a:spAutoFit/>
          </a:bodyPr>
          <a:lstStyle/>
          <a:p>
            <a:pPr marL="0" indent="0" algn="l">
              <a:spcAft>
                <a:spcPts val="0"/>
              </a:spcAft>
              <a:buNone/>
            </a:pPr>
            <a:r>
              <a:rPr sz="1400" b="0">
                <a:solidFill>
                  <a:srgbClr val="1D1D1F"/>
                </a:solidFill>
                <a:latin typeface="Menlo"/>
              </a:rPr>
              <a:t>Solve for the n at which they are equal</a:t>
            </a:r>
          </a:p>
        </p:txBody>
      </p:sp>
      <p:sp>
        <p:nvSpPr>
          <p:cNvPr id="14" name="TextBox 13"/>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Quiz 4 (paper)</a:t>
            </a:r>
          </a:p>
        </p:txBody>
      </p:sp>
      <p:pic>
        <p:nvPicPr>
          <p:cNvPr id="5" name="Picture 4" descr="Quiz 4 (paper)"/>
          <p:cNvPicPr>
            <a:picLocks noChangeAspect="1"/>
          </p:cNvPicPr>
          <p:nvPr/>
        </p:nvPicPr>
        <p:blipFill>
          <a:blip r:embed="rId3"/>
          <a:stretch>
            <a:fillRect/>
          </a:stretch>
        </p:blipFill>
        <p:spPr>
          <a:xfrm>
            <a:off x="1282065" y="1078992"/>
            <a:ext cx="6579870"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quizzes/quiz-04.md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Break</a:t>
            </a:r>
          </a:p>
        </p:txBody>
      </p:sp>
      <p:pic>
        <p:nvPicPr>
          <p:cNvPr id="5" name="Picture 4" descr="Then sit with your project team."/>
          <p:cNvPicPr>
            <a:picLocks noChangeAspect="1"/>
          </p:cNvPicPr>
          <p:nvPr/>
        </p:nvPicPr>
        <p:blipFill>
          <a:blip r:embed="rId2"/>
          <a:stretch>
            <a:fillRect/>
          </a:stretch>
        </p:blipFill>
        <p:spPr>
          <a:xfrm>
            <a:off x="274320" y="1280312"/>
            <a:ext cx="8595360" cy="318638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Six questions, on paper, before you write anything</a:t>
            </a:r>
          </a:p>
        </p:txBody>
      </p:sp>
      <p:sp>
        <p:nvSpPr>
          <p:cNvPr id="5" name="Rounded Rectangle 4"/>
          <p:cNvSpPr/>
          <p:nvPr/>
        </p:nvSpPr>
        <p:spPr>
          <a:xfrm>
            <a:off x="457200" y="1078992"/>
            <a:ext cx="8229600" cy="521970"/>
          </a:xfrm>
          <a:prstGeom prst="roundRect">
            <a:avLst>
              <a:gd name="adj" fmla="val 192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475488" cy="521970"/>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1</a:t>
            </a:r>
          </a:p>
        </p:txBody>
      </p:sp>
      <p:sp>
        <p:nvSpPr>
          <p:cNvPr id="7" name="TextBox 6"/>
          <p:cNvSpPr txBox="1"/>
          <p:nvPr/>
        </p:nvSpPr>
        <p:spPr>
          <a:xfrm>
            <a:off x="1170432" y="1078992"/>
            <a:ext cx="7278624" cy="521970"/>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What is the research question?</a:t>
            </a:r>
          </a:p>
        </p:txBody>
      </p:sp>
      <p:sp>
        <p:nvSpPr>
          <p:cNvPr id="8" name="Rounded Rectangle 7"/>
          <p:cNvSpPr/>
          <p:nvPr/>
        </p:nvSpPr>
        <p:spPr>
          <a:xfrm>
            <a:off x="457200" y="1692402"/>
            <a:ext cx="8229600" cy="521970"/>
          </a:xfrm>
          <a:prstGeom prst="roundRect">
            <a:avLst>
              <a:gd name="adj" fmla="val 192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1692402"/>
            <a:ext cx="475488" cy="521970"/>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2</a:t>
            </a:r>
          </a:p>
        </p:txBody>
      </p:sp>
      <p:sp>
        <p:nvSpPr>
          <p:cNvPr id="10" name="TextBox 9"/>
          <p:cNvSpPr txBox="1"/>
          <p:nvPr/>
        </p:nvSpPr>
        <p:spPr>
          <a:xfrm>
            <a:off x="1170432" y="1692402"/>
            <a:ext cx="7278624" cy="521970"/>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What data?</a:t>
            </a:r>
          </a:p>
        </p:txBody>
      </p:sp>
      <p:sp>
        <p:nvSpPr>
          <p:cNvPr id="11" name="Rounded Rectangle 10"/>
          <p:cNvSpPr/>
          <p:nvPr/>
        </p:nvSpPr>
        <p:spPr>
          <a:xfrm>
            <a:off x="457200" y="2305812"/>
            <a:ext cx="8229600" cy="521970"/>
          </a:xfrm>
          <a:prstGeom prst="roundRect">
            <a:avLst>
              <a:gd name="adj" fmla="val 192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2305812"/>
            <a:ext cx="475488" cy="521970"/>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3</a:t>
            </a:r>
          </a:p>
        </p:txBody>
      </p:sp>
      <p:sp>
        <p:nvSpPr>
          <p:cNvPr id="13" name="TextBox 12"/>
          <p:cNvSpPr txBox="1"/>
          <p:nvPr/>
        </p:nvSpPr>
        <p:spPr>
          <a:xfrm>
            <a:off x="1170432" y="2305812"/>
            <a:ext cx="7278624" cy="521970"/>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What baseline, if one applies?</a:t>
            </a:r>
          </a:p>
        </p:txBody>
      </p:sp>
      <p:sp>
        <p:nvSpPr>
          <p:cNvPr id="14" name="Rounded Rectangle 13"/>
          <p:cNvSpPr/>
          <p:nvPr/>
        </p:nvSpPr>
        <p:spPr>
          <a:xfrm>
            <a:off x="457200" y="2919222"/>
            <a:ext cx="8229600" cy="521970"/>
          </a:xfrm>
          <a:prstGeom prst="roundRect">
            <a:avLst>
              <a:gd name="adj" fmla="val 192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2919222"/>
            <a:ext cx="475488" cy="521970"/>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4</a:t>
            </a:r>
          </a:p>
        </p:txBody>
      </p:sp>
      <p:sp>
        <p:nvSpPr>
          <p:cNvPr id="16" name="TextBox 15"/>
          <p:cNvSpPr txBox="1"/>
          <p:nvPr/>
        </p:nvSpPr>
        <p:spPr>
          <a:xfrm>
            <a:off x="1170432" y="2919222"/>
            <a:ext cx="7278624" cy="521970"/>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Metrics and evaluation?</a:t>
            </a:r>
          </a:p>
        </p:txBody>
      </p:sp>
      <p:sp>
        <p:nvSpPr>
          <p:cNvPr id="17" name="Rounded Rectangle 16"/>
          <p:cNvSpPr/>
          <p:nvPr/>
        </p:nvSpPr>
        <p:spPr>
          <a:xfrm>
            <a:off x="457200" y="3532632"/>
            <a:ext cx="8229600" cy="521970"/>
          </a:xfrm>
          <a:prstGeom prst="roundRect">
            <a:avLst>
              <a:gd name="adj" fmla="val 192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3532632"/>
            <a:ext cx="475488" cy="521970"/>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5</a:t>
            </a:r>
          </a:p>
        </p:txBody>
      </p:sp>
      <p:sp>
        <p:nvSpPr>
          <p:cNvPr id="19" name="TextBox 18"/>
          <p:cNvSpPr txBox="1"/>
          <p:nvPr/>
        </p:nvSpPr>
        <p:spPr>
          <a:xfrm>
            <a:off x="1170432" y="3532632"/>
            <a:ext cx="7278624" cy="521970"/>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What is your contribution?</a:t>
            </a:r>
          </a:p>
        </p:txBody>
      </p:sp>
      <p:sp>
        <p:nvSpPr>
          <p:cNvPr id="20" name="Rounded Rectangle 19"/>
          <p:cNvSpPr/>
          <p:nvPr/>
        </p:nvSpPr>
        <p:spPr>
          <a:xfrm>
            <a:off x="457200" y="4146042"/>
            <a:ext cx="8229600" cy="521970"/>
          </a:xfrm>
          <a:prstGeom prst="roundRect">
            <a:avLst>
              <a:gd name="adj" fmla="val 192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4944" y="4146042"/>
            <a:ext cx="475488" cy="521970"/>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6</a:t>
            </a:r>
          </a:p>
        </p:txBody>
      </p:sp>
      <p:sp>
        <p:nvSpPr>
          <p:cNvPr id="22" name="TextBox 21"/>
          <p:cNvSpPr txBox="1"/>
          <p:nvPr/>
        </p:nvSpPr>
        <p:spPr>
          <a:xfrm>
            <a:off x="1170432" y="4146042"/>
            <a:ext cx="7278624" cy="521970"/>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Who is doing what?</a:t>
            </a:r>
          </a:p>
        </p:txBody>
      </p:sp>
      <p:sp>
        <p:nvSpPr>
          <p:cNvPr id="23" name="TextBox 22"/>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project/proposal/TEMPLATE.md</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434343"/>
      </a:dk1>
      <a:lt1>
        <a:srgbClr val="FFFFFF"/>
      </a:lt1>
      <a:dk2>
        <a:srgbClr val="818387"/>
      </a:dk2>
      <a:lt2>
        <a:srgbClr val="F6F7FA"/>
      </a:lt2>
      <a:accent1>
        <a:srgbClr val="723130"/>
      </a:accent1>
      <a:accent2>
        <a:srgbClr val="818387"/>
      </a:accent2>
      <a:accent3>
        <a:srgbClr val="FFB600"/>
      </a:accent3>
      <a:accent4>
        <a:srgbClr val="738D33"/>
      </a:accent4>
      <a:accent5>
        <a:srgbClr val="625578"/>
      </a:accent5>
      <a:accent6>
        <a:srgbClr val="498DA0"/>
      </a:accent6>
      <a:hlink>
        <a:srgbClr val="B1B4B5"/>
      </a:hlink>
      <a:folHlink>
        <a:srgbClr val="B0B1B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