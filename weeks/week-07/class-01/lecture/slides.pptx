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  <p:sldId id="274" r:id="rId39"/>
    <p:sldId id="275" r:id="rId40"/>
    <p:sldId id="276" r:id="rId41"/>
    <p:sldId id="277" r:id="rId42"/>
    <p:sldId id="278" r:id="rId43"/>
    <p:sldId id="279" r:id="rId44"/>
    <p:sldId id="280" r:id="rId45"/>
    <p:sldId id="281" r:id="rId46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Relationship Id="rId39" Type="http://schemas.openxmlformats.org/officeDocument/2006/relationships/slide" Target="slides/slide19.xml"/><Relationship Id="rId40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3" Type="http://schemas.openxmlformats.org/officeDocument/2006/relationships/slide" Target="slides/slide23.xml"/><Relationship Id="rId44" Type="http://schemas.openxmlformats.org/officeDocument/2006/relationships/slide" Target="slides/slide24.xml"/><Relationship Id="rId45" Type="http://schemas.openxmlformats.org/officeDocument/2006/relationships/slide" Target="slides/slide25.xml"/><Relationship Id="rId46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0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5.g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8.gif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The GPT Family &amp; Autoregressive Generation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6080610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7, Class 1</a:t>
            </a:r>
          </a:p>
        </p:txBody>
      </p:sp>
      <p:pic>
        <p:nvPicPr>
          <p:cNvPr id="5" name="Picture 4" descr="Two roads diverged in a wood. A language model hits a fork like this at EVERY word, with fifty thousand branches. Who picks?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36" y="3474720"/>
            <a:ext cx="1975104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Ann Cook, geograph.org.uk via Wikimedia Commons, CC BY-SA 2.0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Today's path</a:t>
            </a:r>
          </a:p>
        </p:txBody>
      </p:sp>
      <p:pic>
        <p:nvPicPr>
          <p:cNvPr id="5" name="Picture 4" descr="Today's path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909" y="1078992"/>
            <a:ext cx="7728181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photos: Unsplash License; figures: SLP3 Fig. 7.11, Brown et al. 2020 Fig. 1.2, course figures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Recap: BERT vs. GPT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27898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This week we focus on the generation side</a:t>
            </a:r>
          </a:p>
        </p:txBody>
      </p:sp>
      <p:pic>
        <p:nvPicPr>
          <p:cNvPr id="6" name="Picture 5" descr="Recap: BERT vs. GP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08209"/>
            <a:ext cx="8595360" cy="292824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Three ways to wire a Transformer</a:t>
            </a:r>
          </a:p>
        </p:txBody>
      </p:sp>
      <p:pic>
        <p:nvPicPr>
          <p:cNvPr id="5" name="Picture 4" descr="Decoders (GPT) attend only leftward and generate tokens; encoders (BERT) attend in both directions and output representations; encoder-decoders (the original Transformer) encode a full input, then a decoder generates from i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740" y="1078992"/>
            <a:ext cx="752452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7.3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GPT family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2592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Each release: bigger model, more data, same core recipe</a:t>
            </a:r>
          </a:p>
        </p:txBody>
      </p:sp>
      <p:pic>
        <p:nvPicPr>
          <p:cNvPr id="6" name="Picture 5" descr="The GPT famil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10188"/>
            <a:ext cx="8595360" cy="27242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params per Radford et al. 2018/2019 &amp; Brown et al. 2020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Autoregressive generation</a:t>
            </a:r>
          </a:p>
        </p:txBody>
      </p:sp>
      <p:pic>
        <p:nvPicPr>
          <p:cNvPr id="5" name="Picture 4" descr="Autoregressive gene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737166"/>
            <a:ext cx="8595360" cy="227267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One word at a time</a:t>
            </a:r>
          </a:p>
        </p:txBody>
      </p:sp>
      <p:pic>
        <p:nvPicPr>
          <p:cNvPr id="5" name="Picture 4" descr="Like a pen filling a page, the model commits to one token, then conditions on it for the nex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1312" y="1078992"/>
            <a:ext cx="4781375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https://images.unsplash.com/photo-1455390582262-044cdead277a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A decoding strategy is the dice roll: it turns one distribution into the next toke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71488"/>
            <a:ext cx="9144000" cy="608647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FFFFFF"/>
                </a:solidFill>
              </a:rPr>
              <a:t>If the model only predicts probabilities, who actually picks the word?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A decoding strategy is the dice roll: it turns one distribution into the next token.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https://images.unsplash.com/photo-1605870445919-838d190e8e1b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engine under generation</a:t>
            </a:r>
          </a:p>
        </p:txBody>
      </p:sp>
      <p:pic>
        <p:nvPicPr>
          <p:cNvPr id="5" name="Picture 4" descr="The model reads the context and outputs a probability for every possible next word. Pick one, append it to the context, and run the model again: that loop IS autoregressive generatio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980" y="1078992"/>
            <a:ext cx="771004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7.1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decoding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15309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Each step: a distribution over tens of thousands to hundreds of thousands of tokens, depending on the tokenizer. How do you choose?</a:t>
            </a:r>
          </a:p>
        </p:txBody>
      </p:sp>
      <p:pic>
        <p:nvPicPr>
          <p:cNvPr id="6" name="Picture 5" descr="The decoding pro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20799"/>
            <a:ext cx="8595360" cy="31030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Greedy decoding</a:t>
            </a:r>
          </a:p>
        </p:txBody>
      </p:sp>
      <p:pic>
        <p:nvPicPr>
          <p:cNvPr id="5" name="Picture 4" descr="Greedy decodi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98451"/>
            <a:ext cx="8595360" cy="29501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Beam search</a:t>
            </a:r>
          </a:p>
        </p:txBody>
      </p:sp>
      <p:pic>
        <p:nvPicPr>
          <p:cNvPr id="5" name="Picture 4" descr="Width 2, with real cumulative log-probs. Greedy's first pick loses to the sequence that finishes better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117" y="1078992"/>
            <a:ext cx="8411765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animation; original figure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Sampling</a:t>
            </a:r>
          </a:p>
        </p:txBody>
      </p:sp>
      <p:pic>
        <p:nvPicPr>
          <p:cNvPr id="5" name="Picture 4" descr="Sampli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02093"/>
            <a:ext cx="8595360" cy="29428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Top-k sampling</a:t>
            </a:r>
          </a:p>
        </p:txBody>
      </p:sp>
      <p:pic>
        <p:nvPicPr>
          <p:cNvPr id="5" name="Picture 4" descr="Top-k sampli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72641"/>
            <a:ext cx="8595360" cy="34017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Top-p (nucleus) sampling</a:t>
            </a:r>
          </a:p>
        </p:txBody>
      </p:sp>
      <p:pic>
        <p:nvPicPr>
          <p:cNvPr id="5" name="Picture 4" descr="One softmax, swept from cold to hot. The nucleus is recomputed every fram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621" y="1078992"/>
            <a:ext cx="7690757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animation; original figure; nucleus sampling, Holtzman et al. 2020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Temperature in action</a:t>
            </a:r>
          </a:p>
        </p:txBody>
      </p:sp>
      <p:pic>
        <p:nvPicPr>
          <p:cNvPr id="5" name="Picture 4" descr="Follow the &quot;all&quot; row: 0.95 at tau 0.1, 0.25 at tau 100. Temperature never reorders the tokens, it only changes how much the ranking matter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6257" y="1078992"/>
            <a:ext cx="459148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7.11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Putting it together</a:t>
            </a:r>
          </a:p>
        </p:txBody>
      </p:sp>
      <p:pic>
        <p:nvPicPr>
          <p:cNvPr id="5" name="Picture 4" descr="Putting it togethe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98451"/>
            <a:ext cx="8595360" cy="29501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repetition problem</a:t>
            </a:r>
          </a:p>
        </p:txBody>
      </p:sp>
      <p:pic>
        <p:nvPicPr>
          <p:cNvPr id="5" name="Picture 4" descr="The repetition pro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93145"/>
            <a:ext cx="8595360" cy="27607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Activity: predict before you run</a:t>
            </a:r>
          </a:p>
        </p:txBody>
      </p:sp>
      <p:pic>
        <p:nvPicPr>
          <p:cNvPr id="5" name="Picture 4" descr="Activity: predict before you ru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795440"/>
            <a:ext cx="8595360" cy="21561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Think (1 min), pair (2 min), share (2 min): which knob makes the output loop? Then run decoding.py and check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71488"/>
            <a:ext cx="9144000" cy="608647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FFFFFF"/>
                </a:solidFill>
              </a:rPr>
              <a:t>Predict, then prove it</a:t>
            </a:r>
          </a:p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Think (1 min), pair (2 min), share (2 min): which knob makes the output loop? Then run decoding.py and check.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https://images.unsplash.com/photo-1605870445919-838d190e8e1b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decoding.py and the Ollama playground to test your predictio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required reading: GPT-3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46220"/>
            <a:ext cx="8229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Required, quizzed: GPT-3 (Brown 2020)</a:t>
            </a:r>
          </a:p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Optional, not quizzed: Chinchilla, Kaplan, GPT-2</a:t>
            </a:r>
          </a:p>
        </p:txBody>
      </p:sp>
      <p:pic>
        <p:nvPicPr>
          <p:cNvPr id="6" name="Picture 5" descr="The required reading: GPT-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671" y="1078992"/>
            <a:ext cx="8276658" cy="28757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Brown et al. 2020, "Language Models are Few-Shot Learners" (arXiv:2005.14165)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Bigger models squeeze more from a prompt</a:t>
            </a:r>
          </a:p>
        </p:txBody>
      </p:sp>
      <p:pic>
        <p:nvPicPr>
          <p:cNvPr id="5" name="Picture 4" descr="The task: strip random symbols from a word. All sizes see the same examples, but only 175B converts each extra example into a large accuracy jump. A steeper curve means better in-context learning, the theme of Week 10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6085" y="1078992"/>
            <a:ext cx="6091829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Brown et al. 2020, "Language Models are Few-Shot Learners" (arXiv:2005.14165), Fig. 1.2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Connecting to the exercise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571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Then feel each knob on a real local LLM via Ollama</a:t>
            </a:r>
          </a:p>
        </p:txBody>
      </p:sp>
      <p:pic>
        <p:nvPicPr>
          <p:cNvPr id="6" name="Picture 5" descr="Connecting to the exercis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8342" y="1078992"/>
            <a:ext cx="4307316" cy="31866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weeks/week-07/class-01/exercise/decoding.py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you should see</a:t>
            </a:r>
          </a:p>
        </p:txBody>
      </p:sp>
      <p:pic>
        <p:nvPicPr>
          <p:cNvPr id="5" name="Picture 4" descr="What you should se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94809"/>
            <a:ext cx="8595360" cy="29573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example run of weeks/week-07/class-01/solutions/decoding.py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Recap</a:t>
            </a:r>
          </a:p>
        </p:txBody>
      </p:sp>
      <p:pic>
        <p:nvPicPr>
          <p:cNvPr id="5" name="Picture 4" descr="Reca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773587"/>
            <a:ext cx="8595360" cy="21998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