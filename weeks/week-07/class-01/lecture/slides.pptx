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The GPT family as one recipe repeated at scale, generation one token at a time, the decoding strategies that turn a distribution into text, the GPT-3 reading, then predict-before-you-run and the decoding lab.</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 we focus on the generation side.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(GPT) attend only leftward and generate tokens; encoders (BERT) attend in both directions and output representations; encoder-decoders (the original Transformer) encode a full input, then a decoder generates from it.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release: bigger model, more data, same core recipe. Two years, roughly 1500 times more parameters, and the same objective the whole way: predict the next token.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predict, pick, repeat. That loop is the entire model at inference. Everything interesting about how a model sounds happens in step three, and step three is not the model at all.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pen filling a page, the model commits to one token, then conditions on it for the next.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pausing on. Most people assume the model writes the sentence. It does not. It hands you a distribution, and a decoding strategy you chose picks from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possible next word. Pick one, append it to the context, and run the model again: that loop IS autoregressive generation.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step: a distribution over tens of thousands to hundreds of thousands of tokens, depending on the tokenizer. How do you choose? Temperature reshapes the whole distribution before any of these: low T gives a sharper curve (more greedy, safe), high T gives a flatter one (more diverse, riskier). Greedy and beam favor accuracy; top-k and top-p favor diversity.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the reason generated prose goes flat and starts repeating.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log-probs. Greedy's first pick loses to the sequence that finishes better.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Sampling adds diversity and surprise, which greedy decoding can never give you. But pure sampling can pick bizarre low-probability tokens, and one bad draw derails the rest of the sentence. We need to keep the sampling and cut the junk tail.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 is fixed, so it cannot adapt: too small when the model is unsure, too loose when it is confident. Top-p fixes this by sizing the set to the probability mass instead of to a count.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softmax, swept from cold to hot. The nucleus is recomputed every frame.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Follow the "all" row: 0.95 at tau 0.1, 0.25 at tau 100. Temperature never reorders the tokens, it only changes how much the ranking matters.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strategy to the task. Deterministic when there is one right answer, sampled when there is not. This table is the practical takeaway of the whole lecture. There is no universal best. Pick to fit the job.</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Every fix on this slide works the same way: reshape the distribution so the argmax stops being a fixed point.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minute alone, two in pairs, two sharing. Get a committed prediction about which knob causes the loop before anyone runs anything, because a prediction they got wrong is what makes the run memorable.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quizzed: GPT-3 (Brown 2020). Optional, not quizzed: Chinchilla, Kaplan, GPT-2. Give a few examples in the prompt and the model solves the task, here English to French, with zero fine-tuning. We dig into this in Week 10.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strip random symbols from a word. All sizes see the same examples, but only 175B converts each extra example into a large accuracy jump. A steeper curve means better in-context learning, the theme of Week 10.</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filters to write, top_k and top_p. apply_temperature, greedy and sample are given, so the whole lab is about which tokens survive the cut and why.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prompt, different knobs, visibly different distributions. Temperature at 0.5 concentrates the mass; raise it and the tail comes alive. The numbers on this slide are what a correct implementation prints.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Decoder-only and autoregressive: predict, emit, repeat. The model gives a distribution and the strategy picks. Greedy and beam are accurate but bland, top-k and top-p are diverse, temperature scales how peaked the whole thing is.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GPT Family &amp; Autoregressive Generation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7, Class 1  ·  Wed Oct 7, 2026</a:t>
            </a:r>
          </a:p>
        </p:txBody>
      </p:sp>
      <p:pic>
        <p:nvPicPr>
          <p:cNvPr id="5" name="Picture 4" descr="The GPT Family &amp; Autoregressive Gener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path</a:t>
            </a:r>
          </a:p>
        </p:txBody>
      </p:sp>
      <p:pic>
        <p:nvPicPr>
          <p:cNvPr id="5" name="Picture 4" descr="Today's path"/>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License; figures: SLP3 Fig. 7.11, Brown et al. 2020 Fig. 1.2,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BERT vs. GPT</a:t>
            </a:r>
          </a:p>
        </p:txBody>
      </p:sp>
      <p:pic>
        <p:nvPicPr>
          <p:cNvPr id="5" name="Picture 4" descr="Recap: BERT vs. GPT"/>
          <p:cNvPicPr>
            <a:picLocks noChangeAspect="1"/>
          </p:cNvPicPr>
          <p:nvPr/>
        </p:nvPicPr>
        <p:blipFill>
          <a:blip r:embed="rId3"/>
          <a:stretch>
            <a:fillRect/>
          </a:stretch>
        </p:blipFill>
        <p:spPr>
          <a:xfrm>
            <a:off x="395428" y="1078992"/>
            <a:ext cx="83531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GPT family</a:t>
            </a:r>
          </a:p>
        </p:txBody>
      </p:sp>
      <p:pic>
        <p:nvPicPr>
          <p:cNvPr id="5" name="Picture 4" descr="The GPT family"/>
          <p:cNvPicPr>
            <a:picLocks noChangeAspect="1"/>
          </p:cNvPicPr>
          <p:nvPr/>
        </p:nvPicPr>
        <p:blipFill>
          <a:blip r:embed="rId3"/>
          <a:stretch>
            <a:fillRect/>
          </a:stretch>
        </p:blipFill>
        <p:spPr>
          <a:xfrm>
            <a:off x="274320" y="1485861"/>
            <a:ext cx="8595360" cy="27752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params per Radford et al. 2018/2019 &amp; Brown et al. 2020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Autoregressive generation</a:t>
            </a:r>
          </a:p>
        </p:txBody>
      </p:sp>
      <p:pic>
        <p:nvPicPr>
          <p:cNvPr id="5" name="Picture 4" descr="Autoregressive generation"/>
          <p:cNvPicPr>
            <a:picLocks noChangeAspect="1"/>
          </p:cNvPicPr>
          <p:nvPr/>
        </p:nvPicPr>
        <p:blipFill>
          <a:blip r:embed="rId3"/>
          <a:stretch>
            <a:fillRect/>
          </a:stretch>
        </p:blipFill>
        <p:spPr>
          <a:xfrm>
            <a:off x="274320" y="1336535"/>
            <a:ext cx="8595360" cy="30739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at a time</a:t>
            </a:r>
          </a:p>
        </p:txBody>
      </p:sp>
      <p:pic>
        <p:nvPicPr>
          <p:cNvPr id="5" name="Picture 4" descr="One word at a time"/>
          <p:cNvPicPr>
            <a:picLocks noChangeAspect="1"/>
          </p:cNvPicPr>
          <p:nvPr/>
        </p:nvPicPr>
        <p:blipFill>
          <a:blip r:embed="rId3"/>
          <a:stretch>
            <a:fillRect/>
          </a:stretch>
        </p:blipFill>
        <p:spPr>
          <a:xfrm>
            <a:off x="2181312" y="1078992"/>
            <a:ext cx="4781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https://images.unsplash.com/photo-1455390582262-044cdead277a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decoding strategy is the dice roll: it turns one distribution into the next token."/>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only predicts probabilities, who actually picks the word?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decoding strategy is the dice roll: it turns one distribution into the next token.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pic>
        <p:nvPicPr>
          <p:cNvPr id="5" name="Picture 4" descr="The decoding problem"/>
          <p:cNvPicPr>
            <a:picLocks noChangeAspect="1"/>
          </p:cNvPicPr>
          <p:nvPr/>
        </p:nvPicPr>
        <p:blipFill>
          <a:blip r:embed="rId3"/>
          <a:stretch>
            <a:fillRect/>
          </a:stretch>
        </p:blipFill>
        <p:spPr>
          <a:xfrm>
            <a:off x="274320" y="1303756"/>
            <a:ext cx="8595360" cy="31394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pic>
        <p:nvPicPr>
          <p:cNvPr id="5" name="Picture 4" descr="Greedy decoding"/>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pic>
        <p:nvPicPr>
          <p:cNvPr id="5" name="Picture 4" descr="Top-k sampl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pic>
        <p:nvPicPr>
          <p:cNvPr id="5" name="Picture 4" descr="Top-p (nucleus) sampling"/>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nucleus sampling, Holtzman et al. 2020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 in action</a:t>
            </a:r>
          </a:p>
        </p:txBody>
      </p:sp>
      <p:pic>
        <p:nvPicPr>
          <p:cNvPr id="5" name="Picture 4" descr="Temperature in action"/>
          <p:cNvPicPr>
            <a:picLocks noChangeAspect="1"/>
          </p:cNvPicPr>
          <p:nvPr/>
        </p:nvPicPr>
        <p:blipFill>
          <a:blip r:embed="rId3"/>
          <a:stretch>
            <a:fillRect/>
          </a:stretch>
        </p:blipFill>
        <p:spPr>
          <a:xfrm>
            <a:off x="2276257" y="1078992"/>
            <a:ext cx="45914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a:t>
            </a:r>
          </a:p>
        </p:txBody>
      </p:sp>
      <p:pic>
        <p:nvPicPr>
          <p:cNvPr id="5" name="Picture 4" descr="Putting it together"/>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nk (1 min), pair (2 min), share (2 min): which knob makes the output loop? Then run decoding.py and check."/>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Predict, then prove it</a:t>
            </a:r>
          </a:p>
          <a:p>
            <a:pPr algn="ctr" marL="0" indent="0">
              <a:buNone/>
            </a:pPr>
            <a:r>
              <a:rPr sz="2000">
                <a:solidFill>
                  <a:srgbClr val="FFFFFF"/>
                </a:solidFill>
              </a:rPr>
              <a:t>Think (1 min), pair (2 min), share (2 min): which knob makes the output loop? Then run decoding.py and check.</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coding.py and the Ollama playground to test your predictio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required reading: GPT-3</a:t>
            </a:r>
          </a:p>
        </p:txBody>
      </p:sp>
      <p:pic>
        <p:nvPicPr>
          <p:cNvPr id="5" name="Picture 4" descr="The required reading: GPT-3"/>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Connecting to the exercise</a:t>
            </a:r>
          </a:p>
        </p:txBody>
      </p:sp>
      <p:pic>
        <p:nvPicPr>
          <p:cNvPr id="5" name="Picture 4" descr="Connecting to the exercis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weeks/week-07/class-01/exercise/decoding.py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weeks/week-07/class-01/solutions/decoding.py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18640"/>
            <a:ext cx="8595360" cy="2709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