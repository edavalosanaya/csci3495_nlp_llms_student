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  <p:sldId id="262" r:id="rId16"/>
    <p:sldId id="263" r:id="rId15"/>
    <p:sldId id="264" r:id="rId14"/>
    <p:sldId id="265" r:id="rId13"/>
    <p:sldId id="266" r:id="rId12"/>
    <p:sldId id="267" r:id="rId11"/>
    <p:sldId id="268" r:id="rId10"/>
    <p:sldId id="269" r:id="rId9"/>
    <p:sldId id="270" r:id="rId8"/>
    <p:sldId id="271" r:id="rId7"/>
    <p:sldId id="272" r:id="rId6"/>
    <p:sldId id="273" r:id="rId5"/>
    <p:sldId id="274" r:id="rId39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8.xml"/><Relationship Id="rId6" Type="http://schemas.openxmlformats.org/officeDocument/2006/relationships/slide" Target="slides/slide17.xml"/><Relationship Id="rId7" Type="http://schemas.openxmlformats.org/officeDocument/2006/relationships/slide" Target="slides/slide16.xml"/><Relationship Id="rId8" Type="http://schemas.openxmlformats.org/officeDocument/2006/relationships/slide" Target="slides/slide15.xml"/><Relationship Id="rId9" Type="http://schemas.openxmlformats.org/officeDocument/2006/relationships/slide" Target="slides/slide14.xml"/><Relationship Id="rId10" Type="http://schemas.openxmlformats.org/officeDocument/2006/relationships/slide" Target="slides/slide13.xml"/><Relationship Id="rId11" Type="http://schemas.openxmlformats.org/officeDocument/2006/relationships/slide" Target="slides/slide12.xml"/><Relationship Id="rId12" Type="http://schemas.openxmlformats.org/officeDocument/2006/relationships/slide" Target="slides/slide11.xml"/><Relationship Id="rId13" Type="http://schemas.openxmlformats.org/officeDocument/2006/relationships/slide" Target="slides/slide10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7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Relationship Id="rId39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chameleon takes its color from its surroundings. Ask the class: which word in English does the same?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Four weeks in a line: word vectors, then sequences, then attention, and now context. This is the week the course crosses into the LLM era, because this is where reusable general-purpose language knowledge starts.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Take one or two answers. Bank, bat, lead, spring. Everyone knows the answer is no, and yet every vector we have built so far says yes.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Word2vec and GloVe: one fixed vector per word, looked up every time. One vector must average together all senses of a word. Real structure lives in that table. But bank gets the same row in every sentence, river or money, no way to tell.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static model is a card catalog: look up "bank", get the SAME card back every time, no matter which sentence you came from.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"river bank" and "savings bank" collapse to the same static vector. The meaning lives in the context, which static vectors throw away. A deep language model reads the whole sentence, so each token gets a representation that depends on its neighbors. Pretrain once, then transfer to many tasks.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Yes, that is THE Elmo, the diagram the internet learned this from. A forward LSTM LM reads left to right, a backward one reads right to left, two layers each; every word gets hidden states from BOTH directions. The conceptual leap from word2vec: the hidden states ARE the representations.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How the contextual embedding is built: concatenate each layer's forward and backward states, weight each layer (s_0, s_1, s_2 are learned per task), and sum. The result is the embedding of "stick" in THIS sentence. Bidirectional LSTM language model; representation = learned mix of all layers.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ELMo's empirical finding: lower layers capture syntax, higher layers capture word sense. Each downstream task learns its own layer weights to pull out what it needs.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GloVe's neighbors are stuck in sports; the biLM retrieves a sentence matching EACH sense of "play.".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forward LM and a backward LM, trained independently, then concatenated.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Pretrain once on cheap unlabeled text; reuse the features across many tasks. Transfer learning for NLP, finally working at scale, little labeled data needed per task. The expensive part is already paid for.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Feature-based (ELMo) freezes the model; fine-tuning (BERT, GPT) keeps training it. Both start from self-supervised language-model pretraining.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training signal comes from the text itself: predict the missing word. Predicting the next or missing word needs zero labels. The internet is a near infinite supply of such examples.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2018 flipped the default: start from a pretrained model, then finetune. One recipe, many problems, the road to today's LLMs.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One frozen biLM, six different tasks: every baseline jumps past the prior state of the art.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Two problems, and both get fixed next class. It is still an LSTM, so word five waits on word four and the GPU idles. And its bidirectionality is shallow: two separate language models glued together at the end, never one model that genuinely sees both sides at once.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Static cosine = 1.000 (identical); contextual cosine is lower (sense-dependent). Two functions to write: the contextual vector and the static vector. The static vector cannot tell the two senses apart. The contextual one can. Expect: static == 1.000 (identical), contextual &lt; static (sense dependent).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Contextual Representations &amp; Transfer Learning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5833722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7, Class 1  ·  Wed Oct 7, 2026</a:t>
            </a:r>
          </a:p>
        </p:txBody>
      </p:sp>
      <p:pic>
        <p:nvPicPr>
          <p:cNvPr id="5" name="Picture 4" descr="Contextual Representations &amp; Transfer Learn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6248" y="3474720"/>
            <a:ext cx="2221992" cy="14813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Charles J. Sharp, Wikimedia Commons, CC BY-SA 4.0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Where we are in the course</a:t>
            </a:r>
          </a:p>
        </p:txBody>
      </p:sp>
      <p:pic>
        <p:nvPicPr>
          <p:cNvPr id="5" name="Picture 4" descr="Where we are in the cours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388" y="1078992"/>
            <a:ext cx="7857223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figures: SLP3 Figs. 5.9, 13.13; Vaswani 2017 Fig. 1; Jay Alammar (jalammar.github.io)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Meaning lives in context. Hold that thought as we leave static vectors behind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477203"/>
            <a:ext cx="9144000" cy="609790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FFFFFF"/>
                </a:solidFill>
              </a:rPr>
              <a:t>Does a word mean the same thing every time you say it?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59"/>
            <a:ext cx="7863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Meaning lives in context. Hold that thought as we leave static vectors behind.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https://images.unsplash.com/photo-1522202176988-66273c2fd55f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Static word embeddings are frozen</a:t>
            </a:r>
          </a:p>
        </p:txBody>
      </p:sp>
      <p:pic>
        <p:nvPicPr>
          <p:cNvPr id="5" name="Picture 4" descr="Static word embeddings are froz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04" y="1078992"/>
            <a:ext cx="7814391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 card catalog: one fixed card per word</a:t>
            </a:r>
          </a:p>
        </p:txBody>
      </p:sp>
      <p:pic>
        <p:nvPicPr>
          <p:cNvPr id="5" name="Picture 4" descr="A card catalog: one fixed card per wor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0412" y="1078992"/>
            <a:ext cx="4243176" cy="35890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Dr. Marcus Gossler, Wikimedia Commons, CC BY-SA 3.0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polysemy problem</a:t>
            </a:r>
          </a:p>
        </p:txBody>
      </p:sp>
      <p:pic>
        <p:nvPicPr>
          <p:cNvPr id="5" name="Picture 4" descr="The polysemy proble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948" y="1078992"/>
            <a:ext cx="8504103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ELMo's architecture: two LMs, forward and backward</a:t>
            </a:r>
          </a:p>
        </p:txBody>
      </p:sp>
      <p:pic>
        <p:nvPicPr>
          <p:cNvPr id="5" name="Picture 4" descr="ELMo's architecture: two LMs, forward and backwar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448" y="1078992"/>
            <a:ext cx="7875104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Jay Alammar, "The Illustrated BERT, ELMo, and co." (jalammar.github.io); ELMo: Peters et al. 2018, arXiv:1802.05365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One word, many vectors: mixing the LSTM layers</a:t>
            </a:r>
          </a:p>
        </p:txBody>
      </p:sp>
      <p:pic>
        <p:nvPicPr>
          <p:cNvPr id="5" name="Picture 4" descr="One word, many vectors: mixing the LSTM layer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1854" y="1078992"/>
            <a:ext cx="6920291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Jay Alammar, "The Illustrated BERT, ELMo, and co." (jalammar.github.io); ELMo: Peters et al. 2018, arXiv:1802.05365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Why combine all the layers?</a:t>
            </a:r>
          </a:p>
        </p:txBody>
      </p:sp>
      <p:pic>
        <p:nvPicPr>
          <p:cNvPr id="5" name="Picture 4" descr="Why combine all the layers?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93291"/>
            <a:ext cx="8595360" cy="356042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Peters et al. 2018, arXiv:1802.05365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famous "play" test</a:t>
            </a:r>
          </a:p>
        </p:txBody>
      </p:sp>
      <p:pic>
        <p:nvPicPr>
          <p:cNvPr id="5" name="Picture 4" descr="The famous &quot;play&quot; tes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296756"/>
            <a:ext cx="8595360" cy="31534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Peters et al. 2018 (arXiv:1802.05365), Table 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"Shallow" bidirectionality</a:t>
            </a:r>
          </a:p>
        </p:txBody>
      </p:sp>
      <p:pic>
        <p:nvPicPr>
          <p:cNvPr id="5" name="Picture 4" descr="&quot;Shallow&quot; bidirectionalit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686" y="1078992"/>
            <a:ext cx="8352628" cy="35890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Feature-based transfer</a:t>
            </a:r>
          </a:p>
        </p:txBody>
      </p:sp>
      <p:pic>
        <p:nvPicPr>
          <p:cNvPr id="5" name="Picture 4" descr="Feature-based transf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227337"/>
            <a:ext cx="8595360" cy="32923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Two flavors of transfer</a:t>
            </a:r>
          </a:p>
        </p:txBody>
      </p:sp>
      <p:pic>
        <p:nvPicPr>
          <p:cNvPr id="5" name="Picture 4" descr="Two flavors of transf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621" y="1078992"/>
            <a:ext cx="7690757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Self-supervised pretraining</a:t>
            </a:r>
          </a:p>
        </p:txBody>
      </p:sp>
      <p:pic>
        <p:nvPicPr>
          <p:cNvPr id="5" name="Picture 4" descr="Self-supervised pretrain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239" y="1078992"/>
            <a:ext cx="8115522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Why this was a turning point</a:t>
            </a:r>
          </a:p>
        </p:txBody>
      </p:sp>
      <p:pic>
        <p:nvPicPr>
          <p:cNvPr id="5" name="Picture 4" descr="Why this was a turning poin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717008"/>
            <a:ext cx="8595360" cy="231298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ELMo's results</a:t>
            </a:r>
          </a:p>
        </p:txBody>
      </p:sp>
      <p:pic>
        <p:nvPicPr>
          <p:cNvPr id="5" name="Picture 4" descr="ELMo's result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569" y="1078992"/>
            <a:ext cx="8208861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Peters et al. 2018 (arXiv:1802.05365), Table 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Limitations of ELMo</a:t>
            </a:r>
          </a:p>
        </p:txBody>
      </p:sp>
      <p:pic>
        <p:nvPicPr>
          <p:cNvPr id="5" name="Picture 4" descr="Limitations of ELM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300114"/>
            <a:ext cx="8595360" cy="314677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Break</a:t>
            </a:r>
          </a:p>
        </p:txBody>
      </p:sp>
      <p:pic>
        <p:nvPicPr>
          <p:cNvPr id="5" name="Picture 4" descr="Five minutes: stretch, refill water, compare notes. Then the contextual-embeddings lab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312"/>
            <a:ext cx="8595360" cy="3186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Measure polysemy live</a:t>
            </a:r>
          </a:p>
        </p:txBody>
      </p:sp>
      <p:pic>
        <p:nvPicPr>
          <p:cNvPr id="5" name="Picture 4" descr="Measure polysemy liv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354" y="1078992"/>
            <a:ext cx="7785292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example run, prajjwal1/bert-tiny (illustrative values)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