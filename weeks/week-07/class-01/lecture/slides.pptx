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3.jpg"/><Relationship Id="rId4" Type="http://schemas.openxmlformats.org/officeDocument/2006/relationships/hyperlink" Target="https://www.youtube.com/watch?v=H39Z_720T5s" TargetMode="External"/><Relationship Id="rId5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Attention and the Transformer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78996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7, Class 1  ·  Mon Oct 5, 2026</a:t>
            </a:r>
          </a:p>
        </p:txBody>
      </p:sp>
      <p:pic>
        <p:nvPicPr>
          <p:cNvPr id="5" name="Picture 4" descr="Attention and the Transform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2486" y="3474720"/>
            <a:ext cx="126575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Hans Hillewaert,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vector has to carry the whole sentence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25392"/>
            <a:ext cx="2365248" cy="1782988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1792" y="1888739"/>
            <a:ext cx="2036064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ENCODER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the black cat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13156" y="2361438"/>
            <a:ext cx="385511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389376" y="1625392"/>
            <a:ext cx="2365248" cy="1782988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53968" y="1888739"/>
            <a:ext cx="2036064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ONE FIXED VECTOR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c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5332" y="2361438"/>
            <a:ext cx="385511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321552" y="1625392"/>
            <a:ext cx="2365248" cy="1782988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86144" y="1888739"/>
            <a:ext cx="2036064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DECODER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le chat noir</a:t>
            </a:r>
          </a:p>
        </p:txBody>
      </p:sp>
      <p:sp>
        <p:nvSpPr>
          <p:cNvPr id="13" name="Left Arrow 12"/>
          <p:cNvSpPr/>
          <p:nvPr/>
        </p:nvSpPr>
        <p:spPr>
          <a:xfrm>
            <a:off x="457200" y="3627836"/>
            <a:ext cx="8229600" cy="237744"/>
          </a:xfrm>
          <a:prstGeom prst="leftArrow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7200" y="39387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sz="1300" b="0">
                <a:solidFill>
                  <a:srgbClr val="4C72B0"/>
                </a:solidFill>
                <a:latin typeface="Helvetica Neue"/>
              </a:rPr>
              <a:t>every source word, however long the sentence, through that one vector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the architecture of Sutskever, Vinyals &amp; Le 2014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Attention in three steps</a:t>
            </a:r>
          </a:p>
        </p:txBody>
      </p:sp>
      <p:pic>
        <p:nvPicPr>
          <p:cNvPr id="5" name="Picture 4" descr="Attention in three step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621" y="1078992"/>
            <a:ext cx="769075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animation;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whole computation, drawn</a:t>
            </a:r>
          </a:p>
        </p:txBody>
      </p:sp>
      <p:pic>
        <p:nvPicPr>
          <p:cNvPr id="5" name="Picture 4" descr="The whole computation, draw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5044" y="1078992"/>
            <a:ext cx="651391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Reading attention as alignment</a:t>
            </a:r>
          </a:p>
        </p:txBody>
      </p:sp>
      <p:pic>
        <p:nvPicPr>
          <p:cNvPr id="5" name="Picture 4" descr="Reading attention as alignm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4685" y="1078992"/>
            <a:ext cx="513463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Bahdanau, Cho &amp; Bengio 2014 (arXiv:1409.0473), Fig. 3 (a, 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Limitations that motivate the Transformer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22862"/>
            <a:ext cx="4041648" cy="1101280"/>
          </a:xfrm>
          <a:prstGeom prst="roundRect">
            <a:avLst>
              <a:gd name="adj" fmla="val 1079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69166"/>
            <a:ext cx="3675888" cy="808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SEQUENTIAL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50" b="0" u="none">
                <a:solidFill>
                  <a:srgbClr val="1D1D1F"/>
                </a:solidFill>
                <a:latin typeface="Menlo"/>
              </a:rPr>
              <a:t>step t waits for step t-1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Hard to parallelise across time on modern hardware.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22862"/>
            <a:ext cx="4041648" cy="1101280"/>
          </a:xfrm>
          <a:prstGeom prst="roundRect">
            <a:avLst>
              <a:gd name="adj" fmla="val 1079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69166"/>
            <a:ext cx="3675888" cy="808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LONG PATH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50" b="0" u="none">
                <a:solidFill>
                  <a:srgbClr val="1D1D1F"/>
                </a:solidFill>
                <a:latin typeface="Menlo"/>
              </a:rPr>
              <a:t>distant words, many steps apart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A dependency still has to traverse every recurrent step between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Self-attention: the core move</a:t>
            </a:r>
          </a:p>
        </p:txBody>
      </p:sp>
      <p:pic>
        <p:nvPicPr>
          <p:cNvPr id="5" name="Picture 4" descr="Self-attention: the core mov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538" y="1078992"/>
            <a:ext cx="484692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8.3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same computation, drawn</a:t>
            </a:r>
          </a:p>
        </p:txBody>
      </p:sp>
      <p:pic>
        <p:nvPicPr>
          <p:cNvPr id="5" name="Picture 4" descr="The same computation, draw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626" y="1078992"/>
            <a:ext cx="42447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8.5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All pairs at once, and the causal mask</a:t>
            </a:r>
          </a:p>
        </p:txBody>
      </p:sp>
      <p:pic>
        <p:nvPicPr>
          <p:cNvPr id="5" name="Picture 4" descr="All pairs at once, and the causal mas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4150" y="1078992"/>
            <a:ext cx="491570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Figs. 8.9-8.10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Multi-head, concretely</a:t>
            </a:r>
          </a:p>
        </p:txBody>
      </p:sp>
      <p:pic>
        <p:nvPicPr>
          <p:cNvPr id="5" name="Picture 4" descr="Multi-head, concrete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555" y="1078992"/>
            <a:ext cx="502288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8.6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But attention has no sense of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DOG BITES MAN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self-attention output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MAN BITES DOG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shuffled the same way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Permutation-equivariant: shuffle the inputs and the outputs shuffle with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simple fix: add position embeddings</a:t>
            </a:r>
          </a:p>
        </p:txBody>
      </p:sp>
      <p:pic>
        <p:nvPicPr>
          <p:cNvPr id="5" name="Picture 4" descr="The simple fix: add position embeddin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025" y="1078992"/>
            <a:ext cx="730595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8.14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Let's walk through Parts 1, 2 and 3 in the notebook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A real transformer.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The full Transformer, assembled</a:t>
            </a:r>
          </a:p>
        </p:txBody>
      </p:sp>
      <p:pic>
        <p:nvPicPr>
          <p:cNvPr id="5" name="Picture 4" descr="Video: The Transformer (HF). Opens https://www.youtube.com/watch?v=H39Z_720T5s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The Transformer (HF)</a:t>
            </a:r>
          </a:p>
        </p:txBody>
      </p:sp>
      <p:pic>
        <p:nvPicPr>
          <p:cNvPr id="7" name="Picture 6" descr="The full Transformer, assembl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984" y="1207008"/>
            <a:ext cx="2268032" cy="3461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Vaswani et al. 2017 (arXiv:1706.03762), Fig.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Encoder, decoder, or both?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99220"/>
            <a:ext cx="2645664" cy="948563"/>
          </a:xfrm>
          <a:prstGeom prst="roundRect">
            <a:avLst>
              <a:gd name="adj" fmla="val 12531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45524"/>
            <a:ext cx="2279904" cy="655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950" b="1" spc="70">
                <a:solidFill>
                  <a:srgbClr val="86868B"/>
                </a:solidFill>
                <a:latin typeface="Helvetica Neue"/>
              </a:rPr>
              <a:t>ENCODER-ONLY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50" b="0" u="none">
                <a:solidFill>
                  <a:srgbClr val="1D1D1F"/>
                </a:solidFill>
                <a:latin typeface="Menlo"/>
              </a:rPr>
              <a:t>bidirectional understanding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00" b="0">
                <a:solidFill>
                  <a:srgbClr val="86868B"/>
                </a:solidFill>
                <a:latin typeface="Helvetica Neue"/>
              </a:rPr>
              <a:t>BERT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9168" y="2399220"/>
            <a:ext cx="2645664" cy="948563"/>
          </a:xfrm>
          <a:prstGeom prst="roundRect">
            <a:avLst>
              <a:gd name="adj" fmla="val 12531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32048" y="2545524"/>
            <a:ext cx="2279904" cy="655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950" b="1" spc="70">
                <a:solidFill>
                  <a:srgbClr val="86868B"/>
                </a:solidFill>
                <a:latin typeface="Helvetica Neue"/>
              </a:rPr>
              <a:t>DECODER-ONLY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50" b="0" u="none">
                <a:solidFill>
                  <a:srgbClr val="1D1D1F"/>
                </a:solidFill>
                <a:latin typeface="Menlo"/>
              </a:rPr>
              <a:t>autoregressive generation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00" b="0">
                <a:solidFill>
                  <a:srgbClr val="86868B"/>
                </a:solidFill>
                <a:latin typeface="Helvetica Neue"/>
              </a:rPr>
              <a:t>GPT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41136" y="2399220"/>
            <a:ext cx="2645664" cy="948563"/>
          </a:xfrm>
          <a:prstGeom prst="roundRect">
            <a:avLst>
              <a:gd name="adj" fmla="val 12531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4016" y="2545524"/>
            <a:ext cx="2279904" cy="655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950" b="1" spc="70">
                <a:solidFill>
                  <a:srgbClr val="86868B"/>
                </a:solidFill>
                <a:latin typeface="Helvetica Neue"/>
              </a:rPr>
              <a:t>ENCODER-DECODER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50" b="0" u="none">
                <a:solidFill>
                  <a:srgbClr val="1D1D1F"/>
                </a:solidFill>
                <a:latin typeface="Menlo"/>
              </a:rPr>
              <a:t>sequence to sequence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00" b="0">
                <a:solidFill>
                  <a:srgbClr val="86868B"/>
                </a:solidFill>
                <a:latin typeface="Helvetica Neue"/>
              </a:rPr>
              <a:t>T5, and the original paper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the Transformer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1428"/>
            <a:ext cx="4041648" cy="1184148"/>
          </a:xfrm>
          <a:prstGeom prst="roundRect">
            <a:avLst>
              <a:gd name="adj" fmla="val 1003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27732"/>
            <a:ext cx="3675888" cy="891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RNN, EVEN WITH ATTENTION</a:t>
            </a:r>
          </a:p>
          <a:p>
            <a:pPr marL="0" indent="0">
              <a:spcAft>
                <a:spcPts val="300"/>
              </a:spcAft>
              <a:buNone/>
            </a:pPr>
            <a:r>
              <a:rPr sz="1900" b="0" u="none">
                <a:solidFill>
                  <a:srgbClr val="1D1D1F"/>
                </a:solidFill>
                <a:latin typeface="Menlo"/>
              </a:rPr>
              <a:t>99 links from w1 to w100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Signal hops through every state, and one word at a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81428"/>
            <a:ext cx="4041648" cy="1184148"/>
          </a:xfrm>
          <a:prstGeom prst="roundRect">
            <a:avLst>
              <a:gd name="adj" fmla="val 1003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27732"/>
            <a:ext cx="3675888" cy="891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TRANSFORMER</a:t>
            </a:r>
          </a:p>
          <a:p>
            <a:pPr marL="0" indent="0">
              <a:spcAft>
                <a:spcPts val="300"/>
              </a:spcAft>
              <a:buNone/>
            </a:pPr>
            <a:r>
              <a:rPr sz="1900" b="0" u="none">
                <a:solidFill>
                  <a:srgbClr val="1D1D1F"/>
                </a:solidFill>
                <a:latin typeface="Menlo"/>
              </a:rPr>
              <a:t>1 hop, at any distance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Every pair connects directly, and all positions compute at once.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Then you go and poke at a real o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Experiment on a language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Does it know grammar it was never taught?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240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69240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69240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Does it know facts? Try several countries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0581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30581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30581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Does "not" change what it predicts?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91922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291922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291922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Same prompt three times. Same answer?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53263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4944" y="353263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53263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What does temperature change?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14604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94944" y="414604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4604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Who does it assume the doctor is?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distilbert-base-uncased and distilgpt2 in today's notebook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