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21"/>
    <p:sldId id="257" r:id="rId22"/>
    <p:sldId id="258" r:id="rId20"/>
    <p:sldId id="259" r:id="rId19"/>
    <p:sldId id="260" r:id="rId18"/>
    <p:sldId id="261" r:id="rId17"/>
    <p:sldId id="262" r:id="rId16"/>
    <p:sldId id="263" r:id="rId15"/>
    <p:sldId id="264" r:id="rId14"/>
    <p:sldId id="265" r:id="rId13"/>
    <p:sldId id="266" r:id="rId12"/>
    <p:sldId id="267" r:id="rId11"/>
    <p:sldId id="268" r:id="rId10"/>
    <p:sldId id="269" r:id="rId9"/>
    <p:sldId id="270" r:id="rId8"/>
    <p:sldId id="271" r:id="rId7"/>
    <p:sldId id="272" r:id="rId6"/>
    <p:sldId id="273" r:id="rId5"/>
    <p:sldId id="274" r:id="rId39"/>
    <p:sldId id="275" r:id="rId40"/>
    <p:sldId id="276" r:id="rId41"/>
  </p:sldIdLst>
  <p:sldSz cy="5143500" cx="9144000"/>
  <p:notesSz cx="6858000" cy="9144000"/>
  <p:embeddedFontLst>
    <p:embeddedFont>
      <p:font typeface="Roboto"/>
      <p:regular r:id="rId23"/>
      <p:bold r:id="rId24"/>
      <p:italic r:id="rId25"/>
      <p:boldItalic r:id="rId26"/>
    </p:embeddedFont>
    <p:embeddedFont>
      <p:font typeface="Playfair Display"/>
      <p:regular r:id="rId27"/>
      <p:bold r:id="rId28"/>
      <p:italic r:id="rId29"/>
      <p:boldItalic r:id="rId30"/>
    </p:embeddedFont>
    <p:embeddedFont>
      <p:font typeface="Roboto Mono Light"/>
      <p:regular r:id="rId31"/>
      <p:bold r:id="rId32"/>
      <p:italic r:id="rId33"/>
      <p:boldItalic r:id="rId34"/>
    </p:embeddedFont>
    <p:embeddedFont>
      <p:font typeface="Roboto Light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8.xml"/><Relationship Id="rId6" Type="http://schemas.openxmlformats.org/officeDocument/2006/relationships/slide" Target="slides/slide17.xml"/><Relationship Id="rId7" Type="http://schemas.openxmlformats.org/officeDocument/2006/relationships/slide" Target="slides/slide16.xml"/><Relationship Id="rId8" Type="http://schemas.openxmlformats.org/officeDocument/2006/relationships/slide" Target="slides/slide15.xml"/><Relationship Id="rId9" Type="http://schemas.openxmlformats.org/officeDocument/2006/relationships/slide" Target="slides/slide14.xml"/><Relationship Id="rId10" Type="http://schemas.openxmlformats.org/officeDocument/2006/relationships/slide" Target="slides/slide13.xml"/><Relationship Id="rId11" Type="http://schemas.openxmlformats.org/officeDocument/2006/relationships/slide" Target="slides/slide12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8.xml"/><Relationship Id="rId16" Type="http://schemas.openxmlformats.org/officeDocument/2006/relationships/slide" Target="slides/slide7.xml"/><Relationship Id="rId17" Type="http://schemas.openxmlformats.org/officeDocument/2006/relationships/slide" Target="slides/slide6.xml"/><Relationship Id="rId18" Type="http://schemas.openxmlformats.org/officeDocument/2006/relationships/slide" Target="slides/slide5.xml"/><Relationship Id="rId19" Type="http://schemas.openxmlformats.org/officeDocument/2006/relationships/slide" Target="slides/slide4.xml"/><Relationship Id="rId20" Type="http://schemas.openxmlformats.org/officeDocument/2006/relationships/slide" Target="slides/slide3.xml"/><Relationship Id="rId21" Type="http://schemas.openxmlformats.org/officeDocument/2006/relationships/slide" Target="slides/slide1.xml"/><Relationship Id="rId22" Type="http://schemas.openxmlformats.org/officeDocument/2006/relationships/slide" Target="slides/slide2.xml"/><Relationship Id="rId23" Type="http://schemas.openxmlformats.org/officeDocument/2006/relationships/font" Target="fonts/Roboto-regular.fntdata"/><Relationship Id="rId24" Type="http://schemas.openxmlformats.org/officeDocument/2006/relationships/font" Target="fonts/Roboto-bold.fntdata"/><Relationship Id="rId25" Type="http://schemas.openxmlformats.org/officeDocument/2006/relationships/font" Target="fonts/Roboto-italic.fntdata"/><Relationship Id="rId26" Type="http://schemas.openxmlformats.org/officeDocument/2006/relationships/font" Target="fonts/Roboto-boldItalic.fntdata"/><Relationship Id="rId27" Type="http://schemas.openxmlformats.org/officeDocument/2006/relationships/font" Target="fonts/PlayfairDisplay-regular.fntdata"/><Relationship Id="rId28" Type="http://schemas.openxmlformats.org/officeDocument/2006/relationships/font" Target="fonts/PlayfairDisplay-bold.fntdata"/><Relationship Id="rId29" Type="http://schemas.openxmlformats.org/officeDocument/2006/relationships/font" Target="fonts/PlayfairDisplay-italic.fntdata"/><Relationship Id="rId30" Type="http://schemas.openxmlformats.org/officeDocument/2006/relationships/font" Target="fonts/PlayfairDisplay-boldItalic.fntdata"/><Relationship Id="rId31" Type="http://schemas.openxmlformats.org/officeDocument/2006/relationships/font" Target="fonts/RobotoMonoLight-regular.fntdata"/><Relationship Id="rId32" Type="http://schemas.openxmlformats.org/officeDocument/2006/relationships/font" Target="fonts/RobotoMonoLight-bold.fntdata"/><Relationship Id="rId33" Type="http://schemas.openxmlformats.org/officeDocument/2006/relationships/font" Target="fonts/RobotoMonoLight-italic.fntdata"/><Relationship Id="rId34" Type="http://schemas.openxmlformats.org/officeDocument/2006/relationships/font" Target="fonts/RobotoMonoLight-boldItalic.fntdata"/><Relationship Id="rId35" Type="http://schemas.openxmlformats.org/officeDocument/2006/relationships/font" Target="fonts/RobotoLight-regular.fntdata"/><Relationship Id="rId36" Type="http://schemas.openxmlformats.org/officeDocument/2006/relationships/font" Target="fonts/RobotoLight-bold.fntdata"/><Relationship Id="rId37" Type="http://schemas.openxmlformats.org/officeDocument/2006/relationships/font" Target="fonts/RobotoLight-italic.fntdata"/><Relationship Id="rId38" Type="http://schemas.openxmlformats.org/officeDocument/2006/relationships/font" Target="fonts/RobotoLight-boldItalic.fntdata"/><Relationship Id="rId39" Type="http://schemas.openxmlformats.org/officeDocument/2006/relationships/slide" Target="slides/slide19.xml"/><Relationship Id="rId40" Type="http://schemas.openxmlformats.org/officeDocument/2006/relationships/slide" Target="slides/slide20.xml"/><Relationship Id="rId41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4C72B0"/>
            </a:solidFill>
            <a:ln>
              <a:noFill/>
            </a:ln>
          </c:spPr>
          <c:dPt>
            <c:idx val="0"/>
            <c:spPr>
              <a:solidFill>
                <a:srgbClr val="4C72B0"/>
              </a:solidFill>
            </c:spPr>
          </c:dPt>
          <c:dPt>
            <c:idx val="1"/>
            <c:spPr>
              <a:solidFill>
                <a:srgbClr val="4C72B0"/>
              </a:solidFill>
            </c:spPr>
          </c:dPt>
          <c:dPt>
            <c:idx val="2"/>
            <c:spPr>
              <a:solidFill>
                <a:srgbClr val="4C72B0"/>
              </a:solidFill>
            </c:spPr>
          </c:dPt>
          <c:dPt>
            <c:idx val="3"/>
            <c:spPr>
              <a:solidFill>
                <a:srgbClr val="4C72B0"/>
              </a:solidFill>
            </c:spPr>
          </c:dPt>
          <c:dPt>
            <c:idx val="4"/>
            <c:spPr>
              <a:solidFill>
                <a:srgbClr val="4C72B0"/>
              </a:solidFill>
            </c:spPr>
          </c:dPt>
          <c:dPt>
            <c:idx val="5"/>
            <c:spPr>
              <a:solidFill>
                <a:srgbClr val="4C72B0"/>
              </a:solidFill>
            </c:spPr>
          </c:dPt>
          <c:cat>
            <c:strRef>
              <c:f>Sheet1!$A$2:$A$7</c:f>
              <c:strCache>
                <c:ptCount val="6"/>
                <c:pt idx="0">
                  <c:v>one seat, New York to San Francisco</c:v>
                </c:pt>
                <c:pt idx="1">
                  <c:v>one person, world average, one year</c:v>
                </c:pt>
                <c:pt idx="2">
                  <c:v>one American, one year</c:v>
                </c:pt>
                <c:pt idx="3">
                  <c:v>one car, built and fuelled, whole life</c:v>
                </c:pt>
                <c:pt idx="4">
                  <c:v>Transformer + architecture search</c:v>
                </c:pt>
                <c:pt idx="5">
                  <c:v>train GPT-3, once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0.9</c:v>
                </c:pt>
                <c:pt idx="1">
                  <c:v>5.0</c:v>
                </c:pt>
                <c:pt idx="2">
                  <c:v>16.4</c:v>
                </c:pt>
                <c:pt idx="3">
                  <c:v>57.0</c:v>
                </c:pt>
                <c:pt idx="4">
                  <c:v>284.0</c:v>
                </c:pt>
                <c:pt idx="5">
                  <c:v>552.0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500" b="1">
                  <a:solidFill>
                    <a:srgbClr val="1D1D1F"/>
                  </a:solidFill>
                  <a:latin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D2D2D7"/>
            </a:solidFill>
          </a:ln>
        </c:spPr>
        <c:txPr>
          <a:bodyPr/>
          <a:lstStyle/>
          <a:p>
            <a:pPr>
              <a:defRPr sz="1200">
                <a:solidFill>
                  <a:srgbClr val="86868B"/>
                </a:solidFill>
                <a:latin typeface="Helvetica Neu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TickMark val="none"/>
        <c:minorTickMark val="none"/>
        <c:tickLblPos val="none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200">
          <a:latin typeface="Helvetica Neue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523" y="685800"/>
            <a:ext cx="4571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Relationship Id="rId4" Type="http://schemas.openxmlformats.org/officeDocument/2006/relationships/image" Target="../media/image27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3390300"/>
            <a:ext cx="91440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13732" l="600" r="-600" t="43847"/>
          <a:stretch/>
        </p:blipFill>
        <p:spPr>
          <a:xfrm>
            <a:off x="0" y="-70472"/>
            <a:ext cx="9198797" cy="346077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2 Columns">
  <p:cSld name="2_Portfolio Thre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" type="body"/>
          </p:nvPr>
        </p:nvSpPr>
        <p:spPr>
          <a:xfrm>
            <a:off x="50957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body"/>
          </p:nvPr>
        </p:nvSpPr>
        <p:spPr>
          <a:xfrm>
            <a:off x="4827127" y="1369219"/>
            <a:ext cx="368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+ 3 Columns">
  <p:cSld name="1_Slide with Placehol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5521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3" type="body"/>
          </p:nvPr>
        </p:nvSpPr>
        <p:spPr>
          <a:xfrm>
            <a:off x="3337475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4" type="body"/>
          </p:nvPr>
        </p:nvSpPr>
        <p:spPr>
          <a:xfrm>
            <a:off x="6160800" y="1369225"/>
            <a:ext cx="2502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">
  <p:cSld name="Cover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over Slide with Logo">
  <p:cSld name="Cover Slide_2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3514" y="628706"/>
            <a:ext cx="4936973" cy="388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Acknowledgments Slide">
  <p:cSld name="Cover Slide_1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95" y="0"/>
            <a:ext cx="9142810" cy="5142831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Font typeface="Playfair Display"/>
              <a:buNone/>
              <a:defRPr i="0" sz="5600" u="none" cap="none" strike="noStrike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509521" y="1401113"/>
            <a:ext cx="5120100" cy="1558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27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only">
  <p:cSld name="Custom Layou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37" name="Google Shape;37;p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Big Concept Slide">
  <p:cSld name="Slide with Placehol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/>
          <p:nvPr>
            <p:ph type="title"/>
          </p:nvPr>
        </p:nvSpPr>
        <p:spPr>
          <a:xfrm>
            <a:off x="509577" y="2245519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509577" y="3154509"/>
            <a:ext cx="6737700" cy="953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">
  <p:cSld name="Large Picture with Logo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3" name="Google Shape;43;p10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44" name="Google Shape;44;p10"/>
          <p:cNvPicPr preferRelativeResize="0"/>
          <p:nvPr/>
        </p:nvPicPr>
        <p:blipFill rotWithShape="1">
          <a:blip r:embed="rId2">
            <a:alphaModFix/>
          </a:blip>
          <a:srcRect b="2009" l="27412" r="6551" t="0"/>
          <a:stretch/>
        </p:blipFill>
        <p:spPr>
          <a:xfrm>
            <a:off x="7006675" y="-56025"/>
            <a:ext cx="2176574" cy="4846049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1">
  <p:cSld name="Large Picture with Logo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48" name="Google Shape;48;p11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2">
  <p:cSld name="Large Picture with Logo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2" name="Google Shape;52;p12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53" name="Google Shape;53;p12"/>
          <p:cNvPicPr preferRelativeResize="0"/>
          <p:nvPr/>
        </p:nvPicPr>
        <p:blipFill rotWithShape="1">
          <a:blip r:embed="rId2">
            <a:alphaModFix/>
          </a:blip>
          <a:srcRect b="0" l="27412" r="6551" t="0"/>
          <a:stretch/>
        </p:blipFill>
        <p:spPr>
          <a:xfrm>
            <a:off x="7006675" y="-57150"/>
            <a:ext cx="2137324" cy="485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2"/>
          <p:cNvPicPr preferRelativeResize="0"/>
          <p:nvPr/>
        </p:nvPicPr>
        <p:blipFill rotWithShape="1">
          <a:blip r:embed="rId3">
            <a:alphaModFix/>
          </a:blip>
          <a:srcRect b="0" l="8950" r="0" t="0"/>
          <a:stretch/>
        </p:blipFill>
        <p:spPr>
          <a:xfrm>
            <a:off x="7006665" y="-57150"/>
            <a:ext cx="6633784" cy="4856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2"/>
          <p:cNvPicPr preferRelativeResize="0"/>
          <p:nvPr/>
        </p:nvPicPr>
        <p:blipFill rotWithShape="1">
          <a:blip r:embed="rId4">
            <a:alphaModFix/>
          </a:blip>
          <a:srcRect b="0" l="39028" r="0" t="0"/>
          <a:stretch/>
        </p:blipFill>
        <p:spPr>
          <a:xfrm>
            <a:off x="7006676" y="-57150"/>
            <a:ext cx="4442373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2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3">
  <p:cSld name="Large Picture with Logo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 b="0" l="24210" r="1252" t="0"/>
          <a:stretch/>
        </p:blipFill>
        <p:spPr>
          <a:xfrm>
            <a:off x="7006675" y="-57150"/>
            <a:ext cx="5430948" cy="4856124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and Photo 4">
  <p:cSld name="Large Picture with Logo_1_1_1_1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65" name="Google Shape;65;p14"/>
          <p:cNvPicPr preferRelativeResize="0"/>
          <p:nvPr/>
        </p:nvPicPr>
        <p:blipFill rotWithShape="1">
          <a:blip r:embed="rId2">
            <a:alphaModFix/>
          </a:blip>
          <a:srcRect b="0" l="34525" r="0" t="0"/>
          <a:stretch/>
        </p:blipFill>
        <p:spPr>
          <a:xfrm>
            <a:off x="7010075" y="-57150"/>
            <a:ext cx="2543048" cy="48561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555675" y="1369225"/>
            <a:ext cx="5974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">
  <p:cSld name="3_Placehol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69" name="Google Shape;69;p15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ext with Large Photo 1">
  <p:cSld name="3_Placeholder_1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509577" y="702469"/>
            <a:ext cx="22071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Playfair Display"/>
              <a:buNone/>
              <a:defRPr i="0" sz="27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3" name="Google Shape;73;p16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509575" y="1902650"/>
            <a:ext cx="225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2200"/>
              <a:buFont typeface="Roboto Light"/>
              <a:buNone/>
              <a:defRPr i="0" sz="22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228600" lvl="1" marL="914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Roboto Light"/>
              <a:buNone/>
              <a:defRPr i="0" sz="18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228600" lvl="2" marL="13716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500"/>
              <a:buFont typeface="Roboto Light"/>
              <a:buNone/>
              <a:defRPr i="0" sz="15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300"/>
              <a:buFont typeface="Roboto Light"/>
              <a:buNone/>
              <a:defRPr i="0" sz="13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228600" lvl="4" marL="22860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oboto Light"/>
              <a:buNone/>
              <a:defRPr i="0" sz="1100" u="none" cap="none" strike="noStrike"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285750" lvl="5" marL="27432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Single Statistic">
  <p:cSld name="1_Placehol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454066" y="182433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4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2" type="subTitle"/>
          </p:nvPr>
        </p:nvSpPr>
        <p:spPr>
          <a:xfrm>
            <a:off x="454066" y="3127509"/>
            <a:ext cx="8353200" cy="7152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sz="1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subTitle"/>
          </p:nvPr>
        </p:nvSpPr>
        <p:spPr>
          <a:xfrm>
            <a:off x="4838166" y="1824350"/>
            <a:ext cx="38664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title"/>
          </p:nvPr>
        </p:nvSpPr>
        <p:spPr>
          <a:xfrm>
            <a:off x="509577" y="837514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Multiple Statistics">
  <p:cSld name="1_Placeholder_1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4066" y="75948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2" type="subTitle"/>
          </p:nvPr>
        </p:nvSpPr>
        <p:spPr>
          <a:xfrm>
            <a:off x="4759893" y="759488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title"/>
          </p:nvPr>
        </p:nvSpPr>
        <p:spPr>
          <a:xfrm>
            <a:off x="454066" y="2037533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5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4" type="subTitle"/>
          </p:nvPr>
        </p:nvSpPr>
        <p:spPr>
          <a:xfrm>
            <a:off x="4759893" y="2037533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5" type="title"/>
          </p:nvPr>
        </p:nvSpPr>
        <p:spPr>
          <a:xfrm>
            <a:off x="454066" y="3437708"/>
            <a:ext cx="4305900" cy="13851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500">
                <a:solidFill>
                  <a:schemeClr val="accent6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6" type="subTitle"/>
          </p:nvPr>
        </p:nvSpPr>
        <p:spPr>
          <a:xfrm>
            <a:off x="4759893" y="3437709"/>
            <a:ext cx="4008300" cy="11745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lvl="1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Quote">
  <p:cSld name="CUSTOM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idx="1" type="subTitle"/>
          </p:nvPr>
        </p:nvSpPr>
        <p:spPr>
          <a:xfrm>
            <a:off x="509577" y="219225"/>
            <a:ext cx="3773400" cy="2193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>
              <a:spcBef>
                <a:spcPts val="700"/>
              </a:spcBef>
              <a:spcAft>
                <a:spcPts val="0"/>
              </a:spcAft>
              <a:buNone/>
              <a:defRPr b="1"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91" name="Google Shape;91;p19"/>
          <p:cNvSpPr/>
          <p:nvPr/>
        </p:nvSpPr>
        <p:spPr>
          <a:xfrm>
            <a:off x="5748887" y="1561152"/>
            <a:ext cx="1718100" cy="219300"/>
          </a:xfrm>
          <a:prstGeom prst="rect">
            <a:avLst/>
          </a:prstGeom>
          <a:solidFill>
            <a:srgbClr val="738D33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/>
          <p:nvPr/>
        </p:nvSpPr>
        <p:spPr>
          <a:xfrm>
            <a:off x="7467434" y="1561152"/>
            <a:ext cx="1718100" cy="219300"/>
          </a:xfrm>
          <a:prstGeom prst="rect">
            <a:avLst/>
          </a:prstGeom>
          <a:solidFill>
            <a:srgbClr val="625578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9"/>
          <p:cNvSpPr/>
          <p:nvPr/>
        </p:nvSpPr>
        <p:spPr>
          <a:xfrm>
            <a:off x="0" y="1561152"/>
            <a:ext cx="1718100" cy="2193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9"/>
          <p:cNvSpPr/>
          <p:nvPr/>
        </p:nvSpPr>
        <p:spPr>
          <a:xfrm>
            <a:off x="1718076" y="1561152"/>
            <a:ext cx="1718100" cy="219300"/>
          </a:xfrm>
          <a:prstGeom prst="rect">
            <a:avLst/>
          </a:prstGeom>
          <a:solidFill>
            <a:srgbClr val="498DA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9"/>
          <p:cNvSpPr txBox="1"/>
          <p:nvPr/>
        </p:nvSpPr>
        <p:spPr>
          <a:xfrm>
            <a:off x="3589051" y="975950"/>
            <a:ext cx="19659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0">
                <a:solidFill>
                  <a:srgbClr val="818387"/>
                </a:solidFill>
              </a:rPr>
              <a:t>“</a:t>
            </a:r>
            <a:endParaRPr b="1" sz="12000">
              <a:solidFill>
                <a:srgbClr val="818387"/>
              </a:solidFill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1682308" y="2130769"/>
            <a:ext cx="5779500" cy="1962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2" type="subTitle"/>
          </p:nvPr>
        </p:nvSpPr>
        <p:spPr>
          <a:xfrm>
            <a:off x="3300470" y="3999056"/>
            <a:ext cx="2543100" cy="3846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Autofit/>
          </a:bodyPr>
          <a:lstStyle>
            <a:lvl1pPr lvl="0" algn="ctr">
              <a:spcBef>
                <a:spcPts val="70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7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7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7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7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7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7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7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70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Title Slide" showMasterSp="0">
  <p:cSld name="13_Title Slide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/>
          <p:nvPr>
            <p:ph idx="2" type="pic"/>
          </p:nvPr>
        </p:nvSpPr>
        <p:spPr>
          <a:xfrm>
            <a:off x="192505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0" name="Google Shape;100;p20"/>
          <p:cNvSpPr/>
          <p:nvPr>
            <p:ph idx="3" type="pic"/>
          </p:nvPr>
        </p:nvSpPr>
        <p:spPr>
          <a:xfrm>
            <a:off x="1997242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20"/>
          <p:cNvSpPr/>
          <p:nvPr>
            <p:ph idx="4" type="pic"/>
          </p:nvPr>
        </p:nvSpPr>
        <p:spPr>
          <a:xfrm>
            <a:off x="3801980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2" name="Google Shape;102;p20"/>
          <p:cNvSpPr/>
          <p:nvPr>
            <p:ph idx="5" type="pic"/>
          </p:nvPr>
        </p:nvSpPr>
        <p:spPr>
          <a:xfrm>
            <a:off x="5606716" y="0"/>
            <a:ext cx="1600200" cy="4629300"/>
          </a:xfrm>
          <a:prstGeom prst="rect">
            <a:avLst/>
          </a:prstGeom>
          <a:noFill/>
          <a:ln>
            <a:noFill/>
          </a:ln>
        </p:spPr>
      </p:sp>
      <p:sp>
        <p:nvSpPr>
          <p:cNvPr id="103" name="Google Shape;103;p20"/>
          <p:cNvSpPr/>
          <p:nvPr>
            <p:ph idx="6" type="pic"/>
          </p:nvPr>
        </p:nvSpPr>
        <p:spPr>
          <a:xfrm>
            <a:off x="7411453" y="514350"/>
            <a:ext cx="1600200" cy="4629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Page 1">
  <p:cSld name="1_Cover Page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-53437" y="3390300"/>
            <a:ext cx="9197400" cy="175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1"/>
          <p:cNvPicPr preferRelativeResize="0"/>
          <p:nvPr/>
        </p:nvPicPr>
        <p:blipFill rotWithShape="1">
          <a:blip r:embed="rId2">
            <a:alphaModFix/>
          </a:blip>
          <a:srcRect b="13732" l="0" r="-563" t="43844"/>
          <a:stretch/>
        </p:blipFill>
        <p:spPr>
          <a:xfrm>
            <a:off x="-53437" y="-70462"/>
            <a:ext cx="9250875" cy="346075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 txBox="1"/>
          <p:nvPr>
            <p:ph type="title"/>
          </p:nvPr>
        </p:nvSpPr>
        <p:spPr>
          <a:xfrm>
            <a:off x="493923" y="976378"/>
            <a:ext cx="8005800" cy="182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700" lIns="25700" spcFirstLastPara="1" rIns="25700" wrap="square" tIns="2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Playfair Display"/>
              <a:buNone/>
              <a:defRPr i="0" sz="3600" u="none" cap="none" strike="noStrik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Arial"/>
              <a:buNone/>
              <a:defRPr sz="700"/>
            </a:lvl9pPr>
          </a:lstStyle>
          <a:p/>
        </p:txBody>
      </p:sp>
      <p:sp>
        <p:nvSpPr>
          <p:cNvPr id="108" name="Google Shape;108;p21"/>
          <p:cNvSpPr txBox="1"/>
          <p:nvPr>
            <p:ph idx="1" type="subTitle"/>
          </p:nvPr>
        </p:nvSpPr>
        <p:spPr>
          <a:xfrm>
            <a:off x="493926" y="3549825"/>
            <a:ext cx="7661100" cy="9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2" type="subTitle"/>
          </p:nvPr>
        </p:nvSpPr>
        <p:spPr>
          <a:xfrm>
            <a:off x="493923" y="4079316"/>
            <a:ext cx="7327800" cy="2987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509521" y="406950"/>
            <a:ext cx="80058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fair Display"/>
              <a:buNone/>
              <a:defRPr i="0" sz="3600" u="none" cap="none" strike="noStrike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Arial"/>
              <a:buNone/>
              <a:defRPr sz="7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509577" y="1401113"/>
            <a:ext cx="8005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Roboto"/>
              <a:buNone/>
              <a:defRPr i="0" sz="22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286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None/>
              <a:defRPr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286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None/>
              <a:defRPr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286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None/>
              <a:defRPr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•"/>
              <a:defRPr i="0" sz="9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730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•"/>
              <a:defRPr i="0" sz="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6035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oboto"/>
              <a:buChar char="•"/>
              <a:defRPr i="0" sz="5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40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400"/>
              <a:buFont typeface="Roboto"/>
              <a:buChar char="•"/>
              <a:defRPr i="0" sz="4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 rotWithShape="1">
          <a:blip r:embed="rId1">
            <a:alphaModFix/>
          </a:blip>
          <a:srcRect b="0" l="0" r="0" t="35296"/>
          <a:stretch/>
        </p:blipFill>
        <p:spPr>
          <a:xfrm>
            <a:off x="0" y="4794384"/>
            <a:ext cx="9144000" cy="34911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4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 marL="0" indent="0">
              <a:buNone/>
            </a:pPr>
            <a:r>
              <a:t>CSCI 3495</a:t>
            </a:r>
          </a:p>
          <a:p>
            <a:pPr marL="0" indent="0">
              <a:buNone/>
            </a:pPr>
            <a:r>
              <a:t>Ethics &amp; Society: The Stakes of Language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26" y="3549825"/>
            <a:ext cx="5832854" cy="970800"/>
          </a:xfrm>
        </p:spPr>
        <p:txBody>
          <a:bodyPr wrap="square"/>
          <a:lstStyle/>
          <a:p>
            <a:pPr marL="0" indent="0">
              <a:buNone/>
            </a:pPr>
            <a:r>
              <a:t>Natural Language Processing &amp; Large Language Models</a:t>
            </a:r>
          </a:p>
          <a:p>
            <a:pPr marL="0" indent="0">
              <a:buNone/>
            </a:pPr>
            <a:r>
              <a:t>Week 15, Class 1  ·  Mon Dec 7, 2026</a:t>
            </a:r>
          </a:p>
        </p:txBody>
      </p:sp>
      <p:pic>
        <p:nvPicPr>
          <p:cNvPr id="5" name="Picture 4" descr="Ethics &amp; Society: The Stakes of Language Technolog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5380" y="3474720"/>
            <a:ext cx="2222860" cy="148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777777"/>
                </a:solidFill>
              </a:defRPr>
            </a:pPr>
            <a:r>
              <a:t>Source: photo: Acabashi, Wikimedia Commons, CC BY-SA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Why this, why now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18258"/>
            <a:ext cx="4041648" cy="1110488"/>
          </a:xfrm>
          <a:prstGeom prst="roundRect">
            <a:avLst>
              <a:gd name="adj" fmla="val 1070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64562"/>
            <a:ext cx="3675888" cy="817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UNTIL NOW, BUILD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00" b="0" u="none">
                <a:solidFill>
                  <a:srgbClr val="1D1D1F"/>
                </a:solidFill>
                <a:latin typeface="Menlo"/>
              </a:rPr>
              <a:t>tokenizers, embeddings, agents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How to make language systems work.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318258"/>
            <a:ext cx="4041648" cy="1110488"/>
          </a:xfrm>
          <a:prstGeom prst="roundRect">
            <a:avLst>
              <a:gd name="adj" fmla="val 1070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64562"/>
            <a:ext cx="3675888" cy="817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TODAY, QUESTION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00" b="0" u="none">
                <a:solidFill>
                  <a:srgbClr val="1D1D1F"/>
                </a:solidFill>
                <a:latin typeface="Menlo"/>
              </a:rPr>
              <a:t>who benefits, who is harmed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Every data, objective and deployment choice has stakes.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"Stochastic Parrots" (Bender et al., 2021)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Environmental and financial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910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99910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910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Unfathomable training data, and what it encodes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1922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91922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91922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Research effort spent on the wrong questions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3933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3933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3933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Illusions of meaning, and who is harmed by them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Bender et al., FAccT 2021, dl.acm.org/doi/10.1145/3442188.3445922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Form vs. meaning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WHAT IT LEARNS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form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Which words follow which. Fluent, grammatical, plausible.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WHAT IT HAS NO ACCESS TO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meaning, intent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Coherence at the surface, with nothing underneath that refers to the world.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Bender et al., FAccT 2021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Fault line 1: Bias &amp; fairness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14424"/>
            <a:ext cx="2365248" cy="1804924"/>
          </a:xfrm>
          <a:prstGeom prst="roundRect">
            <a:avLst>
              <a:gd name="adj" fmla="val 607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877771"/>
            <a:ext cx="2036064" cy="147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200" b="1" spc="60">
                <a:solidFill>
                  <a:srgbClr val="86868B"/>
                </a:solidFill>
                <a:latin typeface="Helvetica Neue"/>
              </a:rPr>
              <a:t>HUMAN TEXT</a:t>
            </a:r>
          </a:p>
          <a:p>
            <a:pPr marL="0" indent="0" algn="l">
              <a:lnSpc>
                <a:spcPts val="3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D1D1F"/>
                </a:solidFill>
                <a:latin typeface="Menlo"/>
              </a:rPr>
              <a:t>encodes stereotypes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913156" y="2361438"/>
            <a:ext cx="385511" cy="310896"/>
          </a:xfrm>
          <a:prstGeom prst="rightArrow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3389376" y="1614424"/>
            <a:ext cx="2365248" cy="1804924"/>
          </a:xfrm>
          <a:prstGeom prst="roundRect">
            <a:avLst>
              <a:gd name="adj" fmla="val 607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553968" y="1877771"/>
            <a:ext cx="2036064" cy="147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200" b="1" spc="60">
                <a:solidFill>
                  <a:srgbClr val="86868B"/>
                </a:solidFill>
                <a:latin typeface="Helvetica Neue"/>
              </a:rPr>
              <a:t>THE MODEL</a:t>
            </a:r>
          </a:p>
          <a:p>
            <a:pPr marL="0" indent="0" algn="l">
              <a:lnSpc>
                <a:spcPts val="3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D1D1F"/>
                </a:solidFill>
                <a:latin typeface="Menlo"/>
              </a:rPr>
              <a:t>learns, and amplifies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845332" y="2361438"/>
            <a:ext cx="385511" cy="310896"/>
          </a:xfrm>
          <a:prstGeom prst="rightArrow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321552" y="1614424"/>
            <a:ext cx="2365248" cy="1804924"/>
          </a:xfrm>
          <a:prstGeom prst="roundRect">
            <a:avLst>
              <a:gd name="adj" fmla="val 607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486144" y="1877771"/>
            <a:ext cx="2036064" cy="14757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1000"/>
              </a:spcAft>
              <a:buNone/>
            </a:pPr>
            <a:r>
              <a:rPr sz="1200" b="1" spc="60">
                <a:solidFill>
                  <a:srgbClr val="86868B"/>
                </a:solidFill>
                <a:latin typeface="Helvetica Neue"/>
              </a:rPr>
              <a:t>UNEVEN HARM</a:t>
            </a:r>
          </a:p>
          <a:p>
            <a:pPr marL="0" indent="0" algn="l">
              <a:lnSpc>
                <a:spcPts val="3000"/>
              </a:lnSpc>
              <a:spcAft>
                <a:spcPts val="0"/>
              </a:spcAft>
              <a:buNone/>
            </a:pPr>
            <a:r>
              <a:rPr sz="2000" b="0">
                <a:solidFill>
                  <a:srgbClr val="1D1D1F"/>
                </a:solidFill>
                <a:latin typeface="Menlo"/>
              </a:rPr>
              <a:t>falls on some more than others</a:t>
            </a:r>
          </a:p>
        </p:txBody>
      </p:sp>
      <p:sp>
        <p:nvSpPr>
          <p:cNvPr id="13" name="Left Arrow 12"/>
          <p:cNvSpPr/>
          <p:nvPr/>
        </p:nvSpPr>
        <p:spPr>
          <a:xfrm>
            <a:off x="457200" y="3638804"/>
            <a:ext cx="8229600" cy="237744"/>
          </a:xfrm>
          <a:prstGeom prst="leftArrow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57200" y="39497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ctr">
              <a:spcAft>
                <a:spcPts val="0"/>
              </a:spcAft>
              <a:buNone/>
            </a:pPr>
            <a:r>
              <a:rPr sz="1300" b="0">
                <a:solidFill>
                  <a:srgbClr val="4C72B0"/>
                </a:solidFill>
                <a:latin typeface="Helvetica Neue"/>
              </a:rPr>
              <a:t>bigger data is not automatically better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Bender et al., FAccT 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Fault line 2: Misinformation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WHY IT PERSUADES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fluent but false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Confident text can be wrong, and fluency makes falsehood more persuasive.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272220"/>
            <a:ext cx="4041648" cy="1202563"/>
          </a:xfrm>
          <a:prstGeom prst="roundRect">
            <a:avLst>
              <a:gd name="adj" fmla="val 988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18524"/>
            <a:ext cx="3675888" cy="9099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WHY IT SPREADS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cheap and scalable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Generation costs almost nothing, so disinformation industrialises.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hallucination (Week 11)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Fault line 3: Environmental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8229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300" b="0">
                <a:solidFill>
                  <a:srgbClr val="86868B"/>
                </a:solidFill>
                <a:latin typeface="Helvetica Neue"/>
              </a:rPr>
              <a:t>Metric tons of CO2e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389888"/>
          <a:ext cx="8229600" cy="3278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Strubell et al. 2019 Table 1; Bender et al. 2021 section 3; Patterson et al. 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Fault line 4: Copyright &amp; data provenance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Whose text?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910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99910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910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With what consent?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1922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91922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91922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Can creators opt out?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3933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3933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220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3933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600" b="0">
                <a:solidFill>
                  <a:srgbClr val="1D1D1F"/>
                </a:solidFill>
                <a:latin typeface="Menlo"/>
              </a:rPr>
              <a:t>You cannot audit harms in data you never documented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datasheets/data statements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Fault line 5: Labor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17000"/>
            <a:ext cx="2645664" cy="913003"/>
          </a:xfrm>
          <a:prstGeom prst="roundRect">
            <a:avLst>
              <a:gd name="adj" fmla="val 1301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563304"/>
            <a:ext cx="2279904" cy="620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850" b="1" spc="70">
                <a:solidFill>
                  <a:srgbClr val="86868B"/>
                </a:solidFill>
                <a:latin typeface="Helvetica Neue"/>
              </a:rPr>
              <a:t>HIDDEN HUMAN WORK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0" u="none">
                <a:solidFill>
                  <a:srgbClr val="1D1D1F"/>
                </a:solidFill>
                <a:latin typeface="Menlo"/>
              </a:rPr>
              <a:t>annotation and moderation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900" b="0">
                <a:solidFill>
                  <a:srgbClr val="86868B"/>
                </a:solidFill>
                <a:latin typeface="Helvetica Neue"/>
              </a:rPr>
              <a:t>Often low-paid, often psychologically taxing.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9168" y="2417000"/>
            <a:ext cx="2645664" cy="913003"/>
          </a:xfrm>
          <a:prstGeom prst="roundRect">
            <a:avLst>
              <a:gd name="adj" fmla="val 1301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32048" y="2563304"/>
            <a:ext cx="2279904" cy="620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850" b="1" spc="70">
                <a:solidFill>
                  <a:srgbClr val="86868B"/>
                </a:solidFill>
                <a:latin typeface="Helvetica Neue"/>
              </a:rPr>
              <a:t>DISPLACEMENT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0" u="none">
                <a:solidFill>
                  <a:srgbClr val="1D1D1F"/>
                </a:solidFill>
                <a:latin typeface="Menlo"/>
              </a:rPr>
              <a:t>writers, translators, support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900" b="0">
                <a:solidFill>
                  <a:srgbClr val="86868B"/>
                </a:solidFill>
                <a:latin typeface="Helvetica Neue"/>
              </a:rPr>
              <a:t>Pressure on the people whose text trained 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41136" y="2417000"/>
            <a:ext cx="2645664" cy="913003"/>
          </a:xfrm>
          <a:prstGeom prst="roundRect">
            <a:avLst>
              <a:gd name="adj" fmla="val 13019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24016" y="2563304"/>
            <a:ext cx="2279904" cy="6203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850" b="1" spc="70">
                <a:solidFill>
                  <a:srgbClr val="86868B"/>
                </a:solidFill>
                <a:latin typeface="Helvetica Neue"/>
              </a:rPr>
              <a:t>CONCENTRATION</a:t>
            </a:r>
          </a:p>
          <a:p>
            <a:pPr marL="0" indent="0">
              <a:spcAft>
                <a:spcPts val="300"/>
              </a:spcAft>
              <a:buNone/>
            </a:pPr>
            <a:r>
              <a:rPr sz="950" b="0" u="none">
                <a:solidFill>
                  <a:srgbClr val="1D1D1F"/>
                </a:solidFill>
                <a:latin typeface="Menlo"/>
              </a:rPr>
              <a:t>value accrues upward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900" b="0">
                <a:solidFill>
                  <a:srgbClr val="86868B"/>
                </a:solidFill>
                <a:latin typeface="Helvetica Neue"/>
              </a:rPr>
              <a:t>To whoever owns the compute.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Fault line 6: Safety &amp; policy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18258"/>
            <a:ext cx="4041648" cy="1110488"/>
          </a:xfrm>
          <a:prstGeom prst="roundRect">
            <a:avLst>
              <a:gd name="adj" fmla="val 1070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64562"/>
            <a:ext cx="3675888" cy="817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DUAL-USE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00" b="0" u="none">
                <a:solidFill>
                  <a:srgbClr val="1D1D1F"/>
                </a:solidFill>
                <a:latin typeface="Menlo"/>
              </a:rPr>
              <a:t>the same model does both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Capability is value-neutral. Deployment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318258"/>
            <a:ext cx="4041648" cy="1110488"/>
          </a:xfrm>
          <a:prstGeom prst="roundRect">
            <a:avLst>
              <a:gd name="adj" fmla="val 10704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64562"/>
            <a:ext cx="3675888" cy="817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SINGLE POINT OF FAILURE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00" b="0" u="none">
                <a:solidFill>
                  <a:srgbClr val="1D1D1F"/>
                </a:solidFill>
                <a:latin typeface="Menlo"/>
              </a:rPr>
              <a:t>everyone builds on a few bases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One flaw or bias propagates everywhere at once.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One model beneath everything</a:t>
            </a:r>
          </a:p>
        </p:txBody>
      </p:sp>
      <p:pic>
        <p:nvPicPr>
          <p:cNvPr id="5" name="Picture 4" descr="One model beneath everyth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699" y="1078992"/>
            <a:ext cx="4576602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Bommasani et al. 2021 (arXiv:2108.07258), Fig.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Sit with this one. The hardest questions in this field are not technical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3143250"/>
            <a:ext cx="9144000" cy="11430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1143000"/>
            <a:ext cx="9144000" cy="2834640"/>
          </a:xfrm>
          <a:prstGeom prst="rect">
            <a:avLst/>
          </a:prstGeom>
          <a:solidFill>
            <a:srgbClr val="101012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7863840" cy="18745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3400" b="1">
                <a:solidFill>
                  <a:srgbClr val="FFFFFF"/>
                </a:solidFill>
              </a:rPr>
              <a:t>If it reads every book, does it owe the authors anything?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59"/>
            <a:ext cx="7863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marL="0" indent="0">
              <a:buNone/>
            </a:pPr>
            <a:r>
              <a:rPr sz="2000">
                <a:solidFill>
                  <a:srgbClr val="FFFFFF"/>
                </a:solidFill>
              </a:rPr>
              <a:t>Sit with this one. The hardest questions in this field are not technical.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Unsplash License, https://unsplash.com/photos/black-and-white-robot-toy-on-red-wooden-table-zwd435-ewb4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" fill="hold">
                      <p:stCondLst>
                        <p:cond delay="indefinite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The landscape, at a glance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5219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521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Bias and fairness: models absorb stereotypes from text, and can amplify them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9240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692402"/>
            <a:ext cx="475488" cy="5219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92402"/>
            <a:ext cx="7278624" cy="521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Misinformation: fluent, confident, wrong, and cheap to mass-produce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0581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305812"/>
            <a:ext cx="475488" cy="5219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305812"/>
            <a:ext cx="7278624" cy="521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Environmental cost: training and serving are not free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1922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2919222"/>
            <a:ext cx="475488" cy="5219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2919222"/>
            <a:ext cx="7278624" cy="521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Labour and consent: whose text, whose annotation, whose job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3263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94944" y="3532632"/>
            <a:ext cx="475488" cy="5219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3532632"/>
            <a:ext cx="7278624" cy="521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Concentration: value accrues to whoever owns the compute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146042"/>
            <a:ext cx="8229600" cy="521970"/>
          </a:xfrm>
          <a:prstGeom prst="roundRect">
            <a:avLst>
              <a:gd name="adj" fmla="val 19270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4944" y="4146042"/>
            <a:ext cx="475488" cy="52197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00" b="1">
                <a:solidFill>
                  <a:srgbClr val="1D1D1F"/>
                </a:solidFill>
                <a:latin typeface="Helvetica Neue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0432" y="4146042"/>
            <a:ext cx="7278624" cy="5219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00" b="0">
                <a:solidFill>
                  <a:srgbClr val="1D1D1F"/>
                </a:solidFill>
                <a:latin typeface="Menlo"/>
              </a:rPr>
              <a:t>Dual use: capability is neutral, deployment is not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figure; Bender et al. 2021 &amp; Bommasani et al. 2021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Planning is the mitigation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313654"/>
            <a:ext cx="4041648" cy="1119695"/>
          </a:xfrm>
          <a:prstGeom prst="roundRect">
            <a:avLst>
              <a:gd name="adj" fmla="val 1061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59958"/>
            <a:ext cx="3675888" cy="827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POST-MORTEM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50" b="0" u="none">
                <a:solidFill>
                  <a:srgbClr val="1D1D1F"/>
                </a:solidFill>
                <a:latin typeface="Menlo"/>
              </a:rPr>
              <a:t>"Why did it fail?"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Asked after somebody was already harmed, when the plan is already spent.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313654"/>
            <a:ext cx="4041648" cy="1119695"/>
          </a:xfrm>
          <a:prstGeom prst="roundRect">
            <a:avLst>
              <a:gd name="adj" fmla="val 1061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59958"/>
            <a:ext cx="3675888" cy="8270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PRE-MORTEM</a:t>
            </a:r>
          </a:p>
          <a:p>
            <a:pPr marL="0" indent="0">
              <a:spcAft>
                <a:spcPts val="300"/>
              </a:spcAft>
              <a:buNone/>
            </a:pPr>
            <a:r>
              <a:rPr sz="1550" b="0" u="none">
                <a:solidFill>
                  <a:srgbClr val="1D1D1F"/>
                </a:solidFill>
                <a:latin typeface="Menlo"/>
              </a:rPr>
              <a:t>the same question, on day one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Assume it failed, then work out why. You can still act on the answer.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Bender et al., FAccT 2021, section 6; Klein, Harvard Business Review, 2007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responsible builders can 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56182"/>
          <a:ext cx="8229600" cy="2834640"/>
        </p:xfrm>
        <a:graphic>
          <a:graphicData uri="http://schemas.openxmlformats.org/drawingml/2006/table">
            <a:tbl>
              <a:tblPr firstRow="1" bandRow="0"/>
              <a:tblGrid>
                <a:gridCol w="1955355"/>
                <a:gridCol w="6274245"/>
              </a:tblGrid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MODEL CARD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100" b="1" spc="50">
                          <a:solidFill>
                            <a:srgbClr val="86868B"/>
                          </a:solidFill>
                          <a:latin typeface="Helvetica Neue"/>
                        </a:rPr>
                        <a:t>TOXFILTER V2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noFill/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training data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1.2M forum comments, 2019-2023, English only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known gap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dialects such as AAVE are under-represented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evaluation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91% accurate, but 2.4x the false-positive rate on AAVE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  <a:tr h="566928">
                <a:tc>
                  <a:txBody>
                    <a:bodyPr wrap="none"/>
                    <a:lstStyle/>
                    <a:p>
                      <a:pPr marL="0" indent="0" algn="l">
                        <a:spcAft>
                          <a:spcPts val="0"/>
                        </a:spcAft>
                        <a:buNone/>
                      </a:pPr>
                      <a:r>
                        <a:rPr sz="1700" b="1">
                          <a:solidFill>
                            <a:srgbClr val="1D1D1F"/>
                          </a:solidFill>
                          <a:latin typeface="Helvetica Neue"/>
                        </a:rPr>
                        <a:t>out of scope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marL="0" indent="0" algn="ctr">
                        <a:spcAft>
                          <a:spcPts val="0"/>
                        </a:spcAft>
                        <a:buNone/>
                      </a:pPr>
                      <a:r>
                        <a:rPr sz="1700" b="0">
                          <a:solidFill>
                            <a:srgbClr val="1D1D1F"/>
                          </a:solidFill>
                          <a:latin typeface="Menlo"/>
                        </a:rPr>
                        <a:t>anything it was not measured on</a:t>
                      </a:r>
                    </a:p>
                  </a:txBody>
                  <a:tcPr marL="54864" marR="54864" anchor="ctr">
                    <a:lnL w="12700" cap="flat" cmpd="sng" algn="ctr">
                      <a:noFill/>
                    </a:lnL>
                    <a:lnR w="12700" cap="flat" cmpd="sng" algn="ctr">
                      <a:noFill/>
                    </a:lnR>
                    <a:lnT w="12700" cap="flat" cmpd="sng" algn="ctr">
                      <a:solidFill>
                        <a:srgbClr val="C6C6CB"/>
                      </a:solidFill>
                    </a:lnT>
                    <a:lnB w="12700" cap="flat" cmpd="sng" algn="ctr"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 (worked example); model cards (Mitchell et al., 2019); datasheets (Gebru et al., 2018)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Break</a:t>
            </a:r>
          </a:p>
        </p:txBody>
      </p:sp>
      <p:pic>
        <p:nvPicPr>
          <p:cNvPr id="5" name="Picture 4" descr="Five minutes: stretch, refill water, compare notes. Then you run a pre-mortem on a real deploymen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80312"/>
            <a:ext cx="8595360" cy="3186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original figure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Pre-mortem a real deployment (teams)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51471"/>
            <a:ext cx="2645664" cy="3044062"/>
          </a:xfrm>
          <a:prstGeom prst="roundRect">
            <a:avLst>
              <a:gd name="adj" fmla="val 449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1497775"/>
            <a:ext cx="2279904" cy="2751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TEAM 1, TRANSLATION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a county auto-translates evacuation orders, no human reads the output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residents with no English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9168" y="1351471"/>
            <a:ext cx="2645664" cy="3044062"/>
          </a:xfrm>
          <a:prstGeom prst="roundRect">
            <a:avLst>
              <a:gd name="adj" fmla="val 449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432048" y="1497775"/>
            <a:ext cx="2279904" cy="2751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TEAM 2, TUTORING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a 24/7 tutor answers homework and drafts TA feedback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students with no one else to ask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41136" y="1351471"/>
            <a:ext cx="2645664" cy="3044062"/>
          </a:xfrm>
          <a:prstGeom prst="roundRect">
            <a:avLst>
              <a:gd name="adj" fmla="val 449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24016" y="1497775"/>
            <a:ext cx="2279904" cy="27514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TEAM 3, ACCOUNTING</a:t>
            </a:r>
          </a:p>
          <a:p>
            <a:pPr marL="0" indent="0">
              <a:spcAft>
                <a:spcPts val="300"/>
              </a:spcAft>
              <a:buNone/>
            </a:pPr>
            <a:r>
              <a:rPr sz="2000" b="0" u="none">
                <a:solidFill>
                  <a:srgbClr val="1D1D1F"/>
                </a:solidFill>
                <a:latin typeface="Menlo"/>
              </a:rPr>
              <a:t>an agent reads receipts and categorises every expense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whoever the errors land 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exercise/premortem-guide.md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Running the pre-mortem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7899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94944" y="107899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107899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Write the obituary. One year on, it was shut down and made the news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9910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4944" y="199910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99910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The headline needs a number in it, not "it was biased"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19222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4944" y="2919222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919222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Reverse-engineer four causes, and tag each to one of the six fault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39337"/>
            <a:ext cx="8229600" cy="828675"/>
          </a:xfrm>
          <a:prstGeom prst="roundRect">
            <a:avLst>
              <a:gd name="adj" fmla="val 1213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94944" y="3839337"/>
            <a:ext cx="475488" cy="828675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850" b="1">
                <a:solidFill>
                  <a:srgbClr val="1D1D1F"/>
                </a:solidFill>
                <a:latin typeface="Helvetica Ne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3839337"/>
            <a:ext cx="7278624" cy="8286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 algn="l">
              <a:spcAft>
                <a:spcPts val="0"/>
              </a:spcAft>
              <a:buNone/>
            </a:pPr>
            <a:r>
              <a:rPr sz="1250" b="0">
                <a:solidFill>
                  <a:srgbClr val="1D1D1F"/>
                </a:solidFill>
                <a:latin typeface="Menlo"/>
              </a:rPr>
              <a:t>Pick the one you could have caught cheapest, and say how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method: Klein 2007, via Bender et al. 2021 section 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What your whiteboard should look like</a:t>
            </a:r>
          </a:p>
        </p:txBody>
      </p:sp>
      <p:pic>
        <p:nvPicPr>
          <p:cNvPr id="5" name="Picture 4" descr="What your whiteboard should look lik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60" y="1078992"/>
            <a:ext cx="7522279" cy="35890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worked example, exercise/premortem-guide.md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Take-home demo: measure the bias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4524"/>
            <a:ext cx="8229600" cy="3019171"/>
          </a:xfrm>
          <a:prstGeom prst="roundRect">
            <a:avLst>
              <a:gd name="adj" fmla="val 3634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8096" y="129997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50976" y="129997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33856" y="1299972"/>
            <a:ext cx="96012" cy="96012"/>
          </a:xfrm>
          <a:prstGeom prst="ellipse">
            <a:avLst/>
          </a:prstGeom>
          <a:solidFill>
            <a:srgbClr val="484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565148"/>
            <a:ext cx="7607808" cy="234251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$ python bias_probe.py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engineer    association(male - female) = +1.014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programmer  association(male - female) = +1.021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scientist   association(male - female) = +0.869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nurse       association(male - female) = -1.016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teacher     association(male - female) = -0.884</a:t>
            </a:r>
          </a:p>
          <a:p>
            <a:pPr marL="0" indent="0" algn="l">
              <a:lnSpc>
                <a:spcPts val="2635"/>
              </a:lnSpc>
              <a:spcAft>
                <a:spcPts val="0"/>
              </a:spcAft>
              <a:buNone/>
            </a:pPr>
            <a:r>
              <a:rPr sz="1700" b="0">
                <a:solidFill>
                  <a:srgbClr val="F5F5F7"/>
                </a:solidFill>
                <a:latin typeface="Menlo"/>
              </a:rPr>
              <a:t>homemaker   association(male - female) = -1.120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291711"/>
            <a:ext cx="7607808" cy="43878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marL="0" indent="0" algn="l">
              <a:lnSpc>
                <a:spcPts val="2015"/>
              </a:lnSpc>
              <a:spcAft>
                <a:spcPts val="0"/>
              </a:spcAft>
              <a:buNone/>
            </a:pPr>
            <a:r>
              <a:rPr sz="1300" b="0">
                <a:solidFill>
                  <a:srgbClr val="86868B"/>
                </a:solidFill>
                <a:latin typeface="Menlo"/>
              </a:rPr>
              <a:t>nobody wrote these associations down. They were learned from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example run, weeks/week-15/class-01/exercise/bias_probe.py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6032"/>
            <a:ext cx="8229600" cy="822960"/>
          </a:xfrm>
        </p:spPr>
        <p:txBody>
          <a:bodyPr wrap="square"/>
          <a:lstStyle/>
          <a:p>
            <a:pPr marL="0" indent="0">
              <a:buNone/>
            </a:pPr>
            <a:r>
              <a:t>Looking ahead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32"/>
            <a:ext cx="4041648" cy="1174940"/>
          </a:xfrm>
          <a:prstGeom prst="roundRect">
            <a:avLst>
              <a:gd name="adj" fmla="val 1011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0080" y="2432336"/>
            <a:ext cx="3675888" cy="882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NEXT CLASS</a:t>
            </a:r>
          </a:p>
          <a:p>
            <a:pPr marL="0" indent="0">
              <a:spcAft>
                <a:spcPts val="300"/>
              </a:spcAft>
              <a:buNone/>
            </a:pPr>
            <a:r>
              <a:rPr sz="1850" b="0" u="none">
                <a:solidFill>
                  <a:srgbClr val="1D1D1F"/>
                </a:solidFill>
                <a:latin typeface="Menlo"/>
              </a:rPr>
              <a:t>the future, and synthesis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Final project presentations begin.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5152" y="2286032"/>
            <a:ext cx="4041648" cy="1174940"/>
          </a:xfrm>
          <a:prstGeom prst="roundRect">
            <a:avLst>
              <a:gd name="adj" fmla="val 10117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28032" y="2432336"/>
            <a:ext cx="3675888" cy="8823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spcAft>
                <a:spcPts val="600"/>
              </a:spcAft>
              <a:buNone/>
            </a:pPr>
            <a:r>
              <a:rPr sz="1100" b="1" spc="70">
                <a:solidFill>
                  <a:srgbClr val="86868B"/>
                </a:solidFill>
                <a:latin typeface="Helvetica Neue"/>
              </a:rPr>
              <a:t>AFTER THAT</a:t>
            </a:r>
          </a:p>
          <a:p>
            <a:pPr marL="0" indent="0">
              <a:spcAft>
                <a:spcPts val="300"/>
              </a:spcAft>
              <a:buNone/>
            </a:pPr>
            <a:r>
              <a:rPr sz="1850" b="0" u="none">
                <a:solidFill>
                  <a:srgbClr val="1D1D1F"/>
                </a:solidFill>
                <a:latin typeface="Menlo"/>
              </a:rPr>
              <a:t>the finals period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sz="1200" b="0">
                <a:solidFill>
                  <a:srgbClr val="86868B"/>
                </a:solidFill>
                <a:latin typeface="Helvetica Neue"/>
              </a:rPr>
              <a:t>Remaining presentations, the paper exam, and the final report.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9452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FFFFFF"/>
                </a:solidFill>
              </a:defRPr>
            </a:pPr>
            <a:r>
              <a:t>Source: schedule/SCHEDULE.md; readings.md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434343"/>
      </a:dk1>
      <a:lt1>
        <a:srgbClr val="FFFFFF"/>
      </a:lt1>
      <a:dk2>
        <a:srgbClr val="818387"/>
      </a:dk2>
      <a:lt2>
        <a:srgbClr val="F6F7FA"/>
      </a:lt2>
      <a:accent1>
        <a:srgbClr val="723130"/>
      </a:accent1>
      <a:accent2>
        <a:srgbClr val="818387"/>
      </a:accent2>
      <a:accent3>
        <a:srgbClr val="FFB600"/>
      </a:accent3>
      <a:accent4>
        <a:srgbClr val="738D33"/>
      </a:accent4>
      <a:accent5>
        <a:srgbClr val="625578"/>
      </a:accent5>
      <a:accent6>
        <a:srgbClr val="498DA0"/>
      </a:accent6>
      <a:hlink>
        <a:srgbClr val="B1B4B5"/>
      </a:hlink>
      <a:folHlink>
        <a:srgbClr val="B0B1B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