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Relationship Id="rId3" Type="http://schemas.openxmlformats.org/officeDocument/2006/relationships/hyperlink" Target="https://www.youtube.com/watch?v=Bj9BD2D3DzA" TargetMode="External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Ethics &amp; Society: The Stakes of Language Technology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285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15, Class 1</a:t>
            </a:r>
          </a:p>
        </p:txBody>
      </p:sp>
      <p:pic>
        <p:nvPicPr>
          <p:cNvPr id="5" name="Picture 4" descr="Meet the original language model. An African grey can repeat thousands of phrases it has heard. What, if anything, does it understand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5380" y="3474720"/>
            <a:ext cx="2222860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Acabashi,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Six stops. We end by running a pre-mortem on a real deploym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948" y="1078992"/>
            <a:ext cx="7714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Unsplash License; Acabashi, Wikimedia Commons (CC BY-SA 4.0); figure: Bommasani et al. 2021, Fig.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this, why now</a:t>
            </a:r>
          </a:p>
        </p:txBody>
      </p:sp>
      <p:pic>
        <p:nvPicPr>
          <p:cNvPr id="5" name="Picture 4" descr="Every modeling choice is also an ethical choi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73903"/>
            <a:ext cx="8595360" cy="17991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Foundations of critique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"Stochastic Parrots" (Bender et al., 2021)</a:t>
            </a:r>
          </a:p>
        </p:txBody>
      </p:sp>
      <p:pic>
        <p:nvPicPr>
          <p:cNvPr id="5" name="Picture 4" descr="This week's required reading; it supplies today's method and appears on the final exa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18956"/>
            <a:ext cx="8595360" cy="2309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Bender et al., FAccT 2021, dl.acm.org/doi/10.1145/3442188.3445922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Form vs. meaning</a:t>
            </a:r>
          </a:p>
        </p:txBody>
      </p:sp>
      <p:pic>
        <p:nvPicPr>
          <p:cNvPr id="5" name="Picture 4" descr="Video: Tracing an LLM's thoughts. Opens https://www.youtube.com/watch?v=Bj9BD2D3DzA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Tracing an LLM's thoughts</a:t>
            </a:r>
          </a:p>
        </p:txBody>
      </p:sp>
      <p:pic>
        <p:nvPicPr>
          <p:cNvPr id="7" name="Picture 6" descr="A cited critique, not a settled fact; what LLMs &quot;understand&quot; is still an open debate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389617"/>
            <a:ext cx="8595360" cy="30957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Bender et al., FAccT 2021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six fault lines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Fault line 1: Bias &amp; fairness</a:t>
            </a:r>
          </a:p>
        </p:txBody>
      </p:sp>
      <p:pic>
        <p:nvPicPr>
          <p:cNvPr id="5" name="Picture 4" descr="You will measure exactly this pipeline in the take-home bias prob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1482"/>
            <a:ext cx="8595360" cy="2564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Bender et al., FAccT 2021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Fault line 2: Misinformation</a:t>
            </a:r>
          </a:p>
        </p:txBody>
      </p:sp>
      <p:pic>
        <p:nvPicPr>
          <p:cNvPr id="5" name="Picture 4" descr="The hallucination problem from Week 9, industrializ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01061"/>
            <a:ext cx="8595360" cy="19448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hallucination (Week 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Fault line 3: Environmental cost</a:t>
            </a:r>
          </a:p>
        </p:txBody>
      </p:sp>
      <p:pic>
        <p:nvPicPr>
          <p:cNvPr id="5" name="Picture 4" descr="The bill is real, unequally paid, and mostly spent on runs you never s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96" y="1078992"/>
            <a:ext cx="79606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Strubell et al. 2019 Table 1; Bender et al. 2021 section 3; Patterson et al. 2021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Fault line 4: Copyright &amp; data provenance</a:t>
            </a:r>
          </a:p>
        </p:txBody>
      </p:sp>
      <p:pic>
        <p:nvPicPr>
          <p:cNvPr id="5" name="Picture 4" descr="Courts are testing these questions right now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95755"/>
            <a:ext cx="8595360" cy="17554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datasheets/data statements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Fault line 5: Labor</a:t>
            </a:r>
          </a:p>
        </p:txBody>
      </p:sp>
      <p:pic>
        <p:nvPicPr>
          <p:cNvPr id="5" name="Picture 4" descr="Ask who does the work, and who captures the valu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80871"/>
            <a:ext cx="8595360" cy="2185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Fault line 6: Safety &amp; policy</a:t>
            </a:r>
          </a:p>
        </p:txBody>
      </p:sp>
      <p:pic>
        <p:nvPicPr>
          <p:cNvPr id="5" name="Picture 4" descr="No consensus answers yet; this is a live policy debat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0367"/>
            <a:ext cx="8595360" cy="2826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model beneath everything</a:t>
            </a:r>
          </a:p>
        </p:txBody>
      </p:sp>
      <p:pic>
        <p:nvPicPr>
          <p:cNvPr id="5" name="Picture 4" descr="The Stanford report's own diagram, from the paper that coined &quot;foundation model&quot;. Optional reading, never quizzed. The ethics hook is homogenization: one shared model means its flaws reach every adapted task at o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3699" y="1078992"/>
            <a:ext cx="457660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Bommasani et al. 2021 (arXiv:2108.07258), Fig.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Sit with this one. The hardest questions in this field are not technica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143250"/>
            <a:ext cx="9144000" cy="1143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it reads every book, does it owe the authors anything?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Sit with this one. The hardest questions in this field are not technical.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https://unsplash.com/photos/black-and-white-robot-toy-on-red-wooden-table-zwd435-ewb4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landscape, at a glance</a:t>
            </a:r>
          </a:p>
        </p:txBody>
      </p:sp>
      <p:pic>
        <p:nvPicPr>
          <p:cNvPr id="5" name="Picture 4" descr="Six interacting fault lines, technical and social at once. You can't fix them with code alone, nor ignore them while writing co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65356"/>
            <a:ext cx="8595360" cy="341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Bender et al. 2021 &amp; Bommasani et al. 2021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Planning is the mitigation</a:t>
            </a:r>
          </a:p>
        </p:txBody>
      </p:sp>
      <p:pic>
        <p:nvPicPr>
          <p:cNvPr id="5" name="Picture 4" descr="Bender et al. do not end with a filter to apply. They end with a step you run before the thing exis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053" y="1078992"/>
            <a:ext cx="716589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Bender et al., FAccT 2021, section 6; Klein, Harvard Business Review, 2007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responsible builders can do</a:t>
            </a:r>
          </a:p>
        </p:txBody>
      </p:sp>
      <p:pic>
        <p:nvPicPr>
          <p:cNvPr id="5" name="Picture 4" descr="One artifact, five habits: a model card for a fictional moderation classifi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3616"/>
            <a:ext cx="8595360" cy="33997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(worked example); model cards (Mitchell et al., 2019); datasheets (Gebru et al., 2018)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you run a pre-mortem on a real deploym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Exercise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pre-mortem a real deployment (teams)</a:t>
            </a:r>
          </a:p>
        </p:txBody>
      </p:sp>
      <p:pic>
        <p:nvPicPr>
          <p:cNvPr id="5" name="Picture 4" descr="Five teams, five cases. Nobody defends a position today; every team is on the build si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2641"/>
            <a:ext cx="8595360" cy="34017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exercise/premortem-guide.md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Running the pre-mortem</a:t>
            </a:r>
          </a:p>
        </p:txBody>
      </p:sp>
      <p:pic>
        <p:nvPicPr>
          <p:cNvPr id="5" name="Picture 4" descr="Four steps, 23 minutes. Keep an eye on the clock yourselv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757" y="1078992"/>
            <a:ext cx="636848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method: Klein 2007, via Bender et al. 2021 section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your whiteboard should look like</a:t>
            </a:r>
          </a:p>
        </p:txBody>
      </p:sp>
      <p:pic>
        <p:nvPicPr>
          <p:cNvPr id="5" name="Picture 4" descr="Two minutes per team at the board. Draw this shape, fill in your own ca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86" y="1078992"/>
            <a:ext cx="787182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worked example, exercise/premortem-guide.md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Take-home demo: measure the bias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 measure-first WEAT-style probe on toy embeddings, fully offline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Optional take-home lab; the point is to arrive with a number, not an opinion</a:t>
            </a:r>
          </a:p>
        </p:txBody>
      </p:sp>
      <p:pic>
        <p:nvPicPr>
          <p:cNvPr id="6" name="Picture 5" descr="Take-home demo: measure the bi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711" y="1078992"/>
            <a:ext cx="7756578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weeks/week-15/class-01/exercise/bias_probe.py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Ethics is built in, not bolted 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9503"/>
            <a:ext cx="8595360" cy="2767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Looking ahead</a:t>
            </a:r>
          </a:p>
        </p:txBody>
      </p:sp>
      <p:pic>
        <p:nvPicPr>
          <p:cNvPr id="5" name="Picture 4" descr="One class left. Presentations start next time, come with your demo ready to ru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115945"/>
            <a:ext cx="8595360" cy="15151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schedule/SCHEDULE.md; readings.md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