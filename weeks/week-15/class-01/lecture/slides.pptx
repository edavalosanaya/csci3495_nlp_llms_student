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Meet the original language model. An African grey can repeat thousands of phrases it has heard. What, if anything, does it understand?</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stops. We end by running a pre-mortem on a real deployment.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 modeling choice is also an ethical choice.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week's required reading; it supplies today's method and appears on the final exam.</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cited critique, not a settled fact; what LLMs "understand" is still an open debate.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You will measure exactly this pipeline in the take-home bias probe.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hallucination problem from Week 9, industrialized.</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bill is real, unequally paid, and mostly spent on runs you never see. Sources: Strubell et al. 2019 (Table 1, converted from lbs); Bender et al. 2021 3; Patterson et al. 2021 (GPT-3: 552 tCO e, 1287 MWh). Both dark bars are training a language model. They are 437 apart. What separates them is not the model you ship, it is everything you burned to find it.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Courts are testing these questions right now.</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who does the work, and who captures the value.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 consensus answers yet; this is a live policy debate.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Stanford report's own diagram, from the paper that coined "foundation model". Optional reading, never quizzed. The ethics hook is homogenization: one shared model means its flaws reach every adapted task at once.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 not resolve this one. Let a few people argue it. The point of the last week is that the hardest questions left in this field are not technical, and they will be the ones answering them.</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interacting fault lines, technical and social at once. You can't fix them with code alone, nor ignore them while writing code.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Bender et al. do not end with a filter to apply. They end with a step you run before the thing exists. Bender, Gebru, McMillan-Major &amp; Shmitchell, FAccT 2021, 6. Pre-mortem technique: Gary Klein, Performing a Project Premortem, Harvard Business Review, 2007. Bender et al. want three more things decided up front: weigh the financial and environmental cost before choosing a direction, curate and document the data instead of ingesting whatever scrapes easily, and evaluate the worst case, not just the average and the cherry-picked one.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artifact, five habits: a model card for a fictional moderation classifier.</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Five teams, five cases. Nobody defends a position today; every team is on the build side. First thing at your table, out loud, in one minute: who uses this directly, and who gets affected by it without ever touching it? The second group is where the pre-mortem earns its keep.</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steps, 23 minutes. Keep an eye on the clock yourselves. Then two minutes at the board. You are not presenting your case, you are presenting one failure and the change that prevents it.</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minutes per team at the board. Draw this shape, fill in your own case.</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measure-first WEAT-style probe on toy embeddings, fully offline. Optional take-home lab; the point is to arrive with a number, not an opinion.</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Ethics is built in, not bolted on.</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class left. Presentations start next time, come with your demo ready to run.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jpg"/><Relationship Id="rId4" Type="http://schemas.openxmlformats.org/officeDocument/2006/relationships/hyperlink" Target="https://www.youtube.com/watch?v=Bj9BD2D3DzA" TargetMode="External"/><Relationship Id="rId5"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7.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3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3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Ethics &amp; Society: The Stakes of Language Technology</a:t>
            </a:r>
          </a:p>
        </p:txBody>
      </p:sp>
      <p:sp>
        <p:nvSpPr>
          <p:cNvPr id="3" name="Subtitle 2"/>
          <p:cNvSpPr>
            <a:spLocks noGrp="1"/>
          </p:cNvSpPr>
          <p:nvPr>
            <p:ph type="subTitle" idx="1"/>
          </p:nvPr>
        </p:nvSpPr>
        <p:spPr>
          <a:xfrm>
            <a:off x="493926" y="3549825"/>
            <a:ext cx="5832854" cy="970800"/>
          </a:xfrm>
        </p:spPr>
        <p:txBody>
          <a:bodyPr wrap="square"/>
          <a:lstStyle/>
          <a:p>
            <a:pPr marL="0" indent="0">
              <a:buNone/>
            </a:pPr>
            <a:r>
              <a:t>Natural Language Processing &amp; Large Language Models</a:t>
            </a:r>
          </a:p>
          <a:p>
            <a:pPr marL="0" indent="0">
              <a:buNone/>
            </a:pPr>
            <a:r>
              <a:t>Week 15, Class 1  ·  Wed Dec 2, 2026</a:t>
            </a:r>
          </a:p>
        </p:txBody>
      </p:sp>
      <p:pic>
        <p:nvPicPr>
          <p:cNvPr id="5" name="Picture 4" descr="Ethics &amp; Society: The Stakes of Language Technology"/>
          <p:cNvPicPr>
            <a:picLocks noChangeAspect="1"/>
          </p:cNvPicPr>
          <p:nvPr/>
        </p:nvPicPr>
        <p:blipFill>
          <a:blip r:embed="rId3"/>
          <a:stretch>
            <a:fillRect/>
          </a:stretch>
        </p:blipFill>
        <p:spPr>
          <a:xfrm>
            <a:off x="6555380" y="3474720"/>
            <a:ext cx="2222860"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photo: Acabashi, Wikimedia Commons, CC BY-SA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a:t>
            </a:r>
          </a:p>
        </p:txBody>
      </p:sp>
      <p:pic>
        <p:nvPicPr>
          <p:cNvPr id="5" name="Picture 4" descr="Today"/>
          <p:cNvPicPr>
            <a:picLocks noChangeAspect="1"/>
          </p:cNvPicPr>
          <p:nvPr/>
        </p:nvPicPr>
        <p:blipFill>
          <a:blip r:embed="rId3"/>
          <a:stretch>
            <a:fillRect/>
          </a:stretch>
        </p:blipFill>
        <p:spPr>
          <a:xfrm>
            <a:off x="714948" y="1078992"/>
            <a:ext cx="7714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photos: Unsplash License; Acabashi, Wikimedia Commons (CC BY-SA 4.0); figure: Bommasani et al. 2021, Fig.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this, why now</a:t>
            </a:r>
          </a:p>
        </p:txBody>
      </p:sp>
      <p:pic>
        <p:nvPicPr>
          <p:cNvPr id="5" name="Picture 4" descr="Why this, why now"/>
          <p:cNvPicPr>
            <a:picLocks noChangeAspect="1"/>
          </p:cNvPicPr>
          <p:nvPr/>
        </p:nvPicPr>
        <p:blipFill>
          <a:blip r:embed="rId3"/>
          <a:stretch>
            <a:fillRect/>
          </a:stretch>
        </p:blipFill>
        <p:spPr>
          <a:xfrm>
            <a:off x="387174" y="1078992"/>
            <a:ext cx="836965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Foundations of critique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"Stochastic Parrots" (Bender et al., 2021)</a:t>
            </a:r>
          </a:p>
        </p:txBody>
      </p:sp>
      <p:pic>
        <p:nvPicPr>
          <p:cNvPr id="5" name="Picture 4" descr="&quot;Stochastic Parrots&quot; (Bender et al., 2021)"/>
          <p:cNvPicPr>
            <a:picLocks noChangeAspect="1"/>
          </p:cNvPicPr>
          <p:nvPr/>
        </p:nvPicPr>
        <p:blipFill>
          <a:blip r:embed="rId3"/>
          <a:stretch>
            <a:fillRect/>
          </a:stretch>
        </p:blipFill>
        <p:spPr>
          <a:xfrm>
            <a:off x="274320" y="1241840"/>
            <a:ext cx="8595360" cy="326332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Bender et al., FAccT 2021, dl.acm.org/doi/10.1145/3442188.3445922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6537960" cy="822960"/>
          </a:xfrm>
        </p:spPr>
        <p:txBody>
          <a:bodyPr wrap="square"/>
          <a:lstStyle/>
          <a:p>
            <a:pPr marL="0" indent="0">
              <a:buNone/>
            </a:pPr>
            <a:r>
              <a:t>Form vs. meaning</a:t>
            </a:r>
          </a:p>
        </p:txBody>
      </p:sp>
      <p:pic>
        <p:nvPicPr>
          <p:cNvPr id="5" name="Picture 4" descr="Video: Tracing an LLM's thoughts. Opens https://www.youtube.com/watch?v=Bj9BD2D3DzA">
            <a:hlinkClick r:id="rId4"/>
          </p:cNvPr>
          <p:cNvPicPr>
            <a:picLocks noChangeAspect="1"/>
          </p:cNvPicPr>
          <p:nvPr/>
        </p:nvPicPr>
        <p:blipFill>
          <a:blip r:embed="rId3"/>
          <a:stretch>
            <a:fillRect/>
          </a:stretch>
        </p:blipFill>
        <p:spPr>
          <a:xfrm>
            <a:off x="7132320" y="109728"/>
            <a:ext cx="1554480" cy="874166"/>
          </a:xfrm>
          <a:prstGeom prst="rect">
            <a:avLst/>
          </a:prstGeom>
        </p:spPr>
      </p:pic>
      <p:sp>
        <p:nvSpPr>
          <p:cNvPr id="6" name="TextBox 5"/>
          <p:cNvSpPr txBox="1"/>
          <p:nvPr/>
        </p:nvSpPr>
        <p:spPr>
          <a:xfrm>
            <a:off x="6931152" y="993038"/>
            <a:ext cx="1956816" cy="173736"/>
          </a:xfrm>
          <a:prstGeom prst="rect">
            <a:avLst/>
          </a:prstGeom>
          <a:noFill/>
        </p:spPr>
        <p:txBody>
          <a:bodyPr wrap="none">
            <a:spAutoFit/>
          </a:bodyPr>
          <a:lstStyle/>
          <a:p>
            <a:pPr algn="ctr" marL="0" indent="0">
              <a:buNone/>
            </a:pPr>
            <a:r>
              <a:rPr sz="850" b="1">
                <a:solidFill>
                  <a:srgbClr val="7C2529"/>
                </a:solidFill>
              </a:rPr>
              <a:t>Tracing an LLM's thoughts</a:t>
            </a:r>
          </a:p>
        </p:txBody>
      </p:sp>
      <p:pic>
        <p:nvPicPr>
          <p:cNvPr id="7" name="Picture 6" descr="Form vs. meaning"/>
          <p:cNvPicPr>
            <a:picLocks noChangeAspect="1"/>
          </p:cNvPicPr>
          <p:nvPr/>
        </p:nvPicPr>
        <p:blipFill>
          <a:blip r:embed="rId5"/>
          <a:stretch>
            <a:fillRect/>
          </a:stretch>
        </p:blipFill>
        <p:spPr>
          <a:xfrm>
            <a:off x="274320" y="1389617"/>
            <a:ext cx="8595360" cy="3095786"/>
          </a:xfrm>
          <a:prstGeom prst="rect">
            <a:avLst/>
          </a:prstGeom>
        </p:spPr>
      </p:pic>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Bender et al., FAccT 2021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The six fault lines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Fault line 1: Bias &amp; fairness</a:t>
            </a:r>
          </a:p>
        </p:txBody>
      </p:sp>
      <p:pic>
        <p:nvPicPr>
          <p:cNvPr id="5" name="Picture 4" descr="Fault line 1: Bias &amp; fairness"/>
          <p:cNvPicPr>
            <a:picLocks noChangeAspect="1"/>
          </p:cNvPicPr>
          <p:nvPr/>
        </p:nvPicPr>
        <p:blipFill>
          <a:blip r:embed="rId3"/>
          <a:stretch>
            <a:fillRect/>
          </a:stretch>
        </p:blipFill>
        <p:spPr>
          <a:xfrm>
            <a:off x="650663" y="1078992"/>
            <a:ext cx="784267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Bender et al., FAccT 2021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Fault line 2: Misinformation</a:t>
            </a:r>
          </a:p>
        </p:txBody>
      </p:sp>
      <p:pic>
        <p:nvPicPr>
          <p:cNvPr id="5" name="Picture 4" descr="Fault line 2: Misinformation"/>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hallucination (Week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Fault line 3: Environmental cost</a:t>
            </a:r>
          </a:p>
        </p:txBody>
      </p:sp>
      <p:pic>
        <p:nvPicPr>
          <p:cNvPr id="5" name="Picture 4" descr="Fault line 3: Environmental cost"/>
          <p:cNvPicPr>
            <a:picLocks noChangeAspect="1"/>
          </p:cNvPicPr>
          <p:nvPr/>
        </p:nvPicPr>
        <p:blipFill>
          <a:blip r:embed="rId3"/>
          <a:stretch>
            <a:fillRect/>
          </a:stretch>
        </p:blipFill>
        <p:spPr>
          <a:xfrm>
            <a:off x="735910" y="1078992"/>
            <a:ext cx="7672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Strubell et al. 2019 Table 1; Bender et al. 2021 section 3; Patterson et al. 2021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Fault line 4: Copyright &amp; data provenance</a:t>
            </a:r>
          </a:p>
        </p:txBody>
      </p:sp>
      <p:pic>
        <p:nvPicPr>
          <p:cNvPr id="5" name="Picture 4" descr="Fault line 4: Copyright &amp; data provenance"/>
          <p:cNvPicPr>
            <a:picLocks noChangeAspect="1"/>
          </p:cNvPicPr>
          <p:nvPr/>
        </p:nvPicPr>
        <p:blipFill>
          <a:blip r:embed="rId3"/>
          <a:stretch>
            <a:fillRect/>
          </a:stretch>
        </p:blipFill>
        <p:spPr>
          <a:xfrm>
            <a:off x="576676" y="1078992"/>
            <a:ext cx="79906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datasheets/data statements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Fault line 5: Labor</a:t>
            </a:r>
          </a:p>
        </p:txBody>
      </p:sp>
      <p:pic>
        <p:nvPicPr>
          <p:cNvPr id="5" name="Picture 4" descr="Fault line 5: Labor"/>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Fault line 6: Safety &amp; policy</a:t>
            </a:r>
          </a:p>
        </p:txBody>
      </p:sp>
      <p:pic>
        <p:nvPicPr>
          <p:cNvPr id="5" name="Picture 4" descr="Fault line 6: Safety &amp; policy"/>
          <p:cNvPicPr>
            <a:picLocks noChangeAspect="1"/>
          </p:cNvPicPr>
          <p:nvPr/>
        </p:nvPicPr>
        <p:blipFill>
          <a:blip r:embed="rId3"/>
          <a:stretch>
            <a:fillRect/>
          </a:stretch>
        </p:blipFill>
        <p:spPr>
          <a:xfrm>
            <a:off x="274320" y="1311040"/>
            <a:ext cx="8595360" cy="312492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model beneath everything</a:t>
            </a:r>
          </a:p>
        </p:txBody>
      </p:sp>
      <p:pic>
        <p:nvPicPr>
          <p:cNvPr id="5" name="Picture 4" descr="One model beneath everything"/>
          <p:cNvPicPr>
            <a:picLocks noChangeAspect="1"/>
          </p:cNvPicPr>
          <p:nvPr/>
        </p:nvPicPr>
        <p:blipFill>
          <a:blip r:embed="rId3"/>
          <a:stretch>
            <a:fillRect/>
          </a:stretch>
        </p:blipFill>
        <p:spPr>
          <a:xfrm>
            <a:off x="2283699" y="1078992"/>
            <a:ext cx="457660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Bommasani et al. 2021 (arXiv:2108.07258), Fig. 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Sit with this one. The hardest questions in this field are not technical."/>
          <p:cNvPicPr>
            <a:picLocks noChangeAspect="1"/>
          </p:cNvPicPr>
          <p:nvPr/>
        </p:nvPicPr>
        <p:blipFill>
          <a:blip r:embed="rId3"/>
          <a:stretch>
            <a:fillRect/>
          </a:stretch>
        </p:blipFill>
        <p:spPr>
          <a:xfrm>
            <a:off x="0" y="-3143250"/>
            <a:ext cx="9144000" cy="1143000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If it reads every book, does it owe the authors anything?</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Sit with this one. The hardest questions in this field are not technical.</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https://unsplash.com/photos/black-and-white-robot-toy-on-red-wooden-table-zwd435-ewb4</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landscape, at a glance</a:t>
            </a:r>
          </a:p>
        </p:txBody>
      </p:sp>
      <p:pic>
        <p:nvPicPr>
          <p:cNvPr id="5" name="Picture 4" descr="The landscape, at a glance"/>
          <p:cNvPicPr>
            <a:picLocks noChangeAspect="1"/>
          </p:cNvPicPr>
          <p:nvPr/>
        </p:nvPicPr>
        <p:blipFill>
          <a:blip r:embed="rId3"/>
          <a:stretch>
            <a:fillRect/>
          </a:stretch>
        </p:blipFill>
        <p:spPr>
          <a:xfrm>
            <a:off x="285519" y="1078992"/>
            <a:ext cx="857296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Bender et al. 2021 &amp; Bommasani et al. 2021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Planning is the mitigation</a:t>
            </a:r>
          </a:p>
        </p:txBody>
      </p:sp>
      <p:pic>
        <p:nvPicPr>
          <p:cNvPr id="5" name="Picture 4" descr="Planning is the mitigation"/>
          <p:cNvPicPr>
            <a:picLocks noChangeAspect="1"/>
          </p:cNvPicPr>
          <p:nvPr/>
        </p:nvPicPr>
        <p:blipFill>
          <a:blip r:embed="rId3"/>
          <a:stretch>
            <a:fillRect/>
          </a:stretch>
        </p:blipFill>
        <p:spPr>
          <a:xfrm>
            <a:off x="507659" y="1078992"/>
            <a:ext cx="812868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Bender et al., FAccT 2021, section 6; Klein, Harvard Business Review, 2007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responsible builders can do</a:t>
            </a:r>
          </a:p>
        </p:txBody>
      </p:sp>
      <p:pic>
        <p:nvPicPr>
          <p:cNvPr id="5" name="Picture 4" descr="What responsible builders can do"/>
          <p:cNvPicPr>
            <a:picLocks noChangeAspect="1"/>
          </p:cNvPicPr>
          <p:nvPr/>
        </p:nvPicPr>
        <p:blipFill>
          <a:blip r:embed="rId3"/>
          <a:stretch>
            <a:fillRect/>
          </a:stretch>
        </p:blipFill>
        <p:spPr>
          <a:xfrm>
            <a:off x="676940" y="1078992"/>
            <a:ext cx="779012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(worked example); model cards (Mitchell et al., 2019); datasheets (Gebru et al., 2018)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you run a pre-mortem on a real deployment."/>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Exercise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Pre-mortem a real deployment (teams)</a:t>
            </a:r>
          </a:p>
        </p:txBody>
      </p:sp>
      <p:pic>
        <p:nvPicPr>
          <p:cNvPr id="5" name="Picture 4" descr="Pre-mortem a real deployment (teams)"/>
          <p:cNvPicPr>
            <a:picLocks noChangeAspect="1"/>
          </p:cNvPicPr>
          <p:nvPr/>
        </p:nvPicPr>
        <p:blipFill>
          <a:blip r:embed="rId3"/>
          <a:stretch>
            <a:fillRect/>
          </a:stretch>
        </p:blipFill>
        <p:spPr>
          <a:xfrm>
            <a:off x="672328" y="1078992"/>
            <a:ext cx="779934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exercise/premortem-guide.md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Running the pre-mortem</a:t>
            </a:r>
          </a:p>
        </p:txBody>
      </p:sp>
      <p:pic>
        <p:nvPicPr>
          <p:cNvPr id="5" name="Picture 4" descr="Running the pre-mortem"/>
          <p:cNvPicPr>
            <a:picLocks noChangeAspect="1"/>
          </p:cNvPicPr>
          <p:nvPr/>
        </p:nvPicPr>
        <p:blipFill>
          <a:blip r:embed="rId3"/>
          <a:stretch>
            <a:fillRect/>
          </a:stretch>
        </p:blipFill>
        <p:spPr>
          <a:xfrm>
            <a:off x="1123267" y="1078992"/>
            <a:ext cx="689746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method: Klein 2007, via Bender et al. 2021 section 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your whiteboard should look like</a:t>
            </a:r>
          </a:p>
        </p:txBody>
      </p:sp>
      <p:pic>
        <p:nvPicPr>
          <p:cNvPr id="5" name="Picture 4" descr="What your whiteboard should look like"/>
          <p:cNvPicPr>
            <a:picLocks noChangeAspect="1"/>
          </p:cNvPicPr>
          <p:nvPr/>
        </p:nvPicPr>
        <p:blipFill>
          <a:blip r:embed="rId3"/>
          <a:stretch>
            <a:fillRect/>
          </a:stretch>
        </p:blipFill>
        <p:spPr>
          <a:xfrm>
            <a:off x="810860" y="1078992"/>
            <a:ext cx="752227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worked example, exercise/premortem-guide.md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Take-home demo: measure the bias</a:t>
            </a:r>
          </a:p>
        </p:txBody>
      </p:sp>
      <p:pic>
        <p:nvPicPr>
          <p:cNvPr id="5" name="Picture 4" descr="Take-home demo: measure the bias"/>
          <p:cNvPicPr>
            <a:picLocks noChangeAspect="1"/>
          </p:cNvPicPr>
          <p:nvPr/>
        </p:nvPicPr>
        <p:blipFill>
          <a:blip r:embed="rId3"/>
          <a:stretch>
            <a:fillRect/>
          </a:stretch>
        </p:blipFill>
        <p:spPr>
          <a:xfrm>
            <a:off x="633738" y="1078992"/>
            <a:ext cx="787652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weeks/week-15/class-01/exercise/bias_probe.py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274320" y="1387525"/>
            <a:ext cx="8595360" cy="297195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Looking ahead</a:t>
            </a:r>
          </a:p>
        </p:txBody>
      </p:sp>
      <p:pic>
        <p:nvPicPr>
          <p:cNvPr id="5" name="Picture 4" descr="Looking ahead"/>
          <p:cNvPicPr>
            <a:picLocks noChangeAspect="1"/>
          </p:cNvPicPr>
          <p:nvPr/>
        </p:nvPicPr>
        <p:blipFill>
          <a:blip r:embed="rId3"/>
          <a:stretch>
            <a:fillRect/>
          </a:stretch>
        </p:blipFill>
        <p:spPr>
          <a:xfrm>
            <a:off x="679497" y="1078992"/>
            <a:ext cx="77850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schedule/SCHEDULE.md; readings.md</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