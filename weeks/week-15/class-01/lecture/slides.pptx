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weight</c:v>
                </c:pt>
              </c:strCache>
            </c:strRef>
          </c:tx>
          <c:spPr>
            <a:solidFill>
              <a:srgbClr val="4C72B0"/>
            </a:solidFill>
            <a:ln>
              <a:noFill/>
            </a:ln>
          </c:spPr>
          <c:dPt>
            <c:idx val="0"/>
            <c:spPr>
              <a:solidFill>
                <a:srgbClr val="4C72B0"/>
              </a:solidFill>
            </c:spPr>
          </c:dPt>
          <c:dPt>
            <c:idx val="1"/>
            <c:spPr>
              <a:solidFill>
                <a:srgbClr val="4C72B0"/>
              </a:solidFill>
            </c:spPr>
          </c:dPt>
          <c:dPt>
            <c:idx val="2"/>
            <c:spPr>
              <a:solidFill>
                <a:srgbClr val="4C72B0"/>
              </a:solidFill>
            </c:spPr>
          </c:dPt>
          <c:dPt>
            <c:idx val="3"/>
            <c:spPr>
              <a:solidFill>
                <a:srgbClr val="4C72B0"/>
              </a:solidFill>
            </c:spPr>
          </c:dPt>
          <c:dPt>
            <c:idx val="4"/>
            <c:spPr>
              <a:solidFill>
                <a:srgbClr val="4C72B0"/>
              </a:solidFill>
            </c:spPr>
          </c:dPt>
          <c:dPt>
            <c:idx val="5"/>
            <c:spPr>
              <a:solidFill>
                <a:srgbClr val="4C72B0"/>
              </a:solidFill>
            </c:spPr>
          </c:dPt>
          <c:cat>
            <c:strRef>
              <c:f>Sheet1!$A$2:$A$7</c:f>
              <c:strCache>
                <c:ptCount val="6"/>
                <c:pt idx="0">
                  <c:v>one seat, New York to San Francisco</c:v>
                </c:pt>
                <c:pt idx="1">
                  <c:v>one person, world average, one year</c:v>
                </c:pt>
                <c:pt idx="2">
                  <c:v>one American, one year</c:v>
                </c:pt>
                <c:pt idx="3">
                  <c:v>one car, built and fuelled, whole life</c:v>
                </c:pt>
                <c:pt idx="4">
                  <c:v>Transformer + architecture search</c:v>
                </c:pt>
                <c:pt idx="5">
                  <c:v>train GPT-3, once</c:v>
                </c:pt>
              </c:strCache>
            </c:strRef>
          </c:cat>
          <c:val>
            <c:numRef>
              <c:f>Sheet1!$B$2:$B$7</c:f>
              <c:numCache>
                <c:formatCode>General</c:formatCode>
                <c:ptCount val="6"/>
                <c:pt idx="0">
                  <c:v>0.9</c:v>
                </c:pt>
                <c:pt idx="1">
                  <c:v>5.0</c:v>
                </c:pt>
                <c:pt idx="2">
                  <c:v>16.4</c:v>
                </c:pt>
                <c:pt idx="3">
                  <c:v>57.0</c:v>
                </c:pt>
                <c:pt idx="4">
                  <c:v>284.0</c:v>
                </c:pt>
                <c:pt idx="5">
                  <c:v>552.0</c:v>
                </c:pt>
              </c:numCache>
            </c:numRef>
          </c:val>
        </c:ser>
        <c:dLbls>
          <c:numFmt formatCode="0.00" sourceLinked="0"/>
          <c:txPr>
            <a:bodyPr/>
            <a:lstStyle/>
            <a:p>
              <a:pPr>
                <a:defRPr sz="1500" b="1">
                  <a:solidFill>
                    <a:srgbClr val="1D1D1F"/>
                  </a:solidFill>
                  <a:latin typeface="Helvetica Neue"/>
                </a:defRPr>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l"/>
        <c:majorTickMark val="none"/>
        <c:minorTickMark val="none"/>
        <c:tickLblPos val="nextTo"/>
        <c:spPr>
          <a:ln>
            <a:solidFill>
              <a:srgbClr val="D2D2D7"/>
            </a:solidFill>
          </a:ln>
        </c:spPr>
        <c:txPr>
          <a:bodyPr/>
          <a:lstStyle/>
          <a:p>
            <a:pPr>
              <a:defRPr sz="1200">
                <a:solidFill>
                  <a:srgbClr val="86868B"/>
                </a:solidFill>
                <a:latin typeface="Helvetica Neue"/>
              </a:defRPr>
            </a:pPr>
          </a:p>
        </c:txPr>
        <c:crossAx val="-2113994440"/>
        <c:crosses val="autoZero"/>
        <c:auto val="1"/>
        <c:lblAlgn val="ctr"/>
        <c:lblOffset val="100"/>
        <c:noMultiLvlLbl val="0"/>
      </c:catAx>
      <c:valAx>
        <c:axId val="-2113994440"/>
        <c:scaling/>
        <c:delete val="0"/>
        <c:axPos val="b"/>
        <c:majorTickMark val="none"/>
        <c:minorTickMark val="none"/>
        <c:tickLblPos val="none"/>
        <c:spPr>
          <a:ln>
            <a:noFill/>
          </a:ln>
        </c:spPr>
        <c:crossAx val="-2068027336"/>
        <c:crosses val="autoZero"/>
      </c:valAx>
    </c:plotArea>
    <c:dispBlanksAs val="gap"/>
  </c:chart>
  <c:txPr>
    <a:bodyPr/>
    <a:lstStyle/>
    <a:p>
      <a:pPr>
        <a:defRPr sz="1200">
          <a:latin typeface="Helvetica Neue"/>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Meet the original language model. An African grey can repeat thousands of phrases it has heard. What, if anything, does it understand?</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 modeling choice is also an ethical choice.</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week's required reading; it supplies today's method and appears on the final exam.</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cited critique, not a settled fact; what LLMs "understand" is still an open debate.</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You will measure exactly this pipeline in the take-home bias probe.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hallucination problem from Week 11, industrialized.</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bill is real, unequally paid, and mostly spent on runs you never see. Sources: Strubell et al. 2019 (Table 1, converted from lbs); Bender et al. 2021 3; Patterson et al. 2021 (GPT-3: 552 tCO e, 1287 MWh). Both dark bars are training a language model. They are 437 apart. What separates them is not the model you ship, it is everything you burned to find it.</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Courts are testing these questions right now.</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who does the work, and who captures the value.</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 consensus answers yet; this is a live policy debate.</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Stanford report's own diagram, from the paper that coined "foundation model". Optional reading, never quizzed. The ethics hook is homogenization: one shared model means its flaws reach every adapted task at once.</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 not resolve this one. Let a few people argue it. The point of the last week is that the hardest questions left in this field are not technical, and they will be the ones answering them.</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Six interacting fault lines, technical and social at once. You can't fix them with code alone, nor ignore them while writing code.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Bender et al. do not end with a filter to apply. They end with a step you run before the thing exists. Bender, Gebru, McMillan-Major &amp; Shmitchell, FAccT 2021, 6. Pre-mortem technique: Gary Klein, Performing a Project Premortem, Harvard Business Review, 2007. Bender et al. want three more things decided up front: weigh the financial and environmental cost before choosing a direction, curate and document the data instead of ingesting whatever scrapes easily, and evaluate the worst case, not just the average and the cherry-picked one.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artifact, five habits: a model card for a fictional moderation classifier.</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Five teams, five cases. Nobody defends a position today; every team is on the build side. First thing at your table, out loud, in one minute: who uses this directly, and who gets affected by it without ever touching it? The second group is where the pre-mortem earns its keep.</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steps, 23 minutes. Keep an eye on the clock yourselves. Then two minutes at the board. You are not presenting your case, you are presenting one failure and the change that prevents it.</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minutes per team at the board. Draw this shape, fill in your own case.</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measure-first WEAT-style probe on toy embeddings, fully offline. Optional take-home lab; the point is to arrive with a number, not an opinion.</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class left. Presentations start next time, come with your demo ready to run.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chart" Target="../charts/char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4.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Ethics &amp; Society: The Stakes of Language Technology</a:t>
            </a:r>
          </a:p>
        </p:txBody>
      </p:sp>
      <p:sp>
        <p:nvSpPr>
          <p:cNvPr id="3" name="Subtitle 2"/>
          <p:cNvSpPr>
            <a:spLocks noGrp="1"/>
          </p:cNvSpPr>
          <p:nvPr>
            <p:ph type="subTitle" idx="1"/>
          </p:nvPr>
        </p:nvSpPr>
        <p:spPr>
          <a:xfrm>
            <a:off x="493926" y="3549825"/>
            <a:ext cx="5832854" cy="970800"/>
          </a:xfrm>
        </p:spPr>
        <p:txBody>
          <a:bodyPr wrap="square"/>
          <a:lstStyle/>
          <a:p>
            <a:pPr marL="0" indent="0">
              <a:buNone/>
            </a:pPr>
            <a:r>
              <a:t>Natural Language Processing &amp; Large Language Models</a:t>
            </a:r>
          </a:p>
          <a:p>
            <a:pPr marL="0" indent="0">
              <a:buNone/>
            </a:pPr>
            <a:r>
              <a:t>Week 15, Class 1  ·  Mon Dec 7, 2026</a:t>
            </a:r>
          </a:p>
        </p:txBody>
      </p:sp>
      <p:pic>
        <p:nvPicPr>
          <p:cNvPr id="5" name="Picture 4" descr="Ethics &amp; Society: The Stakes of Language Technology"/>
          <p:cNvPicPr>
            <a:picLocks noChangeAspect="1"/>
          </p:cNvPicPr>
          <p:nvPr/>
        </p:nvPicPr>
        <p:blipFill>
          <a:blip r:embed="rId3"/>
          <a:stretch>
            <a:fillRect/>
          </a:stretch>
        </p:blipFill>
        <p:spPr>
          <a:xfrm>
            <a:off x="6555380" y="3474720"/>
            <a:ext cx="2222860"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photo: Acabashi, Wikimedia Commons, CC BY-SA 4.0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this, why now</a:t>
            </a:r>
          </a:p>
        </p:txBody>
      </p:sp>
      <p:sp>
        <p:nvSpPr>
          <p:cNvPr id="5" name="Rounded Rectangle 4"/>
          <p:cNvSpPr/>
          <p:nvPr/>
        </p:nvSpPr>
        <p:spPr>
          <a:xfrm>
            <a:off x="457200" y="2318258"/>
            <a:ext cx="4041648" cy="1110488"/>
          </a:xfrm>
          <a:prstGeom prst="roundRect">
            <a:avLst>
              <a:gd name="adj" fmla="val 1070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0080" y="2464562"/>
            <a:ext cx="3675888" cy="817880"/>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UNTIL NOW, BUILD</a:t>
            </a:r>
          </a:p>
          <a:p>
            <a:pPr marL="0" indent="0">
              <a:spcAft>
                <a:spcPts val="300"/>
              </a:spcAft>
              <a:buNone/>
            </a:pPr>
            <a:r>
              <a:rPr sz="1500" b="0" u="none">
                <a:solidFill>
                  <a:srgbClr val="1D1D1F"/>
                </a:solidFill>
                <a:latin typeface="Menlo"/>
              </a:rPr>
              <a:t>tokenizers, embeddings, agents</a:t>
            </a:r>
          </a:p>
          <a:p>
            <a:pPr marL="0" indent="0" algn="l">
              <a:spcAft>
                <a:spcPts val="200"/>
              </a:spcAft>
              <a:buNone/>
            </a:pPr>
            <a:r>
              <a:rPr sz="1200" b="0">
                <a:solidFill>
                  <a:srgbClr val="86868B"/>
                </a:solidFill>
                <a:latin typeface="Helvetica Neue"/>
              </a:rPr>
              <a:t>How to make language systems work.</a:t>
            </a:r>
          </a:p>
        </p:txBody>
      </p:sp>
      <p:sp>
        <p:nvSpPr>
          <p:cNvPr id="7" name="Rounded Rectangle 6"/>
          <p:cNvSpPr/>
          <p:nvPr/>
        </p:nvSpPr>
        <p:spPr>
          <a:xfrm>
            <a:off x="4645152" y="2318258"/>
            <a:ext cx="4041648" cy="1110488"/>
          </a:xfrm>
          <a:prstGeom prst="roundRect">
            <a:avLst>
              <a:gd name="adj" fmla="val 1070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828032" y="2464562"/>
            <a:ext cx="3675888" cy="817880"/>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TODAY, QUESTION</a:t>
            </a:r>
          </a:p>
          <a:p>
            <a:pPr marL="0" indent="0">
              <a:spcAft>
                <a:spcPts val="300"/>
              </a:spcAft>
              <a:buNone/>
            </a:pPr>
            <a:r>
              <a:rPr sz="1500" b="0" u="none">
                <a:solidFill>
                  <a:srgbClr val="1D1D1F"/>
                </a:solidFill>
                <a:latin typeface="Menlo"/>
              </a:rPr>
              <a:t>who benefits, who is harmed</a:t>
            </a:r>
          </a:p>
          <a:p>
            <a:pPr marL="0" indent="0" algn="l">
              <a:spcAft>
                <a:spcPts val="200"/>
              </a:spcAft>
              <a:buNone/>
            </a:pPr>
            <a:r>
              <a:rPr sz="1200" b="0">
                <a:solidFill>
                  <a:srgbClr val="86868B"/>
                </a:solidFill>
                <a:latin typeface="Helvetica Neue"/>
              </a:rPr>
              <a:t>Every data, objective and deployment choice has stakes.</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"Stochastic Parrots" (Bender et al., 2021)</a:t>
            </a:r>
          </a:p>
        </p:txBody>
      </p:sp>
      <p:sp>
        <p:nvSpPr>
          <p:cNvPr id="5" name="Rounded Rectangle 4"/>
          <p:cNvSpPr/>
          <p:nvPr/>
        </p:nvSpPr>
        <p:spPr>
          <a:xfrm>
            <a:off x="457200" y="1078992"/>
            <a:ext cx="8229600" cy="828675"/>
          </a:xfrm>
          <a:prstGeom prst="roundRect">
            <a:avLst>
              <a:gd name="adj" fmla="val 12137"/>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94944" y="1078992"/>
            <a:ext cx="475488" cy="828675"/>
          </a:xfrm>
          <a:prstGeom prst="rect">
            <a:avLst/>
          </a:prstGeom>
          <a:noFill/>
        </p:spPr>
        <p:txBody>
          <a:bodyPr wrap="none" anchor="ctr" lIns="0" rIns="0" tIns="0" bIns="0">
            <a:spAutoFit/>
          </a:bodyPr>
          <a:lstStyle/>
          <a:p>
            <a:pPr marL="0" indent="0" algn="l">
              <a:spcAft>
                <a:spcPts val="0"/>
              </a:spcAft>
              <a:buNone/>
            </a:pPr>
            <a:r>
              <a:rPr sz="2200" b="1">
                <a:solidFill>
                  <a:srgbClr val="1D1D1F"/>
                </a:solidFill>
                <a:latin typeface="Helvetica Neue"/>
              </a:rPr>
              <a:t>1</a:t>
            </a:r>
          </a:p>
        </p:txBody>
      </p:sp>
      <p:sp>
        <p:nvSpPr>
          <p:cNvPr id="7" name="TextBox 6"/>
          <p:cNvSpPr txBox="1"/>
          <p:nvPr/>
        </p:nvSpPr>
        <p:spPr>
          <a:xfrm>
            <a:off x="1170432" y="1078992"/>
            <a:ext cx="7278624" cy="828675"/>
          </a:xfrm>
          <a:prstGeom prst="rect">
            <a:avLst/>
          </a:prstGeom>
          <a:noFill/>
        </p:spPr>
        <p:txBody>
          <a:bodyPr wrap="square" anchor="ctr" lIns="0" rIns="0" tIns="0" bIns="0">
            <a:spAutoFit/>
          </a:bodyPr>
          <a:lstStyle/>
          <a:p>
            <a:pPr marL="0" indent="0" algn="l">
              <a:spcAft>
                <a:spcPts val="0"/>
              </a:spcAft>
              <a:buNone/>
            </a:pPr>
            <a:r>
              <a:rPr sz="1600" b="0">
                <a:solidFill>
                  <a:srgbClr val="1D1D1F"/>
                </a:solidFill>
                <a:latin typeface="Menlo"/>
              </a:rPr>
              <a:t>Environmental and financial cost</a:t>
            </a:r>
          </a:p>
        </p:txBody>
      </p:sp>
      <p:sp>
        <p:nvSpPr>
          <p:cNvPr id="8" name="Rounded Rectangle 7"/>
          <p:cNvSpPr/>
          <p:nvPr/>
        </p:nvSpPr>
        <p:spPr>
          <a:xfrm>
            <a:off x="457200" y="1999107"/>
            <a:ext cx="8229600" cy="828675"/>
          </a:xfrm>
          <a:prstGeom prst="roundRect">
            <a:avLst>
              <a:gd name="adj" fmla="val 12137"/>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94944" y="1999107"/>
            <a:ext cx="475488" cy="828675"/>
          </a:xfrm>
          <a:prstGeom prst="rect">
            <a:avLst/>
          </a:prstGeom>
          <a:noFill/>
        </p:spPr>
        <p:txBody>
          <a:bodyPr wrap="none" anchor="ctr" lIns="0" rIns="0" tIns="0" bIns="0">
            <a:spAutoFit/>
          </a:bodyPr>
          <a:lstStyle/>
          <a:p>
            <a:pPr marL="0" indent="0" algn="l">
              <a:spcAft>
                <a:spcPts val="0"/>
              </a:spcAft>
              <a:buNone/>
            </a:pPr>
            <a:r>
              <a:rPr sz="2200" b="1">
                <a:solidFill>
                  <a:srgbClr val="1D1D1F"/>
                </a:solidFill>
                <a:latin typeface="Helvetica Neue"/>
              </a:rPr>
              <a:t>2</a:t>
            </a:r>
          </a:p>
        </p:txBody>
      </p:sp>
      <p:sp>
        <p:nvSpPr>
          <p:cNvPr id="10" name="TextBox 9"/>
          <p:cNvSpPr txBox="1"/>
          <p:nvPr/>
        </p:nvSpPr>
        <p:spPr>
          <a:xfrm>
            <a:off x="1170432" y="1999107"/>
            <a:ext cx="7278624" cy="828675"/>
          </a:xfrm>
          <a:prstGeom prst="rect">
            <a:avLst/>
          </a:prstGeom>
          <a:noFill/>
        </p:spPr>
        <p:txBody>
          <a:bodyPr wrap="square" anchor="ctr" lIns="0" rIns="0" tIns="0" bIns="0">
            <a:spAutoFit/>
          </a:bodyPr>
          <a:lstStyle/>
          <a:p>
            <a:pPr marL="0" indent="0" algn="l">
              <a:spcAft>
                <a:spcPts val="0"/>
              </a:spcAft>
              <a:buNone/>
            </a:pPr>
            <a:r>
              <a:rPr sz="1600" b="0">
                <a:solidFill>
                  <a:srgbClr val="1D1D1F"/>
                </a:solidFill>
                <a:latin typeface="Menlo"/>
              </a:rPr>
              <a:t>Unfathomable training data, and what it encodes</a:t>
            </a:r>
          </a:p>
        </p:txBody>
      </p:sp>
      <p:sp>
        <p:nvSpPr>
          <p:cNvPr id="11" name="Rounded Rectangle 10"/>
          <p:cNvSpPr/>
          <p:nvPr/>
        </p:nvSpPr>
        <p:spPr>
          <a:xfrm>
            <a:off x="457200" y="2919222"/>
            <a:ext cx="8229600" cy="828675"/>
          </a:xfrm>
          <a:prstGeom prst="roundRect">
            <a:avLst>
              <a:gd name="adj" fmla="val 12137"/>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94944" y="2919222"/>
            <a:ext cx="475488" cy="828675"/>
          </a:xfrm>
          <a:prstGeom prst="rect">
            <a:avLst/>
          </a:prstGeom>
          <a:noFill/>
        </p:spPr>
        <p:txBody>
          <a:bodyPr wrap="none" anchor="ctr" lIns="0" rIns="0" tIns="0" bIns="0">
            <a:spAutoFit/>
          </a:bodyPr>
          <a:lstStyle/>
          <a:p>
            <a:pPr marL="0" indent="0" algn="l">
              <a:spcAft>
                <a:spcPts val="0"/>
              </a:spcAft>
              <a:buNone/>
            </a:pPr>
            <a:r>
              <a:rPr sz="2200" b="1">
                <a:solidFill>
                  <a:srgbClr val="1D1D1F"/>
                </a:solidFill>
                <a:latin typeface="Helvetica Neue"/>
              </a:rPr>
              <a:t>3</a:t>
            </a:r>
          </a:p>
        </p:txBody>
      </p:sp>
      <p:sp>
        <p:nvSpPr>
          <p:cNvPr id="13" name="TextBox 12"/>
          <p:cNvSpPr txBox="1"/>
          <p:nvPr/>
        </p:nvSpPr>
        <p:spPr>
          <a:xfrm>
            <a:off x="1170432" y="2919222"/>
            <a:ext cx="7278624" cy="828675"/>
          </a:xfrm>
          <a:prstGeom prst="rect">
            <a:avLst/>
          </a:prstGeom>
          <a:noFill/>
        </p:spPr>
        <p:txBody>
          <a:bodyPr wrap="square" anchor="ctr" lIns="0" rIns="0" tIns="0" bIns="0">
            <a:spAutoFit/>
          </a:bodyPr>
          <a:lstStyle/>
          <a:p>
            <a:pPr marL="0" indent="0" algn="l">
              <a:spcAft>
                <a:spcPts val="0"/>
              </a:spcAft>
              <a:buNone/>
            </a:pPr>
            <a:r>
              <a:rPr sz="1600" b="0">
                <a:solidFill>
                  <a:srgbClr val="1D1D1F"/>
                </a:solidFill>
                <a:latin typeface="Menlo"/>
              </a:rPr>
              <a:t>Research effort spent on the wrong questions</a:t>
            </a:r>
          </a:p>
        </p:txBody>
      </p:sp>
      <p:sp>
        <p:nvSpPr>
          <p:cNvPr id="14" name="Rounded Rectangle 13"/>
          <p:cNvSpPr/>
          <p:nvPr/>
        </p:nvSpPr>
        <p:spPr>
          <a:xfrm>
            <a:off x="457200" y="3839337"/>
            <a:ext cx="8229600" cy="828675"/>
          </a:xfrm>
          <a:prstGeom prst="roundRect">
            <a:avLst>
              <a:gd name="adj" fmla="val 12137"/>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94944" y="3839337"/>
            <a:ext cx="475488" cy="828675"/>
          </a:xfrm>
          <a:prstGeom prst="rect">
            <a:avLst/>
          </a:prstGeom>
          <a:noFill/>
        </p:spPr>
        <p:txBody>
          <a:bodyPr wrap="none" anchor="ctr" lIns="0" rIns="0" tIns="0" bIns="0">
            <a:spAutoFit/>
          </a:bodyPr>
          <a:lstStyle/>
          <a:p>
            <a:pPr marL="0" indent="0" algn="l">
              <a:spcAft>
                <a:spcPts val="0"/>
              </a:spcAft>
              <a:buNone/>
            </a:pPr>
            <a:r>
              <a:rPr sz="2200" b="1">
                <a:solidFill>
                  <a:srgbClr val="1D1D1F"/>
                </a:solidFill>
                <a:latin typeface="Helvetica Neue"/>
              </a:rPr>
              <a:t>4</a:t>
            </a:r>
          </a:p>
        </p:txBody>
      </p:sp>
      <p:sp>
        <p:nvSpPr>
          <p:cNvPr id="16" name="TextBox 15"/>
          <p:cNvSpPr txBox="1"/>
          <p:nvPr/>
        </p:nvSpPr>
        <p:spPr>
          <a:xfrm>
            <a:off x="1170432" y="3839337"/>
            <a:ext cx="7278624" cy="828675"/>
          </a:xfrm>
          <a:prstGeom prst="rect">
            <a:avLst/>
          </a:prstGeom>
          <a:noFill/>
        </p:spPr>
        <p:txBody>
          <a:bodyPr wrap="square" anchor="ctr" lIns="0" rIns="0" tIns="0" bIns="0">
            <a:spAutoFit/>
          </a:bodyPr>
          <a:lstStyle/>
          <a:p>
            <a:pPr marL="0" indent="0" algn="l">
              <a:spcAft>
                <a:spcPts val="0"/>
              </a:spcAft>
              <a:buNone/>
            </a:pPr>
            <a:r>
              <a:rPr sz="1600" b="0">
                <a:solidFill>
                  <a:srgbClr val="1D1D1F"/>
                </a:solidFill>
                <a:latin typeface="Menlo"/>
              </a:rPr>
              <a:t>Illusions of meaning, and who is harmed by them</a:t>
            </a:r>
          </a:p>
        </p:txBody>
      </p:sp>
      <p:sp>
        <p:nvSpPr>
          <p:cNvPr id="17" name="TextBox 16"/>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Bender et al., FAccT 2021, dl.acm.org/doi/10.1145/3442188.3445922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Form vs. meaning</a:t>
            </a:r>
          </a:p>
        </p:txBody>
      </p:sp>
      <p:sp>
        <p:nvSpPr>
          <p:cNvPr id="5" name="Rounded Rectangle 4"/>
          <p:cNvSpPr/>
          <p:nvPr/>
        </p:nvSpPr>
        <p:spPr>
          <a:xfrm>
            <a:off x="457200" y="2272220"/>
            <a:ext cx="4041648" cy="1202563"/>
          </a:xfrm>
          <a:prstGeom prst="roundRect">
            <a:avLst>
              <a:gd name="adj" fmla="val 988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0080" y="2418524"/>
            <a:ext cx="3675888" cy="909955"/>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WHAT IT LEARNS</a:t>
            </a:r>
          </a:p>
          <a:p>
            <a:pPr marL="0" indent="0">
              <a:spcAft>
                <a:spcPts val="300"/>
              </a:spcAft>
              <a:buNone/>
            </a:pPr>
            <a:r>
              <a:rPr sz="2000" b="0" u="none">
                <a:solidFill>
                  <a:srgbClr val="1D1D1F"/>
                </a:solidFill>
                <a:latin typeface="Menlo"/>
              </a:rPr>
              <a:t>form</a:t>
            </a:r>
          </a:p>
          <a:p>
            <a:pPr marL="0" indent="0" algn="l">
              <a:spcAft>
                <a:spcPts val="200"/>
              </a:spcAft>
              <a:buNone/>
            </a:pPr>
            <a:r>
              <a:rPr sz="1200" b="0">
                <a:solidFill>
                  <a:srgbClr val="86868B"/>
                </a:solidFill>
                <a:latin typeface="Helvetica Neue"/>
              </a:rPr>
              <a:t>Which words follow which. Fluent, grammatical, plausible.</a:t>
            </a:r>
          </a:p>
        </p:txBody>
      </p:sp>
      <p:sp>
        <p:nvSpPr>
          <p:cNvPr id="7" name="Rounded Rectangle 6"/>
          <p:cNvSpPr/>
          <p:nvPr/>
        </p:nvSpPr>
        <p:spPr>
          <a:xfrm>
            <a:off x="4645152" y="2272220"/>
            <a:ext cx="4041648" cy="1202563"/>
          </a:xfrm>
          <a:prstGeom prst="roundRect">
            <a:avLst>
              <a:gd name="adj" fmla="val 988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828032" y="2418524"/>
            <a:ext cx="3675888" cy="909955"/>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WHAT IT HAS NO ACCESS TO</a:t>
            </a:r>
          </a:p>
          <a:p>
            <a:pPr marL="0" indent="0">
              <a:spcAft>
                <a:spcPts val="300"/>
              </a:spcAft>
              <a:buNone/>
            </a:pPr>
            <a:r>
              <a:rPr sz="2000" b="0" u="none">
                <a:solidFill>
                  <a:srgbClr val="1D1D1F"/>
                </a:solidFill>
                <a:latin typeface="Menlo"/>
              </a:rPr>
              <a:t>meaning, intent</a:t>
            </a:r>
          </a:p>
          <a:p>
            <a:pPr marL="0" indent="0" algn="l">
              <a:spcAft>
                <a:spcPts val="200"/>
              </a:spcAft>
              <a:buNone/>
            </a:pPr>
            <a:r>
              <a:rPr sz="1200" b="0">
                <a:solidFill>
                  <a:srgbClr val="86868B"/>
                </a:solidFill>
                <a:latin typeface="Helvetica Neue"/>
              </a:rPr>
              <a:t>Coherence at the surface, with nothing underneath that refers to the world.</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Bender et al., FAccT 2021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Fault line 1: Bias &amp; fairness</a:t>
            </a:r>
          </a:p>
        </p:txBody>
      </p:sp>
      <p:sp>
        <p:nvSpPr>
          <p:cNvPr id="5" name="Rounded Rectangle 4"/>
          <p:cNvSpPr/>
          <p:nvPr/>
        </p:nvSpPr>
        <p:spPr>
          <a:xfrm>
            <a:off x="457200" y="1614424"/>
            <a:ext cx="2365248" cy="1804924"/>
          </a:xfrm>
          <a:prstGeom prst="roundRect">
            <a:avLst>
              <a:gd name="adj" fmla="val 6079"/>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21792" y="1877771"/>
            <a:ext cx="2036064" cy="1475740"/>
          </a:xfrm>
          <a:prstGeom prst="rect">
            <a:avLst/>
          </a:prstGeom>
          <a:noFill/>
        </p:spPr>
        <p:txBody>
          <a:bodyPr wrap="square" anchor="t" lIns="0" rIns="0" tIns="0" bIns="0">
            <a:spAutoFit/>
          </a:bodyPr>
          <a:lstStyle/>
          <a:p>
            <a:pPr marL="0" indent="0" algn="l">
              <a:spcAft>
                <a:spcPts val="1000"/>
              </a:spcAft>
              <a:buNone/>
            </a:pPr>
            <a:r>
              <a:rPr sz="1200" b="1" spc="60">
                <a:solidFill>
                  <a:srgbClr val="86868B"/>
                </a:solidFill>
                <a:latin typeface="Helvetica Neue"/>
              </a:rPr>
              <a:t>HUMAN TEXT</a:t>
            </a:r>
          </a:p>
          <a:p>
            <a:pPr marL="0" indent="0" algn="l">
              <a:lnSpc>
                <a:spcPts val="3000"/>
              </a:lnSpc>
              <a:spcAft>
                <a:spcPts val="0"/>
              </a:spcAft>
              <a:buNone/>
            </a:pPr>
            <a:r>
              <a:rPr sz="2000" b="0">
                <a:solidFill>
                  <a:srgbClr val="1D1D1F"/>
                </a:solidFill>
                <a:latin typeface="Menlo"/>
              </a:rPr>
              <a:t>encodes stereotypes</a:t>
            </a:r>
          </a:p>
        </p:txBody>
      </p:sp>
      <p:sp>
        <p:nvSpPr>
          <p:cNvPr id="7" name="Right Arrow 6"/>
          <p:cNvSpPr/>
          <p:nvPr/>
        </p:nvSpPr>
        <p:spPr>
          <a:xfrm>
            <a:off x="2913156" y="2361438"/>
            <a:ext cx="385511" cy="310896"/>
          </a:xfrm>
          <a:prstGeom prst="rightArrow">
            <a:avLst/>
          </a:prstGeom>
          <a:solidFill>
            <a:srgbClr val="D2D2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389376" y="1614424"/>
            <a:ext cx="2365248" cy="1804924"/>
          </a:xfrm>
          <a:prstGeom prst="roundRect">
            <a:avLst>
              <a:gd name="adj" fmla="val 6079"/>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553968" y="1877771"/>
            <a:ext cx="2036064" cy="1475740"/>
          </a:xfrm>
          <a:prstGeom prst="rect">
            <a:avLst/>
          </a:prstGeom>
          <a:noFill/>
        </p:spPr>
        <p:txBody>
          <a:bodyPr wrap="square" anchor="t" lIns="0" rIns="0" tIns="0" bIns="0">
            <a:spAutoFit/>
          </a:bodyPr>
          <a:lstStyle/>
          <a:p>
            <a:pPr marL="0" indent="0" algn="l">
              <a:spcAft>
                <a:spcPts val="1000"/>
              </a:spcAft>
              <a:buNone/>
            </a:pPr>
            <a:r>
              <a:rPr sz="1200" b="1" spc="60">
                <a:solidFill>
                  <a:srgbClr val="86868B"/>
                </a:solidFill>
                <a:latin typeface="Helvetica Neue"/>
              </a:rPr>
              <a:t>THE MODEL</a:t>
            </a:r>
          </a:p>
          <a:p>
            <a:pPr marL="0" indent="0" algn="l">
              <a:lnSpc>
                <a:spcPts val="3000"/>
              </a:lnSpc>
              <a:spcAft>
                <a:spcPts val="0"/>
              </a:spcAft>
              <a:buNone/>
            </a:pPr>
            <a:r>
              <a:rPr sz="2000" b="0">
                <a:solidFill>
                  <a:srgbClr val="1D1D1F"/>
                </a:solidFill>
                <a:latin typeface="Menlo"/>
              </a:rPr>
              <a:t>learns, and amplifies</a:t>
            </a:r>
          </a:p>
        </p:txBody>
      </p:sp>
      <p:sp>
        <p:nvSpPr>
          <p:cNvPr id="10" name="Right Arrow 9"/>
          <p:cNvSpPr/>
          <p:nvPr/>
        </p:nvSpPr>
        <p:spPr>
          <a:xfrm>
            <a:off x="5845332" y="2361438"/>
            <a:ext cx="385511" cy="310896"/>
          </a:xfrm>
          <a:prstGeom prst="rightArrow">
            <a:avLst/>
          </a:prstGeom>
          <a:solidFill>
            <a:srgbClr val="D2D2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6321552" y="1614424"/>
            <a:ext cx="2365248" cy="1804924"/>
          </a:xfrm>
          <a:prstGeom prst="roundRect">
            <a:avLst>
              <a:gd name="adj" fmla="val 6079"/>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486144" y="1877771"/>
            <a:ext cx="2036064" cy="1475740"/>
          </a:xfrm>
          <a:prstGeom prst="rect">
            <a:avLst/>
          </a:prstGeom>
          <a:noFill/>
        </p:spPr>
        <p:txBody>
          <a:bodyPr wrap="square" anchor="t" lIns="0" rIns="0" tIns="0" bIns="0">
            <a:spAutoFit/>
          </a:bodyPr>
          <a:lstStyle/>
          <a:p>
            <a:pPr marL="0" indent="0" algn="l">
              <a:spcAft>
                <a:spcPts val="1000"/>
              </a:spcAft>
              <a:buNone/>
            </a:pPr>
            <a:r>
              <a:rPr sz="1200" b="1" spc="60">
                <a:solidFill>
                  <a:srgbClr val="86868B"/>
                </a:solidFill>
                <a:latin typeface="Helvetica Neue"/>
              </a:rPr>
              <a:t>UNEVEN HARM</a:t>
            </a:r>
          </a:p>
          <a:p>
            <a:pPr marL="0" indent="0" algn="l">
              <a:lnSpc>
                <a:spcPts val="3000"/>
              </a:lnSpc>
              <a:spcAft>
                <a:spcPts val="0"/>
              </a:spcAft>
              <a:buNone/>
            </a:pPr>
            <a:r>
              <a:rPr sz="2000" b="0">
                <a:solidFill>
                  <a:srgbClr val="1D1D1F"/>
                </a:solidFill>
                <a:latin typeface="Menlo"/>
              </a:rPr>
              <a:t>falls on some more than others</a:t>
            </a:r>
          </a:p>
        </p:txBody>
      </p:sp>
      <p:sp>
        <p:nvSpPr>
          <p:cNvPr id="13" name="Left Arrow 12"/>
          <p:cNvSpPr/>
          <p:nvPr/>
        </p:nvSpPr>
        <p:spPr>
          <a:xfrm>
            <a:off x="457200" y="3638804"/>
            <a:ext cx="8229600" cy="237744"/>
          </a:xfrm>
          <a:prstGeom prst="leftArrow">
            <a:avLst/>
          </a:prstGeom>
          <a:solidFill>
            <a:srgbClr val="4C72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57200" y="3949700"/>
            <a:ext cx="8229600" cy="274320"/>
          </a:xfrm>
          <a:prstGeom prst="rect">
            <a:avLst/>
          </a:prstGeom>
          <a:noFill/>
        </p:spPr>
        <p:txBody>
          <a:bodyPr wrap="square" anchor="t" lIns="0" rIns="0" tIns="0" bIns="0">
            <a:spAutoFit/>
          </a:bodyPr>
          <a:lstStyle/>
          <a:p>
            <a:pPr marL="0" indent="0" algn="ctr">
              <a:spcAft>
                <a:spcPts val="0"/>
              </a:spcAft>
              <a:buNone/>
            </a:pPr>
            <a:r>
              <a:rPr sz="1300" b="0">
                <a:solidFill>
                  <a:srgbClr val="4C72B0"/>
                </a:solidFill>
                <a:latin typeface="Helvetica Neue"/>
              </a:rPr>
              <a:t>bigger data is not automatically better data</a:t>
            </a:r>
          </a:p>
        </p:txBody>
      </p:sp>
      <p:sp>
        <p:nvSpPr>
          <p:cNvPr id="15" name="TextBox 14"/>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Bender et al., FAccT 2021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Fault line 2: Misinformation</a:t>
            </a:r>
          </a:p>
        </p:txBody>
      </p:sp>
      <p:sp>
        <p:nvSpPr>
          <p:cNvPr id="5" name="Rounded Rectangle 4"/>
          <p:cNvSpPr/>
          <p:nvPr/>
        </p:nvSpPr>
        <p:spPr>
          <a:xfrm>
            <a:off x="457200" y="2272220"/>
            <a:ext cx="4041648" cy="1202563"/>
          </a:xfrm>
          <a:prstGeom prst="roundRect">
            <a:avLst>
              <a:gd name="adj" fmla="val 988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0080" y="2418524"/>
            <a:ext cx="3675888" cy="909955"/>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WHY IT PERSUADES</a:t>
            </a:r>
          </a:p>
          <a:p>
            <a:pPr marL="0" indent="0">
              <a:spcAft>
                <a:spcPts val="300"/>
              </a:spcAft>
              <a:buNone/>
            </a:pPr>
            <a:r>
              <a:rPr sz="2000" b="0" u="none">
                <a:solidFill>
                  <a:srgbClr val="1D1D1F"/>
                </a:solidFill>
                <a:latin typeface="Menlo"/>
              </a:rPr>
              <a:t>fluent but false</a:t>
            </a:r>
          </a:p>
          <a:p>
            <a:pPr marL="0" indent="0" algn="l">
              <a:spcAft>
                <a:spcPts val="200"/>
              </a:spcAft>
              <a:buNone/>
            </a:pPr>
            <a:r>
              <a:rPr sz="1200" b="0">
                <a:solidFill>
                  <a:srgbClr val="86868B"/>
                </a:solidFill>
                <a:latin typeface="Helvetica Neue"/>
              </a:rPr>
              <a:t>Confident text can be wrong, and fluency makes falsehood more persuasive.</a:t>
            </a:r>
          </a:p>
        </p:txBody>
      </p:sp>
      <p:sp>
        <p:nvSpPr>
          <p:cNvPr id="7" name="Rounded Rectangle 6"/>
          <p:cNvSpPr/>
          <p:nvPr/>
        </p:nvSpPr>
        <p:spPr>
          <a:xfrm>
            <a:off x="4645152" y="2272220"/>
            <a:ext cx="4041648" cy="1202563"/>
          </a:xfrm>
          <a:prstGeom prst="roundRect">
            <a:avLst>
              <a:gd name="adj" fmla="val 988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828032" y="2418524"/>
            <a:ext cx="3675888" cy="909955"/>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WHY IT SPREADS</a:t>
            </a:r>
          </a:p>
          <a:p>
            <a:pPr marL="0" indent="0">
              <a:spcAft>
                <a:spcPts val="300"/>
              </a:spcAft>
              <a:buNone/>
            </a:pPr>
            <a:r>
              <a:rPr sz="2000" b="0" u="none">
                <a:solidFill>
                  <a:srgbClr val="1D1D1F"/>
                </a:solidFill>
                <a:latin typeface="Menlo"/>
              </a:rPr>
              <a:t>cheap and scalable</a:t>
            </a:r>
          </a:p>
          <a:p>
            <a:pPr marL="0" indent="0" algn="l">
              <a:spcAft>
                <a:spcPts val="200"/>
              </a:spcAft>
              <a:buNone/>
            </a:pPr>
            <a:r>
              <a:rPr sz="1200" b="0">
                <a:solidFill>
                  <a:srgbClr val="86868B"/>
                </a:solidFill>
                <a:latin typeface="Helvetica Neue"/>
              </a:rPr>
              <a:t>Generation costs almost nothing, so disinformation industrialises.</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hallucination (Week 11)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Fault line 3: Environmental cost</a:t>
            </a:r>
          </a:p>
        </p:txBody>
      </p:sp>
      <p:sp>
        <p:nvSpPr>
          <p:cNvPr id="5" name="TextBox 4"/>
          <p:cNvSpPr txBox="1"/>
          <p:nvPr/>
        </p:nvSpPr>
        <p:spPr>
          <a:xfrm>
            <a:off x="457200" y="1078992"/>
            <a:ext cx="8229600" cy="310896"/>
          </a:xfrm>
          <a:prstGeom prst="rect">
            <a:avLst/>
          </a:prstGeom>
          <a:noFill/>
        </p:spPr>
        <p:txBody>
          <a:bodyPr wrap="square" anchor="t" lIns="0" rIns="0" tIns="0" bIns="0">
            <a:spAutoFit/>
          </a:bodyPr>
          <a:lstStyle/>
          <a:p>
            <a:pPr marL="0" indent="0" algn="l">
              <a:spcAft>
                <a:spcPts val="0"/>
              </a:spcAft>
              <a:buNone/>
            </a:pPr>
            <a:r>
              <a:rPr sz="1300" b="0">
                <a:solidFill>
                  <a:srgbClr val="86868B"/>
                </a:solidFill>
                <a:latin typeface="Helvetica Neue"/>
              </a:rPr>
              <a:t>Metric tons of CO2e</a:t>
            </a:r>
          </a:p>
        </p:txBody>
      </p:sp>
      <p:graphicFrame>
        <p:nvGraphicFramePr>
          <p:cNvPr id="6" name="Chart 5"/>
          <p:cNvGraphicFramePr>
            <a:graphicFrameLocks noGrp="1"/>
          </p:cNvGraphicFramePr>
          <p:nvPr/>
        </p:nvGraphicFramePr>
        <p:xfrm>
          <a:off x="457200" y="1389888"/>
          <a:ext cx="8229600" cy="3278124"/>
        </p:xfrm>
        <a:graphic>
          <a:graphicData uri="http://schemas.openxmlformats.org/drawingml/2006/chart">
            <c:chart xmlns:c="http://schemas.openxmlformats.org/drawingml/2006/chart" r:id="rId3"/>
          </a:graphicData>
        </a:graphic>
      </p:graphicFrame>
      <p:sp>
        <p:nvSpPr>
          <p:cNvPr id="7" name="TextBox 6"/>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Strubell et al. 2019 Table 1; Bender et al. 2021 section 3; Patterson et al. 2021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Fault line 4: Copyright &amp; data provenance</a:t>
            </a:r>
          </a:p>
        </p:txBody>
      </p:sp>
      <p:sp>
        <p:nvSpPr>
          <p:cNvPr id="5" name="Rounded Rectangle 4"/>
          <p:cNvSpPr/>
          <p:nvPr/>
        </p:nvSpPr>
        <p:spPr>
          <a:xfrm>
            <a:off x="457200" y="1078992"/>
            <a:ext cx="8229600" cy="828675"/>
          </a:xfrm>
          <a:prstGeom prst="roundRect">
            <a:avLst>
              <a:gd name="adj" fmla="val 12137"/>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94944" y="1078992"/>
            <a:ext cx="475488" cy="828675"/>
          </a:xfrm>
          <a:prstGeom prst="rect">
            <a:avLst/>
          </a:prstGeom>
          <a:noFill/>
        </p:spPr>
        <p:txBody>
          <a:bodyPr wrap="none" anchor="ctr" lIns="0" rIns="0" tIns="0" bIns="0">
            <a:spAutoFit/>
          </a:bodyPr>
          <a:lstStyle/>
          <a:p>
            <a:pPr marL="0" indent="0" algn="l">
              <a:spcAft>
                <a:spcPts val="0"/>
              </a:spcAft>
              <a:buNone/>
            </a:pPr>
            <a:r>
              <a:rPr sz="2200" b="1">
                <a:solidFill>
                  <a:srgbClr val="1D1D1F"/>
                </a:solidFill>
                <a:latin typeface="Helvetica Neue"/>
              </a:rPr>
              <a:t>1</a:t>
            </a:r>
          </a:p>
        </p:txBody>
      </p:sp>
      <p:sp>
        <p:nvSpPr>
          <p:cNvPr id="7" name="TextBox 6"/>
          <p:cNvSpPr txBox="1"/>
          <p:nvPr/>
        </p:nvSpPr>
        <p:spPr>
          <a:xfrm>
            <a:off x="1170432" y="1078992"/>
            <a:ext cx="7278624" cy="828675"/>
          </a:xfrm>
          <a:prstGeom prst="rect">
            <a:avLst/>
          </a:prstGeom>
          <a:noFill/>
        </p:spPr>
        <p:txBody>
          <a:bodyPr wrap="square" anchor="ctr" lIns="0" rIns="0" tIns="0" bIns="0">
            <a:spAutoFit/>
          </a:bodyPr>
          <a:lstStyle/>
          <a:p>
            <a:pPr marL="0" indent="0" algn="l">
              <a:spcAft>
                <a:spcPts val="0"/>
              </a:spcAft>
              <a:buNone/>
            </a:pPr>
            <a:r>
              <a:rPr sz="1600" b="0">
                <a:solidFill>
                  <a:srgbClr val="1D1D1F"/>
                </a:solidFill>
                <a:latin typeface="Menlo"/>
              </a:rPr>
              <a:t>Whose text?</a:t>
            </a:r>
          </a:p>
        </p:txBody>
      </p:sp>
      <p:sp>
        <p:nvSpPr>
          <p:cNvPr id="8" name="Rounded Rectangle 7"/>
          <p:cNvSpPr/>
          <p:nvPr/>
        </p:nvSpPr>
        <p:spPr>
          <a:xfrm>
            <a:off x="457200" y="1999107"/>
            <a:ext cx="8229600" cy="828675"/>
          </a:xfrm>
          <a:prstGeom prst="roundRect">
            <a:avLst>
              <a:gd name="adj" fmla="val 12137"/>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94944" y="1999107"/>
            <a:ext cx="475488" cy="828675"/>
          </a:xfrm>
          <a:prstGeom prst="rect">
            <a:avLst/>
          </a:prstGeom>
          <a:noFill/>
        </p:spPr>
        <p:txBody>
          <a:bodyPr wrap="none" anchor="ctr" lIns="0" rIns="0" tIns="0" bIns="0">
            <a:spAutoFit/>
          </a:bodyPr>
          <a:lstStyle/>
          <a:p>
            <a:pPr marL="0" indent="0" algn="l">
              <a:spcAft>
                <a:spcPts val="0"/>
              </a:spcAft>
              <a:buNone/>
            </a:pPr>
            <a:r>
              <a:rPr sz="2200" b="1">
                <a:solidFill>
                  <a:srgbClr val="1D1D1F"/>
                </a:solidFill>
                <a:latin typeface="Helvetica Neue"/>
              </a:rPr>
              <a:t>2</a:t>
            </a:r>
          </a:p>
        </p:txBody>
      </p:sp>
      <p:sp>
        <p:nvSpPr>
          <p:cNvPr id="10" name="TextBox 9"/>
          <p:cNvSpPr txBox="1"/>
          <p:nvPr/>
        </p:nvSpPr>
        <p:spPr>
          <a:xfrm>
            <a:off x="1170432" y="1999107"/>
            <a:ext cx="7278624" cy="828675"/>
          </a:xfrm>
          <a:prstGeom prst="rect">
            <a:avLst/>
          </a:prstGeom>
          <a:noFill/>
        </p:spPr>
        <p:txBody>
          <a:bodyPr wrap="square" anchor="ctr" lIns="0" rIns="0" tIns="0" bIns="0">
            <a:spAutoFit/>
          </a:bodyPr>
          <a:lstStyle/>
          <a:p>
            <a:pPr marL="0" indent="0" algn="l">
              <a:spcAft>
                <a:spcPts val="0"/>
              </a:spcAft>
              <a:buNone/>
            </a:pPr>
            <a:r>
              <a:rPr sz="1600" b="0">
                <a:solidFill>
                  <a:srgbClr val="1D1D1F"/>
                </a:solidFill>
                <a:latin typeface="Menlo"/>
              </a:rPr>
              <a:t>With what consent?</a:t>
            </a:r>
          </a:p>
        </p:txBody>
      </p:sp>
      <p:sp>
        <p:nvSpPr>
          <p:cNvPr id="11" name="Rounded Rectangle 10"/>
          <p:cNvSpPr/>
          <p:nvPr/>
        </p:nvSpPr>
        <p:spPr>
          <a:xfrm>
            <a:off x="457200" y="2919222"/>
            <a:ext cx="8229600" cy="828675"/>
          </a:xfrm>
          <a:prstGeom prst="roundRect">
            <a:avLst>
              <a:gd name="adj" fmla="val 12137"/>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94944" y="2919222"/>
            <a:ext cx="475488" cy="828675"/>
          </a:xfrm>
          <a:prstGeom prst="rect">
            <a:avLst/>
          </a:prstGeom>
          <a:noFill/>
        </p:spPr>
        <p:txBody>
          <a:bodyPr wrap="none" anchor="ctr" lIns="0" rIns="0" tIns="0" bIns="0">
            <a:spAutoFit/>
          </a:bodyPr>
          <a:lstStyle/>
          <a:p>
            <a:pPr marL="0" indent="0" algn="l">
              <a:spcAft>
                <a:spcPts val="0"/>
              </a:spcAft>
              <a:buNone/>
            </a:pPr>
            <a:r>
              <a:rPr sz="2200" b="1">
                <a:solidFill>
                  <a:srgbClr val="1D1D1F"/>
                </a:solidFill>
                <a:latin typeface="Helvetica Neue"/>
              </a:rPr>
              <a:t>3</a:t>
            </a:r>
          </a:p>
        </p:txBody>
      </p:sp>
      <p:sp>
        <p:nvSpPr>
          <p:cNvPr id="13" name="TextBox 12"/>
          <p:cNvSpPr txBox="1"/>
          <p:nvPr/>
        </p:nvSpPr>
        <p:spPr>
          <a:xfrm>
            <a:off x="1170432" y="2919222"/>
            <a:ext cx="7278624" cy="828675"/>
          </a:xfrm>
          <a:prstGeom prst="rect">
            <a:avLst/>
          </a:prstGeom>
          <a:noFill/>
        </p:spPr>
        <p:txBody>
          <a:bodyPr wrap="square" anchor="ctr" lIns="0" rIns="0" tIns="0" bIns="0">
            <a:spAutoFit/>
          </a:bodyPr>
          <a:lstStyle/>
          <a:p>
            <a:pPr marL="0" indent="0" algn="l">
              <a:spcAft>
                <a:spcPts val="0"/>
              </a:spcAft>
              <a:buNone/>
            </a:pPr>
            <a:r>
              <a:rPr sz="1600" b="0">
                <a:solidFill>
                  <a:srgbClr val="1D1D1F"/>
                </a:solidFill>
                <a:latin typeface="Menlo"/>
              </a:rPr>
              <a:t>Can creators opt out?</a:t>
            </a:r>
          </a:p>
        </p:txBody>
      </p:sp>
      <p:sp>
        <p:nvSpPr>
          <p:cNvPr id="14" name="Rounded Rectangle 13"/>
          <p:cNvSpPr/>
          <p:nvPr/>
        </p:nvSpPr>
        <p:spPr>
          <a:xfrm>
            <a:off x="457200" y="3839337"/>
            <a:ext cx="8229600" cy="828675"/>
          </a:xfrm>
          <a:prstGeom prst="roundRect">
            <a:avLst>
              <a:gd name="adj" fmla="val 12137"/>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94944" y="3839337"/>
            <a:ext cx="475488" cy="828675"/>
          </a:xfrm>
          <a:prstGeom prst="rect">
            <a:avLst/>
          </a:prstGeom>
          <a:noFill/>
        </p:spPr>
        <p:txBody>
          <a:bodyPr wrap="none" anchor="ctr" lIns="0" rIns="0" tIns="0" bIns="0">
            <a:spAutoFit/>
          </a:bodyPr>
          <a:lstStyle/>
          <a:p>
            <a:pPr marL="0" indent="0" algn="l">
              <a:spcAft>
                <a:spcPts val="0"/>
              </a:spcAft>
              <a:buNone/>
            </a:pPr>
            <a:r>
              <a:rPr sz="2200" b="1">
                <a:solidFill>
                  <a:srgbClr val="1D1D1F"/>
                </a:solidFill>
                <a:latin typeface="Helvetica Neue"/>
              </a:rPr>
              <a:t>4</a:t>
            </a:r>
          </a:p>
        </p:txBody>
      </p:sp>
      <p:sp>
        <p:nvSpPr>
          <p:cNvPr id="16" name="TextBox 15"/>
          <p:cNvSpPr txBox="1"/>
          <p:nvPr/>
        </p:nvSpPr>
        <p:spPr>
          <a:xfrm>
            <a:off x="1170432" y="3839337"/>
            <a:ext cx="7278624" cy="828675"/>
          </a:xfrm>
          <a:prstGeom prst="rect">
            <a:avLst/>
          </a:prstGeom>
          <a:noFill/>
        </p:spPr>
        <p:txBody>
          <a:bodyPr wrap="square" anchor="ctr" lIns="0" rIns="0" tIns="0" bIns="0">
            <a:spAutoFit/>
          </a:bodyPr>
          <a:lstStyle/>
          <a:p>
            <a:pPr marL="0" indent="0" algn="l">
              <a:spcAft>
                <a:spcPts val="0"/>
              </a:spcAft>
              <a:buNone/>
            </a:pPr>
            <a:r>
              <a:rPr sz="1600" b="0">
                <a:solidFill>
                  <a:srgbClr val="1D1D1F"/>
                </a:solidFill>
                <a:latin typeface="Menlo"/>
              </a:rPr>
              <a:t>You cannot audit harms in data you never documented</a:t>
            </a:r>
          </a:p>
        </p:txBody>
      </p:sp>
      <p:sp>
        <p:nvSpPr>
          <p:cNvPr id="17" name="TextBox 16"/>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datasheets/data statements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Fault line 5: Labor</a:t>
            </a:r>
          </a:p>
        </p:txBody>
      </p:sp>
      <p:sp>
        <p:nvSpPr>
          <p:cNvPr id="5" name="Rounded Rectangle 4"/>
          <p:cNvSpPr/>
          <p:nvPr/>
        </p:nvSpPr>
        <p:spPr>
          <a:xfrm>
            <a:off x="457200" y="2417000"/>
            <a:ext cx="2645664" cy="913003"/>
          </a:xfrm>
          <a:prstGeom prst="roundRect">
            <a:avLst>
              <a:gd name="adj" fmla="val 13019"/>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0080" y="2563304"/>
            <a:ext cx="2279904" cy="620395"/>
          </a:xfrm>
          <a:prstGeom prst="rect">
            <a:avLst/>
          </a:prstGeom>
          <a:noFill/>
        </p:spPr>
        <p:txBody>
          <a:bodyPr wrap="square" anchor="t" lIns="0" rIns="0" tIns="0" bIns="0">
            <a:spAutoFit/>
          </a:bodyPr>
          <a:lstStyle/>
          <a:p>
            <a:pPr marL="0" indent="0" algn="l">
              <a:spcAft>
                <a:spcPts val="600"/>
              </a:spcAft>
              <a:buNone/>
            </a:pPr>
            <a:r>
              <a:rPr sz="850" b="1" spc="70">
                <a:solidFill>
                  <a:srgbClr val="86868B"/>
                </a:solidFill>
                <a:latin typeface="Helvetica Neue"/>
              </a:rPr>
              <a:t>HIDDEN HUMAN WORK</a:t>
            </a:r>
          </a:p>
          <a:p>
            <a:pPr marL="0" indent="0">
              <a:spcAft>
                <a:spcPts val="300"/>
              </a:spcAft>
              <a:buNone/>
            </a:pPr>
            <a:r>
              <a:rPr sz="950" b="0" u="none">
                <a:solidFill>
                  <a:srgbClr val="1D1D1F"/>
                </a:solidFill>
                <a:latin typeface="Menlo"/>
              </a:rPr>
              <a:t>annotation and moderation</a:t>
            </a:r>
          </a:p>
          <a:p>
            <a:pPr marL="0" indent="0" algn="l">
              <a:spcAft>
                <a:spcPts val="200"/>
              </a:spcAft>
              <a:buNone/>
            </a:pPr>
            <a:r>
              <a:rPr sz="900" b="0">
                <a:solidFill>
                  <a:srgbClr val="86868B"/>
                </a:solidFill>
                <a:latin typeface="Helvetica Neue"/>
              </a:rPr>
              <a:t>Often low-paid, often psychologically taxing.</a:t>
            </a:r>
          </a:p>
        </p:txBody>
      </p:sp>
      <p:sp>
        <p:nvSpPr>
          <p:cNvPr id="7" name="Rounded Rectangle 6"/>
          <p:cNvSpPr/>
          <p:nvPr/>
        </p:nvSpPr>
        <p:spPr>
          <a:xfrm>
            <a:off x="3249168" y="2417000"/>
            <a:ext cx="2645664" cy="913003"/>
          </a:xfrm>
          <a:prstGeom prst="roundRect">
            <a:avLst>
              <a:gd name="adj" fmla="val 13019"/>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432048" y="2563304"/>
            <a:ext cx="2279904" cy="620395"/>
          </a:xfrm>
          <a:prstGeom prst="rect">
            <a:avLst/>
          </a:prstGeom>
          <a:noFill/>
        </p:spPr>
        <p:txBody>
          <a:bodyPr wrap="square" anchor="t" lIns="0" rIns="0" tIns="0" bIns="0">
            <a:spAutoFit/>
          </a:bodyPr>
          <a:lstStyle/>
          <a:p>
            <a:pPr marL="0" indent="0" algn="l">
              <a:spcAft>
                <a:spcPts val="600"/>
              </a:spcAft>
              <a:buNone/>
            </a:pPr>
            <a:r>
              <a:rPr sz="850" b="1" spc="70">
                <a:solidFill>
                  <a:srgbClr val="86868B"/>
                </a:solidFill>
                <a:latin typeface="Helvetica Neue"/>
              </a:rPr>
              <a:t>DISPLACEMENT</a:t>
            </a:r>
          </a:p>
          <a:p>
            <a:pPr marL="0" indent="0">
              <a:spcAft>
                <a:spcPts val="300"/>
              </a:spcAft>
              <a:buNone/>
            </a:pPr>
            <a:r>
              <a:rPr sz="950" b="0" u="none">
                <a:solidFill>
                  <a:srgbClr val="1D1D1F"/>
                </a:solidFill>
                <a:latin typeface="Menlo"/>
              </a:rPr>
              <a:t>writers, translators, support</a:t>
            </a:r>
          </a:p>
          <a:p>
            <a:pPr marL="0" indent="0" algn="l">
              <a:spcAft>
                <a:spcPts val="200"/>
              </a:spcAft>
              <a:buNone/>
            </a:pPr>
            <a:r>
              <a:rPr sz="900" b="0">
                <a:solidFill>
                  <a:srgbClr val="86868B"/>
                </a:solidFill>
                <a:latin typeface="Helvetica Neue"/>
              </a:rPr>
              <a:t>Pressure on the people whose text trained it.</a:t>
            </a:r>
          </a:p>
        </p:txBody>
      </p:sp>
      <p:sp>
        <p:nvSpPr>
          <p:cNvPr id="9" name="Rounded Rectangle 8"/>
          <p:cNvSpPr/>
          <p:nvPr/>
        </p:nvSpPr>
        <p:spPr>
          <a:xfrm>
            <a:off x="6041136" y="2417000"/>
            <a:ext cx="2645664" cy="913003"/>
          </a:xfrm>
          <a:prstGeom prst="roundRect">
            <a:avLst>
              <a:gd name="adj" fmla="val 13019"/>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224016" y="2563304"/>
            <a:ext cx="2279904" cy="620395"/>
          </a:xfrm>
          <a:prstGeom prst="rect">
            <a:avLst/>
          </a:prstGeom>
          <a:noFill/>
        </p:spPr>
        <p:txBody>
          <a:bodyPr wrap="square" anchor="t" lIns="0" rIns="0" tIns="0" bIns="0">
            <a:spAutoFit/>
          </a:bodyPr>
          <a:lstStyle/>
          <a:p>
            <a:pPr marL="0" indent="0" algn="l">
              <a:spcAft>
                <a:spcPts val="600"/>
              </a:spcAft>
              <a:buNone/>
            </a:pPr>
            <a:r>
              <a:rPr sz="850" b="1" spc="70">
                <a:solidFill>
                  <a:srgbClr val="86868B"/>
                </a:solidFill>
                <a:latin typeface="Helvetica Neue"/>
              </a:rPr>
              <a:t>CONCENTRATION</a:t>
            </a:r>
          </a:p>
          <a:p>
            <a:pPr marL="0" indent="0">
              <a:spcAft>
                <a:spcPts val="300"/>
              </a:spcAft>
              <a:buNone/>
            </a:pPr>
            <a:r>
              <a:rPr sz="950" b="0" u="none">
                <a:solidFill>
                  <a:srgbClr val="1D1D1F"/>
                </a:solidFill>
                <a:latin typeface="Menlo"/>
              </a:rPr>
              <a:t>value accrues upward</a:t>
            </a:r>
          </a:p>
          <a:p>
            <a:pPr marL="0" indent="0" algn="l">
              <a:spcAft>
                <a:spcPts val="200"/>
              </a:spcAft>
              <a:buNone/>
            </a:pPr>
            <a:r>
              <a:rPr sz="900" b="0">
                <a:solidFill>
                  <a:srgbClr val="86868B"/>
                </a:solidFill>
                <a:latin typeface="Helvetica Neue"/>
              </a:rPr>
              <a:t>To whoever owns the compute.</a:t>
            </a:r>
          </a:p>
        </p:txBody>
      </p:sp>
      <p:sp>
        <p:nvSpPr>
          <p:cNvPr id="11" name="TextBox 10"/>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Fault line 6: Safety &amp; policy</a:t>
            </a:r>
          </a:p>
        </p:txBody>
      </p:sp>
      <p:sp>
        <p:nvSpPr>
          <p:cNvPr id="5" name="Rounded Rectangle 4"/>
          <p:cNvSpPr/>
          <p:nvPr/>
        </p:nvSpPr>
        <p:spPr>
          <a:xfrm>
            <a:off x="457200" y="2318258"/>
            <a:ext cx="4041648" cy="1110488"/>
          </a:xfrm>
          <a:prstGeom prst="roundRect">
            <a:avLst>
              <a:gd name="adj" fmla="val 1070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0080" y="2464562"/>
            <a:ext cx="3675888" cy="817880"/>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DUAL-USE</a:t>
            </a:r>
          </a:p>
          <a:p>
            <a:pPr marL="0" indent="0">
              <a:spcAft>
                <a:spcPts val="300"/>
              </a:spcAft>
              <a:buNone/>
            </a:pPr>
            <a:r>
              <a:rPr sz="1500" b="0" u="none">
                <a:solidFill>
                  <a:srgbClr val="1D1D1F"/>
                </a:solidFill>
                <a:latin typeface="Menlo"/>
              </a:rPr>
              <a:t>the same model does both</a:t>
            </a:r>
          </a:p>
          <a:p>
            <a:pPr marL="0" indent="0" algn="l">
              <a:spcAft>
                <a:spcPts val="200"/>
              </a:spcAft>
              <a:buNone/>
            </a:pPr>
            <a:r>
              <a:rPr sz="1200" b="0">
                <a:solidFill>
                  <a:srgbClr val="86868B"/>
                </a:solidFill>
                <a:latin typeface="Helvetica Neue"/>
              </a:rPr>
              <a:t>Capability is value-neutral. Deployment is not.</a:t>
            </a:r>
          </a:p>
        </p:txBody>
      </p:sp>
      <p:sp>
        <p:nvSpPr>
          <p:cNvPr id="7" name="Rounded Rectangle 6"/>
          <p:cNvSpPr/>
          <p:nvPr/>
        </p:nvSpPr>
        <p:spPr>
          <a:xfrm>
            <a:off x="4645152" y="2318258"/>
            <a:ext cx="4041648" cy="1110488"/>
          </a:xfrm>
          <a:prstGeom prst="roundRect">
            <a:avLst>
              <a:gd name="adj" fmla="val 1070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828032" y="2464562"/>
            <a:ext cx="3675888" cy="817880"/>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SINGLE POINT OF FAILURE</a:t>
            </a:r>
          </a:p>
          <a:p>
            <a:pPr marL="0" indent="0">
              <a:spcAft>
                <a:spcPts val="300"/>
              </a:spcAft>
              <a:buNone/>
            </a:pPr>
            <a:r>
              <a:rPr sz="1500" b="0" u="none">
                <a:solidFill>
                  <a:srgbClr val="1D1D1F"/>
                </a:solidFill>
                <a:latin typeface="Menlo"/>
              </a:rPr>
              <a:t>everyone builds on a few bases</a:t>
            </a:r>
          </a:p>
          <a:p>
            <a:pPr marL="0" indent="0" algn="l">
              <a:spcAft>
                <a:spcPts val="200"/>
              </a:spcAft>
              <a:buNone/>
            </a:pPr>
            <a:r>
              <a:rPr sz="1200" b="0">
                <a:solidFill>
                  <a:srgbClr val="86868B"/>
                </a:solidFill>
                <a:latin typeface="Helvetica Neue"/>
              </a:rPr>
              <a:t>One flaw or bias propagates everywhere at once.</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One model beneath everything</a:t>
            </a:r>
          </a:p>
        </p:txBody>
      </p:sp>
      <p:pic>
        <p:nvPicPr>
          <p:cNvPr id="5" name="Picture 4" descr="One model beneath everything"/>
          <p:cNvPicPr>
            <a:picLocks noChangeAspect="1"/>
          </p:cNvPicPr>
          <p:nvPr/>
        </p:nvPicPr>
        <p:blipFill>
          <a:blip r:embed="rId3"/>
          <a:stretch>
            <a:fillRect/>
          </a:stretch>
        </p:blipFill>
        <p:spPr>
          <a:xfrm>
            <a:off x="2283699" y="1078992"/>
            <a:ext cx="457660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Bommasani et al. 2021 (arXiv:2108.07258), Fig. 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Sit with this one. The hardest questions in this field are not technical."/>
          <p:cNvPicPr>
            <a:picLocks noChangeAspect="1"/>
          </p:cNvPicPr>
          <p:nvPr/>
        </p:nvPicPr>
        <p:blipFill>
          <a:blip r:embed="rId3"/>
          <a:stretch>
            <a:fillRect/>
          </a:stretch>
        </p:blipFill>
        <p:spPr>
          <a:xfrm>
            <a:off x="0" y="-3143250"/>
            <a:ext cx="9144000" cy="11430000"/>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If it reads every book, does it owe the authors anything?</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Sit with this one. The hardest questions in this field are not technical.</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https://unsplash.com/photos/black-and-white-robot-toy-on-red-wooden-table-zwd435-ewb4</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landscape, at a glance</a:t>
            </a:r>
          </a:p>
        </p:txBody>
      </p:sp>
      <p:sp>
        <p:nvSpPr>
          <p:cNvPr id="5" name="Rounded Rectangle 4"/>
          <p:cNvSpPr/>
          <p:nvPr/>
        </p:nvSpPr>
        <p:spPr>
          <a:xfrm>
            <a:off x="457200" y="1078992"/>
            <a:ext cx="8229600" cy="521970"/>
          </a:xfrm>
          <a:prstGeom prst="roundRect">
            <a:avLst>
              <a:gd name="adj" fmla="val 19270"/>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94944" y="1078992"/>
            <a:ext cx="475488" cy="521970"/>
          </a:xfrm>
          <a:prstGeom prst="rect">
            <a:avLst/>
          </a:prstGeom>
          <a:noFill/>
        </p:spPr>
        <p:txBody>
          <a:bodyPr wrap="none" anchor="ctr" lIns="0" rIns="0" tIns="0" bIns="0">
            <a:spAutoFit/>
          </a:bodyPr>
          <a:lstStyle/>
          <a:p>
            <a:pPr marL="0" indent="0" algn="l">
              <a:spcAft>
                <a:spcPts val="0"/>
              </a:spcAft>
              <a:buNone/>
            </a:pPr>
            <a:r>
              <a:rPr sz="1800" b="1">
                <a:solidFill>
                  <a:srgbClr val="1D1D1F"/>
                </a:solidFill>
                <a:latin typeface="Helvetica Neue"/>
              </a:rPr>
              <a:t>1</a:t>
            </a:r>
          </a:p>
        </p:txBody>
      </p:sp>
      <p:sp>
        <p:nvSpPr>
          <p:cNvPr id="7" name="TextBox 6"/>
          <p:cNvSpPr txBox="1"/>
          <p:nvPr/>
        </p:nvSpPr>
        <p:spPr>
          <a:xfrm>
            <a:off x="1170432" y="1078992"/>
            <a:ext cx="7278624" cy="521970"/>
          </a:xfrm>
          <a:prstGeom prst="rect">
            <a:avLst/>
          </a:prstGeom>
          <a:noFill/>
        </p:spPr>
        <p:txBody>
          <a:bodyPr wrap="square" anchor="ctr" lIns="0" rIns="0" tIns="0" bIns="0">
            <a:spAutoFit/>
          </a:bodyPr>
          <a:lstStyle/>
          <a:p>
            <a:pPr marL="0" indent="0" algn="l">
              <a:spcAft>
                <a:spcPts val="0"/>
              </a:spcAft>
              <a:buNone/>
            </a:pPr>
            <a:r>
              <a:rPr sz="1200" b="0">
                <a:solidFill>
                  <a:srgbClr val="1D1D1F"/>
                </a:solidFill>
                <a:latin typeface="Menlo"/>
              </a:rPr>
              <a:t>Bias and fairness: models absorb stereotypes from text, and can amplify them</a:t>
            </a:r>
          </a:p>
        </p:txBody>
      </p:sp>
      <p:sp>
        <p:nvSpPr>
          <p:cNvPr id="8" name="Rounded Rectangle 7"/>
          <p:cNvSpPr/>
          <p:nvPr/>
        </p:nvSpPr>
        <p:spPr>
          <a:xfrm>
            <a:off x="457200" y="1692402"/>
            <a:ext cx="8229600" cy="521970"/>
          </a:xfrm>
          <a:prstGeom prst="roundRect">
            <a:avLst>
              <a:gd name="adj" fmla="val 19270"/>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94944" y="1692402"/>
            <a:ext cx="475488" cy="521970"/>
          </a:xfrm>
          <a:prstGeom prst="rect">
            <a:avLst/>
          </a:prstGeom>
          <a:noFill/>
        </p:spPr>
        <p:txBody>
          <a:bodyPr wrap="none" anchor="ctr" lIns="0" rIns="0" tIns="0" bIns="0">
            <a:spAutoFit/>
          </a:bodyPr>
          <a:lstStyle/>
          <a:p>
            <a:pPr marL="0" indent="0" algn="l">
              <a:spcAft>
                <a:spcPts val="0"/>
              </a:spcAft>
              <a:buNone/>
            </a:pPr>
            <a:r>
              <a:rPr sz="1800" b="1">
                <a:solidFill>
                  <a:srgbClr val="1D1D1F"/>
                </a:solidFill>
                <a:latin typeface="Helvetica Neue"/>
              </a:rPr>
              <a:t>2</a:t>
            </a:r>
          </a:p>
        </p:txBody>
      </p:sp>
      <p:sp>
        <p:nvSpPr>
          <p:cNvPr id="10" name="TextBox 9"/>
          <p:cNvSpPr txBox="1"/>
          <p:nvPr/>
        </p:nvSpPr>
        <p:spPr>
          <a:xfrm>
            <a:off x="1170432" y="1692402"/>
            <a:ext cx="7278624" cy="521970"/>
          </a:xfrm>
          <a:prstGeom prst="rect">
            <a:avLst/>
          </a:prstGeom>
          <a:noFill/>
        </p:spPr>
        <p:txBody>
          <a:bodyPr wrap="square" anchor="ctr" lIns="0" rIns="0" tIns="0" bIns="0">
            <a:spAutoFit/>
          </a:bodyPr>
          <a:lstStyle/>
          <a:p>
            <a:pPr marL="0" indent="0" algn="l">
              <a:spcAft>
                <a:spcPts val="0"/>
              </a:spcAft>
              <a:buNone/>
            </a:pPr>
            <a:r>
              <a:rPr sz="1200" b="0">
                <a:solidFill>
                  <a:srgbClr val="1D1D1F"/>
                </a:solidFill>
                <a:latin typeface="Menlo"/>
              </a:rPr>
              <a:t>Misinformation: fluent, confident, wrong, and cheap to mass-produce</a:t>
            </a:r>
          </a:p>
        </p:txBody>
      </p:sp>
      <p:sp>
        <p:nvSpPr>
          <p:cNvPr id="11" name="Rounded Rectangle 10"/>
          <p:cNvSpPr/>
          <p:nvPr/>
        </p:nvSpPr>
        <p:spPr>
          <a:xfrm>
            <a:off x="457200" y="2305812"/>
            <a:ext cx="8229600" cy="521970"/>
          </a:xfrm>
          <a:prstGeom prst="roundRect">
            <a:avLst>
              <a:gd name="adj" fmla="val 19270"/>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94944" y="2305812"/>
            <a:ext cx="475488" cy="521970"/>
          </a:xfrm>
          <a:prstGeom prst="rect">
            <a:avLst/>
          </a:prstGeom>
          <a:noFill/>
        </p:spPr>
        <p:txBody>
          <a:bodyPr wrap="none" anchor="ctr" lIns="0" rIns="0" tIns="0" bIns="0">
            <a:spAutoFit/>
          </a:bodyPr>
          <a:lstStyle/>
          <a:p>
            <a:pPr marL="0" indent="0" algn="l">
              <a:spcAft>
                <a:spcPts val="0"/>
              </a:spcAft>
              <a:buNone/>
            </a:pPr>
            <a:r>
              <a:rPr sz="1800" b="1">
                <a:solidFill>
                  <a:srgbClr val="1D1D1F"/>
                </a:solidFill>
                <a:latin typeface="Helvetica Neue"/>
              </a:rPr>
              <a:t>3</a:t>
            </a:r>
          </a:p>
        </p:txBody>
      </p:sp>
      <p:sp>
        <p:nvSpPr>
          <p:cNvPr id="13" name="TextBox 12"/>
          <p:cNvSpPr txBox="1"/>
          <p:nvPr/>
        </p:nvSpPr>
        <p:spPr>
          <a:xfrm>
            <a:off x="1170432" y="2305812"/>
            <a:ext cx="7278624" cy="521970"/>
          </a:xfrm>
          <a:prstGeom prst="rect">
            <a:avLst/>
          </a:prstGeom>
          <a:noFill/>
        </p:spPr>
        <p:txBody>
          <a:bodyPr wrap="square" anchor="ctr" lIns="0" rIns="0" tIns="0" bIns="0">
            <a:spAutoFit/>
          </a:bodyPr>
          <a:lstStyle/>
          <a:p>
            <a:pPr marL="0" indent="0" algn="l">
              <a:spcAft>
                <a:spcPts val="0"/>
              </a:spcAft>
              <a:buNone/>
            </a:pPr>
            <a:r>
              <a:rPr sz="1200" b="0">
                <a:solidFill>
                  <a:srgbClr val="1D1D1F"/>
                </a:solidFill>
                <a:latin typeface="Menlo"/>
              </a:rPr>
              <a:t>Environmental cost: training and serving are not free</a:t>
            </a:r>
          </a:p>
        </p:txBody>
      </p:sp>
      <p:sp>
        <p:nvSpPr>
          <p:cNvPr id="14" name="Rounded Rectangle 13"/>
          <p:cNvSpPr/>
          <p:nvPr/>
        </p:nvSpPr>
        <p:spPr>
          <a:xfrm>
            <a:off x="457200" y="2919222"/>
            <a:ext cx="8229600" cy="521970"/>
          </a:xfrm>
          <a:prstGeom prst="roundRect">
            <a:avLst>
              <a:gd name="adj" fmla="val 19270"/>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94944" y="2919222"/>
            <a:ext cx="475488" cy="521970"/>
          </a:xfrm>
          <a:prstGeom prst="rect">
            <a:avLst/>
          </a:prstGeom>
          <a:noFill/>
        </p:spPr>
        <p:txBody>
          <a:bodyPr wrap="none" anchor="ctr" lIns="0" rIns="0" tIns="0" bIns="0">
            <a:spAutoFit/>
          </a:bodyPr>
          <a:lstStyle/>
          <a:p>
            <a:pPr marL="0" indent="0" algn="l">
              <a:spcAft>
                <a:spcPts val="0"/>
              </a:spcAft>
              <a:buNone/>
            </a:pPr>
            <a:r>
              <a:rPr sz="1800" b="1">
                <a:solidFill>
                  <a:srgbClr val="1D1D1F"/>
                </a:solidFill>
                <a:latin typeface="Helvetica Neue"/>
              </a:rPr>
              <a:t>4</a:t>
            </a:r>
          </a:p>
        </p:txBody>
      </p:sp>
      <p:sp>
        <p:nvSpPr>
          <p:cNvPr id="16" name="TextBox 15"/>
          <p:cNvSpPr txBox="1"/>
          <p:nvPr/>
        </p:nvSpPr>
        <p:spPr>
          <a:xfrm>
            <a:off x="1170432" y="2919222"/>
            <a:ext cx="7278624" cy="521970"/>
          </a:xfrm>
          <a:prstGeom prst="rect">
            <a:avLst/>
          </a:prstGeom>
          <a:noFill/>
        </p:spPr>
        <p:txBody>
          <a:bodyPr wrap="square" anchor="ctr" lIns="0" rIns="0" tIns="0" bIns="0">
            <a:spAutoFit/>
          </a:bodyPr>
          <a:lstStyle/>
          <a:p>
            <a:pPr marL="0" indent="0" algn="l">
              <a:spcAft>
                <a:spcPts val="0"/>
              </a:spcAft>
              <a:buNone/>
            </a:pPr>
            <a:r>
              <a:rPr sz="1200" b="0">
                <a:solidFill>
                  <a:srgbClr val="1D1D1F"/>
                </a:solidFill>
                <a:latin typeface="Menlo"/>
              </a:rPr>
              <a:t>Labour and consent: whose text, whose annotation, whose job</a:t>
            </a:r>
          </a:p>
        </p:txBody>
      </p:sp>
      <p:sp>
        <p:nvSpPr>
          <p:cNvPr id="17" name="Rounded Rectangle 16"/>
          <p:cNvSpPr/>
          <p:nvPr/>
        </p:nvSpPr>
        <p:spPr>
          <a:xfrm>
            <a:off x="457200" y="3532632"/>
            <a:ext cx="8229600" cy="521970"/>
          </a:xfrm>
          <a:prstGeom prst="roundRect">
            <a:avLst>
              <a:gd name="adj" fmla="val 19270"/>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3532632"/>
            <a:ext cx="475488" cy="521970"/>
          </a:xfrm>
          <a:prstGeom prst="rect">
            <a:avLst/>
          </a:prstGeom>
          <a:noFill/>
        </p:spPr>
        <p:txBody>
          <a:bodyPr wrap="none" anchor="ctr" lIns="0" rIns="0" tIns="0" bIns="0">
            <a:spAutoFit/>
          </a:bodyPr>
          <a:lstStyle/>
          <a:p>
            <a:pPr marL="0" indent="0" algn="l">
              <a:spcAft>
                <a:spcPts val="0"/>
              </a:spcAft>
              <a:buNone/>
            </a:pPr>
            <a:r>
              <a:rPr sz="1800" b="1">
                <a:solidFill>
                  <a:srgbClr val="1D1D1F"/>
                </a:solidFill>
                <a:latin typeface="Helvetica Neue"/>
              </a:rPr>
              <a:t>5</a:t>
            </a:r>
          </a:p>
        </p:txBody>
      </p:sp>
      <p:sp>
        <p:nvSpPr>
          <p:cNvPr id="19" name="TextBox 18"/>
          <p:cNvSpPr txBox="1"/>
          <p:nvPr/>
        </p:nvSpPr>
        <p:spPr>
          <a:xfrm>
            <a:off x="1170432" y="3532632"/>
            <a:ext cx="7278624" cy="521970"/>
          </a:xfrm>
          <a:prstGeom prst="rect">
            <a:avLst/>
          </a:prstGeom>
          <a:noFill/>
        </p:spPr>
        <p:txBody>
          <a:bodyPr wrap="square" anchor="ctr" lIns="0" rIns="0" tIns="0" bIns="0">
            <a:spAutoFit/>
          </a:bodyPr>
          <a:lstStyle/>
          <a:p>
            <a:pPr marL="0" indent="0" algn="l">
              <a:spcAft>
                <a:spcPts val="0"/>
              </a:spcAft>
              <a:buNone/>
            </a:pPr>
            <a:r>
              <a:rPr sz="1200" b="0">
                <a:solidFill>
                  <a:srgbClr val="1D1D1F"/>
                </a:solidFill>
                <a:latin typeface="Menlo"/>
              </a:rPr>
              <a:t>Concentration: value accrues to whoever owns the compute</a:t>
            </a:r>
          </a:p>
        </p:txBody>
      </p:sp>
      <p:sp>
        <p:nvSpPr>
          <p:cNvPr id="20" name="Rounded Rectangle 19"/>
          <p:cNvSpPr/>
          <p:nvPr/>
        </p:nvSpPr>
        <p:spPr>
          <a:xfrm>
            <a:off x="457200" y="4146042"/>
            <a:ext cx="8229600" cy="521970"/>
          </a:xfrm>
          <a:prstGeom prst="roundRect">
            <a:avLst>
              <a:gd name="adj" fmla="val 19270"/>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4944" y="4146042"/>
            <a:ext cx="475488" cy="521970"/>
          </a:xfrm>
          <a:prstGeom prst="rect">
            <a:avLst/>
          </a:prstGeom>
          <a:noFill/>
        </p:spPr>
        <p:txBody>
          <a:bodyPr wrap="none" anchor="ctr" lIns="0" rIns="0" tIns="0" bIns="0">
            <a:spAutoFit/>
          </a:bodyPr>
          <a:lstStyle/>
          <a:p>
            <a:pPr marL="0" indent="0" algn="l">
              <a:spcAft>
                <a:spcPts val="0"/>
              </a:spcAft>
              <a:buNone/>
            </a:pPr>
            <a:r>
              <a:rPr sz="1800" b="1">
                <a:solidFill>
                  <a:srgbClr val="1D1D1F"/>
                </a:solidFill>
                <a:latin typeface="Helvetica Neue"/>
              </a:rPr>
              <a:t>6</a:t>
            </a:r>
          </a:p>
        </p:txBody>
      </p:sp>
      <p:sp>
        <p:nvSpPr>
          <p:cNvPr id="22" name="TextBox 21"/>
          <p:cNvSpPr txBox="1"/>
          <p:nvPr/>
        </p:nvSpPr>
        <p:spPr>
          <a:xfrm>
            <a:off x="1170432" y="4146042"/>
            <a:ext cx="7278624" cy="521970"/>
          </a:xfrm>
          <a:prstGeom prst="rect">
            <a:avLst/>
          </a:prstGeom>
          <a:noFill/>
        </p:spPr>
        <p:txBody>
          <a:bodyPr wrap="square" anchor="ctr" lIns="0" rIns="0" tIns="0" bIns="0">
            <a:spAutoFit/>
          </a:bodyPr>
          <a:lstStyle/>
          <a:p>
            <a:pPr marL="0" indent="0" algn="l">
              <a:spcAft>
                <a:spcPts val="0"/>
              </a:spcAft>
              <a:buNone/>
            </a:pPr>
            <a:r>
              <a:rPr sz="1200" b="0">
                <a:solidFill>
                  <a:srgbClr val="1D1D1F"/>
                </a:solidFill>
                <a:latin typeface="Menlo"/>
              </a:rPr>
              <a:t>Dual use: capability is neutral, deployment is not</a:t>
            </a:r>
          </a:p>
        </p:txBody>
      </p:sp>
      <p:sp>
        <p:nvSpPr>
          <p:cNvPr id="23" name="TextBox 22"/>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Bender et al. 2021 &amp; Bommasani et al. 2021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Planning is the mitigation</a:t>
            </a:r>
          </a:p>
        </p:txBody>
      </p:sp>
      <p:sp>
        <p:nvSpPr>
          <p:cNvPr id="5" name="Rounded Rectangle 4"/>
          <p:cNvSpPr/>
          <p:nvPr/>
        </p:nvSpPr>
        <p:spPr>
          <a:xfrm>
            <a:off x="457200" y="2313654"/>
            <a:ext cx="4041648" cy="1119695"/>
          </a:xfrm>
          <a:prstGeom prst="roundRect">
            <a:avLst>
              <a:gd name="adj" fmla="val 10616"/>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0080" y="2459958"/>
            <a:ext cx="3675888" cy="827087"/>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POST-MORTEM</a:t>
            </a:r>
          </a:p>
          <a:p>
            <a:pPr marL="0" indent="0">
              <a:spcAft>
                <a:spcPts val="300"/>
              </a:spcAft>
              <a:buNone/>
            </a:pPr>
            <a:r>
              <a:rPr sz="1550" b="0" u="none">
                <a:solidFill>
                  <a:srgbClr val="1D1D1F"/>
                </a:solidFill>
                <a:latin typeface="Menlo"/>
              </a:rPr>
              <a:t>"Why did it fail?"</a:t>
            </a:r>
          </a:p>
          <a:p>
            <a:pPr marL="0" indent="0" algn="l">
              <a:spcAft>
                <a:spcPts val="200"/>
              </a:spcAft>
              <a:buNone/>
            </a:pPr>
            <a:r>
              <a:rPr sz="1200" b="0">
                <a:solidFill>
                  <a:srgbClr val="86868B"/>
                </a:solidFill>
                <a:latin typeface="Helvetica Neue"/>
              </a:rPr>
              <a:t>Asked after somebody was already harmed, when the plan is already spent.</a:t>
            </a:r>
          </a:p>
        </p:txBody>
      </p:sp>
      <p:sp>
        <p:nvSpPr>
          <p:cNvPr id="7" name="Rounded Rectangle 6"/>
          <p:cNvSpPr/>
          <p:nvPr/>
        </p:nvSpPr>
        <p:spPr>
          <a:xfrm>
            <a:off x="4645152" y="2313654"/>
            <a:ext cx="4041648" cy="1119695"/>
          </a:xfrm>
          <a:prstGeom prst="roundRect">
            <a:avLst>
              <a:gd name="adj" fmla="val 10616"/>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828032" y="2459958"/>
            <a:ext cx="3675888" cy="827087"/>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PRE-MORTEM</a:t>
            </a:r>
          </a:p>
          <a:p>
            <a:pPr marL="0" indent="0">
              <a:spcAft>
                <a:spcPts val="300"/>
              </a:spcAft>
              <a:buNone/>
            </a:pPr>
            <a:r>
              <a:rPr sz="1550" b="0" u="none">
                <a:solidFill>
                  <a:srgbClr val="1D1D1F"/>
                </a:solidFill>
                <a:latin typeface="Menlo"/>
              </a:rPr>
              <a:t>the same question, on day one</a:t>
            </a:r>
          </a:p>
          <a:p>
            <a:pPr marL="0" indent="0" algn="l">
              <a:spcAft>
                <a:spcPts val="200"/>
              </a:spcAft>
              <a:buNone/>
            </a:pPr>
            <a:r>
              <a:rPr sz="1200" b="0">
                <a:solidFill>
                  <a:srgbClr val="86868B"/>
                </a:solidFill>
                <a:latin typeface="Helvetica Neue"/>
              </a:rPr>
              <a:t>Assume it failed, then work out why. You can still act on the answer.</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Bender et al., FAccT 2021, section 6; Klein, Harvard Business Review, 2007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responsible builders can do</a:t>
            </a:r>
          </a:p>
        </p:txBody>
      </p:sp>
      <p:graphicFrame>
        <p:nvGraphicFramePr>
          <p:cNvPr id="5" name="Table 4"/>
          <p:cNvGraphicFramePr>
            <a:graphicFrameLocks noGrp="1"/>
          </p:cNvGraphicFramePr>
          <p:nvPr/>
        </p:nvGraphicFramePr>
        <p:xfrm>
          <a:off x="457200" y="1456182"/>
          <a:ext cx="8229600" cy="2834640"/>
        </p:xfrm>
        <a:graphic>
          <a:graphicData uri="http://schemas.openxmlformats.org/drawingml/2006/table">
            <a:tbl>
              <a:tblPr firstRow="1" bandRow="0"/>
              <a:tblGrid>
                <a:gridCol w="1955355"/>
                <a:gridCol w="6274245"/>
              </a:tblGrid>
              <a:tr h="566928">
                <a:tc>
                  <a:txBody>
                    <a:bodyPr wrap="none"/>
                    <a:lstStyle/>
                    <a:p>
                      <a:pPr marL="0" indent="0" algn="l">
                        <a:spcAft>
                          <a:spcPts val="0"/>
                        </a:spcAft>
                        <a:buNone/>
                      </a:pPr>
                      <a:r>
                        <a:rPr sz="1100" b="1" spc="50">
                          <a:solidFill>
                            <a:srgbClr val="86868B"/>
                          </a:solidFill>
                          <a:latin typeface="Helvetica Neue"/>
                        </a:rPr>
                        <a:t>MODEL CARD</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1100" b="1" spc="50">
                          <a:solidFill>
                            <a:srgbClr val="86868B"/>
                          </a:solidFill>
                          <a:latin typeface="Helvetica Neue"/>
                        </a:rPr>
                        <a:t>TOXFILTER V2</a:t>
                      </a:r>
                    </a:p>
                  </a:txBody>
                  <a:tcPr marL="54864" marR="54864" anchor="ctr">
                    <a:lnL w="12700" cap="flat" cmpd="sng" algn="ctr">
                      <a:noFill/>
                    </a:lnL>
                    <a:lnR w="12700" cap="flat" cmpd="sng" algn="ctr">
                      <a:noFill/>
                    </a:lnR>
                    <a:lnT w="12700" cap="flat" cmpd="sng" algn="ctr">
                      <a:no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training data</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1.2M forum comments, 2019-2023, English only</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known gap</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dialects such as AAVE are under-represented</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evaluation</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91% accurate, but 2.4x the false-positive rate on AAVE</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out of scope</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anything it was not measured on</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bl>
          </a:graphicData>
        </a:graphic>
      </p:graphicFrame>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(worked example); model cards (Mitchell et al., 2019); datasheets (Gebru et al., 2018)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you run a pre-mortem on a real deployment."/>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Pre-mortem a real deployment (teams)</a:t>
            </a:r>
          </a:p>
        </p:txBody>
      </p:sp>
      <p:sp>
        <p:nvSpPr>
          <p:cNvPr id="5" name="Rounded Rectangle 4"/>
          <p:cNvSpPr/>
          <p:nvPr/>
        </p:nvSpPr>
        <p:spPr>
          <a:xfrm>
            <a:off x="457200" y="1351471"/>
            <a:ext cx="2645664" cy="3044062"/>
          </a:xfrm>
          <a:prstGeom prst="roundRect">
            <a:avLst>
              <a:gd name="adj" fmla="val 4493"/>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0080" y="1497775"/>
            <a:ext cx="2279904" cy="2751454"/>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TEAM 1, TRANSLATION</a:t>
            </a:r>
          </a:p>
          <a:p>
            <a:pPr marL="0" indent="0">
              <a:spcAft>
                <a:spcPts val="300"/>
              </a:spcAft>
              <a:buNone/>
            </a:pPr>
            <a:r>
              <a:rPr sz="2000" b="0" u="none">
                <a:solidFill>
                  <a:srgbClr val="1D1D1F"/>
                </a:solidFill>
                <a:latin typeface="Menlo"/>
              </a:rPr>
              <a:t>a county auto-translates evacuation orders, no human reads the output</a:t>
            </a:r>
          </a:p>
          <a:p>
            <a:pPr marL="0" indent="0" algn="l">
              <a:spcAft>
                <a:spcPts val="200"/>
              </a:spcAft>
              <a:buNone/>
            </a:pPr>
            <a:r>
              <a:rPr sz="1200" b="0">
                <a:solidFill>
                  <a:srgbClr val="86868B"/>
                </a:solidFill>
                <a:latin typeface="Helvetica Neue"/>
              </a:rPr>
              <a:t>residents with no English</a:t>
            </a:r>
          </a:p>
        </p:txBody>
      </p:sp>
      <p:sp>
        <p:nvSpPr>
          <p:cNvPr id="7" name="Rounded Rectangle 6"/>
          <p:cNvSpPr/>
          <p:nvPr/>
        </p:nvSpPr>
        <p:spPr>
          <a:xfrm>
            <a:off x="3249168" y="1351471"/>
            <a:ext cx="2645664" cy="3044062"/>
          </a:xfrm>
          <a:prstGeom prst="roundRect">
            <a:avLst>
              <a:gd name="adj" fmla="val 4493"/>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432048" y="1497775"/>
            <a:ext cx="2279904" cy="2751454"/>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TEAM 2, TUTORING</a:t>
            </a:r>
          </a:p>
          <a:p>
            <a:pPr marL="0" indent="0">
              <a:spcAft>
                <a:spcPts val="300"/>
              </a:spcAft>
              <a:buNone/>
            </a:pPr>
            <a:r>
              <a:rPr sz="2000" b="0" u="none">
                <a:solidFill>
                  <a:srgbClr val="1D1D1F"/>
                </a:solidFill>
                <a:latin typeface="Menlo"/>
              </a:rPr>
              <a:t>a 24/7 tutor answers homework and drafts TA feedback</a:t>
            </a:r>
          </a:p>
          <a:p>
            <a:pPr marL="0" indent="0" algn="l">
              <a:spcAft>
                <a:spcPts val="200"/>
              </a:spcAft>
              <a:buNone/>
            </a:pPr>
            <a:r>
              <a:rPr sz="1200" b="0">
                <a:solidFill>
                  <a:srgbClr val="86868B"/>
                </a:solidFill>
                <a:latin typeface="Helvetica Neue"/>
              </a:rPr>
              <a:t>students with no one else to ask</a:t>
            </a:r>
          </a:p>
        </p:txBody>
      </p:sp>
      <p:sp>
        <p:nvSpPr>
          <p:cNvPr id="9" name="Rounded Rectangle 8"/>
          <p:cNvSpPr/>
          <p:nvPr/>
        </p:nvSpPr>
        <p:spPr>
          <a:xfrm>
            <a:off x="6041136" y="1351471"/>
            <a:ext cx="2645664" cy="3044062"/>
          </a:xfrm>
          <a:prstGeom prst="roundRect">
            <a:avLst>
              <a:gd name="adj" fmla="val 4493"/>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224016" y="1497775"/>
            <a:ext cx="2279904" cy="2751454"/>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TEAM 3, ACCOUNTING</a:t>
            </a:r>
          </a:p>
          <a:p>
            <a:pPr marL="0" indent="0">
              <a:spcAft>
                <a:spcPts val="300"/>
              </a:spcAft>
              <a:buNone/>
            </a:pPr>
            <a:r>
              <a:rPr sz="2000" b="0" u="none">
                <a:solidFill>
                  <a:srgbClr val="1D1D1F"/>
                </a:solidFill>
                <a:latin typeface="Menlo"/>
              </a:rPr>
              <a:t>an agent reads receipts and categorises every expense</a:t>
            </a:r>
          </a:p>
          <a:p>
            <a:pPr marL="0" indent="0" algn="l">
              <a:spcAft>
                <a:spcPts val="200"/>
              </a:spcAft>
              <a:buNone/>
            </a:pPr>
            <a:r>
              <a:rPr sz="1200" b="0">
                <a:solidFill>
                  <a:srgbClr val="86868B"/>
                </a:solidFill>
                <a:latin typeface="Helvetica Neue"/>
              </a:rPr>
              <a:t>whoever the errors land on</a:t>
            </a:r>
          </a:p>
        </p:txBody>
      </p:sp>
      <p:sp>
        <p:nvSpPr>
          <p:cNvPr id="11" name="TextBox 10"/>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exercise/premortem-guide.md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Running the pre-mortem</a:t>
            </a:r>
          </a:p>
        </p:txBody>
      </p:sp>
      <p:sp>
        <p:nvSpPr>
          <p:cNvPr id="5" name="Rounded Rectangle 4"/>
          <p:cNvSpPr/>
          <p:nvPr/>
        </p:nvSpPr>
        <p:spPr>
          <a:xfrm>
            <a:off x="457200" y="1078992"/>
            <a:ext cx="8229600" cy="828675"/>
          </a:xfrm>
          <a:prstGeom prst="roundRect">
            <a:avLst>
              <a:gd name="adj" fmla="val 12137"/>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94944" y="1078992"/>
            <a:ext cx="475488" cy="828675"/>
          </a:xfrm>
          <a:prstGeom prst="rect">
            <a:avLst/>
          </a:prstGeom>
          <a:noFill/>
        </p:spPr>
        <p:txBody>
          <a:bodyPr wrap="none" anchor="ctr" lIns="0" rIns="0" tIns="0" bIns="0">
            <a:spAutoFit/>
          </a:bodyPr>
          <a:lstStyle/>
          <a:p>
            <a:pPr marL="0" indent="0" algn="l">
              <a:spcAft>
                <a:spcPts val="0"/>
              </a:spcAft>
              <a:buNone/>
            </a:pPr>
            <a:r>
              <a:rPr sz="1850" b="1">
                <a:solidFill>
                  <a:srgbClr val="1D1D1F"/>
                </a:solidFill>
                <a:latin typeface="Helvetica Neue"/>
              </a:rPr>
              <a:t>1</a:t>
            </a:r>
          </a:p>
        </p:txBody>
      </p:sp>
      <p:sp>
        <p:nvSpPr>
          <p:cNvPr id="7" name="TextBox 6"/>
          <p:cNvSpPr txBox="1"/>
          <p:nvPr/>
        </p:nvSpPr>
        <p:spPr>
          <a:xfrm>
            <a:off x="1170432" y="1078992"/>
            <a:ext cx="7278624" cy="828675"/>
          </a:xfrm>
          <a:prstGeom prst="rect">
            <a:avLst/>
          </a:prstGeom>
          <a:noFill/>
        </p:spPr>
        <p:txBody>
          <a:bodyPr wrap="square" anchor="ctr" lIns="0" rIns="0" tIns="0" bIns="0">
            <a:spAutoFit/>
          </a:bodyPr>
          <a:lstStyle/>
          <a:p>
            <a:pPr marL="0" indent="0" algn="l">
              <a:spcAft>
                <a:spcPts val="0"/>
              </a:spcAft>
              <a:buNone/>
            </a:pPr>
            <a:r>
              <a:rPr sz="1250" b="0">
                <a:solidFill>
                  <a:srgbClr val="1D1D1F"/>
                </a:solidFill>
                <a:latin typeface="Menlo"/>
              </a:rPr>
              <a:t>Write the obituary. One year on, it was shut down and made the news</a:t>
            </a:r>
          </a:p>
        </p:txBody>
      </p:sp>
      <p:sp>
        <p:nvSpPr>
          <p:cNvPr id="8" name="Rounded Rectangle 7"/>
          <p:cNvSpPr/>
          <p:nvPr/>
        </p:nvSpPr>
        <p:spPr>
          <a:xfrm>
            <a:off x="457200" y="1999107"/>
            <a:ext cx="8229600" cy="828675"/>
          </a:xfrm>
          <a:prstGeom prst="roundRect">
            <a:avLst>
              <a:gd name="adj" fmla="val 12137"/>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94944" y="1999107"/>
            <a:ext cx="475488" cy="828675"/>
          </a:xfrm>
          <a:prstGeom prst="rect">
            <a:avLst/>
          </a:prstGeom>
          <a:noFill/>
        </p:spPr>
        <p:txBody>
          <a:bodyPr wrap="none" anchor="ctr" lIns="0" rIns="0" tIns="0" bIns="0">
            <a:spAutoFit/>
          </a:bodyPr>
          <a:lstStyle/>
          <a:p>
            <a:pPr marL="0" indent="0" algn="l">
              <a:spcAft>
                <a:spcPts val="0"/>
              </a:spcAft>
              <a:buNone/>
            </a:pPr>
            <a:r>
              <a:rPr sz="1850" b="1">
                <a:solidFill>
                  <a:srgbClr val="1D1D1F"/>
                </a:solidFill>
                <a:latin typeface="Helvetica Neue"/>
              </a:rPr>
              <a:t>2</a:t>
            </a:r>
          </a:p>
        </p:txBody>
      </p:sp>
      <p:sp>
        <p:nvSpPr>
          <p:cNvPr id="10" name="TextBox 9"/>
          <p:cNvSpPr txBox="1"/>
          <p:nvPr/>
        </p:nvSpPr>
        <p:spPr>
          <a:xfrm>
            <a:off x="1170432" y="1999107"/>
            <a:ext cx="7278624" cy="828675"/>
          </a:xfrm>
          <a:prstGeom prst="rect">
            <a:avLst/>
          </a:prstGeom>
          <a:noFill/>
        </p:spPr>
        <p:txBody>
          <a:bodyPr wrap="square" anchor="ctr" lIns="0" rIns="0" tIns="0" bIns="0">
            <a:spAutoFit/>
          </a:bodyPr>
          <a:lstStyle/>
          <a:p>
            <a:pPr marL="0" indent="0" algn="l">
              <a:spcAft>
                <a:spcPts val="0"/>
              </a:spcAft>
              <a:buNone/>
            </a:pPr>
            <a:r>
              <a:rPr sz="1250" b="0">
                <a:solidFill>
                  <a:srgbClr val="1D1D1F"/>
                </a:solidFill>
                <a:latin typeface="Menlo"/>
              </a:rPr>
              <a:t>The headline needs a number in it, not "it was biased"</a:t>
            </a:r>
          </a:p>
        </p:txBody>
      </p:sp>
      <p:sp>
        <p:nvSpPr>
          <p:cNvPr id="11" name="Rounded Rectangle 10"/>
          <p:cNvSpPr/>
          <p:nvPr/>
        </p:nvSpPr>
        <p:spPr>
          <a:xfrm>
            <a:off x="457200" y="2919222"/>
            <a:ext cx="8229600" cy="828675"/>
          </a:xfrm>
          <a:prstGeom prst="roundRect">
            <a:avLst>
              <a:gd name="adj" fmla="val 12137"/>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94944" y="2919222"/>
            <a:ext cx="475488" cy="828675"/>
          </a:xfrm>
          <a:prstGeom prst="rect">
            <a:avLst/>
          </a:prstGeom>
          <a:noFill/>
        </p:spPr>
        <p:txBody>
          <a:bodyPr wrap="none" anchor="ctr" lIns="0" rIns="0" tIns="0" bIns="0">
            <a:spAutoFit/>
          </a:bodyPr>
          <a:lstStyle/>
          <a:p>
            <a:pPr marL="0" indent="0" algn="l">
              <a:spcAft>
                <a:spcPts val="0"/>
              </a:spcAft>
              <a:buNone/>
            </a:pPr>
            <a:r>
              <a:rPr sz="1850" b="1">
                <a:solidFill>
                  <a:srgbClr val="1D1D1F"/>
                </a:solidFill>
                <a:latin typeface="Helvetica Neue"/>
              </a:rPr>
              <a:t>3</a:t>
            </a:r>
          </a:p>
        </p:txBody>
      </p:sp>
      <p:sp>
        <p:nvSpPr>
          <p:cNvPr id="13" name="TextBox 12"/>
          <p:cNvSpPr txBox="1"/>
          <p:nvPr/>
        </p:nvSpPr>
        <p:spPr>
          <a:xfrm>
            <a:off x="1170432" y="2919222"/>
            <a:ext cx="7278624" cy="828675"/>
          </a:xfrm>
          <a:prstGeom prst="rect">
            <a:avLst/>
          </a:prstGeom>
          <a:noFill/>
        </p:spPr>
        <p:txBody>
          <a:bodyPr wrap="square" anchor="ctr" lIns="0" rIns="0" tIns="0" bIns="0">
            <a:spAutoFit/>
          </a:bodyPr>
          <a:lstStyle/>
          <a:p>
            <a:pPr marL="0" indent="0" algn="l">
              <a:spcAft>
                <a:spcPts val="0"/>
              </a:spcAft>
              <a:buNone/>
            </a:pPr>
            <a:r>
              <a:rPr sz="1250" b="0">
                <a:solidFill>
                  <a:srgbClr val="1D1D1F"/>
                </a:solidFill>
                <a:latin typeface="Menlo"/>
              </a:rPr>
              <a:t>Reverse-engineer four causes, and tag each to one of the six fault lines</a:t>
            </a:r>
          </a:p>
        </p:txBody>
      </p:sp>
      <p:sp>
        <p:nvSpPr>
          <p:cNvPr id="14" name="Rounded Rectangle 13"/>
          <p:cNvSpPr/>
          <p:nvPr/>
        </p:nvSpPr>
        <p:spPr>
          <a:xfrm>
            <a:off x="457200" y="3839337"/>
            <a:ext cx="8229600" cy="828675"/>
          </a:xfrm>
          <a:prstGeom prst="roundRect">
            <a:avLst>
              <a:gd name="adj" fmla="val 12137"/>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94944" y="3839337"/>
            <a:ext cx="475488" cy="828675"/>
          </a:xfrm>
          <a:prstGeom prst="rect">
            <a:avLst/>
          </a:prstGeom>
          <a:noFill/>
        </p:spPr>
        <p:txBody>
          <a:bodyPr wrap="none" anchor="ctr" lIns="0" rIns="0" tIns="0" bIns="0">
            <a:spAutoFit/>
          </a:bodyPr>
          <a:lstStyle/>
          <a:p>
            <a:pPr marL="0" indent="0" algn="l">
              <a:spcAft>
                <a:spcPts val="0"/>
              </a:spcAft>
              <a:buNone/>
            </a:pPr>
            <a:r>
              <a:rPr sz="1850" b="1">
                <a:solidFill>
                  <a:srgbClr val="1D1D1F"/>
                </a:solidFill>
                <a:latin typeface="Helvetica Neue"/>
              </a:rPr>
              <a:t>4</a:t>
            </a:r>
          </a:p>
        </p:txBody>
      </p:sp>
      <p:sp>
        <p:nvSpPr>
          <p:cNvPr id="16" name="TextBox 15"/>
          <p:cNvSpPr txBox="1"/>
          <p:nvPr/>
        </p:nvSpPr>
        <p:spPr>
          <a:xfrm>
            <a:off x="1170432" y="3839337"/>
            <a:ext cx="7278624" cy="828675"/>
          </a:xfrm>
          <a:prstGeom prst="rect">
            <a:avLst/>
          </a:prstGeom>
          <a:noFill/>
        </p:spPr>
        <p:txBody>
          <a:bodyPr wrap="square" anchor="ctr" lIns="0" rIns="0" tIns="0" bIns="0">
            <a:spAutoFit/>
          </a:bodyPr>
          <a:lstStyle/>
          <a:p>
            <a:pPr marL="0" indent="0" algn="l">
              <a:spcAft>
                <a:spcPts val="0"/>
              </a:spcAft>
              <a:buNone/>
            </a:pPr>
            <a:r>
              <a:rPr sz="1250" b="0">
                <a:solidFill>
                  <a:srgbClr val="1D1D1F"/>
                </a:solidFill>
                <a:latin typeface="Menlo"/>
              </a:rPr>
              <a:t>Pick the one you could have caught cheapest, and say how</a:t>
            </a:r>
          </a:p>
        </p:txBody>
      </p:sp>
      <p:sp>
        <p:nvSpPr>
          <p:cNvPr id="17" name="TextBox 16"/>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method: Klein 2007, via Bender et al. 2021 section 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your whiteboard should look like</a:t>
            </a:r>
          </a:p>
        </p:txBody>
      </p:sp>
      <p:pic>
        <p:nvPicPr>
          <p:cNvPr id="5" name="Picture 4" descr="What your whiteboard should look like"/>
          <p:cNvPicPr>
            <a:picLocks noChangeAspect="1"/>
          </p:cNvPicPr>
          <p:nvPr/>
        </p:nvPicPr>
        <p:blipFill>
          <a:blip r:embed="rId3"/>
          <a:stretch>
            <a:fillRect/>
          </a:stretch>
        </p:blipFill>
        <p:spPr>
          <a:xfrm>
            <a:off x="810860" y="1078992"/>
            <a:ext cx="752227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worked example, exercise/premortem-guide.md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Take-home demo: measure the bias</a:t>
            </a:r>
          </a:p>
        </p:txBody>
      </p:sp>
      <p:sp>
        <p:nvSpPr>
          <p:cNvPr id="5" name="Rounded Rectangle 4"/>
          <p:cNvSpPr/>
          <p:nvPr/>
        </p:nvSpPr>
        <p:spPr>
          <a:xfrm>
            <a:off x="457200" y="1144524"/>
            <a:ext cx="8229600" cy="3019171"/>
          </a:xfrm>
          <a:prstGeom prst="roundRect">
            <a:avLst>
              <a:gd name="adj" fmla="val 3634"/>
            </a:avLst>
          </a:prstGeom>
          <a:solidFill>
            <a:srgbClr val="1D1D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768096" y="1299972"/>
            <a:ext cx="96012" cy="96012"/>
          </a:xfrm>
          <a:prstGeom prst="ellipse">
            <a:avLst/>
          </a:prstGeom>
          <a:solidFill>
            <a:srgbClr val="484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50976" y="1299972"/>
            <a:ext cx="96012" cy="96012"/>
          </a:xfrm>
          <a:prstGeom prst="ellipse">
            <a:avLst/>
          </a:prstGeom>
          <a:solidFill>
            <a:srgbClr val="484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133856" y="1299972"/>
            <a:ext cx="96012" cy="96012"/>
          </a:xfrm>
          <a:prstGeom prst="ellipse">
            <a:avLst/>
          </a:prstGeom>
          <a:solidFill>
            <a:srgbClr val="484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1565148"/>
            <a:ext cx="7607808" cy="2342515"/>
          </a:xfrm>
          <a:prstGeom prst="rect">
            <a:avLst/>
          </a:prstGeom>
          <a:noFill/>
        </p:spPr>
        <p:txBody>
          <a:bodyPr wrap="none" anchor="t" lIns="0" rIns="0" tIns="0" bIns="0">
            <a:spAutoFit/>
          </a:bodyPr>
          <a:lstStyle/>
          <a:p>
            <a:pPr marL="0" indent="0" algn="l">
              <a:lnSpc>
                <a:spcPts val="2635"/>
              </a:lnSpc>
              <a:spcAft>
                <a:spcPts val="0"/>
              </a:spcAft>
              <a:buNone/>
            </a:pPr>
            <a:r>
              <a:rPr sz="1700" b="0">
                <a:solidFill>
                  <a:srgbClr val="F5F5F7"/>
                </a:solidFill>
                <a:latin typeface="Menlo"/>
              </a:rPr>
              <a:t>$ python bias_probe.py</a:t>
            </a:r>
          </a:p>
          <a:p>
            <a:pPr marL="0" indent="0" algn="l">
              <a:lnSpc>
                <a:spcPts val="2635"/>
              </a:lnSpc>
              <a:spcAft>
                <a:spcPts val="0"/>
              </a:spcAft>
              <a:buNone/>
            </a:pPr>
            <a:r>
              <a:rPr sz="1700" b="0">
                <a:solidFill>
                  <a:srgbClr val="F5F5F7"/>
                </a:solidFill>
                <a:latin typeface="Menlo"/>
              </a:rPr>
              <a:t>engineer    association(male - female) = +1.014</a:t>
            </a:r>
          </a:p>
          <a:p>
            <a:pPr marL="0" indent="0" algn="l">
              <a:lnSpc>
                <a:spcPts val="2635"/>
              </a:lnSpc>
              <a:spcAft>
                <a:spcPts val="0"/>
              </a:spcAft>
              <a:buNone/>
            </a:pPr>
            <a:r>
              <a:rPr sz="1700" b="0">
                <a:solidFill>
                  <a:srgbClr val="F5F5F7"/>
                </a:solidFill>
                <a:latin typeface="Menlo"/>
              </a:rPr>
              <a:t>programmer  association(male - female) = +1.021</a:t>
            </a:r>
          </a:p>
          <a:p>
            <a:pPr marL="0" indent="0" algn="l">
              <a:lnSpc>
                <a:spcPts val="2635"/>
              </a:lnSpc>
              <a:spcAft>
                <a:spcPts val="0"/>
              </a:spcAft>
              <a:buNone/>
            </a:pPr>
            <a:r>
              <a:rPr sz="1700" b="0">
                <a:solidFill>
                  <a:srgbClr val="F5F5F7"/>
                </a:solidFill>
                <a:latin typeface="Menlo"/>
              </a:rPr>
              <a:t>scientist   association(male - female) = +0.869</a:t>
            </a:r>
          </a:p>
          <a:p>
            <a:pPr marL="0" indent="0" algn="l">
              <a:lnSpc>
                <a:spcPts val="2635"/>
              </a:lnSpc>
              <a:spcAft>
                <a:spcPts val="0"/>
              </a:spcAft>
              <a:buNone/>
            </a:pPr>
            <a:r>
              <a:rPr sz="1700" b="0">
                <a:solidFill>
                  <a:srgbClr val="F5F5F7"/>
                </a:solidFill>
                <a:latin typeface="Menlo"/>
              </a:rPr>
              <a:t>nurse       association(male - female) = -1.016</a:t>
            </a:r>
          </a:p>
          <a:p>
            <a:pPr marL="0" indent="0" algn="l">
              <a:lnSpc>
                <a:spcPts val="2635"/>
              </a:lnSpc>
              <a:spcAft>
                <a:spcPts val="0"/>
              </a:spcAft>
              <a:buNone/>
            </a:pPr>
            <a:r>
              <a:rPr sz="1700" b="0">
                <a:solidFill>
                  <a:srgbClr val="F5F5F7"/>
                </a:solidFill>
                <a:latin typeface="Menlo"/>
              </a:rPr>
              <a:t>teacher     association(male - female) = -0.884</a:t>
            </a:r>
          </a:p>
          <a:p>
            <a:pPr marL="0" indent="0" algn="l">
              <a:lnSpc>
                <a:spcPts val="2635"/>
              </a:lnSpc>
              <a:spcAft>
                <a:spcPts val="0"/>
              </a:spcAft>
              <a:buNone/>
            </a:pPr>
            <a:r>
              <a:rPr sz="1700" b="0">
                <a:solidFill>
                  <a:srgbClr val="F5F5F7"/>
                </a:solidFill>
                <a:latin typeface="Menlo"/>
              </a:rPr>
              <a:t>homemaker   association(male - female) = -1.120</a:t>
            </a:r>
          </a:p>
        </p:txBody>
      </p:sp>
      <p:sp>
        <p:nvSpPr>
          <p:cNvPr id="10" name="TextBox 9"/>
          <p:cNvSpPr txBox="1"/>
          <p:nvPr/>
        </p:nvSpPr>
        <p:spPr>
          <a:xfrm>
            <a:off x="768096" y="4291711"/>
            <a:ext cx="7607808" cy="438785"/>
          </a:xfrm>
          <a:prstGeom prst="rect">
            <a:avLst/>
          </a:prstGeom>
          <a:noFill/>
        </p:spPr>
        <p:txBody>
          <a:bodyPr wrap="none" anchor="t" lIns="0" rIns="0" tIns="0" bIns="0">
            <a:spAutoFit/>
          </a:bodyPr>
          <a:lstStyle/>
          <a:p>
            <a:pPr marL="0" indent="0" algn="l">
              <a:lnSpc>
                <a:spcPts val="2015"/>
              </a:lnSpc>
              <a:spcAft>
                <a:spcPts val="0"/>
              </a:spcAft>
              <a:buNone/>
            </a:pPr>
            <a:r>
              <a:rPr sz="1300" b="0">
                <a:solidFill>
                  <a:srgbClr val="86868B"/>
                </a:solidFill>
                <a:latin typeface="Menlo"/>
              </a:rPr>
              <a:t>nobody wrote these associations down. They were learned from text.</a:t>
            </a:r>
          </a:p>
        </p:txBody>
      </p:sp>
      <p:sp>
        <p:nvSpPr>
          <p:cNvPr id="11" name="TextBox 10"/>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weeks/week-15/class-01/exercise/bias_probe.py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Looking ahead</a:t>
            </a:r>
          </a:p>
        </p:txBody>
      </p:sp>
      <p:sp>
        <p:nvSpPr>
          <p:cNvPr id="5" name="Rounded Rectangle 4"/>
          <p:cNvSpPr/>
          <p:nvPr/>
        </p:nvSpPr>
        <p:spPr>
          <a:xfrm>
            <a:off x="457200" y="2286032"/>
            <a:ext cx="4041648" cy="1174940"/>
          </a:xfrm>
          <a:prstGeom prst="roundRect">
            <a:avLst>
              <a:gd name="adj" fmla="val 10117"/>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0080" y="2432336"/>
            <a:ext cx="3675888" cy="882332"/>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NEXT CLASS</a:t>
            </a:r>
          </a:p>
          <a:p>
            <a:pPr marL="0" indent="0">
              <a:spcAft>
                <a:spcPts val="300"/>
              </a:spcAft>
              <a:buNone/>
            </a:pPr>
            <a:r>
              <a:rPr sz="1850" b="0" u="none">
                <a:solidFill>
                  <a:srgbClr val="1D1D1F"/>
                </a:solidFill>
                <a:latin typeface="Menlo"/>
              </a:rPr>
              <a:t>the future, and synthesis</a:t>
            </a:r>
          </a:p>
          <a:p>
            <a:pPr marL="0" indent="0" algn="l">
              <a:spcAft>
                <a:spcPts val="200"/>
              </a:spcAft>
              <a:buNone/>
            </a:pPr>
            <a:r>
              <a:rPr sz="1200" b="0">
                <a:solidFill>
                  <a:srgbClr val="86868B"/>
                </a:solidFill>
                <a:latin typeface="Helvetica Neue"/>
              </a:rPr>
              <a:t>Final project presentations begin.</a:t>
            </a:r>
          </a:p>
        </p:txBody>
      </p:sp>
      <p:sp>
        <p:nvSpPr>
          <p:cNvPr id="7" name="Rounded Rectangle 6"/>
          <p:cNvSpPr/>
          <p:nvPr/>
        </p:nvSpPr>
        <p:spPr>
          <a:xfrm>
            <a:off x="4645152" y="2286032"/>
            <a:ext cx="4041648" cy="1174940"/>
          </a:xfrm>
          <a:prstGeom prst="roundRect">
            <a:avLst>
              <a:gd name="adj" fmla="val 10117"/>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828032" y="2432336"/>
            <a:ext cx="3675888" cy="882332"/>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AFTER THAT</a:t>
            </a:r>
          </a:p>
          <a:p>
            <a:pPr marL="0" indent="0">
              <a:spcAft>
                <a:spcPts val="300"/>
              </a:spcAft>
              <a:buNone/>
            </a:pPr>
            <a:r>
              <a:rPr sz="1850" b="0" u="none">
                <a:solidFill>
                  <a:srgbClr val="1D1D1F"/>
                </a:solidFill>
                <a:latin typeface="Menlo"/>
              </a:rPr>
              <a:t>the finals period</a:t>
            </a:r>
          </a:p>
          <a:p>
            <a:pPr marL="0" indent="0" algn="l">
              <a:spcAft>
                <a:spcPts val="200"/>
              </a:spcAft>
              <a:buNone/>
            </a:pPr>
            <a:r>
              <a:rPr sz="1200" b="0">
                <a:solidFill>
                  <a:srgbClr val="86868B"/>
                </a:solidFill>
                <a:latin typeface="Helvetica Neue"/>
              </a:rPr>
              <a:t>Remaining presentations, the paper exam, and the final report.</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schedule/SCHEDULE.md; readings.md</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