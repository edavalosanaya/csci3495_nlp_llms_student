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3"/>
  </p:sldMasterIdLst>
  <p:notesMasterIdLst>
    <p:notesMasterId r:id="rId4"/>
  </p:notesMasterIdLst>
  <p:sldIdLst>
    <p:sldId id="256" r:id="rId21"/>
    <p:sldId id="257" r:id="rId22"/>
    <p:sldId id="258" r:id="rId20"/>
    <p:sldId id="259" r:id="rId19"/>
    <p:sldId id="260" r:id="rId18"/>
    <p:sldId id="261" r:id="rId17"/>
    <p:sldId id="262" r:id="rId16"/>
    <p:sldId id="263" r:id="rId15"/>
    <p:sldId id="264" r:id="rId14"/>
    <p:sldId id="265" r:id="rId13"/>
    <p:sldId id="266" r:id="rId12"/>
    <p:sldId id="267" r:id="rId11"/>
    <p:sldId id="268" r:id="rId10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Playfair Display"/>
      <p:regular r:id="rId27"/>
      <p:bold r:id="rId28"/>
      <p:italic r:id="rId29"/>
      <p:boldItalic r:id="rId30"/>
    </p:embeddedFont>
    <p:embeddedFont>
      <p:font typeface="Roboto Mono Light"/>
      <p:regular r:id="rId31"/>
      <p:bold r:id="rId32"/>
      <p:italic r:id="rId33"/>
      <p:boldItalic r:id="rId34"/>
    </p:embeddedFont>
    <p:embeddedFont>
      <p:font typeface="Roboto Ligh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13.xml"/><Relationship Id="rId11" Type="http://schemas.openxmlformats.org/officeDocument/2006/relationships/slide" Target="slides/slide12.xml"/><Relationship Id="rId12" Type="http://schemas.openxmlformats.org/officeDocument/2006/relationships/slide" Target="slides/slide11.xml"/><Relationship Id="rId13" Type="http://schemas.openxmlformats.org/officeDocument/2006/relationships/slide" Target="slides/slide10.xml"/><Relationship Id="rId14" Type="http://schemas.openxmlformats.org/officeDocument/2006/relationships/slide" Target="slides/slide9.xml"/><Relationship Id="rId15" Type="http://schemas.openxmlformats.org/officeDocument/2006/relationships/slide" Target="slides/slide8.xml"/><Relationship Id="rId16" Type="http://schemas.openxmlformats.org/officeDocument/2006/relationships/slide" Target="slides/slide7.xml"/><Relationship Id="rId17" Type="http://schemas.openxmlformats.org/officeDocument/2006/relationships/slide" Target="slides/slide6.xml"/><Relationship Id="rId18" Type="http://schemas.openxmlformats.org/officeDocument/2006/relationships/slide" Target="slides/slide5.xml"/><Relationship Id="rId19" Type="http://schemas.openxmlformats.org/officeDocument/2006/relationships/slide" Target="slides/slide4.xml"/><Relationship Id="rId20" Type="http://schemas.openxmlformats.org/officeDocument/2006/relationships/slide" Target="slides/slide3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font" Target="fonts/Roboto-regular.fntdata"/><Relationship Id="rId24" Type="http://schemas.openxmlformats.org/officeDocument/2006/relationships/font" Target="fonts/Roboto-bold.fntdata"/><Relationship Id="rId25" Type="http://schemas.openxmlformats.org/officeDocument/2006/relationships/font" Target="fonts/Roboto-italic.fntdata"/><Relationship Id="rId26" Type="http://schemas.openxmlformats.org/officeDocument/2006/relationships/font" Target="fonts/Roboto-boldItalic.fntdata"/><Relationship Id="rId27" Type="http://schemas.openxmlformats.org/officeDocument/2006/relationships/font" Target="fonts/PlayfairDisplay-regular.fntdata"/><Relationship Id="rId28" Type="http://schemas.openxmlformats.org/officeDocument/2006/relationships/font" Target="fonts/PlayfairDisplay-bold.fntdata"/><Relationship Id="rId29" Type="http://schemas.openxmlformats.org/officeDocument/2006/relationships/font" Target="fonts/PlayfairDisplay-italic.fntdata"/><Relationship Id="rId30" Type="http://schemas.openxmlformats.org/officeDocument/2006/relationships/font" Target="fonts/PlayfairDisplay-boldItalic.fntdata"/><Relationship Id="rId31" Type="http://schemas.openxmlformats.org/officeDocument/2006/relationships/font" Target="fonts/RobotoMonoLight-regular.fntdata"/><Relationship Id="rId32" Type="http://schemas.openxmlformats.org/officeDocument/2006/relationships/font" Target="fonts/RobotoMonoLight-bold.fntdata"/><Relationship Id="rId33" Type="http://schemas.openxmlformats.org/officeDocument/2006/relationships/font" Target="fonts/RobotoMonoLight-italic.fntdata"/><Relationship Id="rId34" Type="http://schemas.openxmlformats.org/officeDocument/2006/relationships/font" Target="fonts/RobotoMonoLight-boldItalic.fntdata"/><Relationship Id="rId35" Type="http://schemas.openxmlformats.org/officeDocument/2006/relationships/font" Target="fonts/RobotoLight-regular.fntdata"/><Relationship Id="rId36" Type="http://schemas.openxmlformats.org/officeDocument/2006/relationships/font" Target="fonts/RobotoLight-bold.fntdata"/><Relationship Id="rId37" Type="http://schemas.openxmlformats.org/officeDocument/2006/relationships/font" Target="fonts/RobotoLight-italic.fntdata"/><Relationship Id="rId38" Type="http://schemas.openxmlformats.org/officeDocument/2006/relationships/font" Target="fonts/RobotoLigh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523" y="685800"/>
            <a:ext cx="4571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crystal ball shows the city sharp but upside down. Every prediction about this field comes with the same warning.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Seven phases, 15 weeks. You built a piece of each, tokenizers to agents, and learned to question all of it.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ideas that will outlast any specific model.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"still open" cell is a thesis topic or a startup waiting to happen.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Models will change fast. These habits won't.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source, reproduce results, build small, stay critical. You already have the toolkit and the habits.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minutes, on paper, individually, no setup. One grounded prediction about where the field goes, and one thing they refuse to predict. Then straight into the talks.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two or three aloud if the clock allows. The refusals are usually more interesting than the predictions.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real talk to a real audience. Tell the story of your project, then show it running.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Practice your timing beforehand; eight minutes goes faster than you think.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peer-feedback form per talk. Your feedback is part of your participation grade.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Last slide of the course. They have the tools and, after last week, some of the judgment. The question is the assignment.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Remaining presentations and the paper final exam happen in the finals period.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ver Page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390300"/>
            <a:ext cx="91440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13732" l="600" r="-600" t="43847"/>
          <a:stretch/>
        </p:blipFill>
        <p:spPr>
          <a:xfrm>
            <a:off x="0" y="-70472"/>
            <a:ext cx="9198797" cy="346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fair Display"/>
              <a:buNone/>
              <a:defRPr i="0" sz="36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+ 2 Columns">
  <p:cSld name="2_Portfolio Thre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" type="body"/>
          </p:nvPr>
        </p:nvSpPr>
        <p:spPr>
          <a:xfrm>
            <a:off x="50957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body"/>
          </p:nvPr>
        </p:nvSpPr>
        <p:spPr>
          <a:xfrm>
            <a:off x="482712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+ 3 Columns">
  <p:cSld name="1_Slide with Placehol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5521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3" type="body"/>
          </p:nvPr>
        </p:nvSpPr>
        <p:spPr>
          <a:xfrm>
            <a:off x="33374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4" type="body"/>
          </p:nvPr>
        </p:nvSpPr>
        <p:spPr>
          <a:xfrm>
            <a:off x="6160800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ver Slide">
  <p:cSld name="Cover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ver Slide with Logo">
  <p:cSld name="Cover Slide_2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14" y="628706"/>
            <a:ext cx="4936973" cy="388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Acknowledgments Slide">
  <p:cSld name="Cover Slide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Playfair Display"/>
              <a:buNone/>
              <a:defRPr i="0" sz="5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34" name="Google Shape;34;p7"/>
          <p:cNvSpPr txBox="1"/>
          <p:nvPr>
            <p:ph idx="1" type="subTitle"/>
          </p:nvPr>
        </p:nvSpPr>
        <p:spPr>
          <a:xfrm>
            <a:off x="509521" y="1401113"/>
            <a:ext cx="5120100" cy="1558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27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Custom Layou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37" name="Google Shape;37;p8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ig Concept Slide">
  <p:cSld name="Slide with Placehol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509577" y="2245519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509577" y="3154509"/>
            <a:ext cx="6737700" cy="953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">
  <p:cSld name="Large Picture with Logo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3" name="Google Shape;43;p10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b="2009" l="27412" r="6551" t="0"/>
          <a:stretch/>
        </p:blipFill>
        <p:spPr>
          <a:xfrm>
            <a:off x="7006675" y="-56025"/>
            <a:ext cx="2176574" cy="48460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1">
  <p:cSld name="Large Picture with Logo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2">
  <p:cSld name="Large Picture with Logo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52" name="Google Shape;52;p12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 b="0" l="27412" r="6551" t="0"/>
          <a:stretch/>
        </p:blipFill>
        <p:spPr>
          <a:xfrm>
            <a:off x="7006675" y="-57150"/>
            <a:ext cx="2137324" cy="48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 b="0" l="8950" r="0" t="0"/>
          <a:stretch/>
        </p:blipFill>
        <p:spPr>
          <a:xfrm>
            <a:off x="7006665" y="-57150"/>
            <a:ext cx="6633784" cy="48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2"/>
          <p:cNvPicPr preferRelativeResize="0"/>
          <p:nvPr/>
        </p:nvPicPr>
        <p:blipFill rotWithShape="1">
          <a:blip r:embed="rId4">
            <a:alphaModFix/>
          </a:blip>
          <a:srcRect b="0" l="39028" r="0" t="0"/>
          <a:stretch/>
        </p:blipFill>
        <p:spPr>
          <a:xfrm>
            <a:off x="7006676" y="-57150"/>
            <a:ext cx="4442373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3">
  <p:cSld name="Large Picture with Logo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b="0" l="24210" r="1252" t="0"/>
          <a:stretch/>
        </p:blipFill>
        <p:spPr>
          <a:xfrm>
            <a:off x="7006675" y="-57150"/>
            <a:ext cx="5430948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4">
  <p:cSld name="Large Picture with Logo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b="0" l="34525" r="0" t="0"/>
          <a:stretch/>
        </p:blipFill>
        <p:spPr>
          <a:xfrm>
            <a:off x="7010075" y="-57150"/>
            <a:ext cx="2543048" cy="48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with Large Photo">
  <p:cSld name="3_Placehol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i="0" sz="27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with Large Photo 1">
  <p:cSld name="3_Placeholder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i="0" sz="27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ingle Statistic">
  <p:cSld name="1_Placehol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type="title"/>
          </p:nvPr>
        </p:nvSpPr>
        <p:spPr>
          <a:xfrm>
            <a:off x="454066" y="182433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4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2" type="subTitle"/>
          </p:nvPr>
        </p:nvSpPr>
        <p:spPr>
          <a:xfrm>
            <a:off x="454066" y="3127509"/>
            <a:ext cx="8353200" cy="715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3" type="subTitle"/>
          </p:nvPr>
        </p:nvSpPr>
        <p:spPr>
          <a:xfrm>
            <a:off x="4838166" y="1824350"/>
            <a:ext cx="38664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4" type="title"/>
          </p:nvPr>
        </p:nvSpPr>
        <p:spPr>
          <a:xfrm>
            <a:off x="509577" y="837514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Multiple Statistics">
  <p:cSld name="1_Placeholder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type="title"/>
          </p:nvPr>
        </p:nvSpPr>
        <p:spPr>
          <a:xfrm>
            <a:off x="454066" y="75948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2" type="subTitle"/>
          </p:nvPr>
        </p:nvSpPr>
        <p:spPr>
          <a:xfrm>
            <a:off x="4759893" y="759488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title"/>
          </p:nvPr>
        </p:nvSpPr>
        <p:spPr>
          <a:xfrm>
            <a:off x="454066" y="2037533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subTitle"/>
          </p:nvPr>
        </p:nvSpPr>
        <p:spPr>
          <a:xfrm>
            <a:off x="4759893" y="2037533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5" type="title"/>
          </p:nvPr>
        </p:nvSpPr>
        <p:spPr>
          <a:xfrm>
            <a:off x="454066" y="343770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subTitle"/>
          </p:nvPr>
        </p:nvSpPr>
        <p:spPr>
          <a:xfrm>
            <a:off x="4759893" y="3437709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Quote">
  <p:cSld name="CUSTOM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1" name="Google Shape;91;p19"/>
          <p:cNvSpPr/>
          <p:nvPr/>
        </p:nvSpPr>
        <p:spPr>
          <a:xfrm>
            <a:off x="5748887" y="1561152"/>
            <a:ext cx="1718100" cy="219300"/>
          </a:xfrm>
          <a:prstGeom prst="rect">
            <a:avLst/>
          </a:prstGeom>
          <a:solidFill>
            <a:srgbClr val="738D33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467434" y="1561152"/>
            <a:ext cx="1718100" cy="219300"/>
          </a:xfrm>
          <a:prstGeom prst="rect">
            <a:avLst/>
          </a:prstGeom>
          <a:solidFill>
            <a:srgbClr val="625578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0" y="1561152"/>
            <a:ext cx="1718100" cy="2193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1718076" y="1561152"/>
            <a:ext cx="1718100" cy="219300"/>
          </a:xfrm>
          <a:prstGeom prst="rect">
            <a:avLst/>
          </a:prstGeom>
          <a:solidFill>
            <a:srgbClr val="498DA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589051" y="975950"/>
            <a:ext cx="19659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rgbClr val="818387"/>
                </a:solidFill>
              </a:rPr>
              <a:t>“</a:t>
            </a:r>
            <a:endParaRPr b="1" sz="12000">
              <a:solidFill>
                <a:srgbClr val="818387"/>
              </a:solidFill>
            </a:endParaRPr>
          </a:p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1682308" y="2130769"/>
            <a:ext cx="5779500" cy="196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2" type="subTitle"/>
          </p:nvPr>
        </p:nvSpPr>
        <p:spPr>
          <a:xfrm>
            <a:off x="3300470" y="3999056"/>
            <a:ext cx="2543100" cy="384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Slide" showMasterSp="0">
  <p:cSld name="13_Title Slid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>
            <p:ph idx="2" type="pic"/>
          </p:nvPr>
        </p:nvSpPr>
        <p:spPr>
          <a:xfrm>
            <a:off x="192505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0"/>
          <p:cNvSpPr/>
          <p:nvPr>
            <p:ph idx="3" type="pic"/>
          </p:nvPr>
        </p:nvSpPr>
        <p:spPr>
          <a:xfrm>
            <a:off x="1997242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0"/>
          <p:cNvSpPr/>
          <p:nvPr>
            <p:ph idx="4" type="pic"/>
          </p:nvPr>
        </p:nvSpPr>
        <p:spPr>
          <a:xfrm>
            <a:off x="3801980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0"/>
          <p:cNvSpPr/>
          <p:nvPr>
            <p:ph idx="5" type="pic"/>
          </p:nvPr>
        </p:nvSpPr>
        <p:spPr>
          <a:xfrm>
            <a:off x="5606716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0"/>
          <p:cNvSpPr/>
          <p:nvPr>
            <p:ph idx="6" type="pic"/>
          </p:nvPr>
        </p:nvSpPr>
        <p:spPr>
          <a:xfrm>
            <a:off x="7411453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ver Page 1">
  <p:cSld name="1_Cover Pag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-53437" y="3390300"/>
            <a:ext cx="91974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2">
            <a:alphaModFix/>
          </a:blip>
          <a:srcRect b="13732" l="0" r="-563" t="43844"/>
          <a:stretch/>
        </p:blipFill>
        <p:spPr>
          <a:xfrm>
            <a:off x="-53437" y="-70462"/>
            <a:ext cx="9250875" cy="3460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25700" spcFirstLastPara="1" rIns="25700" wrap="square" tIns="2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fair Display"/>
              <a:buNone/>
              <a:defRPr i="0" sz="36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9pPr>
          </a:lstStyle>
          <a:p/>
        </p:txBody>
      </p:sp>
      <p:sp>
        <p:nvSpPr>
          <p:cNvPr id="108" name="Google Shape;108;p21"/>
          <p:cNvSpPr txBox="1"/>
          <p:nvPr>
            <p:ph idx="1" type="subTitle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2" type="subTitle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9577" y="1401113"/>
            <a:ext cx="80058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oboto"/>
              <a:buNone/>
              <a:defRPr i="0" sz="2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None/>
              <a:defRPr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sz="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35296"/>
          <a:stretch/>
        </p:blipFill>
        <p:spPr>
          <a:xfrm>
            <a:off x="0" y="4794384"/>
            <a:ext cx="9144000" cy="34911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marL="0" indent="0">
              <a:buNone/>
            </a:pPr>
            <a:r>
              <a:t>CSCI 3495</a:t>
            </a:r>
          </a:p>
          <a:p>
            <a:pPr marL="0" indent="0">
              <a:buNone/>
            </a:pPr>
            <a:r>
              <a:t>The Future of NLP &amp; LLMs · Course Synthesis · Final Presentations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926" y="3549825"/>
            <a:ext cx="6120919" cy="970800"/>
          </a:xfrm>
        </p:spPr>
        <p:txBody>
          <a:bodyPr wrap="square"/>
          <a:lstStyle/>
          <a:p>
            <a:pPr marL="0" indent="0">
              <a:buNone/>
            </a:pPr>
            <a:r>
              <a:t>Natural Language Processing &amp; Large Language Models</a:t>
            </a:r>
          </a:p>
          <a:p>
            <a:pPr marL="0" indent="0">
              <a:buNone/>
            </a:pPr>
            <a:r>
              <a:t>Week 15, Class 2  ·  Mon Dec 7, 2026</a:t>
            </a:r>
          </a:p>
        </p:txBody>
      </p:sp>
      <p:pic>
        <p:nvPicPr>
          <p:cNvPr id="5" name="Picture 4" descr="The Future of NLP &amp; LLMs · Course Synthesis · Final Presentati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445" y="3474720"/>
            <a:ext cx="1934795" cy="1481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Source: photo: Balise42, Wikimedia Commons, CC BY-SA 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The whole arc</a:t>
            </a:r>
          </a:p>
        </p:txBody>
      </p:sp>
      <p:pic>
        <p:nvPicPr>
          <p:cNvPr id="5" name="Picture 4" descr="The whole ar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049" y="1078992"/>
            <a:ext cx="7429901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SLP3 Fig. 5.9; Vaswani et al. 2017 Fig. 1; Ouyang et al. 2022 Fig. 2; Wei et al. 2022 Fig. 1; Yao et al. 2023 Fig. 1; Bommasani et al. 2021 Fig. 2; course figure (W14)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What stays true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78992"/>
            <a:ext cx="8229600" cy="644652"/>
          </a:xfrm>
          <a:prstGeom prst="roundRect">
            <a:avLst>
              <a:gd name="adj" fmla="val 15602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94944" y="1078992"/>
            <a:ext cx="475488" cy="6446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050" b="1">
                <a:solidFill>
                  <a:srgbClr val="1D1D1F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078992"/>
            <a:ext cx="7278624" cy="6446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450" b="0">
                <a:solidFill>
                  <a:srgbClr val="1D1D1F"/>
                </a:solidFill>
                <a:latin typeface="Menlo"/>
              </a:rPr>
              <a:t>Representation matters: tokens, embeddings, contextual vectors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15084"/>
            <a:ext cx="8229600" cy="644652"/>
          </a:xfrm>
          <a:prstGeom prst="roundRect">
            <a:avLst>
              <a:gd name="adj" fmla="val 15602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" y="1815084"/>
            <a:ext cx="475488" cy="6446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050" b="1">
                <a:solidFill>
                  <a:srgbClr val="1D1D1F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815084"/>
            <a:ext cx="7278624" cy="6446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450" b="0">
                <a:solidFill>
                  <a:srgbClr val="1D1D1F"/>
                </a:solidFill>
                <a:latin typeface="Menlo"/>
              </a:rPr>
              <a:t>Scale, data and objective shape capability, and cost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51176"/>
            <a:ext cx="8229600" cy="644652"/>
          </a:xfrm>
          <a:prstGeom prst="roundRect">
            <a:avLst>
              <a:gd name="adj" fmla="val 15602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4944" y="2551176"/>
            <a:ext cx="475488" cy="6446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050" b="1">
                <a:solidFill>
                  <a:srgbClr val="1D1D1F"/>
                </a:solidFill>
                <a:latin typeface="Helvetica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551176"/>
            <a:ext cx="7278624" cy="6446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450" b="0">
                <a:solidFill>
                  <a:srgbClr val="1D1D1F"/>
                </a:solidFill>
                <a:latin typeface="Menlo"/>
              </a:rPr>
              <a:t>Prediction is not understanding. Keep the parrot in mind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87268"/>
            <a:ext cx="8229600" cy="644652"/>
          </a:xfrm>
          <a:prstGeom prst="roundRect">
            <a:avLst>
              <a:gd name="adj" fmla="val 15602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94944" y="3287268"/>
            <a:ext cx="475488" cy="6446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050" b="1">
                <a:solidFill>
                  <a:srgbClr val="1D1D1F"/>
                </a:solidFill>
                <a:latin typeface="Helvetica Ne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287268"/>
            <a:ext cx="7278624" cy="6446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450" b="0">
                <a:solidFill>
                  <a:srgbClr val="1D1D1F"/>
                </a:solidFill>
                <a:latin typeface="Menlo"/>
              </a:rPr>
              <a:t>Composition beats monoliths: small, reliable, testable steps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23360"/>
            <a:ext cx="8229600" cy="644652"/>
          </a:xfrm>
          <a:prstGeom prst="roundRect">
            <a:avLst>
              <a:gd name="adj" fmla="val 15602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94944" y="4023360"/>
            <a:ext cx="475488" cy="6446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050" b="1">
                <a:solidFill>
                  <a:srgbClr val="1D1D1F"/>
                </a:solidFill>
                <a:latin typeface="Helvetica Ne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4023360"/>
            <a:ext cx="7278624" cy="6446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450" b="0">
                <a:solidFill>
                  <a:srgbClr val="1D1D1F"/>
                </a:solidFill>
                <a:latin typeface="Menlo"/>
              </a:rPr>
              <a:t>Evaluation is the hard part. Measure, do not guess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Open frontiers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56182"/>
          <a:ext cx="8229599" cy="2834640"/>
        </p:xfrm>
        <a:graphic>
          <a:graphicData uri="http://schemas.openxmlformats.org/drawingml/2006/table">
            <a:tbl>
              <a:tblPr firstRow="1" bandRow="0"/>
              <a:tblGrid>
                <a:gridCol w="2630043"/>
                <a:gridCol w="2799778"/>
                <a:gridCol w="2799778"/>
              </a:tblGrid>
              <a:tr h="566928">
                <a:tc>
                  <a:txBody>
                    <a:bodyPr wrap="none"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100" b="1" spc="50">
                          <a:solidFill>
                            <a:srgbClr val="86868B"/>
                          </a:solidFill>
                          <a:latin typeface="Helvetica Neue"/>
                        </a:rPr>
                        <a:t>FRONTIER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100" b="1" spc="50">
                          <a:solidFill>
                            <a:srgbClr val="86868B"/>
                          </a:solidFill>
                          <a:latin typeface="Helvetica Neue"/>
                        </a:rPr>
                        <a:t>YOU BUILT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100" b="1" spc="50">
                          <a:solidFill>
                            <a:srgbClr val="86868B"/>
                          </a:solidFill>
                          <a:latin typeface="Helvetica Neue"/>
                        </a:rPr>
                        <a:t>STILL OPEN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rgbClr val="1D1D1F"/>
                          </a:solidFill>
                          <a:latin typeface="Helvetica Neue"/>
                        </a:rPr>
                        <a:t>context and memory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RAG over a small corpus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memory that persists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rgbClr val="1D1D1F"/>
                          </a:solidFill>
                          <a:latin typeface="Helvetica Neue"/>
                        </a:rPr>
                        <a:t>multimodality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text-only pipelines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models that see and hear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rgbClr val="1D1D1F"/>
                          </a:solidFill>
                          <a:latin typeface="Helvetica Neue"/>
                        </a:rPr>
                        <a:t>efficiency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LoRA, quantization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training within reach of anyone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rgbClr val="1D1D1F"/>
                          </a:solidFill>
                          <a:latin typeface="Helvetica Neue"/>
                        </a:rPr>
                        <a:t>evaluation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one benchmark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measuring what you actually want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figure; course arc, schedule/SCHEDULE.md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Predictions are hard: principles aren't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78992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94944" y="1078992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150" b="1">
                <a:solidFill>
                  <a:srgbClr val="1D1D1F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078992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550" b="0">
                <a:solidFill>
                  <a:srgbClr val="1D1D1F"/>
                </a:solidFill>
                <a:latin typeface="Menlo"/>
              </a:rPr>
              <a:t>Be sceptical of fluent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99107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" y="1999107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150" b="1">
                <a:solidFill>
                  <a:srgbClr val="1D1D1F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999107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550" b="0">
                <a:solidFill>
                  <a:srgbClr val="1D1D1F"/>
                </a:solidFill>
                <a:latin typeface="Menlo"/>
              </a:rPr>
              <a:t>Measure before you trust: evals, ablations, error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19222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4944" y="2919222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150" b="1">
                <a:solidFill>
                  <a:srgbClr val="1D1D1F"/>
                </a:solidFill>
                <a:latin typeface="Helvetica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919222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550" b="0">
                <a:solidFill>
                  <a:srgbClr val="1D1D1F"/>
                </a:solidFill>
                <a:latin typeface="Menlo"/>
              </a:rPr>
              <a:t>Prefer the simplest design that works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39337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94944" y="3839337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150" b="1">
                <a:solidFill>
                  <a:srgbClr val="1D1D1F"/>
                </a:solidFill>
                <a:latin typeface="Helvetica Ne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839337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550" b="0">
                <a:solidFill>
                  <a:srgbClr val="1D1D1F"/>
                </a:solidFill>
                <a:latin typeface="Menlo"/>
              </a:rPr>
              <a:t>Account for who bears the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How to keep learning</a:t>
            </a:r>
          </a:p>
        </p:txBody>
      </p:sp>
      <p:pic>
        <p:nvPicPr>
          <p:cNvPr id="5" name="Picture 4" descr="How to keep learn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677" y="1078992"/>
            <a:ext cx="3882645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photo: Unsplash License, https://images.unsplash.com/photo-1481627834876-b7833e8f5570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Exit-ticket synthesis, then presentations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36514"/>
            <a:ext cx="4041648" cy="1073975"/>
          </a:xfrm>
          <a:prstGeom prst="roundRect">
            <a:avLst>
              <a:gd name="adj" fmla="val 11068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482818"/>
            <a:ext cx="3675888" cy="7813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ONE GROUNDED PREDICTION</a:t>
            </a:r>
          </a:p>
          <a:p>
            <a:pPr marL="0" indent="0">
              <a:spcAft>
                <a:spcPts val="300"/>
              </a:spcAft>
              <a:buNone/>
            </a:pPr>
            <a:r>
              <a:rPr sz="1350" b="0" u="none">
                <a:solidFill>
                  <a:srgbClr val="1D1D1F"/>
                </a:solidFill>
                <a:latin typeface="Menlo"/>
              </a:rPr>
              <a:t>where is this field in five years?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150" b="0">
                <a:solidFill>
                  <a:srgbClr val="86868B"/>
                </a:solidFill>
                <a:latin typeface="Helvetica Neue"/>
              </a:rPr>
              <a:t>Scale, evaluation, agents or ethics. Pick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5152" y="2336514"/>
            <a:ext cx="4041648" cy="1073975"/>
          </a:xfrm>
          <a:prstGeom prst="roundRect">
            <a:avLst>
              <a:gd name="adj" fmla="val 11068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28032" y="2482818"/>
            <a:ext cx="3675888" cy="7813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ONE THING YOU REFUSE TO PREDICT</a:t>
            </a:r>
          </a:p>
          <a:p>
            <a:pPr marL="0" indent="0">
              <a:spcAft>
                <a:spcPts val="300"/>
              </a:spcAft>
              <a:buNone/>
            </a:pPr>
            <a:r>
              <a:rPr sz="1350" b="0" u="none">
                <a:solidFill>
                  <a:srgbClr val="1D1D1F"/>
                </a:solidFill>
                <a:latin typeface="Menlo"/>
              </a:rPr>
              <a:t>and why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150" b="0">
                <a:solidFill>
                  <a:srgbClr val="86868B"/>
                </a:solidFill>
                <a:latin typeface="Helvetica Neue"/>
              </a:rPr>
              <a:t>Five minutes, on paper, individually.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weeks/week-15/class-02/exercise/presentation-guide.md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Five minutes, on paper: write one grounded prediction about the field and one thing you refuse to predict, and why. Read a few aloud if time allows, then straight into the talk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77203"/>
            <a:ext cx="9144000" cy="60979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143000"/>
            <a:ext cx="9144000" cy="2834640"/>
          </a:xfrm>
          <a:prstGeom prst="rect">
            <a:avLst/>
          </a:prstGeom>
          <a:solidFill>
            <a:srgbClr val="101012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786384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3400" b="1">
                <a:solidFill>
                  <a:srgbClr val="FFFFFF"/>
                </a:solidFill>
              </a:rPr>
              <a:t>Exit-ticket: one prediction, one thing you refuse to predict</a:t>
            </a:r>
          </a:p>
          <a:p>
            <a:pPr algn="ctr" marL="0" indent="0">
              <a:buNone/>
            </a:pPr>
            <a:r>
              <a:rPr sz="2000">
                <a:solidFill>
                  <a:srgbClr val="FFFFFF"/>
                </a:solidFill>
              </a:rPr>
              <a:t>Five minutes, on paper: write one grounded prediction about the field and one thing you refuse to predict, and why. Read a few aloud if time allows, then straight into the talks.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Unsplash License, https://images.unsplash.com/photo-1543269865-cbf427effbad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Your moment: show what you built</a:t>
            </a:r>
          </a:p>
        </p:txBody>
      </p:sp>
      <p:pic>
        <p:nvPicPr>
          <p:cNvPr id="5" name="Picture 4" descr="Your moment: show what you bui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000" y="1078992"/>
            <a:ext cx="5024000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Unsplash License, https://images.unsplash.com/photo-1505373877841-8d25f7d46678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The format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72220"/>
            <a:ext cx="4041648" cy="1202563"/>
          </a:xfrm>
          <a:prstGeom prst="roundRect">
            <a:avLst>
              <a:gd name="adj" fmla="val 988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418524"/>
            <a:ext cx="3675888" cy="9099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5 TO 8 MINUTES</a:t>
            </a:r>
          </a:p>
          <a:p>
            <a:pPr marL="0" indent="0">
              <a:spcAft>
                <a:spcPts val="300"/>
              </a:spcAft>
              <a:buNone/>
            </a:pPr>
            <a:r>
              <a:rPr sz="2000" b="0" u="none">
                <a:solidFill>
                  <a:srgbClr val="1D1D1F"/>
                </a:solidFill>
                <a:latin typeface="Menlo"/>
              </a:rPr>
              <a:t>talk and a live demo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Motivation, method, a result with a number in it, and a limitation.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5152" y="2272220"/>
            <a:ext cx="4041648" cy="1202563"/>
          </a:xfrm>
          <a:prstGeom prst="roundRect">
            <a:avLst>
              <a:gd name="adj" fmla="val 988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28032" y="2418524"/>
            <a:ext cx="3675888" cy="9099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2 MINUTES</a:t>
            </a:r>
          </a:p>
          <a:p>
            <a:pPr marL="0" indent="0">
              <a:spcAft>
                <a:spcPts val="300"/>
              </a:spcAft>
              <a:buNone/>
            </a:pPr>
            <a:r>
              <a:rPr sz="2000" b="0" u="none">
                <a:solidFill>
                  <a:srgbClr val="1D1D1F"/>
                </a:solidFill>
                <a:latin typeface="Menlo"/>
              </a:rPr>
              <a:t>questions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Everyone presents. The audience fills in a peer-feedback 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project/RUBRICS.md; exercise/peer-feedback-form.md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Be a good audience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78992"/>
            <a:ext cx="8229600" cy="1135380"/>
          </a:xfrm>
          <a:prstGeom prst="roundRect">
            <a:avLst>
              <a:gd name="adj" fmla="val 885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94944" y="1078992"/>
            <a:ext cx="475488" cy="11353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200" b="1">
                <a:solidFill>
                  <a:srgbClr val="1D1D1F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078992"/>
            <a:ext cx="7278624" cy="1135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600" b="0">
                <a:solidFill>
                  <a:srgbClr val="1D1D1F"/>
                </a:solidFill>
                <a:latin typeface="Menlo"/>
              </a:rPr>
              <a:t>Write one specific strength and one question per talk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05812"/>
            <a:ext cx="8229600" cy="1135380"/>
          </a:xfrm>
          <a:prstGeom prst="roundRect">
            <a:avLst>
              <a:gd name="adj" fmla="val 885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" y="2305812"/>
            <a:ext cx="475488" cy="11353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200" b="1">
                <a:solidFill>
                  <a:srgbClr val="1D1D1F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305812"/>
            <a:ext cx="7278624" cy="1135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600" b="0">
                <a:solidFill>
                  <a:srgbClr val="1D1D1F"/>
                </a:solidFill>
                <a:latin typeface="Menlo"/>
              </a:rPr>
              <a:t>Ask questions that help, not gotchas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32632"/>
            <a:ext cx="8229600" cy="1135380"/>
          </a:xfrm>
          <a:prstGeom prst="roundRect">
            <a:avLst>
              <a:gd name="adj" fmla="val 885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4944" y="3532632"/>
            <a:ext cx="475488" cy="11353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200" b="1">
                <a:solidFill>
                  <a:srgbClr val="1D1D1F"/>
                </a:solidFill>
                <a:latin typeface="Helvetica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532632"/>
            <a:ext cx="7278624" cy="1135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600" b="0">
                <a:solidFill>
                  <a:srgbClr val="1D1D1F"/>
                </a:solidFill>
                <a:latin typeface="Menlo"/>
              </a:rPr>
              <a:t>Celebrate honest negative results. They are real science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exercise/peer-feedback-form.md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640080" y="1234440"/>
            <a:ext cx="7863840" cy="1874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3400" b="1">
                <a:solidFill>
                  <a:srgbClr val="7C2529"/>
                </a:solidFill>
              </a:rPr>
              <a:t>What will you build that the world actually needs?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59"/>
            <a:ext cx="7863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marL="0" indent="0">
              <a:buNone/>
            </a:pPr>
            <a:r>
              <a:rPr sz="2000">
                <a:solidFill>
                  <a:srgbClr val="222222"/>
                </a:solidFill>
              </a:rPr>
              <a:t>You have the tools and the judgment. Now go decide what is worth building.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prompt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Course wrap-up</a:t>
            </a:r>
          </a:p>
        </p:txBody>
      </p:sp>
      <p:pic>
        <p:nvPicPr>
          <p:cNvPr id="5" name="Picture 4" descr="Course wrap-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27175"/>
            <a:ext cx="8595360" cy="24926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434343"/>
      </a:dk1>
      <a:lt1>
        <a:srgbClr val="FFFFFF"/>
      </a:lt1>
      <a:dk2>
        <a:srgbClr val="818387"/>
      </a:dk2>
      <a:lt2>
        <a:srgbClr val="F6F7FA"/>
      </a:lt2>
      <a:accent1>
        <a:srgbClr val="723130"/>
      </a:accent1>
      <a:accent2>
        <a:srgbClr val="818387"/>
      </a:accent2>
      <a:accent3>
        <a:srgbClr val="FFB600"/>
      </a:accent3>
      <a:accent4>
        <a:srgbClr val="738D33"/>
      </a:accent4>
      <a:accent5>
        <a:srgbClr val="625578"/>
      </a:accent5>
      <a:accent6>
        <a:srgbClr val="498DA0"/>
      </a:accent6>
      <a:hlink>
        <a:srgbClr val="B1B4B5"/>
      </a:hlink>
      <a:folHlink>
        <a:srgbClr val="B0B1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