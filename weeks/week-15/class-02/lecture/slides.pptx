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The Future of NLP &amp; LLMs · Course Synthesis · 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120919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15, Class 2  ·  Mon Dec 7, 2026</a:t>
            </a:r>
          </a:p>
        </p:txBody>
      </p:sp>
      <p:pic>
        <p:nvPicPr>
          <p:cNvPr id="5" name="Picture 4" descr="The Future of NLP &amp; LLMs · Course Synthesis · Final Present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3445" y="3474720"/>
            <a:ext cx="1934795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Balise42,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whole arc</a:t>
            </a:r>
          </a:p>
        </p:txBody>
      </p:sp>
      <p:pic>
        <p:nvPicPr>
          <p:cNvPr id="5" name="Picture 4" descr="The whole ar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49" y="1078992"/>
            <a:ext cx="742990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SLP3 Fig. 5.9; Vaswani et al. 2017 Fig. 1; Ouyang et al. 2022 Fig. 2; Wei et al. 2022 Fig. 1; Yao et al. 2023 Fig. 1; Bommasani et al. 2021 Fig. 2; course figure (W14)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stays true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644652"/>
          </a:xfrm>
          <a:prstGeom prst="roundRect">
            <a:avLst>
              <a:gd name="adj" fmla="val 1560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64465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0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6446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Representation matters: tokens, embeddings, contextual vectors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15084"/>
            <a:ext cx="8229600" cy="644652"/>
          </a:xfrm>
          <a:prstGeom prst="roundRect">
            <a:avLst>
              <a:gd name="adj" fmla="val 1560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815084"/>
            <a:ext cx="475488" cy="64465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0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815084"/>
            <a:ext cx="7278624" cy="6446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Scale, data and objective shape capability, and 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51176"/>
            <a:ext cx="8229600" cy="644652"/>
          </a:xfrm>
          <a:prstGeom prst="roundRect">
            <a:avLst>
              <a:gd name="adj" fmla="val 1560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551176"/>
            <a:ext cx="475488" cy="64465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0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551176"/>
            <a:ext cx="7278624" cy="6446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Prediction is not understanding. Keep the parrot in mind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87268"/>
            <a:ext cx="8229600" cy="644652"/>
          </a:xfrm>
          <a:prstGeom prst="roundRect">
            <a:avLst>
              <a:gd name="adj" fmla="val 1560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287268"/>
            <a:ext cx="475488" cy="64465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05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287268"/>
            <a:ext cx="7278624" cy="6446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Composition beats monoliths: small, reliable, testable steps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23360"/>
            <a:ext cx="8229600" cy="644652"/>
          </a:xfrm>
          <a:prstGeom prst="roundRect">
            <a:avLst>
              <a:gd name="adj" fmla="val 1560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" y="4023360"/>
            <a:ext cx="475488" cy="64465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050" b="1">
                <a:solidFill>
                  <a:srgbClr val="1D1D1F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4023360"/>
            <a:ext cx="7278624" cy="6446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Evaluation is the hard part. Measure, do not guess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Open frontiers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8229599" cy="2834640"/>
        </p:xfrm>
        <a:graphic>
          <a:graphicData uri="http://schemas.openxmlformats.org/drawingml/2006/table">
            <a:tbl>
              <a:tblPr firstRow="1" bandRow="0"/>
              <a:tblGrid>
                <a:gridCol w="2630043"/>
                <a:gridCol w="2799778"/>
                <a:gridCol w="2799778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FRONTIER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YOU BUILT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STILL OPEN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context and memory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RAG over a small corpus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memory that persists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multimodality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text-only pipelines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models that see and hear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efficiency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LoRA, quantization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training within reach of anyone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evaluation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one benchmark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measuring what you actually want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course arc, schedule/SCHEDULE.md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Predictions are hard: principles aren't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1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50" b="0">
                <a:solidFill>
                  <a:srgbClr val="1D1D1F"/>
                </a:solidFill>
                <a:latin typeface="Menlo"/>
              </a:rPr>
              <a:t>Be sceptical of fluent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910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910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1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910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50" b="0">
                <a:solidFill>
                  <a:srgbClr val="1D1D1F"/>
                </a:solidFill>
                <a:latin typeface="Menlo"/>
              </a:rPr>
              <a:t>Measure before you trust: evals, ablations, error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922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922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1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91922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50" b="0">
                <a:solidFill>
                  <a:srgbClr val="1D1D1F"/>
                </a:solidFill>
                <a:latin typeface="Menlo"/>
              </a:rPr>
              <a:t>Prefer the simplest design that 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3933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3933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15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83933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50" b="0">
                <a:solidFill>
                  <a:srgbClr val="1D1D1F"/>
                </a:solidFill>
                <a:latin typeface="Menlo"/>
              </a:rPr>
              <a:t>Account for who bears the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to keep learning</a:t>
            </a:r>
          </a:p>
        </p:txBody>
      </p:sp>
      <p:pic>
        <p:nvPicPr>
          <p:cNvPr id="5" name="Picture 4" descr="How to keep lear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677" y="1078992"/>
            <a:ext cx="388264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Exit-ticket synthesis, then presentations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36514"/>
            <a:ext cx="4041648" cy="1073975"/>
          </a:xfrm>
          <a:prstGeom prst="roundRect">
            <a:avLst>
              <a:gd name="adj" fmla="val 110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82818"/>
            <a:ext cx="3675888" cy="781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ONE GROUNDED PREDICTION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50" b="0" u="none">
                <a:solidFill>
                  <a:srgbClr val="1D1D1F"/>
                </a:solidFill>
                <a:latin typeface="Menlo"/>
              </a:rPr>
              <a:t>where is this field in five years?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Scale, evaluation, agents or ethics. Pick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36514"/>
            <a:ext cx="4041648" cy="1073975"/>
          </a:xfrm>
          <a:prstGeom prst="roundRect">
            <a:avLst>
              <a:gd name="adj" fmla="val 110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82818"/>
            <a:ext cx="3675888" cy="781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ONE THING YOU REFUSE TO PREDICT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50" b="0" u="none">
                <a:solidFill>
                  <a:srgbClr val="1D1D1F"/>
                </a:solidFill>
                <a:latin typeface="Menlo"/>
              </a:rPr>
              <a:t>and why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Five minutes, on paper, individually.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weeks/week-15/class-02/exercise/presentation-guide.md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ive minutes, on paper: write one grounded prediction about the field and one thing you refuse to predict, and why. Read a few aloud if time allows, then straight into the talk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Exit-ticket: one prediction, one thing you refuse to predict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Five minutes, on paper: write one grounded prediction about the field and one thing you refuse to predict, and why. Read a few aloud if time allows, then straight into the talks.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https://images.unsplash.com/photo-1543269865-cbf427effbad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Your moment: show what you built</a:t>
            </a:r>
          </a:p>
        </p:txBody>
      </p:sp>
      <p:pic>
        <p:nvPicPr>
          <p:cNvPr id="5" name="Picture 4" descr="Your moment: show what you buil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000" y="1078992"/>
            <a:ext cx="502400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https://images.unsplash.com/photo-1505373877841-8d25f7d46678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format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5 TO 8 MINUTES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talk and a live demo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Motivation, method, a result with a number in it, and a limitation.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2 MINUTES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questions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Everyone presents. The audience fills in a peer-feedback 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project/RUBRICS.md; exercise/peer-feedback-form.md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 a good audience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Write one specific strength and one question per talk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0581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30581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30581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Ask questions that help, not gotchas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3263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3263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53263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Celebrate honest negative results. They are real science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exercise/peer-feedback-form.md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What will you build that the world actually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You have the tools and the judgment. Now go decide what is worth building.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prompt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Course wrap-up</a:t>
            </a:r>
          </a:p>
        </p:txBody>
      </p:sp>
      <p:pic>
        <p:nvPicPr>
          <p:cNvPr id="5" name="Picture 4" descr="Course wrap-u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27175"/>
            <a:ext cx="8595360" cy="2492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