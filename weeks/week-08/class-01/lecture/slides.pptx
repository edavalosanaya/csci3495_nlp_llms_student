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roads diverged in a wood. A language model hits a fork like this at EVERY word, with fifty thousand branches. Who picks?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Decoders (GPT) attend only leftward and generate tokens; encoders (BERT) attend in both directions and output representations; encoder-decoders (the original Transformer) encode a full input, then a decoder generates from it.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release: bigger model, more data, same core recipe. Two years, roughly 1500 times more parameters, and the same objective the whole way: predict the next token.</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Feed, predict, pick, repeat. That loop is the entire model at inference. Everything interesting about how a model sounds happens in step three, and step three is not the model at all.</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Like a pen filling a page, the model commits to one token, then conditions on it for the next.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Worth pausing on. Most people assume the model writes the sentence. It does not. It hands you a distribution, and a decoding strategy you chose picks from it.</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model reads the context and outputs a probability for every possible next word. Pick one, append it to the context, and run the model again: that loop IS autoregressive generation.</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step: a distribution over tens of thousands to hundreds of thousands of tokens, depending on the tokenizer. How do you choose? Temperature reshapes the whole distribution before any of these: low T gives a sharper curve (more greedy, safe), high T gives a flatter one (more diverse, riskier). Greedy and beam favor accuracy; top-k and top-p favor diversity.</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Always take the argmax. Same prompt in, same token out, nothing sampled. Fast and safe for code or a factual answer, and the reason generated prose goes flat and starts repeating.</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Width 2, with real cumulative log-probs. Greedy's first pick loses to the sequence that finishes better.</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Now the wheel spins. Sunny is the favourite but cloudy can win, and the long tail of thousands of rare tokens holds a real 13 percent between them. That tail is where both the creativity and the nonsense come from. Sampling adds diversity and surprise, which greedy decoding can never give you. But pure sampling can pick bizarre low-probability tokens, and one bad draw derails the rest of the sentence. We need to keep the sampling and cut the junk tail.</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K is fixed, so it cannot adapt: too small when the model is unsure, too loose when it is confident. Top-p fixes this by sizing the set to the probability mass instead of to a count.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softmax, swept from cold to hot. The nucleus is recomputed every frame.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Follow the "all" row: 0.95 at tau 0.1, 0.25 at tau 100. Temperature never reorders the tokens, it only changes how much the ranking matters.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Match the strategy to the task. Deterministic when there is one right answer, sampled when there is not. This table is the practical takeaway of the whole lecture. There is no universal best. Pick to fit the job.</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loop out loud, it lands better. After think that, the top token is I again, so greedy re-picks it forever. Every fix on this slide works the same way: reshape the distribution so the argmax stops being a fixed point.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minute alone, two in pairs, two sharing. Get a committed prediction about which knob causes the loop before anyone runs anything, because a prediction they got wrong is what makes the run memorable.</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Required, quizzed: GPT-3 (Brown 2020). Optional, not quizzed: Chinchilla, Kaplan, GPT-2. Give a few examples in the prompt and the model solves the task, here English to French, with zero fine-tuning. We dig into this in Week 11.</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task: strip random symbols from a word. All sizes see the same examples, but only 175B converts each extra example into a large accuracy jump. A steeper curve means better in-context learning, the theme of Week 11.</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filters to write, top_k and top_p. apply_temperature, greedy and sample are given, so the whole lab is about which tokens survive the cut and why.</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Same prompt, different knobs, visibly different distributions. Temperature at 0.5 concentrates the mass; raise it and the tail comes alive. The numbers on this slide are what a correct implementation prints.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gi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gi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9.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The GPT Family &amp; Autoregressive Generation</a:t>
            </a:r>
          </a:p>
        </p:txBody>
      </p:sp>
      <p:sp>
        <p:nvSpPr>
          <p:cNvPr id="3" name="Subtitle 2"/>
          <p:cNvSpPr>
            <a:spLocks noGrp="1"/>
          </p:cNvSpPr>
          <p:nvPr>
            <p:ph type="subTitle" idx="1"/>
          </p:nvPr>
        </p:nvSpPr>
        <p:spPr>
          <a:xfrm>
            <a:off x="493926" y="3549825"/>
            <a:ext cx="6080610" cy="970800"/>
          </a:xfrm>
        </p:spPr>
        <p:txBody>
          <a:bodyPr wrap="square"/>
          <a:lstStyle/>
          <a:p>
            <a:pPr marL="0" indent="0">
              <a:buNone/>
            </a:pPr>
            <a:r>
              <a:t>Natural Language Processing &amp; Large Language Models</a:t>
            </a:r>
          </a:p>
          <a:p>
            <a:pPr marL="0" indent="0">
              <a:buNone/>
            </a:pPr>
            <a:r>
              <a:t>Week 8, Class 1  ·  Wed Oct 14, 2026</a:t>
            </a:r>
          </a:p>
        </p:txBody>
      </p:sp>
      <p:pic>
        <p:nvPicPr>
          <p:cNvPr id="5" name="Picture 4" descr="The GPT Family &amp; Autoregressive Generation"/>
          <p:cNvPicPr>
            <a:picLocks noChangeAspect="1"/>
          </p:cNvPicPr>
          <p:nvPr/>
        </p:nvPicPr>
        <p:blipFill>
          <a:blip r:embed="rId3"/>
          <a:stretch>
            <a:fillRect/>
          </a:stretch>
        </p:blipFill>
        <p:spPr>
          <a:xfrm>
            <a:off x="6803136" y="3474720"/>
            <a:ext cx="1975104"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Ann Cook, geograph.org.uk via Wikimedia Commons, CC BY-SA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Three ways to wire a Transformer</a:t>
            </a:r>
          </a:p>
        </p:txBody>
      </p:sp>
      <p:pic>
        <p:nvPicPr>
          <p:cNvPr id="5" name="Picture 4" descr="Three ways to wire a Transformer"/>
          <p:cNvPicPr>
            <a:picLocks noChangeAspect="1"/>
          </p:cNvPicPr>
          <p:nvPr/>
        </p:nvPicPr>
        <p:blipFill>
          <a:blip r:embed="rId3"/>
          <a:stretch>
            <a:fillRect/>
          </a:stretch>
        </p:blipFill>
        <p:spPr>
          <a:xfrm>
            <a:off x="809740" y="1078992"/>
            <a:ext cx="752452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7.3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GPT family</a:t>
            </a:r>
          </a:p>
        </p:txBody>
      </p:sp>
      <p:pic>
        <p:nvPicPr>
          <p:cNvPr id="5" name="Picture 4" descr="The GPT family"/>
          <p:cNvPicPr>
            <a:picLocks noChangeAspect="1"/>
          </p:cNvPicPr>
          <p:nvPr/>
        </p:nvPicPr>
        <p:blipFill>
          <a:blip r:embed="rId3"/>
          <a:stretch>
            <a:fillRect/>
          </a:stretch>
        </p:blipFill>
        <p:spPr>
          <a:xfrm>
            <a:off x="274320" y="1485861"/>
            <a:ext cx="8595360" cy="277528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params per Radford et al. 2018/2019 &amp; Brown et al. 2020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Autoregressive generation</a:t>
            </a:r>
          </a:p>
        </p:txBody>
      </p:sp>
      <p:pic>
        <p:nvPicPr>
          <p:cNvPr id="5" name="Picture 4" descr="Autoregressive generation"/>
          <p:cNvPicPr>
            <a:picLocks noChangeAspect="1"/>
          </p:cNvPicPr>
          <p:nvPr/>
        </p:nvPicPr>
        <p:blipFill>
          <a:blip r:embed="rId3"/>
          <a:stretch>
            <a:fillRect/>
          </a:stretch>
        </p:blipFill>
        <p:spPr>
          <a:xfrm>
            <a:off x="274320" y="1336535"/>
            <a:ext cx="8595360" cy="307393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word at a time</a:t>
            </a:r>
          </a:p>
        </p:txBody>
      </p:sp>
      <p:pic>
        <p:nvPicPr>
          <p:cNvPr id="5" name="Picture 4" descr="One word at a time"/>
          <p:cNvPicPr>
            <a:picLocks noChangeAspect="1"/>
          </p:cNvPicPr>
          <p:nvPr/>
        </p:nvPicPr>
        <p:blipFill>
          <a:blip r:embed="rId3"/>
          <a:stretch>
            <a:fillRect/>
          </a:stretch>
        </p:blipFill>
        <p:spPr>
          <a:xfrm>
            <a:off x="2181312" y="1078992"/>
            <a:ext cx="478137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https://images.unsplash.com/photo-1455390582262-044cdead277a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A decoding strategy is the dice roll: it turns one distribution into the next token."/>
          <p:cNvPicPr>
            <a:picLocks noChangeAspect="1"/>
          </p:cNvPicPr>
          <p:nvPr/>
        </p:nvPicPr>
        <p:blipFill>
          <a:blip r:embed="rId3"/>
          <a:stretch>
            <a:fillRect/>
          </a:stretch>
        </p:blipFill>
        <p:spPr>
          <a:xfrm>
            <a:off x="0" y="-471488"/>
            <a:ext cx="9144000" cy="608647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If the model only predicts probabilities, who actually picks the word?</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A decoding strategy is the dice roll: it turns one distribution into the next token.</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https://images.unsplash.com/photo-1605870445919-838d190e8e1b</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engine under generation</a:t>
            </a:r>
          </a:p>
        </p:txBody>
      </p:sp>
      <p:pic>
        <p:nvPicPr>
          <p:cNvPr id="5" name="Picture 4" descr="The engine under generation"/>
          <p:cNvPicPr>
            <a:picLocks noChangeAspect="1"/>
          </p:cNvPicPr>
          <p:nvPr/>
        </p:nvPicPr>
        <p:blipFill>
          <a:blip r:embed="rId3"/>
          <a:stretch>
            <a:fillRect/>
          </a:stretch>
        </p:blipFill>
        <p:spPr>
          <a:xfrm>
            <a:off x="716980" y="1078992"/>
            <a:ext cx="771004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7.1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decoding problem</a:t>
            </a:r>
          </a:p>
        </p:txBody>
      </p:sp>
      <p:pic>
        <p:nvPicPr>
          <p:cNvPr id="5" name="Picture 4" descr="The decoding problem"/>
          <p:cNvPicPr>
            <a:picLocks noChangeAspect="1"/>
          </p:cNvPicPr>
          <p:nvPr/>
        </p:nvPicPr>
        <p:blipFill>
          <a:blip r:embed="rId3"/>
          <a:stretch>
            <a:fillRect/>
          </a:stretch>
        </p:blipFill>
        <p:spPr>
          <a:xfrm>
            <a:off x="274320" y="1303756"/>
            <a:ext cx="8595360" cy="313949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Greedy decoding</a:t>
            </a:r>
          </a:p>
        </p:txBody>
      </p:sp>
      <p:pic>
        <p:nvPicPr>
          <p:cNvPr id="5" name="Picture 4" descr="Greedy decoding"/>
          <p:cNvPicPr>
            <a:picLocks noChangeAspect="1"/>
          </p:cNvPicPr>
          <p:nvPr/>
        </p:nvPicPr>
        <p:blipFill>
          <a:blip r:embed="rId3"/>
          <a:stretch>
            <a:fillRect/>
          </a:stretch>
        </p:blipFill>
        <p:spPr>
          <a:xfrm>
            <a:off x="721960" y="1078992"/>
            <a:ext cx="7700079"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Beam search</a:t>
            </a:r>
          </a:p>
        </p:txBody>
      </p:sp>
      <p:pic>
        <p:nvPicPr>
          <p:cNvPr id="5" name="Picture 4" descr="Beam search"/>
          <p:cNvPicPr>
            <a:picLocks noChangeAspect="1"/>
          </p:cNvPicPr>
          <p:nvPr/>
        </p:nvPicPr>
        <p:blipFill>
          <a:blip r:embed="rId3"/>
          <a:stretch>
            <a:fillRect/>
          </a:stretch>
        </p:blipFill>
        <p:spPr>
          <a:xfrm>
            <a:off x="366117" y="1078992"/>
            <a:ext cx="841176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animation; original figure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Sampling</a:t>
            </a:r>
          </a:p>
        </p:txBody>
      </p:sp>
      <p:pic>
        <p:nvPicPr>
          <p:cNvPr id="5" name="Picture 4" descr="Sampling"/>
          <p:cNvPicPr>
            <a:picLocks noChangeAspect="1"/>
          </p:cNvPicPr>
          <p:nvPr/>
        </p:nvPicPr>
        <p:blipFill>
          <a:blip r:embed="rId3"/>
          <a:stretch>
            <a:fillRect/>
          </a:stretch>
        </p:blipFill>
        <p:spPr>
          <a:xfrm>
            <a:off x="274320" y="1383882"/>
            <a:ext cx="8595360" cy="297923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Top-k sampling</a:t>
            </a:r>
          </a:p>
        </p:txBody>
      </p:sp>
      <p:pic>
        <p:nvPicPr>
          <p:cNvPr id="5" name="Picture 4" descr="Top-k sampling"/>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Top-p (nucleus) sampling</a:t>
            </a:r>
          </a:p>
        </p:txBody>
      </p:sp>
      <p:pic>
        <p:nvPicPr>
          <p:cNvPr id="5" name="Picture 4" descr="Top-p (nucleus) sampling"/>
          <p:cNvPicPr>
            <a:picLocks noChangeAspect="1"/>
          </p:cNvPicPr>
          <p:nvPr/>
        </p:nvPicPr>
        <p:blipFill>
          <a:blip r:embed="rId3"/>
          <a:stretch>
            <a:fillRect/>
          </a:stretch>
        </p:blipFill>
        <p:spPr>
          <a:xfrm>
            <a:off x="726621" y="1078992"/>
            <a:ext cx="769075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animation; original figure; nucleus sampling, Holtzman et al. 2020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Temperature in action</a:t>
            </a:r>
          </a:p>
        </p:txBody>
      </p:sp>
      <p:pic>
        <p:nvPicPr>
          <p:cNvPr id="5" name="Picture 4" descr="Temperature in action"/>
          <p:cNvPicPr>
            <a:picLocks noChangeAspect="1"/>
          </p:cNvPicPr>
          <p:nvPr/>
        </p:nvPicPr>
        <p:blipFill>
          <a:blip r:embed="rId3"/>
          <a:stretch>
            <a:fillRect/>
          </a:stretch>
        </p:blipFill>
        <p:spPr>
          <a:xfrm>
            <a:off x="2276257" y="1078992"/>
            <a:ext cx="459148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7.11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Putting it together</a:t>
            </a:r>
          </a:p>
        </p:txBody>
      </p:sp>
      <p:pic>
        <p:nvPicPr>
          <p:cNvPr id="5" name="Picture 4" descr="Putting it together"/>
          <p:cNvPicPr>
            <a:picLocks noChangeAspect="1"/>
          </p:cNvPicPr>
          <p:nvPr/>
        </p:nvPicPr>
        <p:blipFill>
          <a:blip r:embed="rId3"/>
          <a:stretch>
            <a:fillRect/>
          </a:stretch>
        </p:blipFill>
        <p:spPr>
          <a:xfrm>
            <a:off x="274320" y="1205419"/>
            <a:ext cx="8595360" cy="333616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repetition problem</a:t>
            </a:r>
          </a:p>
        </p:txBody>
      </p:sp>
      <p:pic>
        <p:nvPicPr>
          <p:cNvPr id="5" name="Picture 4" descr="The repetition problem"/>
          <p:cNvPicPr>
            <a:picLocks noChangeAspect="1"/>
          </p:cNvPicPr>
          <p:nvPr/>
        </p:nvPicPr>
        <p:blipFill>
          <a:blip r:embed="rId3"/>
          <a:stretch>
            <a:fillRect/>
          </a:stretch>
        </p:blipFill>
        <p:spPr>
          <a:xfrm>
            <a:off x="274320" y="1325609"/>
            <a:ext cx="8595360" cy="309578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Think (1 min), pair (2 min), share (2 min): which knob makes the output loop? Then run decoding.py and check."/>
          <p:cNvPicPr>
            <a:picLocks noChangeAspect="1"/>
          </p:cNvPicPr>
          <p:nvPr/>
        </p:nvPicPr>
        <p:blipFill>
          <a:blip r:embed="rId3"/>
          <a:stretch>
            <a:fillRect/>
          </a:stretch>
        </p:blipFill>
        <p:spPr>
          <a:xfrm>
            <a:off x="0" y="-471488"/>
            <a:ext cx="9144000" cy="608647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FFFFFF"/>
                </a:solidFill>
              </a:rPr>
              <a:t>Predict, then prove it</a:t>
            </a:r>
          </a:p>
          <a:p>
            <a:pPr algn="ctr" marL="0" indent="0">
              <a:buNone/>
            </a:pPr>
            <a:r>
              <a:rPr sz="2000">
                <a:solidFill>
                  <a:srgbClr val="FFFFFF"/>
                </a:solidFill>
              </a:rPr>
              <a:t>Think (1 min), pair (2 min), share (2 min): which knob makes the output loop? Then run decoding.py and check.</a:t>
            </a:r>
          </a:p>
        </p:txBody>
      </p:sp>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https://images.unsplash.com/photo-1605870445919-838d190e8e1b</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decoding.py and the Ollama playground to test your prediction."/>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required reading: GPT-3</a:t>
            </a:r>
          </a:p>
        </p:txBody>
      </p:sp>
      <p:pic>
        <p:nvPicPr>
          <p:cNvPr id="5" name="Picture 4" descr="The required reading: GPT-3"/>
          <p:cNvPicPr>
            <a:picLocks noChangeAspect="1"/>
          </p:cNvPicPr>
          <p:nvPr/>
        </p:nvPicPr>
        <p:blipFill>
          <a:blip r:embed="rId3"/>
          <a:stretch>
            <a:fillRect/>
          </a:stretch>
        </p:blipFill>
        <p:spPr>
          <a:xfrm>
            <a:off x="274320" y="1139862"/>
            <a:ext cx="8595360" cy="34672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Brown et al. 2020, "Language Models are Few-Shot Learners" (arXiv:2005.14165)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Bigger models squeeze more from a prompt</a:t>
            </a:r>
          </a:p>
        </p:txBody>
      </p:sp>
      <p:pic>
        <p:nvPicPr>
          <p:cNvPr id="5" name="Picture 4" descr="Bigger models squeeze more from a prompt"/>
          <p:cNvPicPr>
            <a:picLocks noChangeAspect="1"/>
          </p:cNvPicPr>
          <p:nvPr/>
        </p:nvPicPr>
        <p:blipFill>
          <a:blip r:embed="rId3"/>
          <a:stretch>
            <a:fillRect/>
          </a:stretch>
        </p:blipFill>
        <p:spPr>
          <a:xfrm>
            <a:off x="1526085" y="1078992"/>
            <a:ext cx="609182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Brown et al. 2020, "Language Models are Few-Shot Learners" (arXiv:2005.14165), Fig. 1.2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Connecting to the exercise</a:t>
            </a:r>
          </a:p>
        </p:txBody>
      </p:sp>
      <p:pic>
        <p:nvPicPr>
          <p:cNvPr id="5" name="Picture 4" descr="Connecting to the exercise"/>
          <p:cNvPicPr>
            <a:picLocks noChangeAspect="1"/>
          </p:cNvPicPr>
          <p:nvPr/>
        </p:nvPicPr>
        <p:blipFill>
          <a:blip r:embed="rId3"/>
          <a:stretch>
            <a:fillRect/>
          </a:stretch>
        </p:blipFill>
        <p:spPr>
          <a:xfrm>
            <a:off x="274320" y="1857356"/>
            <a:ext cx="8595360" cy="203229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weeks/week-08/class-01/exercise/decoding.py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650663" y="1078992"/>
            <a:ext cx="784267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of weeks/week-08/class-01/solutions/decoding.py</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