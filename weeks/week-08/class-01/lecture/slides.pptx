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chameleon takes its color from its surroundings, and so does every word in this room. Say the shape of the day out loud: the first half is six slides that put the whole model and every formula on the board, the second half is markers and arithmetic in teams. No laptops today, and no lab; the code comes next session. Everything the problems need will be on the slides they can still see.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lookup table hands back the same row for bank in both of these sentences, so the two senses are averaged into one point and nothing downstream can separate them. Take one or two more examples from the room: bat, spring, lead, light. The fix is to stop looking a word up and start computing it from the sentence it is sitting in, which is what every model for the rest of the course does.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BERT is a transformer encoder stack and nothing more: L identical layers, each of width H, each with A attention heads. The one design decision worth naming is what is missing, the causal mask, so every token attends to every token in both directions at every layer. Leave the table up. L, H and A are the three numbers the problems ask about, and d_k = H over A is the only formula on this slide.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token vector says which word, a segment vector says which of the two sentences, a position vector says where. All three are width H and they are summed before the first layer runs. Two tokens belong to no word: [CLS] opens every sequence and [SEP] closes each sentence, which is what lets a single encoder take a pair. Point at play and ##ing: WordPiece splits rare words into pieces, so token count and word count are not the same thing.</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Fifteen per cent of the tokens are selected, and of those, eighty per cent become [MASK], ten per cent become a random word and ten per cent are left exactly as they were. All three groups are still predicted, and only those positions contribute to the loss. Why corrupt at all? Because with attention in both directions the answer is sitting in the input, so the task would be free. Why not always [MASK]? Because [MASK] never appears once the model is being used, and the mixture keeps pretraining and use from drifting apart.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the final vector at [CLS], multiply by one weight matrix, softmax, and you have a sentence classifier. Everything below that layer is the pretrained model, unchanged, so a new task costs one matrix of K by H plus K biases. That is the whole transfer story: the expensive part was paid once by somebody else, on unlabeled text. Next sentence prediction is exactly this head with K equal to two, and it is what gives [CLS] something to mean in the first place.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mask is the whole difference. Delete it and you get a model that reads everything at once and is very good at judging text, but cannot generate a sentence, because it has no notion of what comes next. Keep it and you get GPT. Neither is the better architecture; they are answers to different questions, and both are the same encoder block underneath.</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warm-up, and everyone should finish it. Thirty tokens selected, of which twenty four become [MASK], three become a random word and three are untouched. Question two is the one to draw out: all thirty contribute to the loss, including the three that were never changed, which is exactly why the model cannot simply learn to answer wherever it sees [MASK].</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Exponentials sum to 31.193, so the probabilities are 0.644, 0.237, 0.087 and 0.032. The loss is minus the log of the probability of the word that was actually there, 3.440 minus 1, so 2.440. Ask what the model would need to change to drive that loss down, and let someone notice it can only be done by raising river's score relative to bank's, which is the entire training signal in one sentence.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Eight against four. BERT sees every other token; a left to right model has only the four before it and is blind to worth, every and minute, which are the words that settle whether good is praise. Question two: 81 pairs against 45, the full square against the lower triangle. The extra context is not free, and that is the trade.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Ten tokens: [CLS], four words, [SEP], three words, [SEP]. closed is segment 0 at position 4, and the most common slip is forgetting that [CLS] takes position 0 and that the first [SEP] still belongs to segment 0. The sum is 0.3, 0.3, 0.3, 0.1. Worth saying: nothing here is learned by the student, it is just addition, and it is genuinely all that happens before layer one.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times 768 plus 3, so 2,307 parameters, about two thousandths of one per cent of the model. Ask for a guess before they compute it; people say a few million. That ratio is why fine-tuning took over: the labeled data buys one small matrix, and the hundred million parameters underneath came free from raw text.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d_k is 64 for both, which is the point: 768 over 12 and 1024 over 16 land on the same number, so scaling up added heads and layers rather than widening each head. The stacks hold 144 and 384 heads. Close on that. Nobody tuned the head width between the two models, and the same 64 shows up again in the next generation of models too.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BERT on paper</a:t>
            </a:r>
          </a:p>
        </p:txBody>
      </p:sp>
      <p:sp>
        <p:nvSpPr>
          <p:cNvPr id="3" name="Subtitle 2"/>
          <p:cNvSpPr>
            <a:spLocks noGrp="1"/>
          </p:cNvSpPr>
          <p:nvPr>
            <p:ph type="subTitle" idx="1"/>
          </p:nvPr>
        </p:nvSpPr>
        <p:spPr>
          <a:xfrm>
            <a:off x="493926" y="3549825"/>
            <a:ext cx="5833722" cy="970800"/>
          </a:xfrm>
        </p:spPr>
        <p:txBody>
          <a:bodyPr wrap="square"/>
          <a:lstStyle/>
          <a:p>
            <a:pPr marL="0" indent="0">
              <a:buNone/>
            </a:pPr>
            <a:r>
              <a:t>Natural Language Processing &amp; Large Language Models</a:t>
            </a:r>
          </a:p>
          <a:p>
            <a:pPr marL="0" indent="0">
              <a:buNone/>
            </a:pPr>
            <a:r>
              <a:t>Week 8, Class 1  ·  Mon Oct 12, 2026</a:t>
            </a:r>
          </a:p>
        </p:txBody>
      </p:sp>
      <p:pic>
        <p:nvPicPr>
          <p:cNvPr id="5" name="Picture 4" descr="BERT on paper"/>
          <p:cNvPicPr>
            <a:picLocks noChangeAspect="1"/>
          </p:cNvPicPr>
          <p:nvPr/>
        </p:nvPicPr>
        <p:blipFill>
          <a:blip r:embed="rId3"/>
          <a:stretch>
            <a:fillRect/>
          </a:stretch>
        </p:blipFill>
        <p:spPr>
          <a:xfrm>
            <a:off x="6556248" y="3474720"/>
            <a:ext cx="222199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Charles J. Sharp,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vector per word, no matter the sentence</a:t>
            </a:r>
          </a:p>
        </p:txBody>
      </p:sp>
      <p:sp>
        <p:nvSpPr>
          <p:cNvPr id="5" name="Rounded Rectangle 4"/>
          <p:cNvSpPr/>
          <p:nvPr/>
        </p:nvSpPr>
        <p:spPr>
          <a:xfrm>
            <a:off x="457200" y="2327465"/>
            <a:ext cx="4041648" cy="1092073"/>
          </a:xfrm>
          <a:prstGeom prst="roundRect">
            <a:avLst>
              <a:gd name="adj" fmla="val 10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73769"/>
            <a:ext cx="3675888" cy="79946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STATIC</a:t>
            </a:r>
          </a:p>
          <a:p>
            <a:pPr marL="0" indent="0">
              <a:spcAft>
                <a:spcPts val="300"/>
              </a:spcAft>
              <a:buNone/>
            </a:pPr>
            <a:r>
              <a:rPr sz="1400" b="0" u="none">
                <a:solidFill>
                  <a:srgbClr val="1D1D1F"/>
                </a:solidFill>
                <a:latin typeface="Menlo"/>
              </a:rPr>
              <a:t>one vector per word type</a:t>
            </a:r>
          </a:p>
          <a:p>
            <a:pPr marL="0" indent="0" algn="l">
              <a:spcAft>
                <a:spcPts val="200"/>
              </a:spcAft>
              <a:buNone/>
            </a:pPr>
            <a:r>
              <a:rPr sz="1200" b="0">
                <a:solidFill>
                  <a:srgbClr val="86868B"/>
                </a:solidFill>
                <a:latin typeface="Helvetica Neue"/>
              </a:rPr>
              <a:t>"river bank" and "cash at the bank" get the identical vector. Both senses collapsed.</a:t>
            </a:r>
          </a:p>
        </p:txBody>
      </p:sp>
      <p:sp>
        <p:nvSpPr>
          <p:cNvPr id="7" name="Rounded Rectangle 6"/>
          <p:cNvSpPr/>
          <p:nvPr/>
        </p:nvSpPr>
        <p:spPr>
          <a:xfrm>
            <a:off x="4645152" y="2327465"/>
            <a:ext cx="4041648" cy="1092073"/>
          </a:xfrm>
          <a:prstGeom prst="roundRect">
            <a:avLst>
              <a:gd name="adj" fmla="val 10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73769"/>
            <a:ext cx="3675888" cy="79946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CONTEXTUAL</a:t>
            </a:r>
          </a:p>
          <a:p>
            <a:pPr marL="0" indent="0">
              <a:spcAft>
                <a:spcPts val="300"/>
              </a:spcAft>
              <a:buNone/>
            </a:pPr>
            <a:r>
              <a:rPr sz="1400" b="0" u="none">
                <a:solidFill>
                  <a:srgbClr val="1D1D1F"/>
                </a:solidFill>
                <a:latin typeface="Menlo"/>
              </a:rPr>
              <a:t>computed from the whole sentence</a:t>
            </a:r>
          </a:p>
          <a:p>
            <a:pPr marL="0" indent="0" algn="l">
              <a:spcAft>
                <a:spcPts val="200"/>
              </a:spcAft>
              <a:buNone/>
            </a:pPr>
            <a:r>
              <a:rPr sz="1200" b="0">
                <a:solidFill>
                  <a:srgbClr val="86868B"/>
                </a:solidFill>
                <a:latin typeface="Helvetica Neue"/>
              </a:rPr>
              <a:t>The same two sentences give different vectors. The sense is settled by context.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stack of encoder layers, no direction</a:t>
            </a:r>
          </a:p>
        </p:txBody>
      </p:sp>
      <p:graphicFrame>
        <p:nvGraphicFramePr>
          <p:cNvPr id="5" name="Table 4"/>
          <p:cNvGraphicFramePr>
            <a:graphicFrameLocks noGrp="1"/>
          </p:cNvGraphicFramePr>
          <p:nvPr/>
        </p:nvGraphicFramePr>
        <p:xfrm>
          <a:off x="457200" y="2023110"/>
          <a:ext cx="5102351" cy="1700784"/>
        </p:xfrm>
        <a:graphic>
          <a:graphicData uri="http://schemas.openxmlformats.org/drawingml/2006/table">
            <a:tbl>
              <a:tblPr firstRow="1" bandRow="0"/>
              <a:tblGrid>
                <a:gridCol w="1550543"/>
                <a:gridCol w="887952"/>
                <a:gridCol w="887952"/>
                <a:gridCol w="887952"/>
                <a:gridCol w="887952"/>
              </a:tblGrid>
              <a:tr h="566928">
                <a:tc>
                  <a:txBody>
                    <a:bodyPr wrap="none"/>
                    <a:lstStyle/>
                    <a:p>
                      <a:pPr marL="0" indent="0" algn="l">
                        <a:spcAft>
                          <a:spcPts val="0"/>
                        </a:spcAft>
                        <a:buNone/>
                      </a:pPr>
                      <a:r>
                        <a:rPr sz="1100" b="1" spc="50">
                          <a:solidFill>
                            <a:srgbClr val="86868B"/>
                          </a:solidFill>
                          <a:latin typeface="Helvetica Neue"/>
                        </a:rPr>
                        <a:t>MODEL</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LAYERS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WIDTH</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HEADS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PARAMS</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BERT-base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768</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110M</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BERT-large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1024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340M</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2023110"/>
            <a:ext cx="2761488" cy="1700784"/>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EVERY LAYER</a:t>
            </a:r>
          </a:p>
          <a:p>
            <a:pPr marL="0" indent="0">
              <a:spcAft>
                <a:spcPts val="900"/>
              </a:spcAft>
              <a:buNone/>
            </a:pPr>
            <a:r>
              <a:rPr sz="1300">
                <a:solidFill>
                  <a:srgbClr val="1D1D1F"/>
                </a:solidFill>
                <a:latin typeface="Helvetica Neue"/>
              </a:rPr>
              <a:t>L encoder layers, and every token sees every token, in both directions.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Every input is three embeddings added</a:t>
            </a:r>
          </a:p>
        </p:txBody>
      </p:sp>
      <p:graphicFrame>
        <p:nvGraphicFramePr>
          <p:cNvPr id="5" name="Table 4"/>
          <p:cNvGraphicFramePr>
            <a:graphicFrameLocks noGrp="1"/>
          </p:cNvGraphicFramePr>
          <p:nvPr/>
        </p:nvGraphicFramePr>
        <p:xfrm>
          <a:off x="457200" y="1739646"/>
          <a:ext cx="5102350" cy="2267712"/>
        </p:xfrm>
        <a:graphic>
          <a:graphicData uri="http://schemas.openxmlformats.org/drawingml/2006/table">
            <a:tbl>
              <a:tblPr firstRow="1" bandRow="0"/>
              <a:tblGrid>
                <a:gridCol w="1280668"/>
                <a:gridCol w="636947"/>
                <a:gridCol w="636947"/>
                <a:gridCol w="636947"/>
                <a:gridCol w="636947"/>
                <a:gridCol w="636947"/>
                <a:gridCol w="636947"/>
              </a:tblGrid>
              <a:tr h="566928">
                <a:tc>
                  <a:txBody>
                    <a:bodyPr wrap="none"/>
                    <a:lstStyle/>
                    <a:p>
                      <a:pPr marL="0" indent="0" algn="l">
                        <a:spcAft>
                          <a:spcPts val="0"/>
                        </a:spcAft>
                        <a:buNone/>
                      </a:pPr>
                      <a:r>
                        <a:rPr sz="1100" b="1" spc="50">
                          <a:solidFill>
                            <a:srgbClr val="86868B"/>
                          </a:solidFill>
                          <a:latin typeface="Helvetica Neue"/>
                        </a:rPr>
                        <a:t>ROW</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token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[CLS]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my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dog</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is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cute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[SEP]</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segment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position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3</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739646"/>
            <a:ext cx="2761488" cy="2267712"/>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ALWAYS THE SAME THREE</a:t>
            </a:r>
          </a:p>
          <a:p>
            <a:pPr marL="0" indent="0">
              <a:spcAft>
                <a:spcPts val="900"/>
              </a:spcAft>
              <a:buNone/>
            </a:pPr>
            <a:r>
              <a:rPr sz="1300">
                <a:solidFill>
                  <a:srgbClr val="1D1D1F"/>
                </a:solidFill>
                <a:latin typeface="Helvetica Neue"/>
              </a:rPr>
              <a:t>Three vectors, each of width H, added together. One or two sentences, one sequence.</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Pretraining: hide words, then predict them</a:t>
            </a:r>
          </a:p>
        </p:txBody>
      </p:sp>
      <p:sp>
        <p:nvSpPr>
          <p:cNvPr id="5" name="Rounded Rectangle 4"/>
          <p:cNvSpPr/>
          <p:nvPr/>
        </p:nvSpPr>
        <p:spPr>
          <a:xfrm>
            <a:off x="457200" y="2399220"/>
            <a:ext cx="2645664" cy="948563"/>
          </a:xfrm>
          <a:prstGeom prst="roundRect">
            <a:avLst>
              <a:gd name="adj" fmla="val 125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545524"/>
            <a:ext cx="2279904" cy="655955"/>
          </a:xfrm>
          <a:prstGeom prst="rect">
            <a:avLst/>
          </a:prstGeom>
          <a:noFill/>
        </p:spPr>
        <p:txBody>
          <a:bodyPr wrap="square" anchor="t" lIns="0" rIns="0" tIns="0" bIns="0">
            <a:spAutoFit/>
          </a:bodyPr>
          <a:lstStyle/>
          <a:p>
            <a:pPr marL="0" indent="0" algn="l">
              <a:spcAft>
                <a:spcPts val="600"/>
              </a:spcAft>
              <a:buNone/>
            </a:pPr>
            <a:r>
              <a:rPr sz="950" b="1" spc="70">
                <a:solidFill>
                  <a:srgbClr val="86868B"/>
                </a:solidFill>
                <a:latin typeface="Helvetica Neue"/>
              </a:rPr>
              <a:t>80%</a:t>
            </a:r>
          </a:p>
          <a:p>
            <a:pPr marL="0" indent="0">
              <a:spcAft>
                <a:spcPts val="300"/>
              </a:spcAft>
              <a:buNone/>
            </a:pPr>
            <a:r>
              <a:rPr sz="1050" b="0" u="none">
                <a:solidFill>
                  <a:srgbClr val="1D1D1F"/>
                </a:solidFill>
                <a:latin typeface="Menlo"/>
              </a:rPr>
              <a:t>replaced with [MASK]</a:t>
            </a:r>
          </a:p>
        </p:txBody>
      </p:sp>
      <p:sp>
        <p:nvSpPr>
          <p:cNvPr id="7" name="Rounded Rectangle 6"/>
          <p:cNvSpPr/>
          <p:nvPr/>
        </p:nvSpPr>
        <p:spPr>
          <a:xfrm>
            <a:off x="3249168" y="2399220"/>
            <a:ext cx="2645664" cy="948563"/>
          </a:xfrm>
          <a:prstGeom prst="roundRect">
            <a:avLst>
              <a:gd name="adj" fmla="val 125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2545524"/>
            <a:ext cx="2279904" cy="655955"/>
          </a:xfrm>
          <a:prstGeom prst="rect">
            <a:avLst/>
          </a:prstGeom>
          <a:noFill/>
        </p:spPr>
        <p:txBody>
          <a:bodyPr wrap="square" anchor="t" lIns="0" rIns="0" tIns="0" bIns="0">
            <a:spAutoFit/>
          </a:bodyPr>
          <a:lstStyle/>
          <a:p>
            <a:pPr marL="0" indent="0" algn="l">
              <a:spcAft>
                <a:spcPts val="600"/>
              </a:spcAft>
              <a:buNone/>
            </a:pPr>
            <a:r>
              <a:rPr sz="950" b="1" spc="70">
                <a:solidFill>
                  <a:srgbClr val="86868B"/>
                </a:solidFill>
                <a:latin typeface="Helvetica Neue"/>
              </a:rPr>
              <a:t>10%</a:t>
            </a:r>
          </a:p>
          <a:p>
            <a:pPr marL="0" indent="0">
              <a:spcAft>
                <a:spcPts val="300"/>
              </a:spcAft>
              <a:buNone/>
            </a:pPr>
            <a:r>
              <a:rPr sz="1050" b="0" u="none">
                <a:solidFill>
                  <a:srgbClr val="1D1D1F"/>
                </a:solidFill>
                <a:latin typeface="Menlo"/>
              </a:rPr>
              <a:t>replaced with a random word</a:t>
            </a:r>
          </a:p>
        </p:txBody>
      </p:sp>
      <p:sp>
        <p:nvSpPr>
          <p:cNvPr id="9" name="Rounded Rectangle 8"/>
          <p:cNvSpPr/>
          <p:nvPr/>
        </p:nvSpPr>
        <p:spPr>
          <a:xfrm>
            <a:off x="6041136" y="2399220"/>
            <a:ext cx="2645664" cy="948563"/>
          </a:xfrm>
          <a:prstGeom prst="roundRect">
            <a:avLst>
              <a:gd name="adj" fmla="val 125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2545524"/>
            <a:ext cx="2279904" cy="655955"/>
          </a:xfrm>
          <a:prstGeom prst="rect">
            <a:avLst/>
          </a:prstGeom>
          <a:noFill/>
        </p:spPr>
        <p:txBody>
          <a:bodyPr wrap="square" anchor="t" lIns="0" rIns="0" tIns="0" bIns="0">
            <a:spAutoFit/>
          </a:bodyPr>
          <a:lstStyle/>
          <a:p>
            <a:pPr marL="0" indent="0" algn="l">
              <a:spcAft>
                <a:spcPts val="600"/>
              </a:spcAft>
              <a:buNone/>
            </a:pPr>
            <a:r>
              <a:rPr sz="950" b="1" spc="70">
                <a:solidFill>
                  <a:srgbClr val="86868B"/>
                </a:solidFill>
                <a:latin typeface="Helvetica Neue"/>
              </a:rPr>
              <a:t>10%</a:t>
            </a:r>
          </a:p>
          <a:p>
            <a:pPr marL="0" indent="0">
              <a:spcAft>
                <a:spcPts val="300"/>
              </a:spcAft>
              <a:buNone/>
            </a:pPr>
            <a:r>
              <a:rPr sz="1050" b="0" u="none">
                <a:solidFill>
                  <a:srgbClr val="1D1D1F"/>
                </a:solidFill>
                <a:latin typeface="Menlo"/>
              </a:rPr>
              <a:t>left exactly as it was</a:t>
            </a:r>
          </a:p>
          <a:p>
            <a:pPr marL="0" indent="0" algn="l">
              <a:spcAft>
                <a:spcPts val="200"/>
              </a:spcAft>
              <a:buNone/>
            </a:pPr>
            <a:r>
              <a:rPr sz="900" b="0">
                <a:solidFill>
                  <a:srgbClr val="86868B"/>
                </a:solidFill>
                <a:latin typeface="Helvetica Neue"/>
              </a:rPr>
              <a:t>All three are still predicted. The other 85% are never predicted at all.</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extra layer turns it into a classifier</a:t>
            </a:r>
          </a:p>
        </p:txBody>
      </p:sp>
      <p:sp>
        <p:nvSpPr>
          <p:cNvPr id="5" name="Rounded Rectangle 4"/>
          <p:cNvSpPr/>
          <p:nvPr/>
        </p:nvSpPr>
        <p:spPr>
          <a:xfrm>
            <a:off x="457200" y="2318258"/>
            <a:ext cx="4041648" cy="1110488"/>
          </a:xfrm>
          <a:prstGeom prst="roundRect">
            <a:avLst>
              <a:gd name="adj" fmla="val 1070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64562"/>
            <a:ext cx="3675888" cy="81788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ONE TOKEN'S VECTOR</a:t>
            </a:r>
          </a:p>
          <a:p>
            <a:pPr marL="0" indent="0">
              <a:spcAft>
                <a:spcPts val="300"/>
              </a:spcAft>
              <a:buNone/>
            </a:pPr>
            <a:r>
              <a:rPr sz="1500" b="0" u="none">
                <a:solidFill>
                  <a:srgbClr val="1D1D1F"/>
                </a:solidFill>
                <a:latin typeface="Menlo"/>
              </a:rPr>
              <a:t>softmax(W h + b)</a:t>
            </a:r>
          </a:p>
          <a:p>
            <a:pPr marL="0" indent="0" algn="l">
              <a:spcAft>
                <a:spcPts val="200"/>
              </a:spcAft>
              <a:buNone/>
            </a:pPr>
            <a:r>
              <a:rPr sz="1200" b="0">
                <a:solidFill>
                  <a:srgbClr val="86868B"/>
                </a:solidFill>
                <a:latin typeface="Helvetica Neue"/>
              </a:rPr>
              <a:t>Only [CLS] is used. Every other token vector is thrown away.</a:t>
            </a:r>
          </a:p>
        </p:txBody>
      </p:sp>
      <p:sp>
        <p:nvSpPr>
          <p:cNvPr id="7" name="Rounded Rectangle 6"/>
          <p:cNvSpPr/>
          <p:nvPr/>
        </p:nvSpPr>
        <p:spPr>
          <a:xfrm>
            <a:off x="4645152" y="2318258"/>
            <a:ext cx="4041648" cy="1110488"/>
          </a:xfrm>
          <a:prstGeom prst="roundRect">
            <a:avLst>
              <a:gd name="adj" fmla="val 1070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64562"/>
            <a:ext cx="3675888" cy="81788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FINE-TUNING</a:t>
            </a:r>
          </a:p>
          <a:p>
            <a:pPr marL="0" indent="0">
              <a:spcAft>
                <a:spcPts val="300"/>
              </a:spcAft>
              <a:buNone/>
            </a:pPr>
            <a:r>
              <a:rPr sz="1500" b="0" u="none">
                <a:solidFill>
                  <a:srgbClr val="1D1D1F"/>
                </a:solidFill>
                <a:latin typeface="Menlo"/>
              </a:rPr>
              <a:t>keep everything, add one layer</a:t>
            </a:r>
          </a:p>
          <a:p>
            <a:pPr marL="0" indent="0" algn="l">
              <a:spcAft>
                <a:spcPts val="200"/>
              </a:spcAft>
              <a:buNone/>
            </a:pPr>
            <a:r>
              <a:rPr sz="1200" b="0">
                <a:solidFill>
                  <a:srgbClr val="86868B"/>
                </a:solidFill>
                <a:latin typeface="Helvetica Neue"/>
              </a:rPr>
              <a:t>That one layer is everything the new task adds.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or decoder, understanding or writing</a:t>
            </a:r>
          </a:p>
        </p:txBody>
      </p:sp>
      <p:sp>
        <p:nvSpPr>
          <p:cNvPr id="5" name="Rounded Rectangle 4"/>
          <p:cNvSpPr/>
          <p:nvPr/>
        </p:nvSpPr>
        <p:spPr>
          <a:xfrm>
            <a:off x="457200" y="2221579"/>
            <a:ext cx="4041648" cy="1303845"/>
          </a:xfrm>
          <a:prstGeom prst="roundRect">
            <a:avLst>
              <a:gd name="adj" fmla="val 911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367883"/>
            <a:ext cx="3675888" cy="101123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ENCODER</a:t>
            </a:r>
          </a:p>
          <a:p>
            <a:pPr marL="0" indent="0">
              <a:spcAft>
                <a:spcPts val="300"/>
              </a:spcAft>
              <a:buNone/>
            </a:pPr>
            <a:r>
              <a:rPr sz="1350" b="0" u="none">
                <a:solidFill>
                  <a:srgbClr val="1D1D1F"/>
                </a:solidFill>
                <a:latin typeface="Menlo"/>
              </a:rPr>
              <a:t>reads the whole input, both ways</a:t>
            </a:r>
          </a:p>
          <a:p>
            <a:pPr marL="0" indent="0" algn="l">
              <a:spcAft>
                <a:spcPts val="200"/>
              </a:spcAft>
              <a:buNone/>
            </a:pPr>
            <a:r>
              <a:rPr sz="1150" b="0">
                <a:solidFill>
                  <a:srgbClr val="86868B"/>
                </a:solidFill>
                <a:latin typeface="Helvetica Neue"/>
              </a:rPr>
              <a:t>Understanding: classification, NER, retrieval.</a:t>
            </a:r>
          </a:p>
          <a:p>
            <a:pPr marL="0" indent="0" algn="l">
              <a:spcAft>
                <a:spcPts val="200"/>
              </a:spcAft>
              <a:buNone/>
            </a:pPr>
            <a:r>
              <a:rPr sz="1150" b="0">
                <a:solidFill>
                  <a:srgbClr val="86868B"/>
                </a:solidFill>
                <a:latin typeface="Helvetica Neue"/>
              </a:rPr>
              <a:t>"the movie was surprisingly great" -&gt; POSITIVE 0.97</a:t>
            </a:r>
          </a:p>
        </p:txBody>
      </p:sp>
      <p:sp>
        <p:nvSpPr>
          <p:cNvPr id="7" name="Rounded Rectangle 6"/>
          <p:cNvSpPr/>
          <p:nvPr/>
        </p:nvSpPr>
        <p:spPr>
          <a:xfrm>
            <a:off x="4645152" y="2221579"/>
            <a:ext cx="4041648" cy="1303845"/>
          </a:xfrm>
          <a:prstGeom prst="roundRect">
            <a:avLst>
              <a:gd name="adj" fmla="val 911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367883"/>
            <a:ext cx="3675888" cy="101123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DECODER</a:t>
            </a:r>
          </a:p>
          <a:p>
            <a:pPr marL="0" indent="0">
              <a:spcAft>
                <a:spcPts val="300"/>
              </a:spcAft>
              <a:buNone/>
            </a:pPr>
            <a:r>
              <a:rPr sz="1350" b="0" u="none">
                <a:solidFill>
                  <a:srgbClr val="1D1D1F"/>
                </a:solidFill>
                <a:latin typeface="Menlo"/>
              </a:rPr>
              <a:t>reads left to right, predicts next</a:t>
            </a:r>
          </a:p>
          <a:p>
            <a:pPr marL="0" indent="0" algn="l">
              <a:spcAft>
                <a:spcPts val="200"/>
              </a:spcAft>
              <a:buNone/>
            </a:pPr>
            <a:r>
              <a:rPr sz="1150" b="0">
                <a:solidFill>
                  <a:srgbClr val="86868B"/>
                </a:solidFill>
                <a:latin typeface="Helvetica Neue"/>
              </a:rPr>
              <a:t>Generation: writing text, chat.</a:t>
            </a:r>
          </a:p>
          <a:p>
            <a:pPr marL="0" indent="0" algn="l">
              <a:spcAft>
                <a:spcPts val="200"/>
              </a:spcAft>
              <a:buNone/>
            </a:pPr>
            <a:r>
              <a:rPr sz="1150" b="0">
                <a:solidFill>
                  <a:srgbClr val="86868B"/>
                </a:solidFill>
                <a:latin typeface="Helvetica Neue"/>
              </a:rPr>
              <a:t>"Once upon a" -&gt; "time, a young queen ruled"</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markers, teams of three or four, and six problems."/>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1: the masking budget</a:t>
            </a:r>
          </a:p>
        </p:txBody>
      </p:sp>
      <p:sp>
        <p:nvSpPr>
          <p:cNvPr id="5" name="Rounded Rectangle 4"/>
          <p:cNvSpPr/>
          <p:nvPr/>
        </p:nvSpPr>
        <p:spPr>
          <a:xfrm>
            <a:off x="457200" y="1078992"/>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GIVEN</a:t>
            </a:r>
          </a:p>
        </p:txBody>
      </p:sp>
      <p:sp>
        <p:nvSpPr>
          <p:cNvPr id="7" name="TextBox 6"/>
          <p:cNvSpPr txBox="1"/>
          <p:nvPr/>
        </p:nvSpPr>
        <p:spPr>
          <a:xfrm>
            <a:off x="2523744" y="1078992"/>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one sequence of 200 tokens; 15% selected; of those, 80% [[MASK]], 10% random, 10% unchanged</a:t>
            </a:r>
          </a:p>
        </p:txBody>
      </p:sp>
      <p:sp>
        <p:nvSpPr>
          <p:cNvPr id="8" name="Rounded Rectangle 7"/>
          <p:cNvSpPr/>
          <p:nvPr/>
        </p:nvSpPr>
        <p:spPr>
          <a:xfrm>
            <a:off x="457200" y="2299716"/>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2299716"/>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1</a:t>
            </a:r>
          </a:p>
        </p:txBody>
      </p:sp>
      <p:sp>
        <p:nvSpPr>
          <p:cNvPr id="10" name="TextBox 9"/>
          <p:cNvSpPr txBox="1"/>
          <p:nvPr/>
        </p:nvSpPr>
        <p:spPr>
          <a:xfrm>
            <a:off x="2523744" y="2299716"/>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How many tokens are selected, and how many land in each of the three groups?</a:t>
            </a:r>
          </a:p>
        </p:txBody>
      </p:sp>
      <p:sp>
        <p:nvSpPr>
          <p:cNvPr id="11" name="Rounded Rectangle 10"/>
          <p:cNvSpPr/>
          <p:nvPr/>
        </p:nvSpPr>
        <p:spPr>
          <a:xfrm>
            <a:off x="457200" y="3520440"/>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3520440"/>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2</a:t>
            </a:r>
          </a:p>
        </p:txBody>
      </p:sp>
      <p:sp>
        <p:nvSpPr>
          <p:cNvPr id="13" name="TextBox 12"/>
          <p:cNvSpPr txBox="1"/>
          <p:nvPr/>
        </p:nvSpPr>
        <p:spPr>
          <a:xfrm>
            <a:off x="2523744" y="3520440"/>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How many positions contribute to the loss?</a:t>
            </a:r>
          </a:p>
        </p:txBody>
      </p:sp>
      <p:sp>
        <p:nvSpPr>
          <p:cNvPr id="14" name="TextBox 13"/>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2: filling the blank</a:t>
            </a:r>
          </a:p>
        </p:txBody>
      </p:sp>
      <p:sp>
        <p:nvSpPr>
          <p:cNvPr id="5" name="Rounded Rectangle 4"/>
          <p:cNvSpPr/>
          <p:nvPr/>
        </p:nvSpPr>
        <p:spPr>
          <a:xfrm>
            <a:off x="457200" y="1078992"/>
            <a:ext cx="8229600" cy="842391"/>
          </a:xfrm>
          <a:prstGeom prst="roundRect">
            <a:avLst>
              <a:gd name="adj" fmla="val 108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1828800" cy="842391"/>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GIVEN</a:t>
            </a:r>
          </a:p>
        </p:txBody>
      </p:sp>
      <p:sp>
        <p:nvSpPr>
          <p:cNvPr id="7" name="TextBox 6"/>
          <p:cNvSpPr txBox="1"/>
          <p:nvPr/>
        </p:nvSpPr>
        <p:spPr>
          <a:xfrm>
            <a:off x="2523744" y="1078992"/>
            <a:ext cx="5925312" cy="842391"/>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"i deposited money at the [[MASK]] bank" scores: shore 3, river 2, table 1, and 0 for the rest</a:t>
            </a:r>
          </a:p>
        </p:txBody>
      </p:sp>
      <p:sp>
        <p:nvSpPr>
          <p:cNvPr id="8" name="Rounded Rectangle 7"/>
          <p:cNvSpPr/>
          <p:nvPr/>
        </p:nvSpPr>
        <p:spPr>
          <a:xfrm>
            <a:off x="457200" y="1994535"/>
            <a:ext cx="8229600" cy="842391"/>
          </a:xfrm>
          <a:prstGeom prst="roundRect">
            <a:avLst>
              <a:gd name="adj" fmla="val 108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4535"/>
            <a:ext cx="1828800" cy="842391"/>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1</a:t>
            </a:r>
          </a:p>
        </p:txBody>
      </p:sp>
      <p:sp>
        <p:nvSpPr>
          <p:cNvPr id="10" name="TextBox 9"/>
          <p:cNvSpPr txBox="1"/>
          <p:nvPr/>
        </p:nvSpPr>
        <p:spPr>
          <a:xfrm>
            <a:off x="2523744" y="1994535"/>
            <a:ext cx="5925312" cy="842391"/>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Compute the probability of each of the four words</a:t>
            </a:r>
          </a:p>
        </p:txBody>
      </p:sp>
      <p:sp>
        <p:nvSpPr>
          <p:cNvPr id="11" name="Rounded Rectangle 10"/>
          <p:cNvSpPr/>
          <p:nvPr/>
        </p:nvSpPr>
        <p:spPr>
          <a:xfrm>
            <a:off x="457200" y="2910078"/>
            <a:ext cx="8229600" cy="842391"/>
          </a:xfrm>
          <a:prstGeom prst="roundRect">
            <a:avLst>
              <a:gd name="adj" fmla="val 108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0078"/>
            <a:ext cx="1828800" cy="842391"/>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2</a:t>
            </a:r>
          </a:p>
        </p:txBody>
      </p:sp>
      <p:sp>
        <p:nvSpPr>
          <p:cNvPr id="13" name="TextBox 12"/>
          <p:cNvSpPr txBox="1"/>
          <p:nvPr/>
        </p:nvSpPr>
        <p:spPr>
          <a:xfrm>
            <a:off x="2523744" y="2910078"/>
            <a:ext cx="5925312" cy="842391"/>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The original word was river. Compute the loss at this position</a:t>
            </a:r>
          </a:p>
        </p:txBody>
      </p:sp>
      <p:sp>
        <p:nvSpPr>
          <p:cNvPr id="14" name="Rounded Rectangle 13"/>
          <p:cNvSpPr/>
          <p:nvPr/>
        </p:nvSpPr>
        <p:spPr>
          <a:xfrm>
            <a:off x="457200" y="3825621"/>
            <a:ext cx="8229600" cy="842391"/>
          </a:xfrm>
          <a:prstGeom prst="roundRect">
            <a:avLst>
              <a:gd name="adj" fmla="val 108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25621"/>
            <a:ext cx="1828800" cy="842391"/>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YOU MAY NEED</a:t>
            </a:r>
          </a:p>
        </p:txBody>
      </p:sp>
      <p:sp>
        <p:nvSpPr>
          <p:cNvPr id="16" name="TextBox 15"/>
          <p:cNvSpPr txBox="1"/>
          <p:nvPr/>
        </p:nvSpPr>
        <p:spPr>
          <a:xfrm>
            <a:off x="2523744" y="3825621"/>
            <a:ext cx="5925312" cy="842391"/>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e^0 = 1.000   e^1 = 2.718   e^2 = 7.389   e^3 = 20.086   ln 31.193 = 3.440</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3: how much context</a:t>
            </a:r>
          </a:p>
        </p:txBody>
      </p:sp>
      <p:sp>
        <p:nvSpPr>
          <p:cNvPr id="5" name="Rounded Rectangle 4"/>
          <p:cNvSpPr/>
          <p:nvPr/>
        </p:nvSpPr>
        <p:spPr>
          <a:xfrm>
            <a:off x="457200" y="1078992"/>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GIVEN</a:t>
            </a:r>
          </a:p>
        </p:txBody>
      </p:sp>
      <p:sp>
        <p:nvSpPr>
          <p:cNvPr id="7" name="TextBox 6"/>
          <p:cNvSpPr txBox="1"/>
          <p:nvPr/>
        </p:nvSpPr>
        <p:spPr>
          <a:xfrm>
            <a:off x="2523744" y="1078992"/>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"the film was surprisingly good and worth every minute", target is token 5</a:t>
            </a:r>
          </a:p>
        </p:txBody>
      </p:sp>
      <p:sp>
        <p:nvSpPr>
          <p:cNvPr id="8" name="Rounded Rectangle 7"/>
          <p:cNvSpPr/>
          <p:nvPr/>
        </p:nvSpPr>
        <p:spPr>
          <a:xfrm>
            <a:off x="457200" y="2299716"/>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2299716"/>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1</a:t>
            </a:r>
          </a:p>
        </p:txBody>
      </p:sp>
      <p:sp>
        <p:nvSpPr>
          <p:cNvPr id="10" name="TextBox 9"/>
          <p:cNvSpPr txBox="1"/>
          <p:nvPr/>
        </p:nvSpPr>
        <p:spPr>
          <a:xfrm>
            <a:off x="2523744" y="2299716"/>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How many other tokens can BERT use to predict token 5, and how many can a left-to-right model use?</a:t>
            </a:r>
          </a:p>
        </p:txBody>
      </p:sp>
      <p:sp>
        <p:nvSpPr>
          <p:cNvPr id="11" name="Rounded Rectangle 10"/>
          <p:cNvSpPr/>
          <p:nvPr/>
        </p:nvSpPr>
        <p:spPr>
          <a:xfrm>
            <a:off x="457200" y="3520440"/>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3520440"/>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2</a:t>
            </a:r>
          </a:p>
        </p:txBody>
      </p:sp>
      <p:sp>
        <p:nvSpPr>
          <p:cNvPr id="13" name="TextBox 12"/>
          <p:cNvSpPr txBox="1"/>
          <p:nvPr/>
        </p:nvSpPr>
        <p:spPr>
          <a:xfrm>
            <a:off x="2523744" y="3520440"/>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How many query-key pairs does each one score over the whole sequence?</a:t>
            </a:r>
          </a:p>
        </p:txBody>
      </p:sp>
      <p:sp>
        <p:nvSpPr>
          <p:cNvPr id="14" name="TextBox 13"/>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4: assembling the input</a:t>
            </a:r>
          </a:p>
        </p:txBody>
      </p:sp>
      <p:sp>
        <p:nvSpPr>
          <p:cNvPr id="5" name="Rounded Rectangle 4"/>
          <p:cNvSpPr/>
          <p:nvPr/>
        </p:nvSpPr>
        <p:spPr>
          <a:xfrm>
            <a:off x="457200" y="1078992"/>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GIVEN</a:t>
            </a:r>
          </a:p>
        </p:txBody>
      </p:sp>
      <p:sp>
        <p:nvSpPr>
          <p:cNvPr id="7" name="TextBox 6"/>
          <p:cNvSpPr txBox="1"/>
          <p:nvPr/>
        </p:nvSpPr>
        <p:spPr>
          <a:xfrm>
            <a:off x="2523744" y="1078992"/>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A: "the bank was closed"   B: "we walked home" for bank: E_tok = [0.2, -0.1, 0.5, 0.0] E_seg = [0.1, 0.1, 0.0, 0.0]   E_pos = [0.0, 0.3, -0.2, 0.1]</a:t>
            </a:r>
          </a:p>
        </p:txBody>
      </p:sp>
      <p:sp>
        <p:nvSpPr>
          <p:cNvPr id="8" name="Rounded Rectangle 7"/>
          <p:cNvSpPr/>
          <p:nvPr/>
        </p:nvSpPr>
        <p:spPr>
          <a:xfrm>
            <a:off x="457200" y="2299716"/>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2299716"/>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1</a:t>
            </a:r>
          </a:p>
        </p:txBody>
      </p:sp>
      <p:sp>
        <p:nvSpPr>
          <p:cNvPr id="10" name="TextBox 9"/>
          <p:cNvSpPr txBox="1"/>
          <p:nvPr/>
        </p:nvSpPr>
        <p:spPr>
          <a:xfrm>
            <a:off x="2523744" y="2299716"/>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Write the full token sequence, then give the segment id and position of closed</a:t>
            </a:r>
          </a:p>
        </p:txBody>
      </p:sp>
      <p:sp>
        <p:nvSpPr>
          <p:cNvPr id="11" name="Rounded Rectangle 10"/>
          <p:cNvSpPr/>
          <p:nvPr/>
        </p:nvSpPr>
        <p:spPr>
          <a:xfrm>
            <a:off x="457200" y="3520440"/>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3520440"/>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2</a:t>
            </a:r>
          </a:p>
        </p:txBody>
      </p:sp>
      <p:sp>
        <p:nvSpPr>
          <p:cNvPr id="13" name="TextBox 12"/>
          <p:cNvSpPr txBox="1"/>
          <p:nvPr/>
        </p:nvSpPr>
        <p:spPr>
          <a:xfrm>
            <a:off x="2523744" y="3520440"/>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Compute the input vector for bank</a:t>
            </a:r>
          </a:p>
        </p:txBody>
      </p:sp>
      <p:sp>
        <p:nvSpPr>
          <p:cNvPr id="14" name="TextBox 13"/>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5: the price of a new task</a:t>
            </a:r>
          </a:p>
        </p:txBody>
      </p:sp>
      <p:sp>
        <p:nvSpPr>
          <p:cNvPr id="5" name="Rounded Rectangle 4"/>
          <p:cNvSpPr/>
          <p:nvPr/>
        </p:nvSpPr>
        <p:spPr>
          <a:xfrm>
            <a:off x="457200" y="1078992"/>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GIVEN</a:t>
            </a:r>
          </a:p>
        </p:txBody>
      </p:sp>
      <p:sp>
        <p:nvSpPr>
          <p:cNvPr id="7" name="TextBox 6"/>
          <p:cNvSpPr txBox="1"/>
          <p:nvPr/>
        </p:nvSpPr>
        <p:spPr>
          <a:xfrm>
            <a:off x="2523744" y="1078992"/>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fine-tuning BERT-base: H = 768, 110,000,000 parameters, new task with K = 3 classes</a:t>
            </a:r>
          </a:p>
        </p:txBody>
      </p:sp>
      <p:sp>
        <p:nvSpPr>
          <p:cNvPr id="8" name="Rounded Rectangle 7"/>
          <p:cNvSpPr/>
          <p:nvPr/>
        </p:nvSpPr>
        <p:spPr>
          <a:xfrm>
            <a:off x="457200" y="2299716"/>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2299716"/>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1</a:t>
            </a:r>
          </a:p>
        </p:txBody>
      </p:sp>
      <p:sp>
        <p:nvSpPr>
          <p:cNvPr id="10" name="TextBox 9"/>
          <p:cNvSpPr txBox="1"/>
          <p:nvPr/>
        </p:nvSpPr>
        <p:spPr>
          <a:xfrm>
            <a:off x="2523744" y="2299716"/>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How many parameters does the new head add?</a:t>
            </a:r>
          </a:p>
        </p:txBody>
      </p:sp>
      <p:sp>
        <p:nvSpPr>
          <p:cNvPr id="11" name="Rounded Rectangle 10"/>
          <p:cNvSpPr/>
          <p:nvPr/>
        </p:nvSpPr>
        <p:spPr>
          <a:xfrm>
            <a:off x="457200" y="3520440"/>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3520440"/>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2</a:t>
            </a:r>
          </a:p>
        </p:txBody>
      </p:sp>
      <p:sp>
        <p:nvSpPr>
          <p:cNvPr id="13" name="TextBox 12"/>
          <p:cNvSpPr txBox="1"/>
          <p:nvPr/>
        </p:nvSpPr>
        <p:spPr>
          <a:xfrm>
            <a:off x="2523744" y="3520440"/>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Express that as a fraction of the pretrained model</a:t>
            </a:r>
          </a:p>
        </p:txBody>
      </p:sp>
      <p:sp>
        <p:nvSpPr>
          <p:cNvPr id="14" name="TextBox 13"/>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6: base against large</a:t>
            </a:r>
          </a:p>
        </p:txBody>
      </p:sp>
      <p:sp>
        <p:nvSpPr>
          <p:cNvPr id="5" name="Rounded Rectangle 4"/>
          <p:cNvSpPr/>
          <p:nvPr/>
        </p:nvSpPr>
        <p:spPr>
          <a:xfrm>
            <a:off x="457200" y="1078992"/>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GIVEN</a:t>
            </a:r>
          </a:p>
        </p:txBody>
      </p:sp>
      <p:sp>
        <p:nvSpPr>
          <p:cNvPr id="7" name="TextBox 6"/>
          <p:cNvSpPr txBox="1"/>
          <p:nvPr/>
        </p:nvSpPr>
        <p:spPr>
          <a:xfrm>
            <a:off x="2523744" y="1078992"/>
            <a:ext cx="5925312" cy="1147572"/>
          </a:xfrm>
          <a:prstGeom prst="rect">
            <a:avLst/>
          </a:prstGeom>
          <a:noFill/>
        </p:spPr>
        <p:txBody>
          <a:bodyPr wrap="none" anchor="ctr" lIns="0" rIns="0" tIns="0" bIns="0">
            <a:spAutoFit/>
          </a:bodyPr>
          <a:lstStyle/>
          <a:p>
            <a:pPr marL="0" indent="0" algn="l">
              <a:spcAft>
                <a:spcPts val="0"/>
              </a:spcAft>
              <a:buNone/>
            </a:pPr>
            <a:r>
              <a:rPr sz="1200" b="0">
                <a:solidFill>
                  <a:srgbClr val="1D1D1F"/>
                </a:solidFill>
                <a:latin typeface="Menlo"/>
              </a:rPr>
              <a:t>base: L 12, H 768, A 12        large: L 24, H 1024, A 16</a:t>
            </a:r>
          </a:p>
        </p:txBody>
      </p:sp>
      <p:sp>
        <p:nvSpPr>
          <p:cNvPr id="8" name="Rounded Rectangle 7"/>
          <p:cNvSpPr/>
          <p:nvPr/>
        </p:nvSpPr>
        <p:spPr>
          <a:xfrm>
            <a:off x="457200" y="2299716"/>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2299716"/>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1</a:t>
            </a:r>
          </a:p>
        </p:txBody>
      </p:sp>
      <p:sp>
        <p:nvSpPr>
          <p:cNvPr id="10" name="TextBox 9"/>
          <p:cNvSpPr txBox="1"/>
          <p:nvPr/>
        </p:nvSpPr>
        <p:spPr>
          <a:xfrm>
            <a:off x="2523744" y="2299716"/>
            <a:ext cx="5925312" cy="1147572"/>
          </a:xfrm>
          <a:prstGeom prst="rect">
            <a:avLst/>
          </a:prstGeom>
          <a:noFill/>
        </p:spPr>
        <p:txBody>
          <a:bodyPr wrap="none" anchor="ctr" lIns="0" rIns="0" tIns="0" bIns="0">
            <a:spAutoFit/>
          </a:bodyPr>
          <a:lstStyle/>
          <a:p>
            <a:pPr marL="0" indent="0" algn="l">
              <a:spcAft>
                <a:spcPts val="0"/>
              </a:spcAft>
              <a:buNone/>
            </a:pPr>
            <a:r>
              <a:rPr sz="1200" b="0">
                <a:solidFill>
                  <a:srgbClr val="1D1D1F"/>
                </a:solidFill>
                <a:latin typeface="Menlo"/>
              </a:rPr>
              <a:t>Compute dk for each model</a:t>
            </a:r>
          </a:p>
        </p:txBody>
      </p:sp>
      <p:sp>
        <p:nvSpPr>
          <p:cNvPr id="11" name="Rounded Rectangle 10"/>
          <p:cNvSpPr/>
          <p:nvPr/>
        </p:nvSpPr>
        <p:spPr>
          <a:xfrm>
            <a:off x="457200" y="3520440"/>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3520440"/>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2</a:t>
            </a:r>
          </a:p>
        </p:txBody>
      </p:sp>
      <p:sp>
        <p:nvSpPr>
          <p:cNvPr id="13" name="TextBox 12"/>
          <p:cNvSpPr txBox="1"/>
          <p:nvPr/>
        </p:nvSpPr>
        <p:spPr>
          <a:xfrm>
            <a:off x="2523744" y="3520440"/>
            <a:ext cx="5925312" cy="1147572"/>
          </a:xfrm>
          <a:prstGeom prst="rect">
            <a:avLst/>
          </a:prstGeom>
          <a:noFill/>
        </p:spPr>
        <p:txBody>
          <a:bodyPr wrap="none" anchor="ctr" lIns="0" rIns="0" tIns="0" bIns="0">
            <a:spAutoFit/>
          </a:bodyPr>
          <a:lstStyle/>
          <a:p>
            <a:pPr marL="0" indent="0" algn="l">
              <a:spcAft>
                <a:spcPts val="0"/>
              </a:spcAft>
              <a:buNone/>
            </a:pPr>
            <a:r>
              <a:rPr sz="1200" b="0">
                <a:solidFill>
                  <a:srgbClr val="1D1D1F"/>
                </a:solidFill>
                <a:latin typeface="Menlo"/>
              </a:rPr>
              <a:t>How many attention heads does the whole stack hold, for each?</a:t>
            </a:r>
          </a:p>
        </p:txBody>
      </p:sp>
      <p:sp>
        <p:nvSpPr>
          <p:cNvPr id="14" name="TextBox 13"/>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