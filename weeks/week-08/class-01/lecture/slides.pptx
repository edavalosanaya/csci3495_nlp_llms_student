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9"/>
  </p:notesMasterIdLst>
  <p:sldIdLst>
    <p:sldId id="256" r:id="rId2"/>
    <p:sldId id="272" r:id="rId3"/>
    <p:sldId id="275" r:id="rId4"/>
    <p:sldId id="265" r:id="rId5"/>
    <p:sldId id="268" r:id="rId6"/>
    <p:sldId id="267" r:id="rId7"/>
    <p:sldId id="269" r:id="rId8"/>
    <p:sldId id="281" r:id="rId9"/>
    <p:sldId id="282" r:id="rId10"/>
    <p:sldId id="270" r:id="rId11"/>
    <p:sldId id="277" r:id="rId12"/>
    <p:sldId id="278" r:id="rId13"/>
    <p:sldId id="280" r:id="rId14"/>
    <p:sldId id="279" r:id="rId15"/>
    <p:sldId id="271" r:id="rId16"/>
    <p:sldId id="263" r:id="rId17"/>
    <p:sldId id="264" r:id="rId18"/>
  </p:sldIdLst>
  <p:sldSz cx="9144000" cy="5143500" type="screen16x9"/>
  <p:notesSz cx="6858000" cy="9144000"/>
  <p:embeddedFontLst>
    <p:embeddedFont>
      <p:font typeface="Playfair Display" pitchFamily="2" charset="77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Light" panose="020F03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lang="en-US" dirty="0"/>
              <a:t>LLM Agents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833722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8, Class 1  ·  Mon Oct 12,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Charles J. Sharp, Wikimedia Commons, CC BY-SA 4.0</a:t>
            </a:r>
          </a:p>
        </p:txBody>
      </p:sp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7DFBC6C-AE2A-A8F9-A29C-0E2E9890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612" y="1829671"/>
            <a:ext cx="3252934" cy="22474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DCB479-8F0B-997E-96ED-EDDBE4E1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49"/>
            <a:ext cx="8005800" cy="3950365"/>
          </a:xfrm>
        </p:spPr>
        <p:txBody>
          <a:bodyPr/>
          <a:lstStyle/>
          <a:p>
            <a:r>
              <a:rPr lang="en-US" sz="11500" dirty="0"/>
              <a:t>What is an Agent?</a:t>
            </a:r>
          </a:p>
        </p:txBody>
      </p:sp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42977B7-B07A-CE3E-B333-6D607F2F7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864" y="3040099"/>
            <a:ext cx="3379182" cy="13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3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99F0BC-3C37-228C-10C2-8D036A42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Traditional, Boring LLM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4FE27FA-CCA9-120C-C5A6-7AB52DF26C1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FD17EE-D413-611A-1014-5BC11ED67D7A}"/>
              </a:ext>
            </a:extLst>
          </p:cNvPr>
          <p:cNvSpPr/>
          <p:nvPr/>
        </p:nvSpPr>
        <p:spPr>
          <a:xfrm>
            <a:off x="3427170" y="1802232"/>
            <a:ext cx="1940119" cy="19401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ysClr val="windowText" lastClr="000000"/>
                </a:solidFill>
              </a:rPr>
              <a:t>LLM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1B130B-F2B4-5DF1-7980-5A652BFA4950}"/>
              </a:ext>
            </a:extLst>
          </p:cNvPr>
          <p:cNvSpPr/>
          <p:nvPr/>
        </p:nvSpPr>
        <p:spPr>
          <a:xfrm>
            <a:off x="1052507" y="2223651"/>
            <a:ext cx="1343770" cy="10972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Input Prompt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07B119-D097-F88C-F31A-02805099AAF8}"/>
              </a:ext>
            </a:extLst>
          </p:cNvPr>
          <p:cNvSpPr/>
          <p:nvPr/>
        </p:nvSpPr>
        <p:spPr>
          <a:xfrm>
            <a:off x="6437939" y="2223651"/>
            <a:ext cx="1343770" cy="10972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Output 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68F336-C80E-8FA1-A365-B18DFB14504E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396277" y="2772291"/>
            <a:ext cx="1030892" cy="1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ACC11F-EAEB-8977-FB16-666568775591}"/>
              </a:ext>
            </a:extLst>
          </p:cNvPr>
          <p:cNvCxnSpPr/>
          <p:nvPr/>
        </p:nvCxnSpPr>
        <p:spPr>
          <a:xfrm>
            <a:off x="5367290" y="2772290"/>
            <a:ext cx="1030892" cy="1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FFA671F-C8DE-107E-6070-D09587B7AE19}"/>
              </a:ext>
            </a:extLst>
          </p:cNvPr>
          <p:cNvSpPr txBox="1"/>
          <p:nvPr/>
        </p:nvSpPr>
        <p:spPr>
          <a:xfrm>
            <a:off x="509521" y="4164742"/>
            <a:ext cx="8244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But what if we gave the LLM to agency?</a:t>
            </a:r>
          </a:p>
        </p:txBody>
      </p:sp>
    </p:spTree>
    <p:extLst>
      <p:ext uri="{BB962C8B-B14F-4D97-AF65-F5344CB8AC3E}">
        <p14:creationId xmlns:p14="http://schemas.microsoft.com/office/powerpoint/2010/main" val="71201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2CF851-D2A9-92A9-8F74-9B8D78E9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Augmented LLM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E37EE1-B7ED-609A-1B65-BF833C66F3A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6C2182-3C26-77FC-7BC2-FE9DE8EB1848}"/>
              </a:ext>
            </a:extLst>
          </p:cNvPr>
          <p:cNvSpPr/>
          <p:nvPr/>
        </p:nvSpPr>
        <p:spPr>
          <a:xfrm>
            <a:off x="3427170" y="1802232"/>
            <a:ext cx="1940119" cy="19401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ysClr val="windowText" lastClr="000000"/>
                </a:solidFill>
              </a:rPr>
              <a:t>LLM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6432D8-20D2-2038-7CF1-BBDEDA01CA33}"/>
              </a:ext>
            </a:extLst>
          </p:cNvPr>
          <p:cNvSpPr/>
          <p:nvPr/>
        </p:nvSpPr>
        <p:spPr>
          <a:xfrm>
            <a:off x="1052507" y="2223651"/>
            <a:ext cx="1343770" cy="10972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Input Prompt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33EBA9-BA24-3EBB-1F72-C590F4E68E74}"/>
              </a:ext>
            </a:extLst>
          </p:cNvPr>
          <p:cNvSpPr/>
          <p:nvPr/>
        </p:nvSpPr>
        <p:spPr>
          <a:xfrm>
            <a:off x="6437939" y="2223651"/>
            <a:ext cx="1343770" cy="10972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Output Response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569542-11C8-826F-C753-C446A18B48E4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396277" y="2772291"/>
            <a:ext cx="1030892" cy="1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284609-3159-FCA5-834B-08837FA8080F}"/>
              </a:ext>
            </a:extLst>
          </p:cNvPr>
          <p:cNvCxnSpPr/>
          <p:nvPr/>
        </p:nvCxnSpPr>
        <p:spPr>
          <a:xfrm>
            <a:off x="5367290" y="2772290"/>
            <a:ext cx="1030892" cy="1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FE9F84-3B8C-AB4D-12D9-8DA7EA2EA0D0}"/>
              </a:ext>
            </a:extLst>
          </p:cNvPr>
          <p:cNvSpPr/>
          <p:nvPr/>
        </p:nvSpPr>
        <p:spPr>
          <a:xfrm>
            <a:off x="3427168" y="4008718"/>
            <a:ext cx="1940119" cy="6189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Environment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2690E3-7223-03AC-64D1-FD7E80024019}"/>
              </a:ext>
            </a:extLst>
          </p:cNvPr>
          <p:cNvCxnSpPr>
            <a:cxnSpLocks/>
          </p:cNvCxnSpPr>
          <p:nvPr/>
        </p:nvCxnSpPr>
        <p:spPr>
          <a:xfrm>
            <a:off x="4851841" y="3742348"/>
            <a:ext cx="3" cy="266369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625B64-7612-E2E2-4663-CB5DA6DA0044}"/>
              </a:ext>
            </a:extLst>
          </p:cNvPr>
          <p:cNvCxnSpPr>
            <a:cxnSpLocks/>
          </p:cNvCxnSpPr>
          <p:nvPr/>
        </p:nvCxnSpPr>
        <p:spPr>
          <a:xfrm flipV="1">
            <a:off x="3948671" y="3745595"/>
            <a:ext cx="0" cy="266369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03FC3F9-B066-09AF-92C1-C00B7D9A509E}"/>
              </a:ext>
            </a:extLst>
          </p:cNvPr>
          <p:cNvSpPr txBox="1"/>
          <p:nvPr/>
        </p:nvSpPr>
        <p:spPr>
          <a:xfrm>
            <a:off x="568617" y="3635600"/>
            <a:ext cx="25960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Through “augmenting” the nature of the LLM, we can make it not only think but act!</a:t>
            </a:r>
          </a:p>
        </p:txBody>
      </p:sp>
    </p:spTree>
    <p:extLst>
      <p:ext uri="{BB962C8B-B14F-4D97-AF65-F5344CB8AC3E}">
        <p14:creationId xmlns:p14="http://schemas.microsoft.com/office/powerpoint/2010/main" val="194866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F26391-DBE7-B007-A0EE-F385D216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LLM Agent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B1EDD90-EDCB-2B78-4E4D-C4AFC0B505F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18B247-2DC1-5BDE-BA99-F5877E117241}"/>
              </a:ext>
            </a:extLst>
          </p:cNvPr>
          <p:cNvSpPr/>
          <p:nvPr/>
        </p:nvSpPr>
        <p:spPr>
          <a:xfrm>
            <a:off x="5040764" y="1800551"/>
            <a:ext cx="1526493" cy="152649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LLM</a:t>
            </a:r>
          </a:p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Engine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9F96B0-D0FC-EA77-E8BB-217C529E38AA}"/>
              </a:ext>
            </a:extLst>
          </p:cNvPr>
          <p:cNvSpPr/>
          <p:nvPr/>
        </p:nvSpPr>
        <p:spPr>
          <a:xfrm>
            <a:off x="5132125" y="658716"/>
            <a:ext cx="1343770" cy="62543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Input Prompt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BAB3DD-4234-CA4C-FB8D-9F92747EFE89}"/>
              </a:ext>
            </a:extLst>
          </p:cNvPr>
          <p:cNvSpPr/>
          <p:nvPr/>
        </p:nvSpPr>
        <p:spPr>
          <a:xfrm>
            <a:off x="7092876" y="1800551"/>
            <a:ext cx="1526493" cy="15264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Environment</a:t>
            </a: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E9943C-D745-C70F-07E8-ACE1107BDFCE}"/>
              </a:ext>
            </a:extLst>
          </p:cNvPr>
          <p:cNvSpPr/>
          <p:nvPr/>
        </p:nvSpPr>
        <p:spPr>
          <a:xfrm>
            <a:off x="5132125" y="3859345"/>
            <a:ext cx="1343770" cy="62543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Output Result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838C75-9B24-391F-0288-D3DCA6A51FEC}"/>
              </a:ext>
            </a:extLst>
          </p:cNvPr>
          <p:cNvSpPr/>
          <p:nvPr/>
        </p:nvSpPr>
        <p:spPr>
          <a:xfrm>
            <a:off x="4882099" y="1401151"/>
            <a:ext cx="3880238" cy="209742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Agent</a:t>
            </a: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EAB71A-AD8C-6ACE-DFAA-9AE3C8A9F11E}"/>
              </a:ext>
            </a:extLst>
          </p:cNvPr>
          <p:cNvCxnSpPr>
            <a:cxnSpLocks/>
          </p:cNvCxnSpPr>
          <p:nvPr/>
        </p:nvCxnSpPr>
        <p:spPr>
          <a:xfrm flipH="1">
            <a:off x="5804010" y="1284155"/>
            <a:ext cx="598" cy="516396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3F2E93-914B-6F7D-0E84-30F3CFF67CCB}"/>
              </a:ext>
            </a:extLst>
          </p:cNvPr>
          <p:cNvCxnSpPr>
            <a:cxnSpLocks/>
          </p:cNvCxnSpPr>
          <p:nvPr/>
        </p:nvCxnSpPr>
        <p:spPr>
          <a:xfrm flipH="1">
            <a:off x="5811756" y="3325146"/>
            <a:ext cx="598" cy="516396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A43A82-0176-7E7B-AA5C-70317019BE53}"/>
              </a:ext>
            </a:extLst>
          </p:cNvPr>
          <p:cNvCxnSpPr>
            <a:cxnSpLocks/>
          </p:cNvCxnSpPr>
          <p:nvPr/>
        </p:nvCxnSpPr>
        <p:spPr>
          <a:xfrm>
            <a:off x="6567257" y="2143407"/>
            <a:ext cx="525619" cy="0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21E396-7165-EC82-4513-800533AB9407}"/>
              </a:ext>
            </a:extLst>
          </p:cNvPr>
          <p:cNvCxnSpPr>
            <a:cxnSpLocks/>
          </p:cNvCxnSpPr>
          <p:nvPr/>
        </p:nvCxnSpPr>
        <p:spPr>
          <a:xfrm flipH="1">
            <a:off x="6567257" y="3049857"/>
            <a:ext cx="525619" cy="0"/>
          </a:xfrm>
          <a:prstGeom prst="straightConnector1">
            <a:avLst/>
          </a:prstGeom>
          <a:ln w="6032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5E6D1F0-C84B-3090-E1EC-708AB90C5792}"/>
              </a:ext>
            </a:extLst>
          </p:cNvPr>
          <p:cNvSpPr/>
          <p:nvPr/>
        </p:nvSpPr>
        <p:spPr>
          <a:xfrm>
            <a:off x="7187979" y="2220996"/>
            <a:ext cx="1327342" cy="2916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Tools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F2833EB-3487-7EF2-53F0-EF8C380F7056}"/>
              </a:ext>
            </a:extLst>
          </p:cNvPr>
          <p:cNvSpPr/>
          <p:nvPr/>
        </p:nvSpPr>
        <p:spPr>
          <a:xfrm>
            <a:off x="7187979" y="2706957"/>
            <a:ext cx="1327342" cy="2916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Memory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451407-B240-708D-9276-04A857FEB718}"/>
              </a:ext>
            </a:extLst>
          </p:cNvPr>
          <p:cNvSpPr txBox="1"/>
          <p:nvPr/>
        </p:nvSpPr>
        <p:spPr>
          <a:xfrm>
            <a:off x="497295" y="1401149"/>
            <a:ext cx="39605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main aspects that make an agent an agent is the ability to:</a:t>
            </a:r>
          </a:p>
          <a:p>
            <a:endParaRPr lang="en-US" sz="2000" dirty="0"/>
          </a:p>
          <a:p>
            <a:pPr marL="342900" indent="-342900">
              <a:buAutoNum type="arabicParenBoth"/>
            </a:pPr>
            <a:r>
              <a:rPr lang="en-US" sz="2000" dirty="0"/>
              <a:t>Remember facts/data through </a:t>
            </a:r>
            <a:r>
              <a:rPr lang="en-US" sz="2000" b="1" dirty="0"/>
              <a:t>memory</a:t>
            </a:r>
          </a:p>
          <a:p>
            <a:pPr marL="342900" indent="-342900">
              <a:buAutoNum type="arabicParenBoth"/>
            </a:pPr>
            <a:endParaRPr lang="en-US" sz="2000" dirty="0"/>
          </a:p>
          <a:p>
            <a:pPr marL="342900" indent="-342900">
              <a:buAutoNum type="arabicParenBoth"/>
            </a:pPr>
            <a:r>
              <a:rPr lang="en-US" sz="2000" dirty="0"/>
              <a:t>Have access to </a:t>
            </a:r>
            <a:r>
              <a:rPr lang="en-US" sz="2000" b="1" dirty="0"/>
              <a:t>tools</a:t>
            </a:r>
            <a:r>
              <a:rPr lang="en-US" sz="2000" dirty="0"/>
              <a:t> that provide information about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238234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992912-13FC-37D7-DFA7-5A0D6321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Traditional Agent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900757B-16B7-1BAF-6C46-970A52EFBB1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rawing of a robot and a planet&#10;&#10;AI-generated content may be incorrect.">
            <a:extLst>
              <a:ext uri="{FF2B5EF4-FFF2-40B4-BE49-F238E27FC236}">
                <a16:creationId xmlns:a16="http://schemas.microsoft.com/office/drawing/2014/main" id="{B99696BE-83E3-6FE6-1EA2-9ED0EE38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015" y="1304395"/>
            <a:ext cx="5025985" cy="3263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EE22E1-5ED4-2298-9470-14053D0A6D80}"/>
              </a:ext>
            </a:extLst>
          </p:cNvPr>
          <p:cNvSpPr txBox="1"/>
          <p:nvPr/>
        </p:nvSpPr>
        <p:spPr>
          <a:xfrm>
            <a:off x="497295" y="1401149"/>
            <a:ext cx="39605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traditional (math, game theory, and reinforcement learning) agent includes:</a:t>
            </a:r>
          </a:p>
          <a:p>
            <a:endParaRPr lang="en-US" sz="2000" dirty="0"/>
          </a:p>
          <a:p>
            <a:pPr marL="457200" indent="-457200">
              <a:buAutoNum type="arabicParenBoth"/>
            </a:pPr>
            <a:r>
              <a:rPr lang="en-US" sz="2000" dirty="0"/>
              <a:t>State, </a:t>
            </a:r>
            <a:r>
              <a:rPr lang="en-US" sz="2000" i="1" dirty="0"/>
              <a:t>s</a:t>
            </a:r>
          </a:p>
          <a:p>
            <a:pPr marL="457200" indent="-457200">
              <a:buAutoNum type="arabicParenBoth"/>
            </a:pPr>
            <a:r>
              <a:rPr lang="en-US" sz="2000" dirty="0"/>
              <a:t>Actions, </a:t>
            </a:r>
            <a:r>
              <a:rPr lang="en-US" sz="2000" i="1" dirty="0"/>
              <a:t>a</a:t>
            </a:r>
          </a:p>
          <a:p>
            <a:pPr marL="457200" indent="-457200">
              <a:buAutoNum type="arabicParenBoth"/>
            </a:pPr>
            <a:r>
              <a:rPr lang="en-US" sz="2000" dirty="0"/>
              <a:t>Reward, </a:t>
            </a:r>
            <a:r>
              <a:rPr lang="en-US" sz="2000" i="1" dirty="0"/>
              <a:t>r</a:t>
            </a:r>
          </a:p>
          <a:p>
            <a:pPr marL="457200" indent="-457200">
              <a:buAutoNum type="arabicParenBoth"/>
            </a:pPr>
            <a:endParaRPr lang="en-US" sz="2000" i="1" dirty="0"/>
          </a:p>
          <a:p>
            <a:endParaRPr lang="en-US" b="1" dirty="0"/>
          </a:p>
          <a:p>
            <a:r>
              <a:rPr lang="en-US" b="1" dirty="0"/>
              <a:t>Analog</a:t>
            </a:r>
          </a:p>
          <a:p>
            <a:r>
              <a:rPr lang="en-US" dirty="0"/>
              <a:t>State is the memory, actions are transformative tools, and reward is informative tools </a:t>
            </a:r>
          </a:p>
        </p:txBody>
      </p:sp>
    </p:spTree>
    <p:extLst>
      <p:ext uri="{BB962C8B-B14F-4D97-AF65-F5344CB8AC3E}">
        <p14:creationId xmlns:p14="http://schemas.microsoft.com/office/powerpoint/2010/main" val="193256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2FA8E9-1965-5C94-1544-5F56B9D8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vs Structured Outputs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69D76D-A55C-0FB2-A582-A9FE25ED69E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91BCC8D7-47E3-E278-029D-54DBA857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3" y="1181368"/>
            <a:ext cx="4789915" cy="357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24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106890-D497-35DE-8C22-435F3238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Structured Outputs defined by a Schema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D2EF7C-2D9B-499F-656D-38BF8C1F782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ink card with arrows and a brain&#10;&#10;AI-generated content may be incorrect.">
            <a:extLst>
              <a:ext uri="{FF2B5EF4-FFF2-40B4-BE49-F238E27FC236}">
                <a16:creationId xmlns:a16="http://schemas.microsoft.com/office/drawing/2014/main" id="{4B17E293-DF78-A58A-E7CF-F22B3186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1" y="1813798"/>
            <a:ext cx="7772400" cy="201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CEEAE0-14C3-1D73-4CEE-7560BB67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186BD06-0114-3E5E-689F-4DBC7A626D3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social network&#10;&#10;AI-generated content may be incorrect.">
            <a:extLst>
              <a:ext uri="{FF2B5EF4-FFF2-40B4-BE49-F238E27FC236}">
                <a16:creationId xmlns:a16="http://schemas.microsoft.com/office/drawing/2014/main" id="{F4F5B1D4-887B-B8EB-2658-2436C78F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5" y="1134130"/>
            <a:ext cx="4693329" cy="3127769"/>
          </a:xfrm>
          <a:prstGeom prst="rect">
            <a:avLst/>
          </a:prstGeom>
        </p:spPr>
      </p:pic>
      <p:pic>
        <p:nvPicPr>
          <p:cNvPr id="9" name="Picture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EB9054F-F6E8-342F-6B00-96D758FE3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04" y="1235768"/>
            <a:ext cx="4051694" cy="2214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0EA1F4-BF97-17F8-D81B-BE0A8C7D3482}"/>
              </a:ext>
            </a:extLst>
          </p:cNvPr>
          <p:cNvSpPr txBox="1"/>
          <p:nvPr/>
        </p:nvSpPr>
        <p:spPr>
          <a:xfrm>
            <a:off x="389988" y="4206242"/>
            <a:ext cx="8244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 </a:t>
            </a:r>
            <a:r>
              <a:rPr lang="en-US" sz="1600" b="1" dirty="0"/>
              <a:t>Schema</a:t>
            </a:r>
            <a:r>
              <a:rPr lang="en-US" sz="1600" dirty="0"/>
              <a:t> is a set of </a:t>
            </a:r>
            <a:r>
              <a:rPr lang="en-US" sz="1600" b="1" dirty="0"/>
              <a:t>Data Types/Models </a:t>
            </a:r>
            <a:r>
              <a:rPr lang="en-US" sz="1600" dirty="0"/>
              <a:t>that we would want the model to follow. It generates them as a </a:t>
            </a:r>
            <a:r>
              <a:rPr lang="en-US" sz="1600" b="1" dirty="0"/>
              <a:t>JSON</a:t>
            </a:r>
            <a:r>
              <a:rPr lang="en-US" sz="1600" dirty="0"/>
              <a:t> that then we convert to a </a:t>
            </a:r>
            <a:r>
              <a:rPr lang="en-US" sz="1600" b="1" dirty="0"/>
              <a:t>Dictionary</a:t>
            </a:r>
            <a:r>
              <a:rPr lang="en-US" sz="1600" dirty="0"/>
              <a:t> in Python.</a:t>
            </a:r>
          </a:p>
        </p:txBody>
      </p:sp>
    </p:spTree>
    <p:extLst>
      <p:ext uri="{BB962C8B-B14F-4D97-AF65-F5344CB8AC3E}">
        <p14:creationId xmlns:p14="http://schemas.microsoft.com/office/powerpoint/2010/main" val="272860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527F3-8300-19D8-7426-ADDAB8D7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Calling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7608D6C-3C05-1F89-ED88-6E114A8F874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agent&#10;&#10;AI-generated content may be incorrect.">
            <a:extLst>
              <a:ext uri="{FF2B5EF4-FFF2-40B4-BE49-F238E27FC236}">
                <a16:creationId xmlns:a16="http://schemas.microsoft.com/office/drawing/2014/main" id="{5E3EFBAE-FEA9-DAAB-77D2-BFF782D35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51" y="1226569"/>
            <a:ext cx="4431560" cy="1935115"/>
          </a:xfrm>
          <a:prstGeom prst="rect">
            <a:avLst/>
          </a:prstGeom>
        </p:spPr>
      </p:pic>
      <p:pic>
        <p:nvPicPr>
          <p:cNvPr id="9" name="Picture 8" descr="A diagram of a tool&#10;&#10;AI-generated content may be incorrect.">
            <a:extLst>
              <a:ext uri="{FF2B5EF4-FFF2-40B4-BE49-F238E27FC236}">
                <a16:creationId xmlns:a16="http://schemas.microsoft.com/office/drawing/2014/main" id="{939D55B8-2A52-554B-83A7-A9BE41A4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91"/>
          <a:stretch/>
        </p:blipFill>
        <p:spPr>
          <a:xfrm>
            <a:off x="5125011" y="0"/>
            <a:ext cx="3773399" cy="4654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F9ABAF-BED1-FDFB-6704-8FD54B090C82}"/>
              </a:ext>
            </a:extLst>
          </p:cNvPr>
          <p:cNvSpPr txBox="1"/>
          <p:nvPr/>
        </p:nvSpPr>
        <p:spPr>
          <a:xfrm>
            <a:off x="389988" y="3260036"/>
            <a:ext cx="5247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sz="1600" dirty="0"/>
              <a:t>Tools are the key for providing the LLM with needed information to complete task</a:t>
            </a:r>
          </a:p>
          <a:p>
            <a:pPr marL="342900" indent="-342900">
              <a:buAutoNum type="arabicParenBoth"/>
            </a:pPr>
            <a:endParaRPr lang="en-US" sz="1600" dirty="0"/>
          </a:p>
          <a:p>
            <a:pPr marL="342900" indent="-342900">
              <a:buAutoNum type="arabicParenBoth"/>
            </a:pPr>
            <a:r>
              <a:rPr lang="en-US" sz="1600" dirty="0"/>
              <a:t>Tool calls are based on structured output from the LLM. The parameter definition is the schema.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08575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1AD5E3-40F5-6627-A29C-14869381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Giving LLMs tools?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F384EC0-84BE-C8D2-3877-037181D2D88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erson with a beard&#10;&#10;AI-generated content may be incorrect.">
            <a:extLst>
              <a:ext uri="{FF2B5EF4-FFF2-40B4-BE49-F238E27FC236}">
                <a16:creationId xmlns:a16="http://schemas.microsoft.com/office/drawing/2014/main" id="{0F617D9B-C546-749C-995C-719534E9D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79" y="1319915"/>
            <a:ext cx="3067989" cy="3263225"/>
          </a:xfrm>
          <a:prstGeom prst="rect">
            <a:avLst/>
          </a:prstGeom>
        </p:spPr>
      </p:pic>
      <p:pic>
        <p:nvPicPr>
          <p:cNvPr id="9" name="Picture 8" descr="A baby reaching out to a pan on a stove&#10;&#10;AI-generated content may be incorrect.">
            <a:extLst>
              <a:ext uri="{FF2B5EF4-FFF2-40B4-BE49-F238E27FC236}">
                <a16:creationId xmlns:a16="http://schemas.microsoft.com/office/drawing/2014/main" id="{9E277AB0-DFCC-AAEC-30EC-41BDB5C55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727" y="1362188"/>
            <a:ext cx="4733622" cy="315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60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68A6-C6A5-4F35-37F5-4C79A2D7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8291A0-A9AA-E7B8-562A-07CCAA15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49"/>
            <a:ext cx="8005800" cy="3950365"/>
          </a:xfrm>
        </p:spPr>
        <p:txBody>
          <a:bodyPr/>
          <a:lstStyle/>
          <a:p>
            <a:r>
              <a:rPr lang="en-US" sz="8800" dirty="0"/>
              <a:t>How does an LLM know how to use tools?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B0781-0740-F5FE-6753-F5B0C44E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014" y="3069203"/>
            <a:ext cx="1569610" cy="156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0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EE33E1-F0EC-D464-6BA2-E65083DB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Toolformer</a:t>
            </a:r>
            <a:r>
              <a:rPr lang="en-US" sz="3200" dirty="0"/>
              <a:t>: Training the LLM to use Tools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3FC0030-B95F-2068-6E96-4C4167074952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ECA84C-86F4-95EA-E5B5-09DB0BB26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954" y="1305735"/>
            <a:ext cx="5015895" cy="3459944"/>
          </a:xfrm>
          <a:prstGeom prst="rect">
            <a:avLst/>
          </a:prstGeom>
        </p:spPr>
      </p:pic>
      <p:pic>
        <p:nvPicPr>
          <p:cNvPr id="9" name="Picture 8" descr="A close-up of a paper&#10;&#10;AI-generated content may be incorrect.">
            <a:extLst>
              <a:ext uri="{FF2B5EF4-FFF2-40B4-BE49-F238E27FC236}">
                <a16:creationId xmlns:a16="http://schemas.microsoft.com/office/drawing/2014/main" id="{F6373B6A-9DC2-FD1B-C8F4-0303AF22E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93" y="1401150"/>
            <a:ext cx="3498194" cy="4955775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64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FC5DB6-5B2E-774B-DFCB-F9CAE5670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Toolformer</a:t>
            </a:r>
            <a:r>
              <a:rPr lang="en-US" sz="3200" dirty="0"/>
              <a:t>: Training the LLM to use Tools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9C730C1-33EF-F1EF-6DD8-E48E1BE9B2A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7C57C-2805-316A-BE7A-50AA5066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82"/>
          <a:stretch/>
        </p:blipFill>
        <p:spPr>
          <a:xfrm>
            <a:off x="237587" y="1401150"/>
            <a:ext cx="8668825" cy="31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0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50DA-046F-7CC7-558F-786F7611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AEAB6F-E36A-E70F-EE81-523CB4DB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Walkthrough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1AA9485-F40A-43AD-CCBD-82BDACCEE06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54D5C3-9176-9335-3CA0-CAF0824AD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913" y="1229737"/>
            <a:ext cx="5360173" cy="350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6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Then markers, teams of three or four, and six problem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9E57E7-E958-2587-829A-377F08F8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Challenge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1FC01B7-A093-EE81-DFC5-A1D718FCEF5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7908C-3B61-3F86-52B0-CF42EAF6FAF5}"/>
              </a:ext>
            </a:extLst>
          </p:cNvPr>
          <p:cNvSpPr txBox="1"/>
          <p:nvPr/>
        </p:nvSpPr>
        <p:spPr>
          <a:xfrm>
            <a:off x="497295" y="1401149"/>
            <a:ext cx="8137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Add a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get_today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tool. Then ask the agent: "How many days until Thanksgiving?" and "What day of the week will it be 100 days from now?" Check its answers yourself.</a:t>
            </a:r>
          </a:p>
        </p:txBody>
      </p:sp>
    </p:spTree>
    <p:extLst>
      <p:ext uri="{BB962C8B-B14F-4D97-AF65-F5344CB8AC3E}">
        <p14:creationId xmlns:p14="http://schemas.microsoft.com/office/powerpoint/2010/main" val="360811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332</Words>
  <Application>Microsoft Macintosh PowerPoint</Application>
  <PresentationFormat>On-screen Show (16:9)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Playfair Display</vt:lpstr>
      <vt:lpstr>Courier New</vt:lpstr>
      <vt:lpstr>Roboto</vt:lpstr>
      <vt:lpstr>Arial</vt:lpstr>
      <vt:lpstr>Roboto Light</vt:lpstr>
      <vt:lpstr>Office Theme</vt:lpstr>
      <vt:lpstr>CSCI 3495 LLM Agents</vt:lpstr>
      <vt:lpstr>What is an Agent?</vt:lpstr>
      <vt:lpstr>Traditional, Boring LLM</vt:lpstr>
      <vt:lpstr>The Augmented LLM</vt:lpstr>
      <vt:lpstr>An LLM Agent</vt:lpstr>
      <vt:lpstr>A Traditional Agent </vt:lpstr>
      <vt:lpstr>Natural vs Structured Outputs</vt:lpstr>
      <vt:lpstr>Structured Outputs defined by a Schema</vt:lpstr>
      <vt:lpstr>Schema</vt:lpstr>
      <vt:lpstr>Tool Calling</vt:lpstr>
      <vt:lpstr>Giving LLMs tools?</vt:lpstr>
      <vt:lpstr>How does an LLM know how to use tools?</vt:lpstr>
      <vt:lpstr>Toolformer: Training the LLM to use Tools</vt:lpstr>
      <vt:lpstr>Toolformer: Training the LLM to use Tools</vt:lpstr>
      <vt:lpstr>Coding Walkthrough</vt:lpstr>
      <vt:lpstr>Break</vt:lpstr>
      <vt:lpstr>Coding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4</cp:revision>
  <dcterms:modified xsi:type="dcterms:W3CDTF">2026-10-10T23:25:45Z</dcterms:modified>
</cp:coreProperties>
</file>