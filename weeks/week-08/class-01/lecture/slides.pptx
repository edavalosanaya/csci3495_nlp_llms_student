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BERT on paper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37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1  ·  Mon Oct 12, 2026</a:t>
            </a:r>
          </a:p>
        </p:txBody>
      </p:sp>
      <p:pic>
        <p:nvPicPr>
          <p:cNvPr id="5" name="Picture 4" descr="BERT on pa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3474720"/>
            <a:ext cx="222199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Charles J. Sharp,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vector per word, no matter the sentence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27465"/>
            <a:ext cx="4041648" cy="1092073"/>
          </a:xfrm>
          <a:prstGeom prst="roundRect">
            <a:avLst>
              <a:gd name="adj" fmla="val 10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73769"/>
            <a:ext cx="3675888" cy="799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STATIC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00" b="0" u="none">
                <a:solidFill>
                  <a:srgbClr val="1D1D1F"/>
                </a:solidFill>
                <a:latin typeface="Menlo"/>
              </a:rPr>
              <a:t>one vector per word type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"river bank" and "cash at the bank" get the identical vector. Both senses collapsed.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27465"/>
            <a:ext cx="4041648" cy="1092073"/>
          </a:xfrm>
          <a:prstGeom prst="roundRect">
            <a:avLst>
              <a:gd name="adj" fmla="val 10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73769"/>
            <a:ext cx="3675888" cy="799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CONTEXTUAL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00" b="0" u="none">
                <a:solidFill>
                  <a:srgbClr val="1D1D1F"/>
                </a:solidFill>
                <a:latin typeface="Menlo"/>
              </a:rPr>
              <a:t>computed from the whole sentence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The same two sentences give different vectors. The sense is settled by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stack of encoder layers, no direction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023110"/>
          <a:ext cx="5102351" cy="1700784"/>
        </p:xfrm>
        <a:graphic>
          <a:graphicData uri="http://schemas.openxmlformats.org/drawingml/2006/table">
            <a:tbl>
              <a:tblPr firstRow="1" bandRow="0"/>
              <a:tblGrid>
                <a:gridCol w="1550543"/>
                <a:gridCol w="887952"/>
                <a:gridCol w="887952"/>
                <a:gridCol w="887952"/>
                <a:gridCol w="887952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MODEL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LAYERS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WIDTH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HEADS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PARAMS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BERT-base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768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110M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BERT-large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24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1024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340M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2023110"/>
            <a:ext cx="276148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EVERY LAYER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L encoder layers, and every token sees every token, in both directions.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Every input is three embeddings added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9646"/>
          <a:ext cx="5102350" cy="2267712"/>
        </p:xfrm>
        <a:graphic>
          <a:graphicData uri="http://schemas.openxmlformats.org/drawingml/2006/table">
            <a:tbl>
              <a:tblPr firstRow="1" bandRow="0"/>
              <a:tblGrid>
                <a:gridCol w="1280668"/>
                <a:gridCol w="636947"/>
                <a:gridCol w="636947"/>
                <a:gridCol w="636947"/>
                <a:gridCol w="636947"/>
                <a:gridCol w="636947"/>
                <a:gridCol w="636947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ROW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token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[CLS]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dog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is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cute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[SEP]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segment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position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3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739646"/>
            <a:ext cx="2761488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ALWAYS THE SAME THREE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Three vectors, each of width H, added together. One or two sentences, one 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Pretraining: hide words, then predict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80%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replaced with [MASK]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10%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replaced with a random word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399220"/>
            <a:ext cx="2645664" cy="948563"/>
          </a:xfrm>
          <a:prstGeom prst="roundRect">
            <a:avLst>
              <a:gd name="adj" fmla="val 125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545524"/>
            <a:ext cx="2279904" cy="655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950" b="1" spc="70">
                <a:solidFill>
                  <a:srgbClr val="86868B"/>
                </a:solidFill>
                <a:latin typeface="Helvetica Neue"/>
              </a:rPr>
              <a:t>10%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u="none">
                <a:solidFill>
                  <a:srgbClr val="1D1D1F"/>
                </a:solidFill>
                <a:latin typeface="Menlo"/>
              </a:rPr>
              <a:t>left exactly as it was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All three are still predicted. The other 85% are never predicted at 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extra layer turns it into a classifier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18258"/>
            <a:ext cx="4041648" cy="1110488"/>
          </a:xfrm>
          <a:prstGeom prst="roundRect">
            <a:avLst>
              <a:gd name="adj" fmla="val 1070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64562"/>
            <a:ext cx="3675888" cy="817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ONE TOKEN'S VECTOR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500" b="0" u="none">
                <a:solidFill>
                  <a:srgbClr val="1D1D1F"/>
                </a:solidFill>
                <a:latin typeface="Menlo"/>
              </a:rPr>
              <a:t>softmax(W h + b)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Only [CLS] is used. Every other token vector is thrown away.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18258"/>
            <a:ext cx="4041648" cy="1110488"/>
          </a:xfrm>
          <a:prstGeom prst="roundRect">
            <a:avLst>
              <a:gd name="adj" fmla="val 1070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64562"/>
            <a:ext cx="3675888" cy="817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FINE-TUNING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500" b="0" u="none">
                <a:solidFill>
                  <a:srgbClr val="1D1D1F"/>
                </a:solidFill>
                <a:latin typeface="Menlo"/>
              </a:rPr>
              <a:t>keep everything, add one layer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That one layer is everything the new task adds.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Devlin et al. 2019, arXiv:1810.04805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Encoder or decoder, understanding or writing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21579"/>
            <a:ext cx="4041648" cy="1303845"/>
          </a:xfrm>
          <a:prstGeom prst="roundRect">
            <a:avLst>
              <a:gd name="adj" fmla="val 91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367883"/>
            <a:ext cx="3675888" cy="1011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ENCODER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reads the whole input, both ways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Understanding: classification, NER, retrieval.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"the movie was surprisingly great" -&gt; POSITIVE 0.97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21579"/>
            <a:ext cx="4041648" cy="1303845"/>
          </a:xfrm>
          <a:prstGeom prst="roundRect">
            <a:avLst>
              <a:gd name="adj" fmla="val 911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367883"/>
            <a:ext cx="3675888" cy="10112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DECODER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reads left to right, predicts next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Generation: writing text, chat.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"Once upon a" -&gt; "time, a young queen ruled"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markers, teams of three or four, and six problem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1: the masking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one sequence of 200 tokens; 15% selected; of those, 80% [[MASK]], 10% random, 10%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How many tokens are selected, and how many land in each of the three groups?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How many positions contribute to the loss?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2: filling the blank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"i deposited money at the [[MASK]] bank" scores: shore 3, river 2, table 1, and 0 for the 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4535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4535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1994535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Compute the probability of each of the four words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0078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0078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910078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The original word was river. Compute the loss at this position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25621"/>
            <a:ext cx="8229600" cy="842391"/>
          </a:xfrm>
          <a:prstGeom prst="roundRect">
            <a:avLst>
              <a:gd name="adj" fmla="val 1085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25621"/>
            <a:ext cx="1828800" cy="8423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YOU MAY NEED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3825621"/>
            <a:ext cx="5925312" cy="84239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e^0 = 1.000   e^1 = 2.718   e^2 = 7.389   e^3 = 20.086   ln 31.193 = 3.440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3: how much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"the film was surprisingly good and worth every minute", target is token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How many other tokens can BERT use to predict token 5, and how many can a left-to-right model use?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How many query-key pairs does each one score over the whole sequence?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4: assembling the 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A: "the bank was closed"   B: "we walked home" for bank: E_tok = [0.2, -0.1, 0.5, 0.0] E_seg = [0.1, 0.1, 0.0, 0.0]   E_pos = [0.0, 0.3, -0.2, 0.1]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Write the full token sequence, then give the segment id and position of closed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Compute the input vector for bank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5: the price of a new task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fine-tuning BERT-base: H = 768, 110,000,000 parameters, new task with K = 3 classes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How many parameters does the new head add?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00" b="0">
                <a:solidFill>
                  <a:srgbClr val="1D1D1F"/>
                </a:solidFill>
                <a:latin typeface="Menlo"/>
              </a:rPr>
              <a:t>Express that as a fraction of the pretrained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6: base against large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23744" y="1078992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base: L 12, H 768, A 12        large: L 24, H 1024, A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99716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299716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3744" y="2299716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Compute dk for each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0440"/>
            <a:ext cx="8229600" cy="1147572"/>
          </a:xfrm>
          <a:prstGeom prst="roundRect">
            <a:avLst>
              <a:gd name="adj" fmla="val 79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20440"/>
            <a:ext cx="1828800" cy="11475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100" b="1" spc="60">
                <a:solidFill>
                  <a:srgbClr val="86868B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520440"/>
            <a:ext cx="5925312" cy="11475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00" b="0">
                <a:solidFill>
                  <a:srgbClr val="1D1D1F"/>
                </a:solidFill>
                <a:latin typeface="Menlo"/>
              </a:rPr>
              <a:t>How many attention heads does the whole stack hold, for each?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