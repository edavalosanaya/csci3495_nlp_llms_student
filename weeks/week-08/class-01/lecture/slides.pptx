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LLM never sees words. It sees bricks. Today: where the bricks come from, and what they cost.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From how a tokenizer learns, to why tokens cost, to turning a base model into an assistant. HW4 is released today.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Word-level explodes the vocabulary; character-level explodes sequence length. LLMs take a learned middle path: subwords.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loop you implement today: k merges, each adding exactly one new token to V. The ordered merge list IS the tokenizer.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merge adds exactly one token. Frequent sequences become single tokens; rare strings stay in pieces. Each merge adds one entry to the vocabulary. Stop at a target size (e.g. 32k to 100k). Rare/unseen words fall back to subwords or bytes, no unknown token. The learned merge list is the tokenizer.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Apply the learned merges in the order they were learned. Unseen words still encode, with no out-of-vocabulary problem, ever.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Starting from raw bytes makes the vocabulary universal. WordPiece and Unigram are the common alternatives.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same meaning costs far more tokens in some languages, a quiet source of language inequality in LLMs. A "100k-token context" holds far fewer words in some languages.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tokenizer trained mostly on English splits other languages into more pieces, so the same idea costs more tokens.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Context windows, pricing, and scaling-law data budgets are all counted in tokens, not words.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base model reads a wall of text like this: trillions of filtered, deduplicated tokens scraped from the web and books.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Duplication, contamination, and bias are baked-in hazards of the pretraining corpus.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it plainly and let it be strange for a moment. Nothing in pretraining teaches a model to answer a question, follow an instruction, or refuse. The rest of today is the gap between that objective and the thing people actually use.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pretrained model only predicts the next token; it learned the form of text, not the intent to be helpful. It is not refusing to answer. A plausible continuation of a list of questions is more questions.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Fine-tune on (instruction, response) pairs. FLAN and T0 showed this improves zero-shot generalization to unseen tasks.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next-token loss; radically different data is what changes the model's behavior.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Human-written, templated, or model-generated; diversity and quality matter more than raw volume.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SFT makes a model follow instructions; RLHF and DPO make it match which answers humans prefer.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Implement count_pairs, merge_pair, and train_bpe, the merge loop at the heart of every modern tokenizer.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learned merges on a tiny corpus, then encoding the unseen word "lowest" into subword pieces.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Subwords, fertility, tokens as the universal unit, and instruction tuning. Next class: alignment (RLHF, DPO) + Quiz 8.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Tokenization at Scale, Pretraining Data &amp; Instruction Tuning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42368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8, Class 1</a:t>
            </a:r>
          </a:p>
        </p:txBody>
      </p:sp>
      <p:pic>
        <p:nvPicPr>
          <p:cNvPr id="5" name="Picture 4" descr="Tokenization at Scale, Pretraining Data &amp; Instruction Tu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894" y="3474720"/>
            <a:ext cx="2213346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Alan Chia, Wikimedia Commons,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64" y="1078992"/>
            <a:ext cx="794567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tiles: SLP3 Fig. 2.6 (Jurafsky &amp; Martin); course figures; Unsplash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tokenization sits</a:t>
            </a:r>
          </a:p>
        </p:txBody>
      </p:sp>
      <p:pic>
        <p:nvPicPr>
          <p:cNvPr id="5" name="Picture 4" descr="Where tokenization si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15" y="1078992"/>
            <a:ext cx="827156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Byte-Pair Encoding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BPE learns a vocabulary</a:t>
            </a:r>
          </a:p>
        </p:txBody>
      </p:sp>
      <p:pic>
        <p:nvPicPr>
          <p:cNvPr id="5" name="Picture 4" descr="How BPE learns a vocabula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023" y="1078992"/>
            <a:ext cx="757595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2.6, adapted from Bostrom &amp; Durrett 2020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worked example</a:t>
            </a:r>
          </a:p>
        </p:txBody>
      </p:sp>
      <p:pic>
        <p:nvPicPr>
          <p:cNvPr id="5" name="Picture 4" descr="A worked examp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51103"/>
            <a:ext cx="8595360" cy="3044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Encoding new text</a:t>
            </a:r>
          </a:p>
        </p:txBody>
      </p:sp>
      <p:pic>
        <p:nvPicPr>
          <p:cNvPr id="5" name="Picture 4" descr="Encoding new tex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2631" y="1078992"/>
            <a:ext cx="479873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Byte-level BPE &amp; cousins</a:t>
            </a:r>
          </a:p>
        </p:txBody>
      </p:sp>
      <p:pic>
        <p:nvPicPr>
          <p:cNvPr id="5" name="Picture 4" descr="Byte-level BPE &amp; cousi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20" y="1078992"/>
            <a:ext cx="817575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GPT-2 (Radford et al. 2019);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hidden cost: fertility</a:t>
            </a:r>
          </a:p>
        </p:txBody>
      </p:sp>
      <p:pic>
        <p:nvPicPr>
          <p:cNvPr id="5" name="Picture 4" descr="The hidden cost: fertil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45955"/>
            <a:ext cx="8595360" cy="32550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(illustrative numbers)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meaning, many scripts</a:t>
            </a:r>
          </a:p>
        </p:txBody>
      </p:sp>
      <p:pic>
        <p:nvPicPr>
          <p:cNvPr id="5" name="Picture 4" descr="One meaning, many scrip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https://images.unsplash.com/photo-1543165796-5426273eaab3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Tokens are the unit of everything</a:t>
            </a:r>
          </a:p>
        </p:txBody>
      </p:sp>
      <p:pic>
        <p:nvPicPr>
          <p:cNvPr id="5" name="Picture 4" descr="Tokens are the unit of everyth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80536"/>
            <a:ext cx="8595360" cy="1985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From Base Model to Assistant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Pretraining data</a:t>
            </a:r>
          </a:p>
        </p:txBody>
      </p:sp>
      <p:pic>
        <p:nvPicPr>
          <p:cNvPr id="5" name="Picture 4" descr="Pretraining da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https://images.unsplash.com/photo-1457369804613-52c61a468e7d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goes in, and what to fear</a:t>
            </a:r>
          </a:p>
        </p:txBody>
      </p:sp>
      <p:pic>
        <p:nvPicPr>
          <p:cNvPr id="5" name="Picture 4" descr="What goes in, and what to fe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546" y="1078992"/>
            <a:ext cx="799090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So why does ChatGPT answer your questions? That gap is what the rest of today is abou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654493"/>
            <a:ext cx="9144000" cy="84524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It only ever learned to predict the next word.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So why does ChatGPT answer your questions? That gap is what the rest of today is about.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https://images.unsplash.com/photo-1481627834876-b7833e8f5570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base model is not an assistant</a:t>
            </a:r>
          </a:p>
        </p:txBody>
      </p:sp>
      <p:pic>
        <p:nvPicPr>
          <p:cNvPr id="5" name="Picture 4" descr="The base model is not an assista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22" y="1078992"/>
            <a:ext cx="78415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</a:t>
            </a:r>
          </a:p>
        </p:txBody>
      </p:sp>
      <p:pic>
        <p:nvPicPr>
          <p:cNvPr id="5" name="Picture 4" descr="Instruction tu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97" y="1078992"/>
            <a:ext cx="79598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FLAN, Wei et al. 2021 (arXiv:2109.01652)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 vs. pretraining</a:t>
            </a:r>
          </a:p>
        </p:txBody>
      </p:sp>
      <p:pic>
        <p:nvPicPr>
          <p:cNvPr id="5" name="Picture 4" descr="Instruction tuning vs. pretrai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84" y="1078992"/>
            <a:ext cx="775623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instruction data comes from</a:t>
            </a:r>
          </a:p>
        </p:txBody>
      </p:sp>
      <p:pic>
        <p:nvPicPr>
          <p:cNvPr id="5" name="Picture 4" descr="Where instruction data comes fro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92830"/>
            <a:ext cx="8595360" cy="3161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Self-Instruct (Wang et al. 2022); Alpaca (Taori et al. 2023)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Looking ahead to alignment</a:t>
            </a:r>
          </a:p>
        </p:txBody>
      </p:sp>
      <p:pic>
        <p:nvPicPr>
          <p:cNvPr id="5" name="Picture 4" descr="Looking ahead to alignm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21" y="1078992"/>
            <a:ext cx="834655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BPE coding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Train a BPE tokenizer</a:t>
            </a:r>
          </a:p>
        </p:txBody>
      </p:sp>
      <p:pic>
        <p:nvPicPr>
          <p:cNvPr id="5" name="Picture 4" descr="Train a BPE tokeniz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123" y="1078992"/>
            <a:ext cx="769575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weeks/week-08/class-01/exercise/bpe.py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22" y="1078992"/>
            <a:ext cx="78063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weeks/week-08/class-01/solutions/bpe.py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53913"/>
            <a:ext cx="8595360" cy="32391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