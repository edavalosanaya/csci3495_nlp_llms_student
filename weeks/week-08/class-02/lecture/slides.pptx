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  <p:sldId id="262" r:id="rId16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16" Type="http://schemas.openxmlformats.org/officeDocument/2006/relationships/slide" Target="slides/slide7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BERT in code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5834417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8, Class 2  ·  Wed Oct 14, 2026</a:t>
            </a:r>
          </a:p>
        </p:txBody>
      </p:sp>
      <p:pic>
        <p:nvPicPr>
          <p:cNvPr id="5" name="Picture 4" descr="BERT in cod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6943" y="3474720"/>
            <a:ext cx="2221297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Unsplash License, https://images.unsplash.com/photo-1518770660439-4636190af475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Two ways to use a pretrained model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327465"/>
            <a:ext cx="4041648" cy="1092073"/>
          </a:xfrm>
          <a:prstGeom prst="roundRect">
            <a:avLst>
              <a:gd name="adj" fmla="val 1088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2473769"/>
            <a:ext cx="3675888" cy="7994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A. FEATURE-BASED</a:t>
            </a:r>
          </a:p>
          <a:p>
            <a:pPr marL="0" indent="0">
              <a:spcAft>
                <a:spcPts val="300"/>
              </a:spcAft>
              <a:buNone/>
            </a:pPr>
            <a:r>
              <a:rPr sz="1400" b="0" u="none">
                <a:solidFill>
                  <a:srgbClr val="1D1D1F"/>
                </a:solidFill>
                <a:latin typeface="Menlo"/>
              </a:rPr>
              <a:t>freeze the model, use its vectors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200" b="0">
                <a:solidFill>
                  <a:srgbClr val="86868B"/>
                </a:solidFill>
                <a:latin typeface="Helvetica Neue"/>
              </a:rPr>
              <a:t>Cheap. The task model does the heavy lifting.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45152" y="2327465"/>
            <a:ext cx="4041648" cy="1092073"/>
          </a:xfrm>
          <a:prstGeom prst="roundRect">
            <a:avLst>
              <a:gd name="adj" fmla="val 1088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828032" y="2473769"/>
            <a:ext cx="3675888" cy="7994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B. FINE-TUNING</a:t>
            </a:r>
          </a:p>
          <a:p>
            <a:pPr marL="0" indent="0">
              <a:spcAft>
                <a:spcPts val="300"/>
              </a:spcAft>
              <a:buNone/>
            </a:pPr>
            <a:r>
              <a:rPr sz="1400" b="0" u="none">
                <a:solidFill>
                  <a:srgbClr val="1D1D1F"/>
                </a:solidFill>
                <a:latin typeface="Menlo"/>
              </a:rPr>
              <a:t>keep training the whole thing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200" b="0">
                <a:solidFill>
                  <a:srgbClr val="86868B"/>
                </a:solidFill>
                <a:latin typeface="Helvetica Neue"/>
              </a:rPr>
              <a:t>Slower. The pretrained weights adapt to your task.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640080" y="1234440"/>
            <a:ext cx="786384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4000" b="1">
                <a:solidFill>
                  <a:srgbClr val="7C2529"/>
                </a:solidFill>
              </a:rPr>
              <a:t>Let's walk through Part 1 in the notebook</a:t>
            </a:r>
          </a:p>
          <a:p>
            <a:pPr algn="ctr" marL="0" indent="0">
              <a:buNone/>
            </a:pPr>
            <a:r>
              <a:rPr sz="2000">
                <a:solidFill>
                  <a:srgbClr val="222222"/>
                </a:solidFill>
              </a:rPr>
              <a:t>Three rows of numbers, and nothing else goes 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640080" y="1234440"/>
            <a:ext cx="786384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4000" b="1">
                <a:solidFill>
                  <a:srgbClr val="7C2529"/>
                </a:solidFill>
              </a:rPr>
              <a:t>Let's walk through Part 2 in the notebook</a:t>
            </a:r>
          </a:p>
          <a:p>
            <a:pPr algn="ctr" marL="0" indent="0">
              <a:buNone/>
            </a:pPr>
            <a:r>
              <a:rPr sz="2000">
                <a:solidFill>
                  <a:srgbClr val="222222"/>
                </a:solidFill>
              </a:rPr>
              <a:t>Its guess, and the number behind the guess.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640080" y="1234440"/>
            <a:ext cx="786384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4000" b="1">
                <a:solidFill>
                  <a:srgbClr val="7C2529"/>
                </a:solidFill>
              </a:rPr>
              <a:t>Let's walk through Part 3 in the notebook</a:t>
            </a:r>
          </a:p>
          <a:p>
            <a:pPr algn="ctr" marL="0" indent="0">
              <a:buNone/>
            </a:pPr>
            <a:r>
              <a:rPr sz="2000">
                <a:solidFill>
                  <a:srgbClr val="222222"/>
                </a:solidFill>
              </a:rPr>
              <a:t>One vector stands in for a whole sentence.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Break</a:t>
            </a:r>
          </a:p>
        </p:txBody>
      </p:sp>
      <p:pic>
        <p:nvPicPr>
          <p:cNvPr id="5" name="Picture 4" descr="Then find a partner and open the second half of the notebook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312"/>
            <a:ext cx="8595360" cy="3186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Beat the frozen baseline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78992"/>
            <a:ext cx="8229600" cy="1135380"/>
          </a:xfrm>
          <a:prstGeom prst="roundRect">
            <a:avLst>
              <a:gd name="adj" fmla="val 8859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94944" y="1078992"/>
            <a:ext cx="475488" cy="11353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750" b="1">
                <a:solidFill>
                  <a:srgbClr val="1D1D1F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078992"/>
            <a:ext cx="7278624" cy="11353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150" b="0">
                <a:solidFill>
                  <a:srgbClr val="1D1D1F"/>
                </a:solidFill>
                <a:latin typeface="Menlo"/>
              </a:rPr>
              <a:t>The number to beat is 0.827: frozen [CLS] vectors, logistic regression on top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305812"/>
            <a:ext cx="8229600" cy="1135380"/>
          </a:xfrm>
          <a:prstGeom prst="roundRect">
            <a:avLst>
              <a:gd name="adj" fmla="val 8859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94944" y="2305812"/>
            <a:ext cx="475488" cy="11353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750" b="1">
                <a:solidFill>
                  <a:srgbClr val="1D1D1F"/>
                </a:solidFill>
                <a:latin typeface="Helvetica Ne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2305812"/>
            <a:ext cx="7278624" cy="11353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150" b="0">
                <a:solidFill>
                  <a:srgbClr val="1D1D1F"/>
                </a:solidFill>
                <a:latin typeface="Menlo"/>
              </a:rPr>
              <a:t>Fine-tune the whole model and beat it. ROWS, EPOCHS, LEARNING_RATE are yours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532632"/>
            <a:ext cx="8229600" cy="1135380"/>
          </a:xfrm>
          <a:prstGeom prst="roundRect">
            <a:avLst>
              <a:gd name="adj" fmla="val 8859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94944" y="3532632"/>
            <a:ext cx="475488" cy="11353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750" b="1">
                <a:solidFill>
                  <a:srgbClr val="1D1D1F"/>
                </a:solidFill>
                <a:latin typeface="Helvetica Ne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" y="3532632"/>
            <a:ext cx="7278624" cy="11353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150" b="0">
                <a:solidFill>
                  <a:srgbClr val="1D1D1F"/>
                </a:solidFill>
                <a:latin typeface="Menlo"/>
              </a:rPr>
              <a:t>Then freeze the encoder, train only the head, and report what that cost you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today's notebook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