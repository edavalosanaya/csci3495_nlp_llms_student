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  <p:sldId id="282" r:id="rId47"/>
    <p:sldId id="283" r:id="rId48"/>
    <p:sldId id="284" r:id="rId49"/>
    <p:sldId id="285" r:id="rId50"/>
    <p:sldId id="286" r:id="rId51"/>
    <p:sldId id="287" r:id="rId52"/>
    <p:sldId id="288" r:id="rId53"/>
    <p:sldId id="289" r:id="rId54"/>
    <p:sldId id="290" r:id="rId55"/>
    <p:sldId id="291" r:id="rId56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Relationship Id="rId47" Type="http://schemas.openxmlformats.org/officeDocument/2006/relationships/slide" Target="slides/slide27.xml"/><Relationship Id="rId48" Type="http://schemas.openxmlformats.org/officeDocument/2006/relationships/slide" Target="slides/slide28.xml"/><Relationship Id="rId49" Type="http://schemas.openxmlformats.org/officeDocument/2006/relationships/slide" Target="slides/slide29.xml"/><Relationship Id="rId50" Type="http://schemas.openxmlformats.org/officeDocument/2006/relationships/slide" Target="slides/slide30.xml"/><Relationship Id="rId51" Type="http://schemas.openxmlformats.org/officeDocument/2006/relationships/slide" Target="slides/slide31.xml"/><Relationship Id="rId52" Type="http://schemas.openxmlformats.org/officeDocument/2006/relationships/slide" Target="slides/slide32.xml"/><Relationship Id="rId53" Type="http://schemas.openxmlformats.org/officeDocument/2006/relationships/slide" Target="slides/slide33.xml"/><Relationship Id="rId54" Type="http://schemas.openxmlformats.org/officeDocument/2006/relationships/slide" Target="slides/slide34.xml"/><Relationship Id="rId55" Type="http://schemas.openxmlformats.org/officeDocument/2006/relationships/slide" Target="slides/slide35.xml"/><Relationship Id="rId56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2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7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Alignment: RLHF, InstructGPT &amp; DPO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828502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8, Class 2</a:t>
            </a:r>
          </a:p>
        </p:txBody>
      </p:sp>
      <p:pic>
        <p:nvPicPr>
          <p:cNvPr id="5" name="Picture 4" descr="Reward the behavior you prefer and it sticks. Today: doing exactly this to a language model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028" y="3474720"/>
            <a:ext cx="2227212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Pete Bellis, via Wikimedia Commons, CC0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</a:t>
            </a:r>
          </a:p>
        </p:txBody>
      </p:sp>
      <p:pic>
        <p:nvPicPr>
          <p:cNvPr id="5" name="Picture 4" descr="Alignment, RLHF, DPO, and whose values first; Quiz 8 right before the break; then the standoff and reward-model fi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556" y="1078992"/>
            <a:ext cx="741688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tiles: Ouyang et al. 2022 Fig. 2; Rafailov et al. 2023 Fig. 1; DeepSeek-R1 2025 Fig. 1; Unsplash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The Alignment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Capable is not the same as aligned</a:t>
            </a:r>
          </a:p>
        </p:txBody>
      </p:sp>
      <p:pic>
        <p:nvPicPr>
          <p:cNvPr id="5" name="Picture 4" descr="We want helpful, honest, and harmless outputs. SFT teaches form; alignment teaches preferen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54430"/>
            <a:ext cx="8595360" cy="34381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not just write more demonstrations?</a:t>
            </a:r>
          </a:p>
        </p:txBody>
      </p:sp>
      <p:pic>
        <p:nvPicPr>
          <p:cNvPr id="5" name="Picture 4" descr="Humans are far better at comparing two responses than at producing the ideal on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54430"/>
            <a:ext cx="8595360" cy="34381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Alignment is a human handshake</a:t>
            </a:r>
          </a:p>
        </p:txBody>
      </p:sp>
      <p:pic>
        <p:nvPicPr>
          <p:cNvPr id="5" name="Picture 4" descr="Every aligned model is built on thousands of human judgments about which answer is better. People are in the loop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596" y="1078992"/>
            <a:ext cx="537680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https://images.unsplash.com/photo-1521791136064-7986c2920216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RLHF: the InstructGPT Pipeline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InstructGPT (Ouyang et al., 2022)</a:t>
            </a:r>
          </a:p>
        </p:txBody>
      </p:sp>
      <p:pic>
        <p:nvPicPr>
          <p:cNvPr id="5" name="Picture 4" descr="The dashed line means &quot;tied with the 175B SFT model.&quot; Even the 1.3B aligned models clear it; plain 175B GPT-3 never does. Alignment, not scale, drove perceived qualit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893" y="1078992"/>
            <a:ext cx="580621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InstructGPT, Ouyang et al. 2022 (arXiv:2203.02155), Fig.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RLHF pipeline</a:t>
            </a:r>
          </a:p>
        </p:txBody>
      </p:sp>
      <p:pic>
        <p:nvPicPr>
          <p:cNvPr id="5" name="Picture 4" descr="The most reproduced diagram in alignment. Note the human's job shrinks each step: write a full answer, then only rank answers, then step away entirel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809" y="1078992"/>
            <a:ext cx="4756382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InstructGPT, Ouyang et al. 2022 (arXiv:2203.02155), Fig.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Stage 1: Supervised fine-tuning</a:t>
            </a:r>
          </a:p>
        </p:txBody>
      </p:sp>
      <p:pic>
        <p:nvPicPr>
          <p:cNvPr id="5" name="Picture 4" descr="Humans write demonstrations; the base model imitates them. A reasonable, not-yet-preference-aligned polic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4072"/>
            <a:ext cx="8595360" cy="2738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Stage 2: Reward model</a:t>
            </a:r>
          </a:p>
        </p:txBody>
      </p:sp>
      <p:pic>
        <p:nvPicPr>
          <p:cNvPr id="5" name="Picture 4" descr="Humans rank sampled responses; a model learns to score any response with a pairwise ranking los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96472"/>
            <a:ext cx="8595360" cy="31540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Stage 3: RL optimization (PPO)</a:t>
            </a:r>
          </a:p>
        </p:txBody>
      </p:sp>
      <p:pic>
        <p:nvPicPr>
          <p:cNvPr id="5" name="Picture 4" descr="PPO pushes the policy toward higher reward, with a KL penalty keeping it close to the SFT model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345" y="1078992"/>
            <a:ext cx="760330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PPO, Schulman et al. 2017; original figure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the KL penalty matters</a:t>
            </a:r>
          </a:p>
        </p:txBody>
      </p:sp>
      <p:pic>
        <p:nvPicPr>
          <p:cNvPr id="5" name="Picture 4" descr="Over-optimize the imperfect reward model and you get reward hacking: high RM score, low human preferen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521" y="1078992"/>
            <a:ext cx="744295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 (illustrative)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RLHF is powerful but painful</a:t>
            </a:r>
          </a:p>
        </p:txBody>
      </p:sp>
      <p:pic>
        <p:nvPicPr>
          <p:cNvPr id="5" name="Picture 4" descr="Four models, unstable RL, and a separate reward-model run. Naturally: can we skip the RL loop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997" y="1078992"/>
            <a:ext cx="816000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That is exactly the question DPO answered in 2023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60083"/>
            <a:ext cx="9144000" cy="646366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What if we could skip the reinforcement learning entirely?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That is exactly the question DPO answered in 2023.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https://images.unsplash.com/photo-1469854523086-cc02fe5d8800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DPO: Alignment without RL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DPO shortcut</a:t>
            </a:r>
          </a:p>
        </p:txBody>
      </p:sp>
      <p:pic>
        <p:nvPicPr>
          <p:cNvPr id="5" name="Picture 4" descr="The RLHF objective has a closed-form optimal policy, so the same preference pairs can train the LM directly: the model implicitly acts as its own reward model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96440"/>
            <a:ext cx="8595360" cy="31541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DPO, Rafailov et al. 2023 (arXiv:2305.18290), Fig. 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DPO vs. RLHF</a:t>
            </a:r>
          </a:p>
        </p:txBody>
      </p:sp>
      <p:pic>
        <p:nvPicPr>
          <p:cNvPr id="5" name="Picture 4" descr="DPO matches or exceeds PPO-RLHF on the paper's benchmarks with a simpler, more stable recipe (Rafailov et al. 2023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603" y="1078992"/>
            <a:ext cx="793079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DPO, Rafailov et al. 2023 (arXiv:2305.18290)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A Third Path: Verifiable Rewards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For math and code, a program can grade the answer. No human labels, no learned reward model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60083"/>
            <a:ext cx="9144000" cy="646366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What if the reward is just "is this answer correct?"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For math and code, a program can grade the answer. No human labels, no learned reward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https://images.unsplash.com/photo-1469854523086-cc02fe5d8800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RLVR: Reinforcement Learning with Verifiable Rewards</a:t>
            </a:r>
          </a:p>
        </p:txBody>
      </p:sp>
      <p:pic>
        <p:nvPicPr>
          <p:cNvPr id="5" name="Picture 4" descr="The reward comes from a verifier (unit tests, a checked numeric answer), not from a learned reward model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504"/>
            <a:ext cx="8595360" cy="34599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RLVR, DeepSeek-Math (Shao et al. 2024, arXiv:2402.03300) and Tulu 3 (Lambert et al. 2024, arXiv:2411.15124)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GRPO: score answers against each other</a:t>
            </a:r>
          </a:p>
        </p:txBody>
      </p:sp>
      <p:pic>
        <p:nvPicPr>
          <p:cNvPr id="5" name="Picture 4" descr="Sample a group of answers to one prompt; each answer's advantage is its reward minus the group average. No value networ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53082"/>
            <a:ext cx="8595360" cy="28408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GRPO, DeepSeek-Math (Shao et al. 2024, arXiv:2402.03300)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DeepSeek-R1: pure RL elicits reasoning</a:t>
            </a:r>
          </a:p>
        </p:txBody>
      </p:sp>
      <p:pic>
        <p:nvPicPr>
          <p:cNvPr id="5" name="Picture 4" descr="GRPO on rule-based rewards alone lifts AIME pass@1 from 15.6% to 71.0%, past the human-participant line. The right panel is why: the model teaches itself to think in ever-longer chains (the aha moment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282" y="1078992"/>
            <a:ext cx="5963435" cy="35890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DeepSeek-R1, DeepSeek-AI 2025 (arXiv:2501.12948), Fig. 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RLHF vs. DPO vs. RLVR</a:t>
            </a:r>
          </a:p>
        </p:txBody>
      </p:sp>
      <p:pic>
        <p:nvPicPr>
          <p:cNvPr id="5" name="Picture 4" descr="Preferences teach taste for open-ended answers; verifiable rewards teach correctness on checkable tasks. Different signals, different job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795" y="1078992"/>
            <a:ext cx="748240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Ouyang 2022 (2203.02155); Rafailov 2023 (2305.18290); DeepSeek-R1 2025 (2501.12948)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Whose Values?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balancing act</a:t>
            </a:r>
          </a:p>
        </p:txBody>
      </p:sp>
      <p:pic>
        <p:nvPicPr>
          <p:cNvPr id="5" name="Picture 4" descr="Helpfulness and harmlessness pull in opposite directions. Alignment quietly decides where the needle rest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https://images.unsplash.com/photo-1589994965851-a8f479c573a9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Helpfulness vs. harmlessness</a:t>
            </a:r>
          </a:p>
        </p:txBody>
      </p:sp>
      <p:pic>
        <p:nvPicPr>
          <p:cNvPr id="5" name="Picture 4" descr="These goals conflict; alignment chooses a point on the trade-off, encoded in the preference dat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912" y="1078992"/>
            <a:ext cx="782817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HH-RLHF, Bai et al. 2022 (arXiv:2204.05862)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A small group of labelers and their guidelines speak for everyone the model will ever serv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Whose preferences become the model's values?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A small group of labelers and their guidelines speak for everyone the model will ever serve.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https://images.unsplash.com/photo-1529156069898-49953e39b3ac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Who decides what is preferred?</a:t>
            </a:r>
          </a:p>
        </p:txBody>
      </p:sp>
      <p:pic>
        <p:nvPicPr>
          <p:cNvPr id="5" name="Picture 4" descr="Labeler demographics and guidelines shape the model; preference data is a policy document as much as a datase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89503"/>
            <a:ext cx="8595360" cy="2767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8</a:t>
            </a:r>
          </a:p>
        </p:txBody>
      </p:sp>
      <p:pic>
        <p:nvPicPr>
          <p:cNvPr id="5" name="Picture 4" descr="Covers the Week 8 lecture + InstructGPT/RLHF (Ouyang 2022); optional readings are never quizzed. Clear your desk: finish early and your break starts early; need more time and it comes out of the brea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065" y="1078992"/>
            <a:ext cx="65798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reward-model standoff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Activity: the reward-model standoff</a:t>
            </a:r>
          </a:p>
        </p:txBody>
      </p:sp>
      <p:pic>
        <p:nvPicPr>
          <p:cNvPr id="5" name="Picture 4" descr="Teams label the same preference set independently, then surface clashes on sycophancy, honesty, and harm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06051"/>
            <a:ext cx="8595360" cy="25349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Compare your team's rankings before fitting. Where you disagree is exactly where the model's values get decide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Whose judgment becomes the reward?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Compare your team's rankings before fitting. Where you disagree is exactly where the model's values get decided.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https://images.unsplash.com/photo-1543269865-cbf427effbad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Then fit the reward model</a:t>
            </a:r>
          </a:p>
        </p:txBody>
      </p:sp>
      <p:pic>
        <p:nvPicPr>
          <p:cNvPr id="5" name="Picture 4" descr="Feed your labels in: fit per-response scores by gradient descent on the Bradley-Terry loss, exactly RLHF's Stage 2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6337"/>
            <a:ext cx="8595360" cy="30943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weeks/week-08/class-02/exercise/preferences.py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pic>
        <p:nvPicPr>
          <p:cNvPr id="5" name="Picture 4" descr="Your comparisons become scalar scores; the implied ranking recovers the preferences you labele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446" y="1078992"/>
            <a:ext cx="858910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weeks/week-08/class-02/solutions/preferences.py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Alignment, RLHF's three stages, InstructGPT's result, DPO's simplification, and the helpfulness/harmlessness trade-off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9062"/>
            <a:ext cx="8595360" cy="332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